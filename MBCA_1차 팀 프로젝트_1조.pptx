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67"/>
  </p:notesMasterIdLst>
  <p:sldIdLst>
    <p:sldId id="256" r:id="rId3"/>
    <p:sldId id="257" r:id="rId4"/>
    <p:sldId id="283" r:id="rId5"/>
    <p:sldId id="284" r:id="rId6"/>
    <p:sldId id="289" r:id="rId7"/>
    <p:sldId id="290" r:id="rId8"/>
    <p:sldId id="291" r:id="rId9"/>
    <p:sldId id="292" r:id="rId10"/>
    <p:sldId id="286" r:id="rId11"/>
    <p:sldId id="293" r:id="rId12"/>
    <p:sldId id="294" r:id="rId13"/>
    <p:sldId id="296" r:id="rId14"/>
    <p:sldId id="321" r:id="rId15"/>
    <p:sldId id="335" r:id="rId16"/>
    <p:sldId id="336" r:id="rId17"/>
    <p:sldId id="337" r:id="rId18"/>
    <p:sldId id="287" r:id="rId19"/>
    <p:sldId id="295" r:id="rId20"/>
    <p:sldId id="302" r:id="rId21"/>
    <p:sldId id="303" r:id="rId22"/>
    <p:sldId id="304" r:id="rId23"/>
    <p:sldId id="305" r:id="rId24"/>
    <p:sldId id="306" r:id="rId25"/>
    <p:sldId id="316" r:id="rId26"/>
    <p:sldId id="317" r:id="rId27"/>
    <p:sldId id="323" r:id="rId28"/>
    <p:sldId id="322" r:id="rId29"/>
    <p:sldId id="324" r:id="rId30"/>
    <p:sldId id="307" r:id="rId31"/>
    <p:sldId id="327" r:id="rId32"/>
    <p:sldId id="326" r:id="rId33"/>
    <p:sldId id="325" r:id="rId34"/>
    <p:sldId id="328" r:id="rId35"/>
    <p:sldId id="334" r:id="rId36"/>
    <p:sldId id="310" r:id="rId37"/>
    <p:sldId id="333" r:id="rId38"/>
    <p:sldId id="329" r:id="rId39"/>
    <p:sldId id="330" r:id="rId40"/>
    <p:sldId id="331" r:id="rId41"/>
    <p:sldId id="332" r:id="rId42"/>
    <p:sldId id="259" r:id="rId43"/>
    <p:sldId id="260" r:id="rId44"/>
    <p:sldId id="261" r:id="rId45"/>
    <p:sldId id="262" r:id="rId46"/>
    <p:sldId id="263" r:id="rId47"/>
    <p:sldId id="264" r:id="rId48"/>
    <p:sldId id="265" r:id="rId49"/>
    <p:sldId id="266" r:id="rId50"/>
    <p:sldId id="267" r:id="rId51"/>
    <p:sldId id="268" r:id="rId52"/>
    <p:sldId id="269" r:id="rId53"/>
    <p:sldId id="270" r:id="rId54"/>
    <p:sldId id="271" r:id="rId55"/>
    <p:sldId id="272" r:id="rId56"/>
    <p:sldId id="273" r:id="rId57"/>
    <p:sldId id="274" r:id="rId58"/>
    <p:sldId id="275" r:id="rId59"/>
    <p:sldId id="276" r:id="rId60"/>
    <p:sldId id="277" r:id="rId61"/>
    <p:sldId id="278" r:id="rId62"/>
    <p:sldId id="279" r:id="rId63"/>
    <p:sldId id="280" r:id="rId64"/>
    <p:sldId id="282" r:id="rId65"/>
    <p:sldId id="285" r:id="rId6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AFBF"/>
    <a:srgbClr val="23C0C9"/>
    <a:srgbClr val="FFD8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54" autoAdjust="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HG꼬딕씨_Pro 60g" panose="02020603020101020101" pitchFamily="18" charset="-127"/>
                <a:ea typeface="HG꼬딕씨_Pro 60g" panose="0202060302010102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HG꼬딕씨_Pro 60g" panose="02020603020101020101" pitchFamily="18" charset="-127"/>
                <a:ea typeface="HG꼬딕씨_Pro 60g" panose="02020603020101020101" pitchFamily="18" charset="-127"/>
              </a:defRPr>
            </a:lvl1pPr>
          </a:lstStyle>
          <a:p>
            <a:fld id="{D7FA865D-3821-4836-98EE-5A11FBC7CCB4}" type="datetimeFigureOut">
              <a:rPr lang="ko-KR" altLang="en-US" smtClean="0"/>
              <a:pPr/>
              <a:t>2026-08-20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HG꼬딕씨_Pro 60g" panose="02020603020101020101" pitchFamily="18" charset="-127"/>
                <a:ea typeface="HG꼬딕씨_Pro 60g" panose="0202060302010102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HG꼬딕씨_Pro 60g" panose="02020603020101020101" pitchFamily="18" charset="-127"/>
                <a:ea typeface="HG꼬딕씨_Pro 60g" panose="02020603020101020101" pitchFamily="18" charset="-127"/>
              </a:defRPr>
            </a:lvl1pPr>
          </a:lstStyle>
          <a:p>
            <a:fld id="{A2912E0C-A09C-452F-879F-344C26C1C1E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650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HG꼬딕씨_Pro 60g" panose="02020603020101020101" pitchFamily="18" charset="-127"/>
        <a:ea typeface="HG꼬딕씨_Pro 60g" panose="02020603020101020101" pitchFamily="18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20971-62BC-B7DF-1456-1CBE404B1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42C338-51C4-2508-35E5-E2B1693FC8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8BA4A-2D8C-95DC-B30C-3B19250C17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8693BE-82BB-D974-B3ED-44A954DF99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4871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C0EE5-93E6-7747-68F9-7FEF0E432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1F93B0-3105-8D1A-6A48-7DEF059868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EEE224-9261-DDD4-A275-8F84A19C7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9AB346-9636-5722-63A7-F979D62FC5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014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A2485-EC9B-0420-F39F-A5FE2C449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B9F7F5-0233-C4A9-B93A-5D6496D993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0BA5A2-0A47-FB24-7ABE-CFFD60ADFC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F38F46-70F8-85CA-9F08-4A68E6E32F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7179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08C6E-84AB-7BF3-7BD6-D4AFE3066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E16337-9A42-EB17-E149-E7522B5DEC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DF0DBC-3ECF-C559-A780-983AF28E55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F7D9B-2DCE-000C-0E05-FC6C5CF05F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76701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50A1A-0B86-DB34-D308-92C4B748E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F8C747-0E84-1706-DED8-FDD11F766C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920119-5B81-B0B5-A8D1-4C582AF383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2B47CD-ACC1-985E-3867-30F02B282B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36103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FEE96-FFDC-7981-6B18-840614CE3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D196C3-5A6C-7E32-8D46-C9EBE4F469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FDEF69-4E58-1E21-2445-5E482A091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7711B4-658D-C373-D1FD-700ED57B11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62112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6CC55-2F69-5A06-6E7E-CA15DB097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A01A09-C336-2421-B931-00B0ED137B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A5AA8-6661-4C9A-E92E-6D1385C7E7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4C5B1-5581-F996-1E89-2817906A34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68718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4FC5D-702C-C416-D54B-50697155F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926E69-435A-3D8E-4534-B9B3EDF873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9C4256-E7F6-6C7F-CEDF-9943981A59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CAD5D-4B16-0C2B-51E5-E26B4934E7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45596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6B7BB-E27D-73D3-9238-B91173087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2CAD9A-88DE-1074-412B-0461B78DD1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9E6DD9-555F-31E0-6E66-C5E1938D5A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BE988-8586-2894-2DE1-D5913C232F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70500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2D301-5B74-D6E2-0310-4D1B99610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D347F6-F6AD-5F87-1BD7-938C7EB706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DBBAD4-8F4B-7EA3-7F22-646CFDDA8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AE9014-535A-FE83-F481-F2E634BE0D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64808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ADB4F-3912-F55A-0739-C08DF189D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9274CC-C997-C359-D0B1-87B60BAD4A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4A6707-A006-1DA9-A656-F00707CD8A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78C01-ED18-0A85-317F-F4278BCBC8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22603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C99C9-EE68-5380-8548-C206B861D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9DF22B-8DA0-1909-F0FF-BA451492A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F080E8-F5C0-5E82-3288-45E1FFF17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850A77-F0CF-542B-29EB-38C7592B34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9662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12084-353A-409C-7225-3FA9E4E52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D222FB-DB03-C3DE-BA0C-784A31F03A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C6FF50-B298-BA9F-A95D-D30F139899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D6746A-A0FF-952D-79B6-3CD60D9753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24159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8D19F-B3B3-0D55-B569-D2FC7A98A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028153-3E6B-CC60-14B4-231535F18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AFC4A2-968C-52ED-D89B-23662CBCCA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578EF8-29F7-3CBE-E79A-570DC53B3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246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BED02-57D8-8154-B3B9-E8144CA59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533D43-7D59-907F-FB73-3E251242BE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A41203-102C-F287-8A1F-82EE59C8E4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FBDB8-D689-6AA1-FFB1-29407CB078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03017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08354-03C1-E546-3929-721C8E4E9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C1E7DB-4015-DBDD-17D9-B362BEACCA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45180B-3211-F2F5-4C6A-778A9ACE4D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74DF5-44F9-D0D1-191D-D715507743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89762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19517-CBE3-0935-D946-ABC8D7D6E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B05FFE-9937-899B-7D50-B5BD83487F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D51D19-B6DF-26DF-A8E6-5448545718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846F4F-94AC-2C32-0410-DAE53C34BD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90613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3BCF1-E9B0-2AE3-9A88-0B74685D5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A03587-FD18-8701-2D09-2726177BC3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580230-3C9C-23DF-FCD8-C88220FCEC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458B2A-310E-BC8C-0231-C43D39416E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2202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6E2E3-058B-8C79-6058-2A82F3B86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C187E7-46B4-04D0-3C42-ECA8C03261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D7B234-5318-CDE2-1E5A-0A7F1B3C08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980FF8-C79D-5527-5CCE-70E4B885D8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3684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BB32C-1F68-4B8A-5DCF-35C02F241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7896F5-800E-8234-77D1-0A9218F0E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C6B449-0B5D-1DB5-5382-85819E69C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6AE4E-2446-EDEB-6E2B-A72BFE0557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74593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FF761-B69C-75BC-54C9-07ED5E433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A99948-E334-886C-E1CD-C8B5AF1E0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86B339-01B9-0426-6BA2-139226BC37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8C2FA5-94F1-777F-0C48-E9C79B722B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76494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C6A83-7EB9-82C5-6475-810A9DF03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3C8296-3EAB-198B-28DD-5B8EEE2632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942934-6AE9-8534-BC33-68AC8A0C20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39EA1-9996-00F4-866A-896BBC0B9C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74015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18E59-223B-09F2-E986-75EFAB337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F6F359-38C5-88C9-17B3-7557646F98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9FD25F-FA46-D832-7D3B-686366EC09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2C05C-A9A3-7284-5918-E563C920A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48745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3FA6E-01EA-89C8-30E7-3D475517F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781AC1-6D2A-C890-ACA3-6949E9C565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648AC2-9D20-C81C-B4CF-EFC0F3C90C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0E648-84D9-27B3-77DF-04FA8B704F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33124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BCBC4-8EEC-C7A1-AF8D-B43754083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92400E-D157-B5EE-2F59-F30E2B922E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00C8D8-AC8C-0D10-E9D3-6DF21B1CC9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E9B1E-FC27-068A-E7D7-DD26C1FE90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39907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90C57-E97D-0EC4-0221-98C35E4CF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EDCD69-F65B-D353-4AA9-E8E1B59C3B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37E6E9-76CE-028C-BF75-6DA3518A66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443A16-A869-E887-B675-762FC6B865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66620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EE444-161D-8D0C-5D4D-2B0BDDA25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47152E-B8BD-3EA6-FD12-54536BF89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EF8057-25E7-E570-FC6E-14917C6D08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C0405-F1F1-2D37-FC74-2AD445A5DE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673072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C40FD-F82E-8613-9407-FC94DAEE6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F05E4F-84EC-6691-7D76-15DC49B7DF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F2CFB0-5255-070C-2C5B-3FD6B08A9B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FC9746-A1B9-9003-A1D3-2FC6AABA0D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525007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86CC1-1CAF-94E6-78CC-EAA959A15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EB0CC1-F118-36C7-9781-675FB78276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2FF8D4-9A97-4FEE-F1FC-1663CF06A9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F9132-5B33-7C57-1014-EB0C0EA16C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47683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F805B-6340-410B-9318-9F316CD64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061FA5-E54B-F7B6-BB83-E133374DF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652322-F6D4-645D-2D60-588CFC6237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C20B4-8EF1-A5FF-90EA-EED8BECC0F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96218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7A2D0-18EF-6FA6-F638-10B14CF7F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51078A-0ADD-F06C-AAF7-C4E4B3302D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311E10-4845-6EBF-F913-E1E1E7AB7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0D823A-BE13-4090-BF74-9AED367453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58339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265C2-2AC8-DE20-38C9-833E8B973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72421A-64FF-75A7-6929-1E7666E48F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0C020B-3D02-E1E4-69ED-F4F3A0087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02C6BC-5778-CFA8-5BEA-8313092A9A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276960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E5171-1229-8670-4BD6-F20265E3A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D2F6A5-45FE-77B4-52D8-2352C2B34E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E9F0CC-3CB0-0C55-C2E5-1333288520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5CF27-FE2B-3839-DB46-53BB58D9AC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428019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E1F8C-0315-6D28-5DD0-C690CCFEA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DA53E5-441B-C1B7-2709-47530E1EE5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EFCCCF-2D24-9565-D258-BDEB0CFBBC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5AD6C-ACA0-E1E7-E861-EA126A5247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628533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7D04D-3056-57BC-D2F2-93D006040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5301A9-F723-1A30-89DD-400600069B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B68212-D269-285F-F05A-75A828EFAE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2FF4B-79FD-EC36-36A4-E257FD48EB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047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60ADA-E2E1-6A4E-7184-1EF594779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7373FA-819F-415B-6279-D0AA178F5D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EA99DC-07CE-EE2D-3898-AE3A5C5875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97A20-D307-70CA-CBE8-834DD8739D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860423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73155-935A-B5B6-B826-B2753F1AD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E486D3-0C75-77A0-928F-213650C0F8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E0A4E3-32EF-9075-CA14-EEAB795A61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A6C7D6-2030-B23B-BF7C-1B2AA59301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387570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98892-6485-DE1A-596B-B21D8721D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906E7A-C8A9-26DF-D956-3C1417AFC5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D5A774-5A07-278F-C664-46BBABB8FC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C59FF-44FA-457D-4B4D-686031E3E1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619481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0691B-0B07-3B44-91EC-286A3E147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352C1-F40E-EE80-F469-F3A75BFB65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1C5098-71CA-466C-BF63-3209203B8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45B5D9-7663-49CF-7BD3-2C20465B06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3284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E6F427-1ADD-2B5D-478B-3B9FE3CC8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037EA8A-E19B-BF8D-CBC6-BDE1B94B6F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601D6F-7ADD-5B27-0B80-04C95EBA6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7743-D3B2-488A-B4C0-4A080EF1032F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1BBA20-D36A-3F0D-D051-7BB2B216E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5CABFC-0C55-0542-C76D-19E00318A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DD59E-F682-4C6D-8AF8-E537FF077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65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6305C4-4772-3696-845C-6A32BBE18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A20488-2E7B-3DF3-516D-19EC92F29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FEEC45-E427-B2F2-12F6-D88F528D0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7743-D3B2-488A-B4C0-4A080EF1032F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13A0B1-0B0D-6048-CBEF-06DBA6D08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AED17D-BAA0-61AD-0A99-4EC24BEDC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DD59E-F682-4C6D-8AF8-E537FF077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7258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9C47CF-32A1-5755-31B5-52C6880E5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1DC6A8-BAD5-A354-F41B-6C0DE2A5D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798B0F-4387-CB3B-E300-D5AA7A561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7743-D3B2-488A-B4C0-4A080EF1032F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91796D-EAB3-E4AB-F647-DBF251AB7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1D874D-A9C5-6BB5-0CBC-566DBBC93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DD59E-F682-4C6D-8AF8-E537FF077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479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B90D71-769D-5D16-027D-F432BE0E7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639EE2-587E-770C-041E-B67066CD66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6A5D799-8747-72CC-094E-BA299BC2A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0BB8FA-7161-6945-9D1A-224C2E2A7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7743-D3B2-488A-B4C0-4A080EF1032F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16DC1D-6361-EE31-F3E7-7E6455C48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DA08EF-4B5A-165F-2795-6BB350765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DD59E-F682-4C6D-8AF8-E537FF077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8079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1CBBAE-941D-B125-0968-DAB1BC029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6A76E7-B5AE-F514-5B7C-CD60717C4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7CDB7C-970F-E9FE-79D3-AB6D78A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A7D727D-443C-1079-2E36-D922A2AB4A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F4981E7-E608-5C46-1F7B-E41F6AA9D1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494084-0C20-732F-20A6-48647F0C6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7743-D3B2-488A-B4C0-4A080EF1032F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A473900-7FB2-BE96-F737-8E3F8E75D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87025B5-45AD-2764-EEC3-3656C00D1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DD59E-F682-4C6D-8AF8-E537FF077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4989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E6C08A-9331-FF1C-F9D9-DA2BE2DB4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9573B0C-5D4E-CB46-C878-AE652E127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7743-D3B2-488A-B4C0-4A080EF1032F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E107947-AE8B-CBD4-ED7D-1CCF2D372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FE4E53-A4B3-B6C1-E1DD-B56BB6FDD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DD59E-F682-4C6D-8AF8-E537FF077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481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0BDB938-0577-F5C9-2A60-B2FA511CF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7743-D3B2-488A-B4C0-4A080EF1032F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11B8B32-BE58-AB7A-C480-289F0B4EA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12F29E-5D1F-441A-5937-2F628A383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DD59E-F682-4C6D-8AF8-E537FF077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0454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2E8359-BCFA-D31E-868E-89AFB7E9B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C03022-0151-0038-43F3-85BB9B97F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2AD5E23-3D43-DA7C-A911-32E7164646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C6717D-5834-1E79-0467-29B7D0D2C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7743-D3B2-488A-B4C0-4A080EF1032F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C82076-EE93-D097-8A65-D47D5783F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4A2CF0-63FC-E3AE-014C-39DED0C02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DD59E-F682-4C6D-8AF8-E537FF077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5567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FD8979-4DDD-6366-9126-02AA8F4CA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CEBF0E8-C56A-A8C0-3F28-79C7A50CC6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7FB4DDB-D0DA-5EFE-A636-72B543C59B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1A50E3-0CE3-8F8C-4931-72DDF2D60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7743-D3B2-488A-B4C0-4A080EF1032F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6DC6CF-DFAC-9DD0-12D5-A8D33DFF0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3846D5-2858-60CF-DD28-BC21962CF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DD59E-F682-4C6D-8AF8-E537FF077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3755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D011B-8725-3EDF-1208-C1B4DDC38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8893C59-D8BF-DD23-1961-0143F00B8C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A9D58E-1CE2-296A-0495-3B9F12A2F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7743-D3B2-488A-B4C0-4A080EF1032F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F3665F-F854-1CE1-5D19-B9E490726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EE489F-ACF6-7AA6-A24A-3BC7B57B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DD59E-F682-4C6D-8AF8-E537FF077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683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EA078F1-2F68-BA81-2209-36128AED87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F49CDFF-F6B2-D686-DFC5-C9A39F1A83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80EE7D-AD9C-4A92-2498-695D7C5B7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7743-D3B2-488A-B4C0-4A080EF1032F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E65DC2-7003-9B52-4859-A4766C0EE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10C57E-7075-322A-20FF-AED7F0E86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DD59E-F682-4C6D-8AF8-E537FF077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29871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7435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05DEB12-6A94-4C3C-9F3B-C505391D8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A9E9C1-8AC3-B1B2-D222-C8C6C78BE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FC1104-7246-79A6-7650-0522B91FAE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defRPr>
            </a:lvl1pPr>
          </a:lstStyle>
          <a:p>
            <a:fld id="{113A7743-D3B2-488A-B4C0-4A080EF1032F}" type="datetimeFigureOut">
              <a:rPr lang="ko-KR" altLang="en-US" smtClean="0"/>
              <a:pPr/>
              <a:t>2026-08-20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EE9339-C1C3-7718-31B1-85E38B3D92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B88B28-BC49-706E-3389-84694C614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defRPr>
            </a:lvl1pPr>
          </a:lstStyle>
          <a:p>
            <a:fld id="{CA6DD59E-F682-4C6D-8AF8-E537FF077E5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94960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G꼬딕씨_Pro 60g" panose="02020603020101020101" pitchFamily="18" charset="-127"/>
          <a:ea typeface="HG꼬딕씨_Pro 60g" panose="0202060302010102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G꼬딕씨_Pro 60g" panose="02020603020101020101" pitchFamily="18" charset="-127"/>
          <a:ea typeface="HG꼬딕씨_Pro 60g" panose="02020603020101020101" pitchFamily="18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G꼬딕씨_Pro 60g" panose="02020603020101020101" pitchFamily="18" charset="-127"/>
          <a:ea typeface="HG꼬딕씨_Pro 60g" panose="02020603020101020101" pitchFamily="18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G꼬딕씨_Pro 60g" panose="02020603020101020101" pitchFamily="18" charset="-127"/>
          <a:ea typeface="HG꼬딕씨_Pro 60g" panose="02020603020101020101" pitchFamily="18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G꼬딕씨_Pro 60g" panose="02020603020101020101" pitchFamily="18" charset="-127"/>
          <a:ea typeface="HG꼬딕씨_Pro 60g" panose="02020603020101020101" pitchFamily="18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G꼬딕씨_Pro 60g" panose="02020603020101020101" pitchFamily="18" charset="-127"/>
          <a:ea typeface="HG꼬딕씨_Pro 60g" panose="02020603020101020101" pitchFamily="18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19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ata1window.kr/" TargetMode="External"/><Relationship Id="rId3" Type="http://schemas.openxmlformats.org/officeDocument/2006/relationships/hyperlink" Target="https://www.data.go.kr/index.do" TargetMode="External"/><Relationship Id="rId7" Type="http://schemas.openxmlformats.org/officeDocument/2006/relationships/hyperlink" Target="https://mss.go.kr/site/smba/main.do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datalab.visitkorea.or.kr/datalab/portal/main/getMainForm.do" TargetMode="External"/><Relationship Id="rId11" Type="http://schemas.openxmlformats.org/officeDocument/2006/relationships/image" Target="../media/image14.png"/><Relationship Id="rId5" Type="http://schemas.openxmlformats.org/officeDocument/2006/relationships/hyperlink" Target="https://tasis.nts.go.kr/websquare/websquare.html?w2xPath=/cm/index.xml" TargetMode="External"/><Relationship Id="rId10" Type="http://schemas.openxmlformats.org/officeDocument/2006/relationships/image" Target="../media/image13.png"/><Relationship Id="rId4" Type="http://schemas.openxmlformats.org/officeDocument/2006/relationships/hyperlink" Target="https://data.busan.go.kr/bdip/" TargetMode="External"/><Relationship Id="rId9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EAF4D16B-F3AC-A979-207D-6D8C0AA9407E}"/>
              </a:ext>
            </a:extLst>
          </p:cNvPr>
          <p:cNvSpPr/>
          <p:nvPr/>
        </p:nvSpPr>
        <p:spPr>
          <a:xfrm>
            <a:off x="0" y="0"/>
            <a:ext cx="12192001" cy="5162550"/>
          </a:xfrm>
          <a:prstGeom prst="rect">
            <a:avLst/>
          </a:prstGeom>
          <a:solidFill>
            <a:srgbClr val="21A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D9202B-CA10-0FE1-2EFE-30B215814670}"/>
              </a:ext>
            </a:extLst>
          </p:cNvPr>
          <p:cNvSpPr txBox="1"/>
          <p:nvPr/>
        </p:nvSpPr>
        <p:spPr>
          <a:xfrm>
            <a:off x="704850" y="1581150"/>
            <a:ext cx="745588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dirty="0">
                <a:solidFill>
                  <a:schemeClr val="bg1"/>
                </a:solidFill>
                <a:latin typeface="HG꼬딕씨_Pro 99g" panose="02020603020101020101" pitchFamily="18" charset="-127"/>
                <a:ea typeface="HG꼬딕씨_Pro 99g" panose="02020603020101020101" pitchFamily="18" charset="-127"/>
              </a:rPr>
              <a:t>부산 </a:t>
            </a:r>
            <a:r>
              <a:rPr lang="ko-KR" altLang="en-US" sz="4400" dirty="0">
                <a:solidFill>
                  <a:srgbClr val="FFD84D"/>
                </a:solidFill>
                <a:latin typeface="HG꼬딕씨_Pro 99g" panose="02020603020101020101" pitchFamily="18" charset="-127"/>
                <a:ea typeface="HG꼬딕씨_Pro 99g" panose="02020603020101020101" pitchFamily="18" charset="-127"/>
              </a:rPr>
              <a:t>관광객 수 증가</a:t>
            </a:r>
            <a:r>
              <a:rPr lang="ko-KR" altLang="en-US" sz="4400" dirty="0">
                <a:solidFill>
                  <a:schemeClr val="bg1"/>
                </a:solidFill>
                <a:latin typeface="HG꼬딕씨_Pro 99g" panose="02020603020101020101" pitchFamily="18" charset="-127"/>
                <a:ea typeface="HG꼬딕씨_Pro 99g" panose="02020603020101020101" pitchFamily="18" charset="-127"/>
              </a:rPr>
              <a:t>와</a:t>
            </a:r>
            <a:endParaRPr lang="en-US" altLang="ko-KR" sz="4400" dirty="0">
              <a:solidFill>
                <a:schemeClr val="bg1"/>
              </a:solidFill>
              <a:latin typeface="HG꼬딕씨_Pro 99g" panose="02020603020101020101" pitchFamily="18" charset="-127"/>
              <a:ea typeface="HG꼬딕씨_Pro 99g" panose="02020603020101020101" pitchFamily="18" charset="-127"/>
            </a:endParaRPr>
          </a:p>
          <a:p>
            <a:r>
              <a:rPr lang="ko-KR" altLang="en-US" sz="4400" dirty="0">
                <a:solidFill>
                  <a:srgbClr val="FFD84D"/>
                </a:solidFill>
                <a:latin typeface="HG꼬딕씨_Pro 99g" panose="02020603020101020101" pitchFamily="18" charset="-127"/>
                <a:ea typeface="HG꼬딕씨_Pro 99g" panose="02020603020101020101" pitchFamily="18" charset="-127"/>
              </a:rPr>
              <a:t>폐업 수 증가 </a:t>
            </a:r>
            <a:r>
              <a:rPr lang="ko-KR" altLang="en-US" sz="4400" dirty="0">
                <a:solidFill>
                  <a:schemeClr val="bg1"/>
                </a:solidFill>
                <a:latin typeface="HG꼬딕씨_Pro 99g" panose="02020603020101020101" pitchFamily="18" charset="-127"/>
                <a:ea typeface="HG꼬딕씨_Pro 99g" panose="02020603020101020101" pitchFamily="18" charset="-127"/>
              </a:rPr>
              <a:t>간의 상관관계 분석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A63DE7-E4C5-01AC-90BB-C199F7C071BC}"/>
              </a:ext>
            </a:extLst>
          </p:cNvPr>
          <p:cNvSpPr txBox="1"/>
          <p:nvPr/>
        </p:nvSpPr>
        <p:spPr>
          <a:xfrm>
            <a:off x="704850" y="3257550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MBCA</a:t>
            </a:r>
            <a:r>
              <a:rPr lang="ko-KR" altLang="en-US" dirty="0">
                <a:solidFill>
                  <a:schemeClr val="bg1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1</a:t>
            </a:r>
            <a:r>
              <a:rPr lang="ko-KR" altLang="en-US" dirty="0">
                <a:solidFill>
                  <a:schemeClr val="bg1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차 팀 프로젝트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4B914A5-A87D-DA2F-69FE-F4BCA7C73EBA}"/>
              </a:ext>
            </a:extLst>
          </p:cNvPr>
          <p:cNvGrpSpPr/>
          <p:nvPr/>
        </p:nvGrpSpPr>
        <p:grpSpPr>
          <a:xfrm>
            <a:off x="704850" y="5561052"/>
            <a:ext cx="2159453" cy="855107"/>
            <a:chOff x="704850" y="5561052"/>
            <a:chExt cx="2159453" cy="85510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7D0A303-4A99-CD52-B170-17493B1C762F}"/>
                </a:ext>
              </a:extLst>
            </p:cNvPr>
            <p:cNvSpPr txBox="1"/>
            <p:nvPr/>
          </p:nvSpPr>
          <p:spPr>
            <a:xfrm>
              <a:off x="704850" y="5561052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pc="300" dirty="0">
                  <a:solidFill>
                    <a:srgbClr val="21AFB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2026.08.19</a:t>
              </a:r>
              <a:endParaRPr lang="ko-KR" altLang="en-US" spc="300" dirty="0">
                <a:solidFill>
                  <a:srgbClr val="21AFB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</p:txBody>
        </p: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5417B4F-1FF7-7380-98E2-B4199D1E1CEE}"/>
                </a:ext>
              </a:extLst>
            </p:cNvPr>
            <p:cNvCxnSpPr/>
            <p:nvPr/>
          </p:nvCxnSpPr>
          <p:spPr>
            <a:xfrm>
              <a:off x="740228" y="5968484"/>
              <a:ext cx="212407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6C4BC8BA-0D36-D9E5-FA03-4387D7BEB090}"/>
                </a:ext>
              </a:extLst>
            </p:cNvPr>
            <p:cNvCxnSpPr/>
            <p:nvPr/>
          </p:nvCxnSpPr>
          <p:spPr>
            <a:xfrm>
              <a:off x="740228" y="6416159"/>
              <a:ext cx="212407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F4168DE-C7BD-1283-418F-617D7107AD2A}"/>
                </a:ext>
              </a:extLst>
            </p:cNvPr>
            <p:cNvSpPr txBox="1"/>
            <p:nvPr/>
          </p:nvSpPr>
          <p:spPr>
            <a:xfrm>
              <a:off x="740228" y="6023045"/>
              <a:ext cx="12153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spc="300" dirty="0">
                  <a:solidFill>
                    <a:sysClr val="windowText" lastClr="000000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MBCA 1</a:t>
              </a:r>
              <a:r>
                <a:rPr lang="ko-KR" altLang="en-US" sz="1600" spc="300" dirty="0">
                  <a:solidFill>
                    <a:sysClr val="windowText" lastClr="000000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팀</a:t>
              </a:r>
            </a:p>
          </p:txBody>
        </p:sp>
      </p:grpSp>
      <p:pic>
        <p:nvPicPr>
          <p:cNvPr id="14" name="그림 13" descr="MBC아카데미컴퓨터학원-천호점 | [부트텐트] 코딩부터 영상/디자인,창업 부트캠프 교육기관 모음, 부트텐트 파트너 | 부트텐트">
            <a:extLst>
              <a:ext uri="{FF2B5EF4-FFF2-40B4-BE49-F238E27FC236}">
                <a16:creationId xmlns:a16="http://schemas.microsoft.com/office/drawing/2014/main" id="{A4032D9F-7AD0-2143-0ACB-6619FD665A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965" b="38172"/>
          <a:stretch>
            <a:fillRect/>
          </a:stretch>
        </p:blipFill>
        <p:spPr>
          <a:xfrm>
            <a:off x="9882112" y="5861435"/>
            <a:ext cx="1569660" cy="55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843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그룹 36">
            <a:extLst>
              <a:ext uri="{FF2B5EF4-FFF2-40B4-BE49-F238E27FC236}">
                <a16:creationId xmlns:a16="http://schemas.microsoft.com/office/drawing/2014/main" id="{083B06CC-490A-5FC0-7F1A-287857B46A83}"/>
              </a:ext>
            </a:extLst>
          </p:cNvPr>
          <p:cNvGrpSpPr/>
          <p:nvPr/>
        </p:nvGrpSpPr>
        <p:grpSpPr>
          <a:xfrm>
            <a:off x="1244600" y="1045118"/>
            <a:ext cx="9575800" cy="4767764"/>
            <a:chOff x="1625600" y="1219200"/>
            <a:chExt cx="8813800" cy="438836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DCE8097-0E91-7608-DECE-68D64E25FDC2}"/>
                </a:ext>
              </a:extLst>
            </p:cNvPr>
            <p:cNvSpPr txBox="1"/>
            <p:nvPr/>
          </p:nvSpPr>
          <p:spPr>
            <a:xfrm>
              <a:off x="1625600" y="1219200"/>
              <a:ext cx="114486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latin typeface="HG꼬딕씨_Pro 80g" panose="02020603020101020101" pitchFamily="18" charset="-127"/>
                  <a:ea typeface="HG꼬딕씨_Pro 80g" panose="02020603020101020101" pitchFamily="18" charset="-127"/>
                </a:rPr>
                <a:t>INDEX</a:t>
              </a:r>
              <a:endParaRPr lang="ko-KR" altLang="en-US" sz="3200" dirty="0">
                <a:latin typeface="HG꼬딕씨_Pro 80g" panose="02020603020101020101" pitchFamily="18" charset="-127"/>
                <a:ea typeface="HG꼬딕씨_Pro 80g" panose="02020603020101020101" pitchFamily="18" charset="-127"/>
              </a:endParaRPr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85A20511-0413-023F-7D29-792E7A6C91C7}"/>
                </a:ext>
              </a:extLst>
            </p:cNvPr>
            <p:cNvCxnSpPr/>
            <p:nvPr/>
          </p:nvCxnSpPr>
          <p:spPr>
            <a:xfrm>
              <a:off x="1739900" y="2565400"/>
              <a:ext cx="40894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EA170A07-7F9A-7038-9677-9EACC0868920}"/>
                </a:ext>
              </a:extLst>
            </p:cNvPr>
            <p:cNvCxnSpPr/>
            <p:nvPr/>
          </p:nvCxnSpPr>
          <p:spPr>
            <a:xfrm>
              <a:off x="1739900" y="3676650"/>
              <a:ext cx="40894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87F18D4D-E753-A7E2-190A-C2819E9891B7}"/>
                </a:ext>
              </a:extLst>
            </p:cNvPr>
            <p:cNvCxnSpPr/>
            <p:nvPr/>
          </p:nvCxnSpPr>
          <p:spPr>
            <a:xfrm>
              <a:off x="1739900" y="4787900"/>
              <a:ext cx="40894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573EEECD-B382-6170-7FBB-418A36956900}"/>
                </a:ext>
              </a:extLst>
            </p:cNvPr>
            <p:cNvCxnSpPr/>
            <p:nvPr/>
          </p:nvCxnSpPr>
          <p:spPr>
            <a:xfrm>
              <a:off x="6350000" y="2565400"/>
              <a:ext cx="40894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B425B5DB-DD58-51A6-6B55-0F56F4C59D68}"/>
                </a:ext>
              </a:extLst>
            </p:cNvPr>
            <p:cNvCxnSpPr/>
            <p:nvPr/>
          </p:nvCxnSpPr>
          <p:spPr>
            <a:xfrm>
              <a:off x="6350000" y="3676650"/>
              <a:ext cx="40894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8B3A639-9C8D-09B1-F069-11E076748FA9}"/>
                </a:ext>
              </a:extLst>
            </p:cNvPr>
            <p:cNvCxnSpPr/>
            <p:nvPr/>
          </p:nvCxnSpPr>
          <p:spPr>
            <a:xfrm>
              <a:off x="6350000" y="4787900"/>
              <a:ext cx="40894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619B07B-B22B-4B03-5119-F365931F5904}"/>
                </a:ext>
              </a:extLst>
            </p:cNvPr>
            <p:cNvSpPr txBox="1"/>
            <p:nvPr/>
          </p:nvSpPr>
          <p:spPr>
            <a:xfrm>
              <a:off x="1739900" y="2729239"/>
              <a:ext cx="3786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21AFB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01</a:t>
              </a:r>
              <a:endParaRPr lang="ko-KR" altLang="en-US" dirty="0">
                <a:solidFill>
                  <a:srgbClr val="21AFB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693E746-1926-82AD-ED75-5D58FF97723B}"/>
                </a:ext>
              </a:extLst>
            </p:cNvPr>
            <p:cNvSpPr txBox="1"/>
            <p:nvPr/>
          </p:nvSpPr>
          <p:spPr>
            <a:xfrm>
              <a:off x="1739900" y="384203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21AFB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03</a:t>
              </a:r>
              <a:endParaRPr lang="ko-KR" altLang="en-US" dirty="0">
                <a:solidFill>
                  <a:srgbClr val="21AFB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4F5AA92-4677-9526-6B8A-A83B02D91A83}"/>
                </a:ext>
              </a:extLst>
            </p:cNvPr>
            <p:cNvSpPr txBox="1"/>
            <p:nvPr/>
          </p:nvSpPr>
          <p:spPr>
            <a:xfrm>
              <a:off x="1739900" y="4954823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21AFB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05</a:t>
              </a:r>
              <a:endParaRPr lang="ko-KR" altLang="en-US" dirty="0">
                <a:solidFill>
                  <a:srgbClr val="21AFB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4DD0840-0DCA-E9EE-F225-9C6890269108}"/>
                </a:ext>
              </a:extLst>
            </p:cNvPr>
            <p:cNvSpPr txBox="1"/>
            <p:nvPr/>
          </p:nvSpPr>
          <p:spPr>
            <a:xfrm>
              <a:off x="2118530" y="2729239"/>
              <a:ext cx="16979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데이터분석 개요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ACD060B-07C7-86ED-5FC6-837C71033AC0}"/>
                </a:ext>
              </a:extLst>
            </p:cNvPr>
            <p:cNvSpPr txBox="1"/>
            <p:nvPr/>
          </p:nvSpPr>
          <p:spPr>
            <a:xfrm>
              <a:off x="2143930" y="3077291"/>
              <a:ext cx="29867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>
                  <a:solidFill>
                    <a:schemeClr val="bg1">
                      <a:lumMod val="50000"/>
                    </a:schemeClr>
                  </a:solidFill>
                  <a:latin typeface="HG꼬딕씨_Pro 40g" panose="02020603020101020101" pitchFamily="18" charset="-127"/>
                  <a:ea typeface="HG꼬딕씨_Pro 40g" panose="02020603020101020101" pitchFamily="18" charset="-127"/>
                </a:rPr>
                <a:t>프로젝트 개요 </a:t>
              </a:r>
              <a:r>
                <a:rPr lang="en-US" altLang="ko-KR" sz="1400" dirty="0">
                  <a:solidFill>
                    <a:schemeClr val="bg1">
                      <a:lumMod val="50000"/>
                    </a:schemeClr>
                  </a:solidFill>
                  <a:latin typeface="HG꼬딕씨_Pro 40g" panose="02020603020101020101" pitchFamily="18" charset="-127"/>
                  <a:ea typeface="HG꼬딕씨_Pro 40g" panose="02020603020101020101" pitchFamily="18" charset="-127"/>
                </a:rPr>
                <a:t>· </a:t>
              </a:r>
              <a:r>
                <a:rPr lang="ko-KR" altLang="en-US" sz="1400" dirty="0">
                  <a:solidFill>
                    <a:schemeClr val="bg1">
                      <a:lumMod val="50000"/>
                    </a:schemeClr>
                  </a:solidFill>
                  <a:latin typeface="HG꼬딕씨_Pro 40g" panose="02020603020101020101" pitchFamily="18" charset="-127"/>
                  <a:ea typeface="HG꼬딕씨_Pro 40g" panose="02020603020101020101" pitchFamily="18" charset="-127"/>
                </a:rPr>
                <a:t>기획 설정 </a:t>
              </a:r>
              <a:r>
                <a:rPr lang="en-US" altLang="ko-KR" sz="1400" dirty="0">
                  <a:solidFill>
                    <a:schemeClr val="bg1">
                      <a:lumMod val="50000"/>
                    </a:schemeClr>
                  </a:solidFill>
                  <a:latin typeface="HG꼬딕씨_Pro 40g" panose="02020603020101020101" pitchFamily="18" charset="-127"/>
                  <a:ea typeface="HG꼬딕씨_Pro 40g" panose="02020603020101020101" pitchFamily="18" charset="-127"/>
                </a:rPr>
                <a:t>· </a:t>
              </a:r>
              <a:r>
                <a:rPr lang="ko-KR" altLang="en-US" sz="1400" dirty="0">
                  <a:solidFill>
                    <a:schemeClr val="bg1">
                      <a:lumMod val="50000"/>
                    </a:schemeClr>
                  </a:solidFill>
                  <a:latin typeface="HG꼬딕씨_Pro 40g" panose="02020603020101020101" pitchFamily="18" charset="-127"/>
                  <a:ea typeface="HG꼬딕씨_Pro 40g" panose="02020603020101020101" pitchFamily="18" charset="-127"/>
                </a:rPr>
                <a:t>팀원 역할 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1D7AFF9-F1F6-0E86-094A-3C3FC42AD5F1}"/>
                </a:ext>
              </a:extLst>
            </p:cNvPr>
            <p:cNvSpPr txBox="1"/>
            <p:nvPr/>
          </p:nvSpPr>
          <p:spPr>
            <a:xfrm>
              <a:off x="2143930" y="4188540"/>
              <a:ext cx="2262149" cy="2832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>
                  <a:solidFill>
                    <a:schemeClr val="bg1">
                      <a:lumMod val="50000"/>
                    </a:schemeClr>
                  </a:solidFill>
                  <a:latin typeface="HG꼬딕씨_Pro 40g" panose="02020603020101020101" pitchFamily="18" charset="-127"/>
                  <a:ea typeface="HG꼬딕씨_Pro 40g" panose="02020603020101020101" pitchFamily="18" charset="-127"/>
                </a:rPr>
                <a:t>가설 설립 </a:t>
              </a:r>
              <a:r>
                <a:rPr lang="en-US" altLang="ko-KR" sz="1400" dirty="0">
                  <a:solidFill>
                    <a:schemeClr val="bg1">
                      <a:lumMod val="50000"/>
                    </a:schemeClr>
                  </a:solidFill>
                  <a:latin typeface="HG꼬딕씨_Pro 40g" panose="02020603020101020101" pitchFamily="18" charset="-127"/>
                  <a:ea typeface="HG꼬딕씨_Pro 40g" panose="02020603020101020101" pitchFamily="18" charset="-127"/>
                </a:rPr>
                <a:t>· </a:t>
              </a:r>
              <a:r>
                <a:rPr lang="ko-KR" altLang="en-US" sz="1400" dirty="0">
                  <a:solidFill>
                    <a:schemeClr val="bg1">
                      <a:lumMod val="50000"/>
                    </a:schemeClr>
                  </a:solidFill>
                  <a:latin typeface="HG꼬딕씨_Pro 40g" panose="02020603020101020101" pitchFamily="18" charset="-127"/>
                  <a:ea typeface="HG꼬딕씨_Pro 40g" panose="02020603020101020101" pitchFamily="18" charset="-127"/>
                </a:rPr>
                <a:t>가설 별 데이터 분석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61A1C3B-ED96-011E-E760-32AFFB046737}"/>
                </a:ext>
              </a:extLst>
            </p:cNvPr>
            <p:cNvSpPr txBox="1"/>
            <p:nvPr/>
          </p:nvSpPr>
          <p:spPr>
            <a:xfrm>
              <a:off x="2143930" y="5299789"/>
              <a:ext cx="83227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>
                  <a:solidFill>
                    <a:schemeClr val="bg1">
                      <a:lumMod val="50000"/>
                    </a:schemeClr>
                  </a:solidFill>
                  <a:latin typeface="HG꼬딕씨_Pro 40g" panose="02020603020101020101" pitchFamily="18" charset="-127"/>
                  <a:ea typeface="HG꼬딕씨_Pro 40g" panose="02020603020101020101" pitchFamily="18" charset="-127"/>
                </a:rPr>
                <a:t>세부사항</a:t>
              </a:r>
              <a:endParaRPr lang="ko-KR" altLang="en-US" sz="1400" dirty="0">
                <a:solidFill>
                  <a:schemeClr val="bg1">
                    <a:lumMod val="50000"/>
                  </a:schemeClr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29744F0-0F80-CA11-1A5C-4B2B558F50B7}"/>
                </a:ext>
              </a:extLst>
            </p:cNvPr>
            <p:cNvSpPr txBox="1"/>
            <p:nvPr/>
          </p:nvSpPr>
          <p:spPr>
            <a:xfrm>
              <a:off x="2118530" y="3842031"/>
              <a:ext cx="1804762" cy="3399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탐색적 데이터 분석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3F4F7F3-079D-4D51-D535-48695DC34483}"/>
                </a:ext>
              </a:extLst>
            </p:cNvPr>
            <p:cNvSpPr txBox="1"/>
            <p:nvPr/>
          </p:nvSpPr>
          <p:spPr>
            <a:xfrm>
              <a:off x="2118530" y="4949788"/>
              <a:ext cx="2430349" cy="3399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예측모델 해설 및 인사이트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D70B1C5-3274-026F-CA60-7D5BC58DE843}"/>
                </a:ext>
              </a:extLst>
            </p:cNvPr>
            <p:cNvSpPr txBox="1"/>
            <p:nvPr/>
          </p:nvSpPr>
          <p:spPr>
            <a:xfrm>
              <a:off x="6350934" y="2729239"/>
              <a:ext cx="417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21AFB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02</a:t>
              </a:r>
              <a:endParaRPr lang="ko-KR" altLang="en-US" dirty="0">
                <a:solidFill>
                  <a:srgbClr val="21AFB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DDAA991-3355-2FA1-1056-CBA619FD1566}"/>
                </a:ext>
              </a:extLst>
            </p:cNvPr>
            <p:cNvSpPr txBox="1"/>
            <p:nvPr/>
          </p:nvSpPr>
          <p:spPr>
            <a:xfrm>
              <a:off x="6350934" y="3842031"/>
              <a:ext cx="417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21AFB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04</a:t>
              </a:r>
              <a:endParaRPr lang="ko-KR" altLang="en-US" dirty="0">
                <a:solidFill>
                  <a:srgbClr val="21AFB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5DEC8FA-0769-F730-8538-C9C5428FBAD2}"/>
                </a:ext>
              </a:extLst>
            </p:cNvPr>
            <p:cNvSpPr txBox="1"/>
            <p:nvPr/>
          </p:nvSpPr>
          <p:spPr>
            <a:xfrm>
              <a:off x="6350934" y="4954823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21AFB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06</a:t>
              </a:r>
              <a:endParaRPr lang="ko-KR" altLang="en-US" dirty="0">
                <a:solidFill>
                  <a:srgbClr val="21AFB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3797D67-1BF0-876D-2AFB-1C68F8DBFBA5}"/>
                </a:ext>
              </a:extLst>
            </p:cNvPr>
            <p:cNvSpPr txBox="1"/>
            <p:nvPr/>
          </p:nvSpPr>
          <p:spPr>
            <a:xfrm>
              <a:off x="6729564" y="2729239"/>
              <a:ext cx="1179174" cy="3399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데이터 선정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63B2490-6C80-78FE-006E-CA748A0D1527}"/>
                </a:ext>
              </a:extLst>
            </p:cNvPr>
            <p:cNvSpPr txBox="1"/>
            <p:nvPr/>
          </p:nvSpPr>
          <p:spPr>
            <a:xfrm>
              <a:off x="6754964" y="3077291"/>
              <a:ext cx="2411170" cy="2832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>
                  <a:solidFill>
                    <a:schemeClr val="bg1">
                      <a:lumMod val="50000"/>
                    </a:schemeClr>
                  </a:solidFill>
                  <a:latin typeface="HG꼬딕씨_Pro 40g" panose="02020603020101020101" pitchFamily="18" charset="-127"/>
                  <a:ea typeface="HG꼬딕씨_Pro 40g" panose="02020603020101020101" pitchFamily="18" charset="-127"/>
                </a:rPr>
                <a:t>데이터 선정 기준 </a:t>
              </a:r>
              <a:r>
                <a:rPr lang="en-US" altLang="ko-KR" sz="1400" dirty="0">
                  <a:solidFill>
                    <a:schemeClr val="bg1">
                      <a:lumMod val="50000"/>
                    </a:schemeClr>
                  </a:solidFill>
                  <a:latin typeface="HG꼬딕씨_Pro 40g" panose="02020603020101020101" pitchFamily="18" charset="-127"/>
                  <a:ea typeface="HG꼬딕씨_Pro 40g" panose="02020603020101020101" pitchFamily="18" charset="-127"/>
                </a:rPr>
                <a:t>· </a:t>
              </a:r>
              <a:r>
                <a:rPr lang="ko-KR" altLang="en-US" sz="1400" dirty="0">
                  <a:solidFill>
                    <a:schemeClr val="bg1">
                      <a:lumMod val="50000"/>
                    </a:schemeClr>
                  </a:solidFill>
                  <a:latin typeface="HG꼬딕씨_Pro 40g" panose="02020603020101020101" pitchFamily="18" charset="-127"/>
                  <a:ea typeface="HG꼬딕씨_Pro 40g" panose="02020603020101020101" pitchFamily="18" charset="-127"/>
                </a:rPr>
                <a:t>데이터 </a:t>
              </a:r>
              <a:r>
                <a:rPr lang="ko-KR" altLang="en-US" sz="1400" dirty="0" err="1">
                  <a:solidFill>
                    <a:schemeClr val="bg1">
                      <a:lumMod val="50000"/>
                    </a:schemeClr>
                  </a:solidFill>
                  <a:latin typeface="HG꼬딕씨_Pro 40g" panose="02020603020101020101" pitchFamily="18" charset="-127"/>
                  <a:ea typeface="HG꼬딕씨_Pro 40g" panose="02020603020101020101" pitchFamily="18" charset="-127"/>
                </a:rPr>
                <a:t>전처리</a:t>
              </a:r>
              <a:r>
                <a:rPr lang="ko-KR" altLang="en-US" sz="1400" dirty="0">
                  <a:solidFill>
                    <a:schemeClr val="bg1">
                      <a:lumMod val="50000"/>
                    </a:schemeClr>
                  </a:solidFill>
                  <a:latin typeface="HG꼬딕씨_Pro 40g" panose="02020603020101020101" pitchFamily="18" charset="-127"/>
                  <a:ea typeface="HG꼬딕씨_Pro 40g" panose="02020603020101020101" pitchFamily="18" charset="-127"/>
                </a:rPr>
                <a:t> 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2E6E445-B017-3E13-7CB4-25E7AAB20EF9}"/>
                </a:ext>
              </a:extLst>
            </p:cNvPr>
            <p:cNvSpPr txBox="1"/>
            <p:nvPr/>
          </p:nvSpPr>
          <p:spPr>
            <a:xfrm>
              <a:off x="6754964" y="4188540"/>
              <a:ext cx="83227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>
                  <a:solidFill>
                    <a:schemeClr val="bg1">
                      <a:lumMod val="50000"/>
                    </a:schemeClr>
                  </a:solidFill>
                  <a:latin typeface="HG꼬딕씨_Pro 40g" panose="02020603020101020101" pitchFamily="18" charset="-127"/>
                  <a:ea typeface="HG꼬딕씨_Pro 40g" panose="02020603020101020101" pitchFamily="18" charset="-127"/>
                </a:rPr>
                <a:t>세부사항</a:t>
              </a:r>
              <a:endParaRPr lang="ko-KR" altLang="en-US" sz="1400" dirty="0">
                <a:solidFill>
                  <a:schemeClr val="bg1">
                    <a:lumMod val="50000"/>
                  </a:schemeClr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5CB2414-7A79-7D55-85F6-AAEF7A6ABA6B}"/>
                </a:ext>
              </a:extLst>
            </p:cNvPr>
            <p:cNvSpPr txBox="1"/>
            <p:nvPr/>
          </p:nvSpPr>
          <p:spPr>
            <a:xfrm>
              <a:off x="6754964" y="5299789"/>
              <a:ext cx="83227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>
                  <a:solidFill>
                    <a:schemeClr val="bg1">
                      <a:lumMod val="50000"/>
                    </a:schemeClr>
                  </a:solidFill>
                  <a:latin typeface="HG꼬딕씨_Pro 40g" panose="02020603020101020101" pitchFamily="18" charset="-127"/>
                  <a:ea typeface="HG꼬딕씨_Pro 40g" panose="02020603020101020101" pitchFamily="18" charset="-127"/>
                </a:rPr>
                <a:t>세부사항</a:t>
              </a:r>
              <a:endParaRPr lang="ko-KR" altLang="en-US" sz="1400" dirty="0">
                <a:solidFill>
                  <a:schemeClr val="bg1">
                    <a:lumMod val="50000"/>
                  </a:schemeClr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8AAAD19-2487-B885-E520-F676B529D033}"/>
                </a:ext>
              </a:extLst>
            </p:cNvPr>
            <p:cNvSpPr txBox="1"/>
            <p:nvPr/>
          </p:nvSpPr>
          <p:spPr>
            <a:xfrm>
              <a:off x="6729564" y="3842031"/>
              <a:ext cx="1663119" cy="3399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모델 비교 및 선정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487825E-B546-4CDE-479C-0F9F8286259F}"/>
                </a:ext>
              </a:extLst>
            </p:cNvPr>
            <p:cNvSpPr txBox="1"/>
            <p:nvPr/>
          </p:nvSpPr>
          <p:spPr>
            <a:xfrm>
              <a:off x="6729564" y="4949788"/>
              <a:ext cx="1713284" cy="3399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평가 및 차후 기획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97870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9D524-E356-DA6D-AA50-BAFF98291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810473-38D2-84B0-F7A6-1328B0D66DE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8"/>
          </a:solidFill>
          <a:ln>
            <a:solidFill>
              <a:srgbClr val="F7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F5B124-9B0A-7DAF-E09D-7F09E33A47CA}"/>
              </a:ext>
            </a:extLst>
          </p:cNvPr>
          <p:cNvSpPr/>
          <p:nvPr/>
        </p:nvSpPr>
        <p:spPr>
          <a:xfrm>
            <a:off x="0" y="0"/>
            <a:ext cx="1965960" cy="6858000"/>
          </a:xfrm>
          <a:prstGeom prst="rect">
            <a:avLst/>
          </a:prstGeom>
          <a:solidFill>
            <a:srgbClr val="1FAAB5"/>
          </a:solidFill>
          <a:ln>
            <a:solidFill>
              <a:srgbClr val="1FA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0259CBEB-DB8E-E6BA-6C10-10B04658AB1A}"/>
              </a:ext>
            </a:extLst>
          </p:cNvPr>
          <p:cNvGrpSpPr/>
          <p:nvPr/>
        </p:nvGrpSpPr>
        <p:grpSpPr>
          <a:xfrm>
            <a:off x="329184" y="530352"/>
            <a:ext cx="914400" cy="861646"/>
            <a:chOff x="109728" y="217346"/>
            <a:chExt cx="914400" cy="86164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496C3A0-CE51-4F47-0EA1-6B5A3C2405FE}"/>
                </a:ext>
              </a:extLst>
            </p:cNvPr>
            <p:cNvSpPr txBox="1"/>
            <p:nvPr/>
          </p:nvSpPr>
          <p:spPr>
            <a:xfrm>
              <a:off x="109728" y="338918"/>
              <a:ext cx="914400" cy="74007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0</a:t>
              </a:r>
              <a:r>
                <a:rPr lang="en-US" sz="4000" b="1" dirty="0">
                  <a:solidFill>
                    <a:srgbClr val="FFFFFF"/>
                  </a:solidFill>
                  <a:latin typeface="HG꼬딕씨_Pro 60g" panose="02020603020101020101" pitchFamily="18" charset="-127"/>
                </a:rPr>
                <a:t>1</a:t>
              </a:r>
              <a:endPara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1B41560-0342-A731-1729-8D41357DCA2F}"/>
                </a:ext>
              </a:extLst>
            </p:cNvPr>
            <p:cNvSpPr txBox="1"/>
            <p:nvPr/>
          </p:nvSpPr>
          <p:spPr>
            <a:xfrm>
              <a:off x="109728" y="217346"/>
              <a:ext cx="877824" cy="24314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8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SECTION</a:t>
              </a:r>
            </a:p>
          </p:txBody>
        </p:sp>
      </p:grp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42D550A-3EF0-435C-7E32-EB562DE1241C}"/>
              </a:ext>
            </a:extLst>
          </p:cNvPr>
          <p:cNvSpPr/>
          <p:nvPr/>
        </p:nvSpPr>
        <p:spPr>
          <a:xfrm>
            <a:off x="329184" y="5559552"/>
            <a:ext cx="1051560" cy="100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7931906-06C7-D243-F390-3F5E6F515E56}"/>
              </a:ext>
            </a:extLst>
          </p:cNvPr>
          <p:cNvSpPr/>
          <p:nvPr/>
        </p:nvSpPr>
        <p:spPr>
          <a:xfrm>
            <a:off x="329184" y="5788152"/>
            <a:ext cx="658368" cy="100584"/>
          </a:xfrm>
          <a:prstGeom prst="roundRect">
            <a:avLst/>
          </a:prstGeom>
          <a:solidFill>
            <a:srgbClr val="DEF1F3"/>
          </a:solidFill>
          <a:ln w="12700">
            <a:solidFill>
              <a:srgbClr val="DE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0A7204-B153-94A5-1431-50A0F11355B5}"/>
              </a:ext>
            </a:extLst>
          </p:cNvPr>
          <p:cNvSpPr txBox="1"/>
          <p:nvPr/>
        </p:nvSpPr>
        <p:spPr>
          <a:xfrm>
            <a:off x="2359152" y="530352"/>
            <a:ext cx="2011680" cy="27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atinLnBrk="0">
              <a:lnSpc>
                <a:spcPct val="110000"/>
              </a:lnSpc>
            </a:pPr>
            <a:r>
              <a:rPr lang="ko-KR" altLang="ko-KR" sz="1100" b="1" dirty="0" err="1">
                <a:solidFill>
                  <a:srgbClr val="15747C"/>
                </a:solidFill>
                <a:latin typeface="HG꼬딕씨_Pro 60g" panose="02020603020101020101" pitchFamily="18" charset="-127"/>
              </a:rPr>
              <a:t>Analysis</a:t>
            </a:r>
            <a:r>
              <a:rPr lang="ko-KR" altLang="ko-KR" sz="1100" b="1" dirty="0">
                <a:solidFill>
                  <a:srgbClr val="15747C"/>
                </a:solidFill>
                <a:latin typeface="HG꼬딕씨_Pro 60g" panose="02020603020101020101" pitchFamily="18" charset="-127"/>
              </a:rPr>
              <a:t> </a:t>
            </a:r>
            <a:r>
              <a:rPr lang="ko-KR" altLang="ko-KR" sz="1100" b="1" dirty="0" err="1">
                <a:solidFill>
                  <a:srgbClr val="15747C"/>
                </a:solidFill>
                <a:latin typeface="HG꼬딕씨_Pro 60g" panose="02020603020101020101" pitchFamily="18" charset="-127"/>
              </a:rPr>
              <a:t>Overview</a:t>
            </a:r>
            <a:endParaRPr sz="1100" b="1" dirty="0">
              <a:solidFill>
                <a:srgbClr val="15747C"/>
              </a:solidFill>
              <a:latin typeface="HG꼬딕씨_Pro 60g" panose="02020603020101020101" pitchFamily="18" charset="-127"/>
            </a:endParaRPr>
          </a:p>
        </p:txBody>
      </p: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C391669A-3437-7C60-AD77-241D6B40A4BA}"/>
              </a:ext>
            </a:extLst>
          </p:cNvPr>
          <p:cNvCxnSpPr/>
          <p:nvPr/>
        </p:nvCxnSpPr>
        <p:spPr>
          <a:xfrm>
            <a:off x="2359152" y="868680"/>
            <a:ext cx="9006840" cy="0"/>
          </a:xfrm>
          <a:prstGeom prst="line">
            <a:avLst/>
          </a:prstGeom>
          <a:ln w="17780">
            <a:solidFill>
              <a:srgbClr val="DEF1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895016C-6F67-0E8D-B2C4-4F9408384088}"/>
              </a:ext>
            </a:extLst>
          </p:cNvPr>
          <p:cNvSpPr txBox="1"/>
          <p:nvPr/>
        </p:nvSpPr>
        <p:spPr>
          <a:xfrm>
            <a:off x="2359152" y="1078992"/>
            <a:ext cx="630936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ko-KR" altLang="en-US" sz="2400" dirty="0">
                <a:solidFill>
                  <a:srgbClr val="232F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데이터분석 개요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CACA78-A168-D0D5-C59E-496A3AD2CF06}"/>
              </a:ext>
            </a:extLst>
          </p:cNvPr>
          <p:cNvSpPr txBox="1"/>
          <p:nvPr/>
        </p:nvSpPr>
        <p:spPr>
          <a:xfrm>
            <a:off x="2359152" y="1612789"/>
            <a:ext cx="6858000" cy="2763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atinLnBrk="0">
              <a:lnSpc>
                <a:spcPct val="112000"/>
              </a:lnSpc>
              <a:defRPr/>
            </a:pPr>
            <a:r>
              <a:rPr lang="ko-KR" altLang="en-US" sz="112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관광객 증가와 폐업 증가가 동시에 나타나는 부산 상권의 아이러니를 데이터로 확인</a:t>
            </a:r>
          </a:p>
        </p:txBody>
      </p:sp>
      <p:sp>
        <p:nvSpPr>
          <p:cNvPr id="5" name="Rounded Rectangle 11">
            <a:extLst>
              <a:ext uri="{FF2B5EF4-FFF2-40B4-BE49-F238E27FC236}">
                <a16:creationId xmlns:a16="http://schemas.microsoft.com/office/drawing/2014/main" id="{C3BD829F-141C-239B-EEEC-F4257834F826}"/>
              </a:ext>
            </a:extLst>
          </p:cNvPr>
          <p:cNvSpPr/>
          <p:nvPr/>
        </p:nvSpPr>
        <p:spPr>
          <a:xfrm>
            <a:off x="2331720" y="2359152"/>
            <a:ext cx="2788920" cy="374904"/>
          </a:xfrm>
          <a:prstGeom prst="roundRect">
            <a:avLst/>
          </a:prstGeom>
          <a:solidFill>
            <a:srgbClr val="D8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597C1F-5A79-D45A-7240-E67E19E44B5C}"/>
              </a:ext>
            </a:extLst>
          </p:cNvPr>
          <p:cNvSpPr txBox="1"/>
          <p:nvPr/>
        </p:nvSpPr>
        <p:spPr>
          <a:xfrm>
            <a:off x="2331720" y="2399244"/>
            <a:ext cx="2788920" cy="2754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50" dirty="0" err="1">
                <a:solidFill>
                  <a:srgbClr val="007C86"/>
                </a:solidFill>
                <a:latin typeface="HG꼬딕씨_Pro 60g" panose="02020603020101020101" pitchFamily="18" charset="-127"/>
              </a:rPr>
              <a:t>문제</a:t>
            </a:r>
            <a:r>
              <a:rPr sz="1550" dirty="0">
                <a:solidFill>
                  <a:srgbClr val="007C86"/>
                </a:solidFill>
                <a:latin typeface="HG꼬딕씨_Pro 60g" panose="02020603020101020101" pitchFamily="18" charset="-127"/>
              </a:rPr>
              <a:t> </a:t>
            </a:r>
            <a:r>
              <a:rPr sz="1550" dirty="0" err="1">
                <a:solidFill>
                  <a:srgbClr val="007C86"/>
                </a:solidFill>
                <a:latin typeface="HG꼬딕씨_Pro 60g" panose="02020603020101020101" pitchFamily="18" charset="-127"/>
              </a:rPr>
              <a:t>정의</a:t>
            </a:r>
            <a:r>
              <a:rPr sz="1550" dirty="0">
                <a:solidFill>
                  <a:srgbClr val="007C86"/>
                </a:solidFill>
                <a:latin typeface="HG꼬딕씨_Pro 60g" panose="02020603020101020101" pitchFamily="18" charset="-127"/>
              </a:rPr>
              <a:t> · </a:t>
            </a:r>
            <a:r>
              <a:rPr sz="1550" dirty="0" err="1">
                <a:solidFill>
                  <a:srgbClr val="007C86"/>
                </a:solidFill>
                <a:latin typeface="HG꼬딕씨_Pro 60g" panose="02020603020101020101" pitchFamily="18" charset="-127"/>
              </a:rPr>
              <a:t>분석</a:t>
            </a:r>
            <a:r>
              <a:rPr sz="1550" dirty="0">
                <a:solidFill>
                  <a:srgbClr val="007C86"/>
                </a:solidFill>
                <a:latin typeface="HG꼬딕씨_Pro 60g" panose="02020603020101020101" pitchFamily="18" charset="-127"/>
              </a:rPr>
              <a:t> </a:t>
            </a:r>
            <a:r>
              <a:rPr sz="1550" dirty="0" err="1">
                <a:solidFill>
                  <a:srgbClr val="007C86"/>
                </a:solidFill>
                <a:latin typeface="HG꼬딕씨_Pro 60g" panose="02020603020101020101" pitchFamily="18" charset="-127"/>
              </a:rPr>
              <a:t>목적</a:t>
            </a:r>
            <a:endParaRPr sz="1550" dirty="0">
              <a:solidFill>
                <a:srgbClr val="007C86"/>
              </a:solidFill>
              <a:latin typeface="HG꼬딕씨_Pro 60g" panose="02020603020101020101" pitchFamily="18" charset="-127"/>
            </a:endParaRPr>
          </a:p>
        </p:txBody>
      </p:sp>
      <p:sp>
        <p:nvSpPr>
          <p:cNvPr id="34" name="Rounded Rectangle 13">
            <a:extLst>
              <a:ext uri="{FF2B5EF4-FFF2-40B4-BE49-F238E27FC236}">
                <a16:creationId xmlns:a16="http://schemas.microsoft.com/office/drawing/2014/main" id="{F4B08347-DE72-936B-B418-A1CFA93DE209}"/>
              </a:ext>
            </a:extLst>
          </p:cNvPr>
          <p:cNvSpPr/>
          <p:nvPr/>
        </p:nvSpPr>
        <p:spPr>
          <a:xfrm>
            <a:off x="5239512" y="2359152"/>
            <a:ext cx="2788920" cy="374904"/>
          </a:xfrm>
          <a:prstGeom prst="roundRect">
            <a:avLst/>
          </a:prstGeom>
          <a:solidFill>
            <a:srgbClr val="D8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840538D-7C57-14C3-1DF0-410E03B369CA}"/>
              </a:ext>
            </a:extLst>
          </p:cNvPr>
          <p:cNvSpPr txBox="1"/>
          <p:nvPr/>
        </p:nvSpPr>
        <p:spPr>
          <a:xfrm>
            <a:off x="5239512" y="2399244"/>
            <a:ext cx="2788920" cy="2754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50" dirty="0" err="1">
                <a:solidFill>
                  <a:srgbClr val="007C86"/>
                </a:solidFill>
                <a:latin typeface="HG꼬딕씨_Pro 60g" panose="02020603020101020101" pitchFamily="18" charset="-127"/>
              </a:rPr>
              <a:t>데이터</a:t>
            </a:r>
            <a:r>
              <a:rPr sz="1550" dirty="0">
                <a:solidFill>
                  <a:srgbClr val="007C86"/>
                </a:solidFill>
                <a:latin typeface="HG꼬딕씨_Pro 60g" panose="02020603020101020101" pitchFamily="18" charset="-127"/>
              </a:rPr>
              <a:t> </a:t>
            </a:r>
            <a:r>
              <a:rPr sz="1550" dirty="0" err="1">
                <a:solidFill>
                  <a:srgbClr val="007C86"/>
                </a:solidFill>
                <a:latin typeface="HG꼬딕씨_Pro 60g" panose="02020603020101020101" pitchFamily="18" charset="-127"/>
              </a:rPr>
              <a:t>범위</a:t>
            </a:r>
            <a:r>
              <a:rPr sz="1550" dirty="0">
                <a:solidFill>
                  <a:srgbClr val="007C86"/>
                </a:solidFill>
                <a:latin typeface="HG꼬딕씨_Pro 60g" panose="02020603020101020101" pitchFamily="18" charset="-127"/>
              </a:rPr>
              <a:t> · </a:t>
            </a:r>
            <a:r>
              <a:rPr sz="1550" dirty="0" err="1">
                <a:solidFill>
                  <a:srgbClr val="007C86"/>
                </a:solidFill>
                <a:latin typeface="HG꼬딕씨_Pro 60g" panose="02020603020101020101" pitchFamily="18" charset="-127"/>
              </a:rPr>
              <a:t>진행</a:t>
            </a:r>
            <a:r>
              <a:rPr sz="1550" dirty="0">
                <a:solidFill>
                  <a:srgbClr val="007C86"/>
                </a:solidFill>
                <a:latin typeface="HG꼬딕씨_Pro 60g" panose="02020603020101020101" pitchFamily="18" charset="-127"/>
              </a:rPr>
              <a:t> </a:t>
            </a:r>
            <a:r>
              <a:rPr sz="1550" dirty="0" err="1">
                <a:solidFill>
                  <a:srgbClr val="007C86"/>
                </a:solidFill>
                <a:latin typeface="HG꼬딕씨_Pro 60g" panose="02020603020101020101" pitchFamily="18" charset="-127"/>
              </a:rPr>
              <a:t>구조</a:t>
            </a:r>
            <a:endParaRPr sz="1550" dirty="0">
              <a:solidFill>
                <a:srgbClr val="007C86"/>
              </a:solidFill>
              <a:latin typeface="HG꼬딕씨_Pro 60g" panose="02020603020101020101" pitchFamily="18" charset="-127"/>
            </a:endParaRPr>
          </a:p>
        </p:txBody>
      </p:sp>
      <p:sp>
        <p:nvSpPr>
          <p:cNvPr id="38" name="Rounded Rectangle 15">
            <a:extLst>
              <a:ext uri="{FF2B5EF4-FFF2-40B4-BE49-F238E27FC236}">
                <a16:creationId xmlns:a16="http://schemas.microsoft.com/office/drawing/2014/main" id="{A5B83D0D-CB9C-C190-4599-C92AEF028F9E}"/>
              </a:ext>
            </a:extLst>
          </p:cNvPr>
          <p:cNvSpPr/>
          <p:nvPr/>
        </p:nvSpPr>
        <p:spPr>
          <a:xfrm>
            <a:off x="2450591" y="3099815"/>
            <a:ext cx="9006840" cy="1792224"/>
          </a:xfrm>
          <a:prstGeom prst="roundRect">
            <a:avLst/>
          </a:prstGeom>
          <a:solidFill>
            <a:srgbClr val="D2D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16">
            <a:extLst>
              <a:ext uri="{FF2B5EF4-FFF2-40B4-BE49-F238E27FC236}">
                <a16:creationId xmlns:a16="http://schemas.microsoft.com/office/drawing/2014/main" id="{81A06B70-D098-1B26-0FDE-693267F62E9C}"/>
              </a:ext>
            </a:extLst>
          </p:cNvPr>
          <p:cNvSpPr/>
          <p:nvPr/>
        </p:nvSpPr>
        <p:spPr>
          <a:xfrm>
            <a:off x="2423160" y="3054096"/>
            <a:ext cx="9006840" cy="1792224"/>
          </a:xfrm>
          <a:prstGeom prst="roundRect">
            <a:avLst/>
          </a:prstGeom>
          <a:solidFill>
            <a:srgbClr val="FFFFFF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64F1849-AEDA-CB2E-814C-7CBADA91660B}"/>
              </a:ext>
            </a:extLst>
          </p:cNvPr>
          <p:cNvSpPr txBox="1"/>
          <p:nvPr/>
        </p:nvSpPr>
        <p:spPr>
          <a:xfrm>
            <a:off x="2715768" y="3364991"/>
            <a:ext cx="1828800" cy="26007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dirty="0">
                <a:solidFill>
                  <a:srgbClr val="007C86"/>
                </a:solidFill>
                <a:latin typeface="HG꼬딕씨_Pro 60g" panose="02020603020101020101" pitchFamily="18" charset="-127"/>
              </a:rPr>
              <a:t>ANALYSIS FRAME</a:t>
            </a:r>
          </a:p>
        </p:txBody>
      </p:sp>
      <p:sp>
        <p:nvSpPr>
          <p:cNvPr id="44" name="Oval 18">
            <a:extLst>
              <a:ext uri="{FF2B5EF4-FFF2-40B4-BE49-F238E27FC236}">
                <a16:creationId xmlns:a16="http://schemas.microsoft.com/office/drawing/2014/main" id="{29FD6EA2-61AA-E5A1-702E-4C932E2EAADB}"/>
              </a:ext>
            </a:extLst>
          </p:cNvPr>
          <p:cNvSpPr/>
          <p:nvPr/>
        </p:nvSpPr>
        <p:spPr>
          <a:xfrm>
            <a:off x="2697479" y="3767328"/>
            <a:ext cx="301752" cy="301752"/>
          </a:xfrm>
          <a:prstGeom prst="ellipse">
            <a:avLst/>
          </a:prstGeom>
          <a:solidFill>
            <a:srgbClr val="22ADB5"/>
          </a:solidFill>
          <a:ln>
            <a:solidFill>
              <a:srgbClr val="22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677E978-E44A-79D2-43E5-42D0E38C5581}"/>
              </a:ext>
            </a:extLst>
          </p:cNvPr>
          <p:cNvSpPr txBox="1"/>
          <p:nvPr/>
        </p:nvSpPr>
        <p:spPr>
          <a:xfrm>
            <a:off x="3108960" y="3758184"/>
            <a:ext cx="3749039" cy="2400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20" dirty="0" err="1">
                <a:solidFill>
                  <a:srgbClr val="232F35"/>
                </a:solidFill>
                <a:latin typeface="HG꼬딕씨_Pro 60g" panose="02020603020101020101" pitchFamily="18" charset="-127"/>
              </a:rPr>
              <a:t>문제</a:t>
            </a:r>
            <a:r>
              <a:rPr sz="1320" dirty="0">
                <a:solidFill>
                  <a:srgbClr val="232F35"/>
                </a:solidFill>
                <a:latin typeface="HG꼬딕씨_Pro 60g" panose="02020603020101020101" pitchFamily="18" charset="-127"/>
              </a:rPr>
              <a:t> </a:t>
            </a:r>
            <a:r>
              <a:rPr sz="1320" dirty="0" err="1">
                <a:solidFill>
                  <a:srgbClr val="232F35"/>
                </a:solidFill>
                <a:latin typeface="HG꼬딕씨_Pro 60g" panose="02020603020101020101" pitchFamily="18" charset="-127"/>
              </a:rPr>
              <a:t>정의</a:t>
            </a:r>
            <a:endParaRPr sz="1320" dirty="0">
              <a:solidFill>
                <a:srgbClr val="232F35"/>
              </a:solidFill>
              <a:latin typeface="HG꼬딕씨_Pro 60g" panose="02020603020101020101" pitchFamily="18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8C805C0-790E-BC61-5DB3-3142B41FB4A7}"/>
              </a:ext>
            </a:extLst>
          </p:cNvPr>
          <p:cNvSpPr txBox="1"/>
          <p:nvPr/>
        </p:nvSpPr>
        <p:spPr>
          <a:xfrm>
            <a:off x="3108960" y="4005072"/>
            <a:ext cx="3749039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관광객·관광지출은</a:t>
            </a:r>
            <a:r>
              <a:rPr sz="1000" dirty="0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 </a:t>
            </a:r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증가하지만</a:t>
            </a:r>
            <a:r>
              <a:rPr sz="1000" dirty="0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 </a:t>
            </a:r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부산</a:t>
            </a:r>
            <a:r>
              <a:rPr sz="1000" dirty="0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 내 </a:t>
            </a:r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폐업수도</a:t>
            </a:r>
            <a:r>
              <a:rPr sz="1000" dirty="0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 </a:t>
            </a:r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동시에</a:t>
            </a:r>
            <a:r>
              <a:rPr sz="1000" dirty="0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 </a:t>
            </a:r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증가</a:t>
            </a:r>
            <a:endParaRPr sz="1000" dirty="0">
              <a:solidFill>
                <a:srgbClr val="5A6970"/>
              </a:solidFill>
              <a:latin typeface="HG꼬딕씨_Pro 20g" panose="02020603020101020101" pitchFamily="18" charset="-127"/>
              <a:ea typeface="HG꼬딕씨_Pro 20g" panose="02020603020101020101" pitchFamily="18" charset="-127"/>
            </a:endParaRPr>
          </a:p>
        </p:txBody>
      </p:sp>
      <p:sp>
        <p:nvSpPr>
          <p:cNvPr id="50" name="Oval 22">
            <a:extLst>
              <a:ext uri="{FF2B5EF4-FFF2-40B4-BE49-F238E27FC236}">
                <a16:creationId xmlns:a16="http://schemas.microsoft.com/office/drawing/2014/main" id="{23657752-2BD8-13EE-5B1B-F84629644EE5}"/>
              </a:ext>
            </a:extLst>
          </p:cNvPr>
          <p:cNvSpPr/>
          <p:nvPr/>
        </p:nvSpPr>
        <p:spPr>
          <a:xfrm>
            <a:off x="6995160" y="3767328"/>
            <a:ext cx="301752" cy="301752"/>
          </a:xfrm>
          <a:prstGeom prst="ellipse">
            <a:avLst/>
          </a:prstGeom>
          <a:solidFill>
            <a:srgbClr val="22ADB5"/>
          </a:solidFill>
          <a:ln>
            <a:solidFill>
              <a:srgbClr val="22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B21A97-BFC7-D66E-81E7-EDAF278FF987}"/>
              </a:ext>
            </a:extLst>
          </p:cNvPr>
          <p:cNvSpPr txBox="1"/>
          <p:nvPr/>
        </p:nvSpPr>
        <p:spPr>
          <a:xfrm>
            <a:off x="6995160" y="3829308"/>
            <a:ext cx="301752" cy="18312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dirty="0">
                <a:solidFill>
                  <a:srgbClr val="FFFFFF"/>
                </a:solidFill>
                <a:latin typeface="HG꼬딕씨_Pro 60g" panose="02020603020101020101" pitchFamily="18" charset="-127"/>
              </a:rPr>
              <a:t>03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818F084-E04C-B1B6-B772-7877CD78AD4D}"/>
              </a:ext>
            </a:extLst>
          </p:cNvPr>
          <p:cNvSpPr txBox="1"/>
          <p:nvPr/>
        </p:nvSpPr>
        <p:spPr>
          <a:xfrm>
            <a:off x="7406640" y="3758184"/>
            <a:ext cx="3931920" cy="2400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20" dirty="0" err="1">
                <a:solidFill>
                  <a:srgbClr val="232F35"/>
                </a:solidFill>
                <a:latin typeface="HG꼬딕씨_Pro 60g" panose="02020603020101020101" pitchFamily="18" charset="-127"/>
              </a:rPr>
              <a:t>분석</a:t>
            </a:r>
            <a:r>
              <a:rPr sz="1320" dirty="0">
                <a:solidFill>
                  <a:srgbClr val="232F35"/>
                </a:solidFill>
                <a:latin typeface="HG꼬딕씨_Pro 60g" panose="02020603020101020101" pitchFamily="18" charset="-127"/>
              </a:rPr>
              <a:t> </a:t>
            </a:r>
            <a:r>
              <a:rPr sz="1320" dirty="0" err="1">
                <a:solidFill>
                  <a:srgbClr val="232F35"/>
                </a:solidFill>
                <a:latin typeface="HG꼬딕씨_Pro 60g" panose="02020603020101020101" pitchFamily="18" charset="-127"/>
              </a:rPr>
              <a:t>대상</a:t>
            </a:r>
            <a:endParaRPr sz="1320" dirty="0">
              <a:solidFill>
                <a:srgbClr val="232F35"/>
              </a:solidFill>
              <a:latin typeface="HG꼬딕씨_Pro 60g" panose="02020603020101020101" pitchFamily="18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8900A16-88B8-3E1D-0DAA-01B7146659FC}"/>
              </a:ext>
            </a:extLst>
          </p:cNvPr>
          <p:cNvSpPr txBox="1"/>
          <p:nvPr/>
        </p:nvSpPr>
        <p:spPr>
          <a:xfrm>
            <a:off x="7406640" y="4005072"/>
            <a:ext cx="393192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관광객</a:t>
            </a:r>
            <a:r>
              <a:rPr sz="1000" dirty="0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 수, </a:t>
            </a:r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관광소비</a:t>
            </a:r>
            <a:r>
              <a:rPr sz="1000" dirty="0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, </a:t>
            </a:r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지역·업종별</a:t>
            </a:r>
            <a:r>
              <a:rPr sz="1000" dirty="0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 </a:t>
            </a:r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상권</a:t>
            </a:r>
            <a:r>
              <a:rPr sz="1000" dirty="0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, </a:t>
            </a:r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폐업·사업자</a:t>
            </a:r>
            <a:r>
              <a:rPr sz="1000" dirty="0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 </a:t>
            </a:r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변화</a:t>
            </a:r>
            <a:endParaRPr sz="1000" dirty="0">
              <a:solidFill>
                <a:srgbClr val="5A6970"/>
              </a:solidFill>
              <a:latin typeface="HG꼬딕씨_Pro 20g" panose="02020603020101020101" pitchFamily="18" charset="-127"/>
              <a:ea typeface="HG꼬딕씨_Pro 20g" panose="02020603020101020101" pitchFamily="18" charset="-127"/>
            </a:endParaRPr>
          </a:p>
        </p:txBody>
      </p:sp>
      <p:sp>
        <p:nvSpPr>
          <p:cNvPr id="58" name="Oval 26">
            <a:extLst>
              <a:ext uri="{FF2B5EF4-FFF2-40B4-BE49-F238E27FC236}">
                <a16:creationId xmlns:a16="http://schemas.microsoft.com/office/drawing/2014/main" id="{4B6642CC-4941-4A56-C441-CB9439553D53}"/>
              </a:ext>
            </a:extLst>
          </p:cNvPr>
          <p:cNvSpPr/>
          <p:nvPr/>
        </p:nvSpPr>
        <p:spPr>
          <a:xfrm>
            <a:off x="2697479" y="4224528"/>
            <a:ext cx="301752" cy="301752"/>
          </a:xfrm>
          <a:prstGeom prst="ellipse">
            <a:avLst/>
          </a:prstGeom>
          <a:solidFill>
            <a:srgbClr val="22ADB5"/>
          </a:solidFill>
          <a:ln>
            <a:solidFill>
              <a:srgbClr val="22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829096C-B3BE-36EB-4B9B-C6F3F7741DFC}"/>
              </a:ext>
            </a:extLst>
          </p:cNvPr>
          <p:cNvSpPr txBox="1"/>
          <p:nvPr/>
        </p:nvSpPr>
        <p:spPr>
          <a:xfrm>
            <a:off x="3108960" y="4215384"/>
            <a:ext cx="3749039" cy="2400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20" dirty="0" err="1">
                <a:solidFill>
                  <a:srgbClr val="232F35"/>
                </a:solidFill>
                <a:latin typeface="HG꼬딕씨_Pro 60g" panose="02020603020101020101" pitchFamily="18" charset="-127"/>
              </a:rPr>
              <a:t>분석</a:t>
            </a:r>
            <a:r>
              <a:rPr sz="1320" dirty="0">
                <a:solidFill>
                  <a:srgbClr val="232F35"/>
                </a:solidFill>
                <a:latin typeface="HG꼬딕씨_Pro 60g" panose="02020603020101020101" pitchFamily="18" charset="-127"/>
              </a:rPr>
              <a:t> </a:t>
            </a:r>
            <a:r>
              <a:rPr sz="1320" dirty="0" err="1">
                <a:solidFill>
                  <a:srgbClr val="232F35"/>
                </a:solidFill>
                <a:latin typeface="HG꼬딕씨_Pro 60g" panose="02020603020101020101" pitchFamily="18" charset="-127"/>
              </a:rPr>
              <a:t>목적</a:t>
            </a:r>
            <a:endParaRPr sz="1320" dirty="0">
              <a:solidFill>
                <a:srgbClr val="232F35"/>
              </a:solidFill>
              <a:latin typeface="HG꼬딕씨_Pro 60g" panose="02020603020101020101" pitchFamily="18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8F0B90D-BC7C-46F0-AEA6-B63659310D5B}"/>
              </a:ext>
            </a:extLst>
          </p:cNvPr>
          <p:cNvSpPr txBox="1"/>
          <p:nvPr/>
        </p:nvSpPr>
        <p:spPr>
          <a:xfrm>
            <a:off x="3108960" y="4462272"/>
            <a:ext cx="3749039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상반된</a:t>
            </a:r>
            <a:r>
              <a:rPr sz="1000" dirty="0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 </a:t>
            </a:r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기사</a:t>
            </a:r>
            <a:r>
              <a:rPr sz="1000" dirty="0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 </a:t>
            </a:r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흐름을</a:t>
            </a:r>
            <a:r>
              <a:rPr sz="1000" dirty="0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 </a:t>
            </a:r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데이터로</a:t>
            </a:r>
            <a:r>
              <a:rPr sz="1000" dirty="0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 </a:t>
            </a:r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검증하고</a:t>
            </a:r>
            <a:r>
              <a:rPr sz="1000" dirty="0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 </a:t>
            </a:r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도시문제</a:t>
            </a:r>
            <a:r>
              <a:rPr sz="1000" dirty="0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 </a:t>
            </a:r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해결</a:t>
            </a:r>
            <a:r>
              <a:rPr sz="1000" dirty="0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 </a:t>
            </a:r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아이디어로</a:t>
            </a:r>
            <a:r>
              <a:rPr sz="1000" dirty="0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 </a:t>
            </a:r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확장</a:t>
            </a:r>
            <a:endParaRPr sz="1000" dirty="0">
              <a:solidFill>
                <a:srgbClr val="5A6970"/>
              </a:solidFill>
              <a:latin typeface="HG꼬딕씨_Pro 20g" panose="02020603020101020101" pitchFamily="18" charset="-127"/>
              <a:ea typeface="HG꼬딕씨_Pro 20g" panose="02020603020101020101" pitchFamily="18" charset="-127"/>
            </a:endParaRPr>
          </a:p>
        </p:txBody>
      </p:sp>
      <p:sp>
        <p:nvSpPr>
          <p:cNvPr id="64" name="Oval 30">
            <a:extLst>
              <a:ext uri="{FF2B5EF4-FFF2-40B4-BE49-F238E27FC236}">
                <a16:creationId xmlns:a16="http://schemas.microsoft.com/office/drawing/2014/main" id="{A9BB934F-A5BC-7AFF-D571-525A7D5BC400}"/>
              </a:ext>
            </a:extLst>
          </p:cNvPr>
          <p:cNvSpPr/>
          <p:nvPr/>
        </p:nvSpPr>
        <p:spPr>
          <a:xfrm>
            <a:off x="6995160" y="4224528"/>
            <a:ext cx="301752" cy="301752"/>
          </a:xfrm>
          <a:prstGeom prst="ellipse">
            <a:avLst/>
          </a:prstGeom>
          <a:solidFill>
            <a:srgbClr val="22ADB5"/>
          </a:solidFill>
          <a:ln>
            <a:solidFill>
              <a:srgbClr val="22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EECC1C6-ED35-E839-6634-FE0377BF99D2}"/>
              </a:ext>
            </a:extLst>
          </p:cNvPr>
          <p:cNvSpPr txBox="1"/>
          <p:nvPr/>
        </p:nvSpPr>
        <p:spPr>
          <a:xfrm>
            <a:off x="6995160" y="4286508"/>
            <a:ext cx="301752" cy="18312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dirty="0">
                <a:solidFill>
                  <a:srgbClr val="FFFFFF"/>
                </a:solidFill>
                <a:latin typeface="HG꼬딕씨_Pro 60g" panose="02020603020101020101" pitchFamily="18" charset="-127"/>
              </a:rPr>
              <a:t>04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3061FB0-306B-F5AB-276D-A464B22B2530}"/>
              </a:ext>
            </a:extLst>
          </p:cNvPr>
          <p:cNvSpPr txBox="1"/>
          <p:nvPr/>
        </p:nvSpPr>
        <p:spPr>
          <a:xfrm>
            <a:off x="7406640" y="4215384"/>
            <a:ext cx="3931920" cy="2400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20" dirty="0" err="1">
                <a:solidFill>
                  <a:srgbClr val="232F35"/>
                </a:solidFill>
                <a:latin typeface="HG꼬딕씨_Pro 60g" panose="02020603020101020101" pitchFamily="18" charset="-127"/>
              </a:rPr>
              <a:t>진행</a:t>
            </a:r>
            <a:r>
              <a:rPr sz="1320" dirty="0">
                <a:solidFill>
                  <a:srgbClr val="232F35"/>
                </a:solidFill>
                <a:latin typeface="HG꼬딕씨_Pro 60g" panose="02020603020101020101" pitchFamily="18" charset="-127"/>
              </a:rPr>
              <a:t> </a:t>
            </a:r>
            <a:r>
              <a:rPr sz="1320" dirty="0" err="1">
                <a:solidFill>
                  <a:srgbClr val="232F35"/>
                </a:solidFill>
                <a:latin typeface="HG꼬딕씨_Pro 60g" panose="02020603020101020101" pitchFamily="18" charset="-127"/>
              </a:rPr>
              <a:t>구조</a:t>
            </a:r>
            <a:endParaRPr sz="1320" dirty="0">
              <a:solidFill>
                <a:srgbClr val="232F35"/>
              </a:solidFill>
              <a:latin typeface="HG꼬딕씨_Pro 60g" panose="02020603020101020101" pitchFamily="18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C090068-7944-4FFA-0DA2-D0B031FF746B}"/>
              </a:ext>
            </a:extLst>
          </p:cNvPr>
          <p:cNvSpPr txBox="1"/>
          <p:nvPr/>
        </p:nvSpPr>
        <p:spPr>
          <a:xfrm>
            <a:off x="7406640" y="4462272"/>
            <a:ext cx="393192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기획</a:t>
            </a:r>
            <a:r>
              <a:rPr sz="1000" dirty="0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 → </a:t>
            </a:r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데이터</a:t>
            </a:r>
            <a:r>
              <a:rPr sz="1000" dirty="0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 </a:t>
            </a:r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수집·전처리</a:t>
            </a:r>
            <a:r>
              <a:rPr sz="1000" dirty="0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 → EDA → </a:t>
            </a:r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결과</a:t>
            </a:r>
            <a:r>
              <a:rPr sz="1000" dirty="0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 </a:t>
            </a:r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시각화·대시보드</a:t>
            </a:r>
            <a:endParaRPr sz="1000" dirty="0">
              <a:solidFill>
                <a:srgbClr val="5A6970"/>
              </a:solidFill>
              <a:latin typeface="HG꼬딕씨_Pro 20g" panose="02020603020101020101" pitchFamily="18" charset="-127"/>
              <a:ea typeface="HG꼬딕씨_Pro 20g" panose="02020603020101020101" pitchFamily="18" charset="-127"/>
            </a:endParaRPr>
          </a:p>
        </p:txBody>
      </p:sp>
      <p:sp>
        <p:nvSpPr>
          <p:cNvPr id="72" name="Rounded Rectangle 34">
            <a:extLst>
              <a:ext uri="{FF2B5EF4-FFF2-40B4-BE49-F238E27FC236}">
                <a16:creationId xmlns:a16="http://schemas.microsoft.com/office/drawing/2014/main" id="{1CCE3569-6681-4FD5-480E-331FD220AC8B}"/>
              </a:ext>
            </a:extLst>
          </p:cNvPr>
          <p:cNvSpPr/>
          <p:nvPr/>
        </p:nvSpPr>
        <p:spPr>
          <a:xfrm>
            <a:off x="2455164" y="5239512"/>
            <a:ext cx="1508760" cy="914400"/>
          </a:xfrm>
          <a:prstGeom prst="roundRect">
            <a:avLst/>
          </a:prstGeom>
          <a:solidFill>
            <a:srgbClr val="D4D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35">
            <a:extLst>
              <a:ext uri="{FF2B5EF4-FFF2-40B4-BE49-F238E27FC236}">
                <a16:creationId xmlns:a16="http://schemas.microsoft.com/office/drawing/2014/main" id="{96F51AF4-BD88-A406-690C-E89797A0586B}"/>
              </a:ext>
            </a:extLst>
          </p:cNvPr>
          <p:cNvSpPr/>
          <p:nvPr/>
        </p:nvSpPr>
        <p:spPr>
          <a:xfrm>
            <a:off x="2423160" y="5193792"/>
            <a:ext cx="1508760" cy="1042416"/>
          </a:xfrm>
          <a:prstGeom prst="roundRect">
            <a:avLst/>
          </a:prstGeom>
          <a:solidFill>
            <a:srgbClr val="FFFFFF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97A6905-0EC1-D2AF-6E74-9973E1F4D35E}"/>
              </a:ext>
            </a:extLst>
          </p:cNvPr>
          <p:cNvSpPr txBox="1"/>
          <p:nvPr/>
        </p:nvSpPr>
        <p:spPr>
          <a:xfrm>
            <a:off x="2423160" y="5422392"/>
            <a:ext cx="1508760" cy="2754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50" dirty="0" err="1">
                <a:solidFill>
                  <a:srgbClr val="007C86"/>
                </a:solidFill>
                <a:latin typeface="HG꼬딕씨_Pro 60g" panose="02020603020101020101" pitchFamily="18" charset="-127"/>
              </a:rPr>
              <a:t>문제</a:t>
            </a:r>
            <a:endParaRPr sz="1550" dirty="0">
              <a:solidFill>
                <a:srgbClr val="007C86"/>
              </a:solidFill>
              <a:latin typeface="HG꼬딕씨_Pro 60g" panose="02020603020101020101" pitchFamily="18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FDEB30C-8B9B-6CD9-6EDB-71A8D7736E1B}"/>
              </a:ext>
            </a:extLst>
          </p:cNvPr>
          <p:cNvSpPr txBox="1"/>
          <p:nvPr/>
        </p:nvSpPr>
        <p:spPr>
          <a:xfrm>
            <a:off x="2514600" y="5779007"/>
            <a:ext cx="132588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40" dirty="0" err="1">
                <a:solidFill>
                  <a:srgbClr val="919BA0"/>
                </a:solidFill>
                <a:latin typeface="HG꼬딕씨_Pro 60g" panose="02020603020101020101" pitchFamily="18" charset="-127"/>
              </a:rPr>
              <a:t>관광</a:t>
            </a:r>
            <a:r>
              <a:rPr sz="1040" dirty="0">
                <a:solidFill>
                  <a:srgbClr val="919BA0"/>
                </a:solidFill>
                <a:latin typeface="HG꼬딕씨_Pro 60g" panose="02020603020101020101" pitchFamily="18" charset="-127"/>
              </a:rPr>
              <a:t> </a:t>
            </a:r>
            <a:r>
              <a:rPr sz="1040" dirty="0" err="1">
                <a:solidFill>
                  <a:srgbClr val="919BA0"/>
                </a:solidFill>
                <a:latin typeface="HG꼬딕씨_Pro 60g" panose="02020603020101020101" pitchFamily="18" charset="-127"/>
              </a:rPr>
              <a:t>성장과</a:t>
            </a:r>
            <a:r>
              <a:rPr sz="1040" dirty="0">
                <a:solidFill>
                  <a:srgbClr val="919BA0"/>
                </a:solidFill>
                <a:latin typeface="HG꼬딕씨_Pro 60g" panose="02020603020101020101" pitchFamily="18" charset="-127"/>
              </a:rPr>
              <a:t>
</a:t>
            </a:r>
            <a:r>
              <a:rPr sz="1040" dirty="0" err="1">
                <a:solidFill>
                  <a:srgbClr val="919BA0"/>
                </a:solidFill>
                <a:latin typeface="HG꼬딕씨_Pro 60g" panose="02020603020101020101" pitchFamily="18" charset="-127"/>
              </a:rPr>
              <a:t>폐업</a:t>
            </a:r>
            <a:r>
              <a:rPr sz="1040" dirty="0">
                <a:solidFill>
                  <a:srgbClr val="919BA0"/>
                </a:solidFill>
                <a:latin typeface="HG꼬딕씨_Pro 60g" panose="02020603020101020101" pitchFamily="18" charset="-127"/>
              </a:rPr>
              <a:t> </a:t>
            </a:r>
            <a:r>
              <a:rPr sz="1040" dirty="0" err="1">
                <a:solidFill>
                  <a:srgbClr val="919BA0"/>
                </a:solidFill>
                <a:latin typeface="HG꼬딕씨_Pro 60g" panose="02020603020101020101" pitchFamily="18" charset="-127"/>
              </a:rPr>
              <a:t>증가</a:t>
            </a:r>
            <a:r>
              <a:rPr sz="1040" dirty="0">
                <a:solidFill>
                  <a:srgbClr val="919BA0"/>
                </a:solidFill>
                <a:latin typeface="HG꼬딕씨_Pro 60g" panose="02020603020101020101" pitchFamily="18" charset="-127"/>
              </a:rPr>
              <a:t> </a:t>
            </a:r>
            <a:r>
              <a:rPr sz="1040" dirty="0" err="1">
                <a:solidFill>
                  <a:srgbClr val="919BA0"/>
                </a:solidFill>
                <a:latin typeface="HG꼬딕씨_Pro 60g" panose="02020603020101020101" pitchFamily="18" charset="-127"/>
              </a:rPr>
              <a:t>공존</a:t>
            </a:r>
            <a:endParaRPr sz="1040" dirty="0">
              <a:solidFill>
                <a:srgbClr val="919BA0"/>
              </a:solidFill>
              <a:latin typeface="HG꼬딕씨_Pro 60g" panose="02020603020101020101" pitchFamily="18" charset="-127"/>
            </a:endParaRPr>
          </a:p>
        </p:txBody>
      </p:sp>
      <p:sp>
        <p:nvSpPr>
          <p:cNvPr id="80" name="Rounded Rectangle 38">
            <a:extLst>
              <a:ext uri="{FF2B5EF4-FFF2-40B4-BE49-F238E27FC236}">
                <a16:creationId xmlns:a16="http://schemas.microsoft.com/office/drawing/2014/main" id="{349A163B-533C-2056-2EA3-E33586EC5CF4}"/>
              </a:ext>
            </a:extLst>
          </p:cNvPr>
          <p:cNvSpPr/>
          <p:nvPr/>
        </p:nvSpPr>
        <p:spPr>
          <a:xfrm>
            <a:off x="4101084" y="5239512"/>
            <a:ext cx="1508760" cy="914400"/>
          </a:xfrm>
          <a:prstGeom prst="roundRect">
            <a:avLst/>
          </a:prstGeom>
          <a:solidFill>
            <a:srgbClr val="D4D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ounded Rectangle 39">
            <a:extLst>
              <a:ext uri="{FF2B5EF4-FFF2-40B4-BE49-F238E27FC236}">
                <a16:creationId xmlns:a16="http://schemas.microsoft.com/office/drawing/2014/main" id="{E5C1E80E-A3F1-1F9D-F08B-3202890190F8}"/>
              </a:ext>
            </a:extLst>
          </p:cNvPr>
          <p:cNvSpPr/>
          <p:nvPr/>
        </p:nvSpPr>
        <p:spPr>
          <a:xfrm>
            <a:off x="4069080" y="5193792"/>
            <a:ext cx="1508760" cy="1042416"/>
          </a:xfrm>
          <a:prstGeom prst="roundRect">
            <a:avLst/>
          </a:prstGeom>
          <a:solidFill>
            <a:srgbClr val="FFFFFF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D3B374F-04B9-5563-94C5-6D1021D4D94F}"/>
              </a:ext>
            </a:extLst>
          </p:cNvPr>
          <p:cNvSpPr txBox="1"/>
          <p:nvPr/>
        </p:nvSpPr>
        <p:spPr>
          <a:xfrm>
            <a:off x="4069080" y="5422392"/>
            <a:ext cx="1508760" cy="2754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50" dirty="0" err="1">
                <a:solidFill>
                  <a:srgbClr val="007C86"/>
                </a:solidFill>
                <a:latin typeface="HG꼬딕씨_Pro 60g" panose="02020603020101020101" pitchFamily="18" charset="-127"/>
              </a:rPr>
              <a:t>목적</a:t>
            </a:r>
            <a:endParaRPr sz="1550" dirty="0">
              <a:solidFill>
                <a:srgbClr val="007C86"/>
              </a:solidFill>
              <a:latin typeface="HG꼬딕씨_Pro 60g" panose="02020603020101020101" pitchFamily="18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EE1C755-7F1C-633F-2664-1AE4F89FC277}"/>
              </a:ext>
            </a:extLst>
          </p:cNvPr>
          <p:cNvSpPr txBox="1"/>
          <p:nvPr/>
        </p:nvSpPr>
        <p:spPr>
          <a:xfrm>
            <a:off x="4160520" y="5779007"/>
            <a:ext cx="132588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40" dirty="0" err="1">
                <a:solidFill>
                  <a:srgbClr val="919BA0"/>
                </a:solidFill>
                <a:latin typeface="HG꼬딕씨_Pro 60g" panose="02020603020101020101" pitchFamily="18" charset="-127"/>
              </a:rPr>
              <a:t>상관관계</a:t>
            </a:r>
            <a:r>
              <a:rPr sz="1040" dirty="0">
                <a:solidFill>
                  <a:srgbClr val="919BA0"/>
                </a:solidFill>
                <a:latin typeface="HG꼬딕씨_Pro 60g" panose="02020603020101020101" pitchFamily="18" charset="-127"/>
              </a:rPr>
              <a:t> </a:t>
            </a:r>
            <a:r>
              <a:rPr sz="1040" dirty="0" err="1">
                <a:solidFill>
                  <a:srgbClr val="919BA0"/>
                </a:solidFill>
                <a:latin typeface="HG꼬딕씨_Pro 60g" panose="02020603020101020101" pitchFamily="18" charset="-127"/>
              </a:rPr>
              <a:t>확인</a:t>
            </a:r>
            <a:r>
              <a:rPr sz="1040" dirty="0">
                <a:solidFill>
                  <a:srgbClr val="919BA0"/>
                </a:solidFill>
                <a:latin typeface="HG꼬딕씨_Pro 60g" panose="02020603020101020101" pitchFamily="18" charset="-127"/>
              </a:rPr>
              <a:t>
</a:t>
            </a:r>
            <a:r>
              <a:rPr sz="1040" dirty="0" err="1">
                <a:solidFill>
                  <a:srgbClr val="919BA0"/>
                </a:solidFill>
                <a:latin typeface="HG꼬딕씨_Pro 60g" panose="02020603020101020101" pitchFamily="18" charset="-127"/>
              </a:rPr>
              <a:t>정책·서비스</a:t>
            </a:r>
            <a:r>
              <a:rPr sz="1040" dirty="0">
                <a:solidFill>
                  <a:srgbClr val="919BA0"/>
                </a:solidFill>
                <a:latin typeface="HG꼬딕씨_Pro 60g" panose="02020603020101020101" pitchFamily="18" charset="-127"/>
              </a:rPr>
              <a:t> </a:t>
            </a:r>
            <a:r>
              <a:rPr sz="1040" dirty="0" err="1">
                <a:solidFill>
                  <a:srgbClr val="919BA0"/>
                </a:solidFill>
                <a:latin typeface="HG꼬딕씨_Pro 60g" panose="02020603020101020101" pitchFamily="18" charset="-127"/>
              </a:rPr>
              <a:t>방향</a:t>
            </a:r>
            <a:endParaRPr sz="1040" dirty="0">
              <a:solidFill>
                <a:srgbClr val="919BA0"/>
              </a:solidFill>
              <a:latin typeface="HG꼬딕씨_Pro 60g" panose="02020603020101020101" pitchFamily="18" charset="-127"/>
            </a:endParaRPr>
          </a:p>
        </p:txBody>
      </p:sp>
      <p:sp>
        <p:nvSpPr>
          <p:cNvPr id="88" name="Rounded Rectangle 42">
            <a:extLst>
              <a:ext uri="{FF2B5EF4-FFF2-40B4-BE49-F238E27FC236}">
                <a16:creationId xmlns:a16="http://schemas.microsoft.com/office/drawing/2014/main" id="{064D9A23-C6D3-B24D-71ED-1050044C8959}"/>
              </a:ext>
            </a:extLst>
          </p:cNvPr>
          <p:cNvSpPr/>
          <p:nvPr/>
        </p:nvSpPr>
        <p:spPr>
          <a:xfrm>
            <a:off x="5747004" y="5239512"/>
            <a:ext cx="1508760" cy="914400"/>
          </a:xfrm>
          <a:prstGeom prst="roundRect">
            <a:avLst/>
          </a:prstGeom>
          <a:solidFill>
            <a:srgbClr val="D4D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43">
            <a:extLst>
              <a:ext uri="{FF2B5EF4-FFF2-40B4-BE49-F238E27FC236}">
                <a16:creationId xmlns:a16="http://schemas.microsoft.com/office/drawing/2014/main" id="{984EA9AF-30B3-3084-2412-084860B07667}"/>
              </a:ext>
            </a:extLst>
          </p:cNvPr>
          <p:cNvSpPr/>
          <p:nvPr/>
        </p:nvSpPr>
        <p:spPr>
          <a:xfrm>
            <a:off x="5715000" y="5193792"/>
            <a:ext cx="1508760" cy="1042416"/>
          </a:xfrm>
          <a:prstGeom prst="roundRect">
            <a:avLst/>
          </a:prstGeom>
          <a:solidFill>
            <a:srgbClr val="FFFFFF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4481CFD-8A21-F4F2-FEC7-CFD1E16E2371}"/>
              </a:ext>
            </a:extLst>
          </p:cNvPr>
          <p:cNvSpPr txBox="1"/>
          <p:nvPr/>
        </p:nvSpPr>
        <p:spPr>
          <a:xfrm>
            <a:off x="5715000" y="5422392"/>
            <a:ext cx="1508760" cy="2754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50" dirty="0" err="1">
                <a:solidFill>
                  <a:srgbClr val="007C86"/>
                </a:solidFill>
                <a:latin typeface="HG꼬딕씨_Pro 60g" panose="02020603020101020101" pitchFamily="18" charset="-127"/>
              </a:rPr>
              <a:t>데이터</a:t>
            </a:r>
            <a:endParaRPr sz="1550" dirty="0">
              <a:solidFill>
                <a:srgbClr val="007C86"/>
              </a:solidFill>
              <a:latin typeface="HG꼬딕씨_Pro 60g" panose="02020603020101020101" pitchFamily="18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69EF93D-9472-70AD-EEE1-EEE8948CD7F9}"/>
              </a:ext>
            </a:extLst>
          </p:cNvPr>
          <p:cNvSpPr txBox="1"/>
          <p:nvPr/>
        </p:nvSpPr>
        <p:spPr>
          <a:xfrm>
            <a:off x="5806440" y="5779007"/>
            <a:ext cx="132588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40" dirty="0" err="1">
                <a:solidFill>
                  <a:srgbClr val="919BA0"/>
                </a:solidFill>
                <a:latin typeface="HG꼬딕씨_Pro 60g" panose="02020603020101020101" pitchFamily="18" charset="-127"/>
              </a:rPr>
              <a:t>관광·소비·상권</a:t>
            </a:r>
            <a:r>
              <a:rPr sz="1040" dirty="0">
                <a:solidFill>
                  <a:srgbClr val="919BA0"/>
                </a:solidFill>
                <a:latin typeface="HG꼬딕씨_Pro 60g" panose="02020603020101020101" pitchFamily="18" charset="-127"/>
              </a:rPr>
              <a:t>
</a:t>
            </a:r>
            <a:r>
              <a:rPr sz="1040" dirty="0" err="1">
                <a:solidFill>
                  <a:srgbClr val="919BA0"/>
                </a:solidFill>
                <a:latin typeface="HG꼬딕씨_Pro 60g" panose="02020603020101020101" pitchFamily="18" charset="-127"/>
              </a:rPr>
              <a:t>폐업·사업자</a:t>
            </a:r>
            <a:endParaRPr sz="1040" dirty="0">
              <a:solidFill>
                <a:srgbClr val="919BA0"/>
              </a:solidFill>
              <a:latin typeface="HG꼬딕씨_Pro 60g" panose="02020603020101020101" pitchFamily="18" charset="-127"/>
            </a:endParaRPr>
          </a:p>
        </p:txBody>
      </p:sp>
      <p:sp>
        <p:nvSpPr>
          <p:cNvPr id="96" name="Rounded Rectangle 46">
            <a:extLst>
              <a:ext uri="{FF2B5EF4-FFF2-40B4-BE49-F238E27FC236}">
                <a16:creationId xmlns:a16="http://schemas.microsoft.com/office/drawing/2014/main" id="{4A89E5A4-D5C4-39A0-6D16-C677D01350BE}"/>
              </a:ext>
            </a:extLst>
          </p:cNvPr>
          <p:cNvSpPr/>
          <p:nvPr/>
        </p:nvSpPr>
        <p:spPr>
          <a:xfrm>
            <a:off x="7530083" y="5239512"/>
            <a:ext cx="3931920" cy="914400"/>
          </a:xfrm>
          <a:prstGeom prst="roundRect">
            <a:avLst/>
          </a:prstGeom>
          <a:solidFill>
            <a:srgbClr val="D4D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ounded Rectangle 47">
            <a:extLst>
              <a:ext uri="{FF2B5EF4-FFF2-40B4-BE49-F238E27FC236}">
                <a16:creationId xmlns:a16="http://schemas.microsoft.com/office/drawing/2014/main" id="{DD4F1659-D930-E422-504F-30382B47230A}"/>
              </a:ext>
            </a:extLst>
          </p:cNvPr>
          <p:cNvSpPr/>
          <p:nvPr/>
        </p:nvSpPr>
        <p:spPr>
          <a:xfrm>
            <a:off x="7498079" y="5193792"/>
            <a:ext cx="3931920" cy="1042416"/>
          </a:xfrm>
          <a:prstGeom prst="roundRect">
            <a:avLst/>
          </a:prstGeom>
          <a:solidFill>
            <a:srgbClr val="FFFFFF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5E545BA-14CF-FA9D-1F2A-161E9EABF1E0}"/>
              </a:ext>
            </a:extLst>
          </p:cNvPr>
          <p:cNvSpPr txBox="1"/>
          <p:nvPr/>
        </p:nvSpPr>
        <p:spPr>
          <a:xfrm>
            <a:off x="7726680" y="5321114"/>
            <a:ext cx="3337560" cy="2292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dirty="0">
                <a:solidFill>
                  <a:srgbClr val="007C86"/>
                </a:solidFill>
                <a:latin typeface="HG꼬딕씨_Pro 60g" panose="02020603020101020101" pitchFamily="18" charset="-127"/>
              </a:rPr>
              <a:t>SECTION SUMMARY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3C303CC-ABA1-CA58-4255-BC32A9AB5D59}"/>
              </a:ext>
            </a:extLst>
          </p:cNvPr>
          <p:cNvSpPr txBox="1"/>
          <p:nvPr/>
        </p:nvSpPr>
        <p:spPr>
          <a:xfrm>
            <a:off x="7726680" y="5586290"/>
            <a:ext cx="3246120" cy="5401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90" dirty="0" err="1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부산</a:t>
            </a:r>
            <a:r>
              <a:rPr sz="1090" dirty="0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sz="1090" dirty="0" err="1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관광</a:t>
            </a:r>
            <a:r>
              <a:rPr sz="1090" dirty="0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sz="1090" dirty="0" err="1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성장과</a:t>
            </a:r>
            <a:r>
              <a:rPr sz="1090" dirty="0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sz="1090" dirty="0" err="1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폐업</a:t>
            </a:r>
            <a:r>
              <a:rPr sz="1090" dirty="0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sz="1090" dirty="0" err="1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증가가</a:t>
            </a:r>
            <a:r>
              <a:rPr sz="1090" dirty="0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sz="1090" dirty="0" err="1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동시에</a:t>
            </a:r>
            <a:r>
              <a:rPr sz="1090" dirty="0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sz="1090" dirty="0" err="1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발생한</a:t>
            </a:r>
            <a:r>
              <a:rPr sz="1090" dirty="0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sz="1090" dirty="0" err="1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현상을</a:t>
            </a:r>
            <a:r>
              <a:rPr sz="1090" dirty="0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endParaRPr lang="en-US" sz="1090" dirty="0">
              <a:solidFill>
                <a:srgbClr val="5A6970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  <a:p>
            <a:pPr algn="l"/>
            <a:r>
              <a:rPr sz="1090" dirty="0" err="1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데이터로</a:t>
            </a:r>
            <a:r>
              <a:rPr sz="1090" dirty="0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sz="1090" dirty="0" err="1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검증하고</a:t>
            </a:r>
            <a:r>
              <a:rPr sz="1090" dirty="0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, </a:t>
            </a:r>
            <a:r>
              <a:rPr sz="1090" dirty="0" err="1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지역별</a:t>
            </a:r>
            <a:r>
              <a:rPr sz="1090" dirty="0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sz="1090" dirty="0" err="1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상권</a:t>
            </a:r>
            <a:r>
              <a:rPr sz="1090" dirty="0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sz="1090" dirty="0" err="1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변화와</a:t>
            </a:r>
            <a:r>
              <a:rPr sz="1090" dirty="0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sz="1090" dirty="0" err="1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폐업</a:t>
            </a:r>
            <a:r>
              <a:rPr sz="1090" dirty="0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sz="1090" dirty="0" err="1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위험</a:t>
            </a:r>
            <a:r>
              <a:rPr sz="1090" dirty="0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sz="1090" dirty="0" err="1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신호를</a:t>
            </a:r>
            <a:r>
              <a:rPr sz="1090" dirty="0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sz="1090" dirty="0" err="1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도출하기</a:t>
            </a:r>
            <a:r>
              <a:rPr sz="1090" dirty="0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sz="1090" dirty="0" err="1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위한</a:t>
            </a:r>
            <a:r>
              <a:rPr sz="1090" dirty="0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sz="1090" dirty="0" err="1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분석</a:t>
            </a:r>
            <a:r>
              <a:rPr sz="1090" dirty="0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sz="1090" dirty="0" err="1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구조를</a:t>
            </a:r>
            <a:r>
              <a:rPr sz="1090" dirty="0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sz="1090" dirty="0" err="1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수립</a:t>
            </a:r>
            <a:r>
              <a:rPr sz="1090" dirty="0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.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4DA7DD3-84C6-7FB5-939E-A0ADF1029BE2}"/>
              </a:ext>
            </a:extLst>
          </p:cNvPr>
          <p:cNvSpPr txBox="1"/>
          <p:nvPr/>
        </p:nvSpPr>
        <p:spPr>
          <a:xfrm>
            <a:off x="2694812" y="3829308"/>
            <a:ext cx="301752" cy="18312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dirty="0">
                <a:solidFill>
                  <a:srgbClr val="FFFFFF"/>
                </a:solidFill>
                <a:latin typeface="HG꼬딕씨_Pro 60g" panose="02020603020101020101" pitchFamily="18" charset="-127"/>
              </a:rPr>
              <a:t>0</a:t>
            </a:r>
            <a:r>
              <a:rPr lang="en-US" altLang="ko-KR" sz="950" dirty="0">
                <a:solidFill>
                  <a:srgbClr val="FFFFFF"/>
                </a:solidFill>
                <a:latin typeface="HG꼬딕씨_Pro 60g" panose="02020603020101020101" pitchFamily="18" charset="-127"/>
              </a:rPr>
              <a:t>1</a:t>
            </a:r>
            <a:endParaRPr sz="950" dirty="0">
              <a:solidFill>
                <a:srgbClr val="FFFFFF"/>
              </a:solidFill>
              <a:latin typeface="HG꼬딕씨_Pro 60g" panose="02020603020101020101" pitchFamily="18" charset="-127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4751629-7DB0-D170-B1A7-C06043AE7619}"/>
              </a:ext>
            </a:extLst>
          </p:cNvPr>
          <p:cNvSpPr txBox="1"/>
          <p:nvPr/>
        </p:nvSpPr>
        <p:spPr>
          <a:xfrm>
            <a:off x="2694812" y="4286508"/>
            <a:ext cx="301752" cy="18312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dirty="0">
                <a:solidFill>
                  <a:srgbClr val="FFFFFF"/>
                </a:solidFill>
                <a:latin typeface="HG꼬딕씨_Pro 60g" panose="02020603020101020101" pitchFamily="18" charset="-127"/>
              </a:rPr>
              <a:t>0</a:t>
            </a:r>
            <a:r>
              <a:rPr lang="en-US" altLang="ko-KR" sz="950" dirty="0">
                <a:solidFill>
                  <a:srgbClr val="FFFFFF"/>
                </a:solidFill>
                <a:latin typeface="HG꼬딕씨_Pro 60g" panose="02020603020101020101" pitchFamily="18" charset="-127"/>
              </a:rPr>
              <a:t>2</a:t>
            </a:r>
            <a:endParaRPr sz="950" dirty="0">
              <a:solidFill>
                <a:srgbClr val="FFFFFF"/>
              </a:solidFill>
              <a:latin typeface="HG꼬딕씨_Pro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6862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ACD9A-FB83-FFF5-77A5-86EB82621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25451EF-C105-8B74-E33D-E0483B40B486}"/>
              </a:ext>
            </a:extLst>
          </p:cNvPr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01. </a:t>
            </a:r>
            <a:r>
              <a:rPr kumimoji="0" lang="ko-KR" alt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주제 선택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988E489-A362-59FC-59A0-1DA7E986A9C0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042B529-16D1-51B6-42B8-321EF18EF9B2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2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Noto Sans CJK KR" pitchFamily="34" charset="-120"/>
              </a:rPr>
              <a:t>2026 Big Data </a:t>
            </a:r>
            <a:r>
              <a:rPr kumimoji="0" lang="ko-KR" altLang="en-US" sz="172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Noto Sans CJK KR" pitchFamily="34" charset="-120"/>
              </a:rPr>
              <a:t>활용 대회 출품 목적</a:t>
            </a:r>
            <a:endParaRPr kumimoji="0" lang="en-US" sz="1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C107D3B-47BE-9CB7-BB6A-5909C72AA2CE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9.18(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목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)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출품 예정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3AA97FB-6E39-5F7E-83A7-0B30B8719A83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D99D6B4-5E87-6837-D89C-C75AF310CA25}"/>
              </a:ext>
            </a:extLst>
          </p:cNvPr>
          <p:cNvGrpSpPr/>
          <p:nvPr/>
        </p:nvGrpSpPr>
        <p:grpSpPr>
          <a:xfrm>
            <a:off x="1251284" y="1673351"/>
            <a:ext cx="9689432" cy="4676405"/>
            <a:chOff x="1251284" y="1914419"/>
            <a:chExt cx="9689432" cy="4676405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FC395D7B-CAC1-6E3D-20D6-040E1D3441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532"/>
            <a:stretch>
              <a:fillRect/>
            </a:stretch>
          </p:blipFill>
          <p:spPr>
            <a:xfrm>
              <a:off x="1251284" y="1914419"/>
              <a:ext cx="9689432" cy="3029162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800C2E9-1C8B-70E6-E7D5-CAF5D1493814}"/>
                </a:ext>
              </a:extLst>
            </p:cNvPr>
            <p:cNvSpPr txBox="1"/>
            <p:nvPr/>
          </p:nvSpPr>
          <p:spPr>
            <a:xfrm>
              <a:off x="2348034" y="5298162"/>
              <a:ext cx="7495963" cy="12926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21AFB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부산 </a:t>
              </a:r>
              <a:r>
                <a:rPr kumimoji="0" lang="en-US" altLang="ko-KR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21AFB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2026 </a:t>
              </a:r>
              <a:r>
                <a: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21AFB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빅데이터 활용 대회 참여 결정</a:t>
              </a:r>
              <a:endPara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21AFB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dirty="0">
                  <a:solidFill>
                    <a:srgbClr val="21AFB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21AFB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[TRACK 1 : </a:t>
              </a:r>
              <a:r>
                <a:rPr kumimoji="0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부산시 데이터 분석을 통한 도시 문제 해결 및 맞춤형 정책 </a:t>
              </a: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/ </a:t>
              </a:r>
              <a:r>
                <a:rPr kumimoji="0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서비스 개선 방안 제안</a:t>
              </a: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]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Or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 </a:t>
              </a: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[TRACK 2 : </a:t>
              </a:r>
              <a:r>
                <a:rPr kumimoji="0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부산광역시 보유 공공데이터 중 타 행정 기관에서 활용 가능한 데이터 발굴 </a:t>
              </a: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/ </a:t>
              </a:r>
              <a:r>
                <a:rPr kumimoji="0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활용방안 제안</a:t>
              </a: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]</a:t>
              </a: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20g" panose="02020603020101020101" pitchFamily="18" charset="-127"/>
                <a:ea typeface="HG꼬딕씨_Pro 20g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9599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9E4B7-B8CB-0F41-7869-D4CE90DAD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6D1FB10-6229-1D85-E29E-432FEC7B1026}"/>
              </a:ext>
            </a:extLst>
          </p:cNvPr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02. Pain Point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C2E303B-91A5-EC22-6DED-CEF80D52F0C8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4552FBC-8CB3-A213-0F01-7001C86A7AB7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20" b="0" i="0" u="none" strike="noStrike" kern="1200" cap="none" spc="0" normalizeH="0" baseline="0" noProof="0" dirty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Noto Sans CJK KR" pitchFamily="34" charset="-120"/>
              </a:rPr>
              <a:t>문제</a:t>
            </a:r>
            <a:r>
              <a:rPr kumimoji="0" lang="en-US" sz="172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Noto Sans CJK KR" pitchFamily="34" charset="-120"/>
              </a:rPr>
              <a:t> 정의</a:t>
            </a:r>
            <a:endParaRPr kumimoji="0" lang="en-US" sz="1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B9D4036-7F72-6D62-5198-8964A0296494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부산시의 관광객과 폐업 추이 사이의 상관관계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41A2793-6B11-1EC5-D40C-51F910EBDED4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8A6D383-9B65-2990-F80E-2ACB03167EA4}"/>
              </a:ext>
            </a:extLst>
          </p:cNvPr>
          <p:cNvGrpSpPr/>
          <p:nvPr/>
        </p:nvGrpSpPr>
        <p:grpSpPr>
          <a:xfrm>
            <a:off x="1957144" y="1775306"/>
            <a:ext cx="8277712" cy="3514326"/>
            <a:chOff x="1154910" y="1476035"/>
            <a:chExt cx="9200104" cy="3905930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981BB914-369E-C459-593A-9C104FF4E1F6}"/>
                </a:ext>
              </a:extLst>
            </p:cNvPr>
            <p:cNvGrpSpPr/>
            <p:nvPr/>
          </p:nvGrpSpPr>
          <p:grpSpPr>
            <a:xfrm>
              <a:off x="1154910" y="1476035"/>
              <a:ext cx="4141678" cy="3905930"/>
              <a:chOff x="1260663" y="1538662"/>
              <a:chExt cx="3948645" cy="3723886"/>
            </a:xfrm>
          </p:grpSpPr>
          <p:pic>
            <p:nvPicPr>
              <p:cNvPr id="13" name="그림 12">
                <a:extLst>
                  <a:ext uri="{FF2B5EF4-FFF2-40B4-BE49-F238E27FC236}">
                    <a16:creationId xmlns:a16="http://schemas.microsoft.com/office/drawing/2014/main" id="{BB60622A-2B51-C297-D918-7908FFD020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60663" y="1538662"/>
                <a:ext cx="3948645" cy="777762"/>
              </a:xfrm>
              <a:prstGeom prst="rect">
                <a:avLst/>
              </a:prstGeom>
            </p:spPr>
          </p:pic>
          <p:pic>
            <p:nvPicPr>
              <p:cNvPr id="14" name="그림 13" descr="올해 상반기 부산을 찾은 외국인 관광객은 242만629명으로 전년보다 43.9% 늘었고, 관광지출은 5914억 원으로 63.0% 증가했다. 평균 체류 기간과 1인당 여행경비도 함께 늘었다. (그래픽=오상민 기자)">
                <a:extLst>
                  <a:ext uri="{FF2B5EF4-FFF2-40B4-BE49-F238E27FC236}">
                    <a16:creationId xmlns:a16="http://schemas.microsoft.com/office/drawing/2014/main" id="{9C523E8D-1C87-7AB3-F432-D891FF6E9B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0663" y="2465591"/>
                <a:ext cx="3948645" cy="2796957"/>
              </a:xfrm>
              <a:prstGeom prst="rect">
                <a:avLst/>
              </a:prstGeom>
            </p:spPr>
          </p:pic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BEFE41C-7D4A-6EE4-40DD-2BDAF301DE17}"/>
                </a:ext>
              </a:extLst>
            </p:cNvPr>
            <p:cNvGrpSpPr/>
            <p:nvPr/>
          </p:nvGrpSpPr>
          <p:grpSpPr>
            <a:xfrm>
              <a:off x="6895414" y="1477733"/>
              <a:ext cx="3459600" cy="3904232"/>
              <a:chOff x="7497744" y="1359442"/>
              <a:chExt cx="3585892" cy="4046756"/>
            </a:xfrm>
          </p:grpSpPr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C1B1EDF6-5057-A1B1-6B86-4E72F68389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r="15802"/>
              <a:stretch>
                <a:fillRect/>
              </a:stretch>
            </p:blipFill>
            <p:spPr>
              <a:xfrm>
                <a:off x="7497744" y="1359442"/>
                <a:ext cx="3585892" cy="657376"/>
              </a:xfrm>
              <a:prstGeom prst="rect">
                <a:avLst/>
              </a:prstGeom>
            </p:spPr>
          </p:pic>
          <p:pic>
            <p:nvPicPr>
              <p:cNvPr id="12" name="그림 11">
                <a:extLst>
                  <a:ext uri="{FF2B5EF4-FFF2-40B4-BE49-F238E27FC236}">
                    <a16:creationId xmlns:a16="http://schemas.microsoft.com/office/drawing/2014/main" id="{05CEDF6F-7310-4B37-FE01-67712C59FB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96933" y="2177440"/>
                <a:ext cx="3187515" cy="3228758"/>
              </a:xfrm>
              <a:prstGeom prst="rect">
                <a:avLst/>
              </a:prstGeom>
            </p:spPr>
          </p:pic>
        </p:grp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DFEA4F0-FE1F-918B-C328-38EA22537174}"/>
              </a:ext>
            </a:extLst>
          </p:cNvPr>
          <p:cNvSpPr txBox="1"/>
          <p:nvPr/>
        </p:nvSpPr>
        <p:spPr>
          <a:xfrm>
            <a:off x="2829721" y="5674626"/>
            <a:ext cx="65325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부산을 찾는 관광객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/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관광지출은 연일 최대치를 갱신 중이지만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dirty="0">
                <a:solidFill>
                  <a:prstClr val="black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그와 동시에 부산 내 폐업 수 역시 최다라는 아이러니한 상황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20g" panose="02020603020101020101" pitchFamily="18" charset="-127"/>
              <a:ea typeface="HG꼬딕씨_Pro 2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7687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B0D8D-FB03-F586-7EAA-608C49196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678348C-C87C-E622-4126-5220FC5FA78E}"/>
              </a:ext>
            </a:extLst>
          </p:cNvPr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0</a:t>
            </a:r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3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. </a:t>
            </a:r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Project</a:t>
            </a:r>
            <a:r>
              <a:rPr lang="ko-KR" alt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 </a:t>
            </a:r>
            <a:r>
              <a:rPr lang="en-US" altLang="ko-KR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Overview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FDC0860-7DA2-F5A9-88AE-E51C6B73806E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11E114E-F246-B333-373F-914CE9D8C4DC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2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Noto Sans CJK KR" pitchFamily="34" charset="-120"/>
              </a:rPr>
              <a:t>프로젝트 </a:t>
            </a:r>
            <a:r>
              <a:rPr lang="ko-KR" alt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  <a:cs typeface="Noto Sans CJK KR" pitchFamily="34" charset="-120"/>
              </a:rPr>
              <a:t>목적</a:t>
            </a:r>
            <a:endParaRPr kumimoji="0" lang="en-US" sz="1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65A2E9C-33D0-CC40-A409-F86B9415F0A6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부산시의 관광객과 폐업 추이 사이의 상관관계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C38B01D-9109-E944-BFB9-8C08774F0C83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B03294-282E-DE1F-7F68-7F4B410DA354}"/>
              </a:ext>
            </a:extLst>
          </p:cNvPr>
          <p:cNvSpPr txBox="1"/>
          <p:nvPr/>
        </p:nvSpPr>
        <p:spPr>
          <a:xfrm>
            <a:off x="2653392" y="5674626"/>
            <a:ext cx="68852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상반된 두 기사를 데이터 분석을 통해 실질적인 상황을 파악하고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나아가 이를 기반으로 도시 문제 해결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/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신규 사업 아이디어로 파생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20g" panose="02020603020101020101" pitchFamily="18" charset="-127"/>
              <a:ea typeface="HG꼬딕씨_Pro 20g" panose="02020603020101020101" pitchFamily="18" charset="-127"/>
              <a:cs typeface="+mn-cs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9678848-8231-C313-43DB-5DD21EAA2B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889" t="12678" r="23889" b="32692"/>
          <a:stretch>
            <a:fillRect/>
          </a:stretch>
        </p:blipFill>
        <p:spPr>
          <a:xfrm>
            <a:off x="4498109" y="1782980"/>
            <a:ext cx="3195782" cy="3343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043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29528-172F-DE3D-D7AD-11995BAFF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9845CA5-93F3-C137-7306-8C898A099913}"/>
              </a:ext>
            </a:extLst>
          </p:cNvPr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0</a:t>
            </a:r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3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. Team </a:t>
            </a:r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Members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A2091BD-3F0F-98B9-C90A-6EA67A57F990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521C37F-3577-2DDF-945D-11D6D8C76188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2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Noto Sans CJK KR" pitchFamily="34" charset="-120"/>
              </a:rPr>
              <a:t>팀원 소개</a:t>
            </a:r>
            <a:endParaRPr kumimoji="0" lang="en-US" sz="1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BA9A39B-0767-75D7-D156-BC771EFDD1A1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프로젝트 수행 역할 및 담당 업무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621EA3D-5E72-D669-0A77-CA73DFDC885F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0C36829-F6E6-2A08-4B9F-BB6D3929A9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00"/>
          <a:stretch>
            <a:fillRect/>
          </a:stretch>
        </p:blipFill>
        <p:spPr>
          <a:xfrm>
            <a:off x="3239" y="1508760"/>
            <a:ext cx="12185522" cy="534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048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5CD52-A2A9-54E0-7D8C-7EBC40E98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EDFE1C8-BF9A-BEDD-CAAF-A10D4CF4BF18}"/>
              </a:ext>
            </a:extLst>
          </p:cNvPr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02. Pain Point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3BCD1A0-8954-DFAC-7706-DBD4010F5D4C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4637E30-2C84-FD33-4945-6A0183431524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2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Noto Sans CJK KR" pitchFamily="34" charset="-120"/>
              </a:rPr>
              <a:t>프로젝트 일정</a:t>
            </a:r>
            <a:endParaRPr kumimoji="0" lang="en-US" sz="1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C8C0C6A-20E2-4E6D-1967-22ED387CA8C7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일자 별 프로젝트 </a:t>
            </a: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진행율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 시각화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9970103-F1CB-FB38-18AD-E369A17F0365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06934D3-36E4-186E-5C47-3161E856A3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81" b="10203"/>
          <a:stretch>
            <a:fillRect/>
          </a:stretch>
        </p:blipFill>
        <p:spPr>
          <a:xfrm>
            <a:off x="433137" y="1908614"/>
            <a:ext cx="11325726" cy="379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589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82D73-99DF-0C32-93F2-FC7A62F61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CA29B1-2851-BE35-8E91-B8EF0319F67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8"/>
          </a:solidFill>
          <a:ln>
            <a:solidFill>
              <a:srgbClr val="F7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D8CBFC-D952-C926-98C9-B408378A5CA7}"/>
              </a:ext>
            </a:extLst>
          </p:cNvPr>
          <p:cNvSpPr/>
          <p:nvPr/>
        </p:nvSpPr>
        <p:spPr>
          <a:xfrm>
            <a:off x="0" y="0"/>
            <a:ext cx="1965960" cy="6858000"/>
          </a:xfrm>
          <a:prstGeom prst="rect">
            <a:avLst/>
          </a:prstGeom>
          <a:solidFill>
            <a:srgbClr val="1FAAB5"/>
          </a:solidFill>
          <a:ln>
            <a:solidFill>
              <a:srgbClr val="1FA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F4F3FB98-826E-2C95-BA49-11453346B12B}"/>
              </a:ext>
            </a:extLst>
          </p:cNvPr>
          <p:cNvGrpSpPr/>
          <p:nvPr/>
        </p:nvGrpSpPr>
        <p:grpSpPr>
          <a:xfrm>
            <a:off x="329184" y="530352"/>
            <a:ext cx="914400" cy="861646"/>
            <a:chOff x="109728" y="217346"/>
            <a:chExt cx="914400" cy="86164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32FD9E3-6465-BA90-C423-87E1778F6412}"/>
                </a:ext>
              </a:extLst>
            </p:cNvPr>
            <p:cNvSpPr txBox="1"/>
            <p:nvPr/>
          </p:nvSpPr>
          <p:spPr>
            <a:xfrm>
              <a:off x="109728" y="338918"/>
              <a:ext cx="914400" cy="74007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0</a:t>
              </a:r>
              <a:r>
                <a:rPr lang="en-US" sz="4000" b="1" dirty="0">
                  <a:solidFill>
                    <a:srgbClr val="FFFFFF"/>
                  </a:solidFill>
                  <a:latin typeface="HG꼬딕씨_Pro 60g" panose="02020603020101020101" pitchFamily="18" charset="-127"/>
                </a:rPr>
                <a:t>2</a:t>
              </a:r>
              <a:endPara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03F1D24-E0B3-EB35-632A-76C2F6842501}"/>
                </a:ext>
              </a:extLst>
            </p:cNvPr>
            <p:cNvSpPr txBox="1"/>
            <p:nvPr/>
          </p:nvSpPr>
          <p:spPr>
            <a:xfrm>
              <a:off x="109728" y="217346"/>
              <a:ext cx="877824" cy="24314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8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SECTION</a:t>
              </a:r>
            </a:p>
          </p:txBody>
        </p:sp>
      </p:grp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42DB9AD-EF4C-2D6E-6A66-D252A0494E23}"/>
              </a:ext>
            </a:extLst>
          </p:cNvPr>
          <p:cNvSpPr/>
          <p:nvPr/>
        </p:nvSpPr>
        <p:spPr>
          <a:xfrm>
            <a:off x="329184" y="5559552"/>
            <a:ext cx="1051560" cy="100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331E7DD-D0F7-3FC6-F125-51740ED68674}"/>
              </a:ext>
            </a:extLst>
          </p:cNvPr>
          <p:cNvSpPr/>
          <p:nvPr/>
        </p:nvSpPr>
        <p:spPr>
          <a:xfrm>
            <a:off x="329184" y="5788152"/>
            <a:ext cx="658368" cy="100584"/>
          </a:xfrm>
          <a:prstGeom prst="roundRect">
            <a:avLst/>
          </a:prstGeom>
          <a:solidFill>
            <a:srgbClr val="DEF1F3"/>
          </a:solidFill>
          <a:ln w="12700">
            <a:solidFill>
              <a:srgbClr val="DE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DF7C21-4C51-B85E-28D7-5B7A7C29CA67}"/>
              </a:ext>
            </a:extLst>
          </p:cNvPr>
          <p:cNvSpPr txBox="1"/>
          <p:nvPr/>
        </p:nvSpPr>
        <p:spPr>
          <a:xfrm>
            <a:off x="2359152" y="530352"/>
            <a:ext cx="2011680" cy="27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dirty="0">
                <a:solidFill>
                  <a:srgbClr val="15747C"/>
                </a:solidFill>
                <a:latin typeface="HG꼬딕씨_Pro 60g" panose="02020603020101020101" pitchFamily="18" charset="-127"/>
              </a:rPr>
              <a:t>Data</a:t>
            </a:r>
            <a:r>
              <a:rPr lang="ko-KR" altLang="en-US" sz="1100" b="1" dirty="0">
                <a:solidFill>
                  <a:srgbClr val="15747C"/>
                </a:solidFill>
                <a:latin typeface="HG꼬딕씨_Pro 60g" panose="02020603020101020101" pitchFamily="18" charset="-127"/>
              </a:rPr>
              <a:t> </a:t>
            </a:r>
            <a:r>
              <a:rPr lang="en-US" altLang="ko-KR" sz="1100" b="1" dirty="0">
                <a:solidFill>
                  <a:srgbClr val="15747C"/>
                </a:solidFill>
                <a:latin typeface="HG꼬딕씨_Pro 60g" panose="02020603020101020101" pitchFamily="18" charset="-127"/>
              </a:rPr>
              <a:t>Select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CF96F366-4FA3-E228-3564-7C6DDAF57395}"/>
              </a:ext>
            </a:extLst>
          </p:cNvPr>
          <p:cNvCxnSpPr/>
          <p:nvPr/>
        </p:nvCxnSpPr>
        <p:spPr>
          <a:xfrm>
            <a:off x="2359152" y="868680"/>
            <a:ext cx="9006840" cy="0"/>
          </a:xfrm>
          <a:prstGeom prst="line">
            <a:avLst/>
          </a:prstGeom>
          <a:ln w="17780">
            <a:solidFill>
              <a:srgbClr val="DEF1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3EDA4A-C255-5781-2EA9-57C424412F2C}"/>
              </a:ext>
            </a:extLst>
          </p:cNvPr>
          <p:cNvSpPr txBox="1"/>
          <p:nvPr/>
        </p:nvSpPr>
        <p:spPr>
          <a:xfrm>
            <a:off x="2359152" y="1078992"/>
            <a:ext cx="6309360" cy="472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35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데이터 선정</a:t>
            </a:r>
            <a:endParaRPr kumimoji="0" sz="2350" b="0" i="0" u="none" strike="noStrike" kern="1200" cap="none" spc="0" normalizeH="0" baseline="0" noProof="0" dirty="0">
              <a:ln>
                <a:noFill/>
              </a:ln>
              <a:solidFill>
                <a:srgbClr val="223035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7D32CB-BE2F-0DF2-AA10-FF9C4B3260FC}"/>
              </a:ext>
            </a:extLst>
          </p:cNvPr>
          <p:cNvSpPr txBox="1"/>
          <p:nvPr/>
        </p:nvSpPr>
        <p:spPr>
          <a:xfrm>
            <a:off x="2359152" y="1613848"/>
            <a:ext cx="6858000" cy="2763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atinLnBrk="0">
              <a:lnSpc>
                <a:spcPct val="112000"/>
              </a:lnSpc>
            </a:pPr>
            <a:r>
              <a:rPr lang="ko-KR" altLang="en-US" sz="112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수립된 가설에 기반하여 데이터 수집 및 </a:t>
            </a:r>
            <a:r>
              <a:rPr lang="ko-KR" altLang="en-US" sz="1120" dirty="0" err="1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전처리</a:t>
            </a:r>
            <a:r>
              <a:rPr lang="ko-KR" altLang="en-US" sz="112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과정을 진행</a:t>
            </a:r>
            <a:endParaRPr sz="1120" dirty="0">
              <a:solidFill>
                <a:srgbClr val="5C6A70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5FAC931-19DB-39D8-64E9-B4A8B63B7422}"/>
              </a:ext>
            </a:extLst>
          </p:cNvPr>
          <p:cNvSpPr/>
          <p:nvPr/>
        </p:nvSpPr>
        <p:spPr>
          <a:xfrm>
            <a:off x="5490972" y="1974472"/>
            <a:ext cx="2743200" cy="347472"/>
          </a:xfrm>
          <a:prstGeom prst="roundRect">
            <a:avLst/>
          </a:prstGeom>
          <a:solidFill>
            <a:srgbClr val="DEF1F3"/>
          </a:solidFill>
          <a:ln w="12700">
            <a:solidFill>
              <a:srgbClr val="DE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80" b="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가설 설정</a:t>
            </a:r>
            <a:endParaRPr kumimoji="0" sz="1180" b="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871FA3B-75B4-0491-4125-64DE26CD95BA}"/>
              </a:ext>
            </a:extLst>
          </p:cNvPr>
          <p:cNvSpPr/>
          <p:nvPr/>
        </p:nvSpPr>
        <p:spPr>
          <a:xfrm>
            <a:off x="3102129" y="2513299"/>
            <a:ext cx="2355342" cy="101498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E17609-F703-70EF-342F-0DBD5243E2DF}"/>
              </a:ext>
            </a:extLst>
          </p:cNvPr>
          <p:cNvSpPr txBox="1"/>
          <p:nvPr/>
        </p:nvSpPr>
        <p:spPr>
          <a:xfrm>
            <a:off x="3438606" y="2616323"/>
            <a:ext cx="1682388" cy="375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750" dirty="0">
                <a:solidFill>
                  <a:srgbClr val="15747C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관광 과밀</a:t>
            </a:r>
            <a:endParaRPr sz="1750" dirty="0">
              <a:solidFill>
                <a:srgbClr val="15747C"/>
              </a:solidFill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B2D821-C470-B301-687D-6B80D3E11EAC}"/>
              </a:ext>
            </a:extLst>
          </p:cNvPr>
          <p:cNvSpPr txBox="1"/>
          <p:nvPr/>
        </p:nvSpPr>
        <p:spPr>
          <a:xfrm>
            <a:off x="3263265" y="2973701"/>
            <a:ext cx="2033070" cy="3890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관광객 밀집에 따라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5C6A70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특정 지역의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폐업률이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증가하는가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?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5C6A70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19" name="Rounded Rectangle 19">
            <a:extLst>
              <a:ext uri="{FF2B5EF4-FFF2-40B4-BE49-F238E27FC236}">
                <a16:creationId xmlns:a16="http://schemas.microsoft.com/office/drawing/2014/main" id="{DFCFE0D9-9791-4C6D-C1D2-556F4EDBA92B}"/>
              </a:ext>
            </a:extLst>
          </p:cNvPr>
          <p:cNvSpPr/>
          <p:nvPr/>
        </p:nvSpPr>
        <p:spPr>
          <a:xfrm>
            <a:off x="8267673" y="2513299"/>
            <a:ext cx="2355342" cy="101498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6" name="Rounded Rectangle 19">
            <a:extLst>
              <a:ext uri="{FF2B5EF4-FFF2-40B4-BE49-F238E27FC236}">
                <a16:creationId xmlns:a16="http://schemas.microsoft.com/office/drawing/2014/main" id="{0986FE17-98AB-D8E3-A296-515DFBFD92DF}"/>
              </a:ext>
            </a:extLst>
          </p:cNvPr>
          <p:cNvSpPr/>
          <p:nvPr/>
        </p:nvSpPr>
        <p:spPr>
          <a:xfrm>
            <a:off x="5684901" y="2513299"/>
            <a:ext cx="2355342" cy="101498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85FF68C-7E0A-98BF-6DC9-6B9CBBC4F6A5}"/>
              </a:ext>
            </a:extLst>
          </p:cNvPr>
          <p:cNvSpPr txBox="1"/>
          <p:nvPr/>
        </p:nvSpPr>
        <p:spPr>
          <a:xfrm>
            <a:off x="6021378" y="2616323"/>
            <a:ext cx="1682388" cy="375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750" dirty="0">
                <a:solidFill>
                  <a:srgbClr val="15747C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소비 전환 실패</a:t>
            </a:r>
            <a:endParaRPr sz="1750" dirty="0">
              <a:solidFill>
                <a:srgbClr val="15747C"/>
              </a:solidFill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15634FE-51B4-CD88-B863-B440A922DC3B}"/>
              </a:ext>
            </a:extLst>
          </p:cNvPr>
          <p:cNvSpPr txBox="1"/>
          <p:nvPr/>
        </p:nvSpPr>
        <p:spPr>
          <a:xfrm>
            <a:off x="5846037" y="2973701"/>
            <a:ext cx="2033070" cy="3904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관광객이 증가함에도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5C6A70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실제 매출로 연결되지 않는가</a:t>
            </a:r>
            <a:r>
              <a:rPr lang="en-US" altLang="ko-KR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?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5C6A70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F0B4B36-1228-099C-9AFD-2F868851A35C}"/>
              </a:ext>
            </a:extLst>
          </p:cNvPr>
          <p:cNvSpPr txBox="1"/>
          <p:nvPr/>
        </p:nvSpPr>
        <p:spPr>
          <a:xfrm>
            <a:off x="8604150" y="2616323"/>
            <a:ext cx="1682388" cy="375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750" dirty="0">
                <a:solidFill>
                  <a:srgbClr val="15747C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관광산업 편중</a:t>
            </a:r>
            <a:endParaRPr sz="1750" dirty="0">
              <a:solidFill>
                <a:srgbClr val="15747C"/>
              </a:solidFill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04FBF6B-15B3-A3C1-4AB4-64CD882E98BC}"/>
              </a:ext>
            </a:extLst>
          </p:cNvPr>
          <p:cNvSpPr txBox="1"/>
          <p:nvPr/>
        </p:nvSpPr>
        <p:spPr>
          <a:xfrm>
            <a:off x="8428809" y="2973701"/>
            <a:ext cx="2033070" cy="3904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관광업이 성장할수록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5C6A70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생활 </a:t>
            </a:r>
            <a:r>
              <a:rPr lang="en-US" altLang="ko-KR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/ </a:t>
            </a:r>
            <a:r>
              <a:rPr lang="ko-KR" altLang="en-US" sz="900" dirty="0" err="1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비관광</a:t>
            </a:r>
            <a:r>
              <a:rPr lang="ko-KR" altLang="en-US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ko-KR" altLang="en-US" sz="900" dirty="0" err="1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업중이</a:t>
            </a:r>
            <a:r>
              <a:rPr lang="ko-KR" altLang="en-US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쇠퇴하는가</a:t>
            </a:r>
            <a:r>
              <a:rPr lang="en-US" altLang="ko-KR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?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5C6A70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7" name="Rounded Rectangle 19">
            <a:extLst>
              <a:ext uri="{FF2B5EF4-FFF2-40B4-BE49-F238E27FC236}">
                <a16:creationId xmlns:a16="http://schemas.microsoft.com/office/drawing/2014/main" id="{813B2204-34B6-3B26-3B6D-24272A6B5E1A}"/>
              </a:ext>
            </a:extLst>
          </p:cNvPr>
          <p:cNvSpPr/>
          <p:nvPr/>
        </p:nvSpPr>
        <p:spPr>
          <a:xfrm>
            <a:off x="3102129" y="3680237"/>
            <a:ext cx="2355342" cy="101498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870947B-54C2-8800-9434-7C6B4FCAD35F}"/>
              </a:ext>
            </a:extLst>
          </p:cNvPr>
          <p:cNvSpPr txBox="1"/>
          <p:nvPr/>
        </p:nvSpPr>
        <p:spPr>
          <a:xfrm>
            <a:off x="3438606" y="3783261"/>
            <a:ext cx="1682388" cy="375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750">
                <a:solidFill>
                  <a:srgbClr val="15747C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관광업 과잉경쟁</a:t>
            </a:r>
            <a:endParaRPr sz="1750" dirty="0">
              <a:solidFill>
                <a:srgbClr val="15747C"/>
              </a:solidFill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F848956-C106-81D9-7349-AE5737FA24B8}"/>
              </a:ext>
            </a:extLst>
          </p:cNvPr>
          <p:cNvSpPr txBox="1"/>
          <p:nvPr/>
        </p:nvSpPr>
        <p:spPr>
          <a:xfrm>
            <a:off x="3263265" y="4140639"/>
            <a:ext cx="2033070" cy="3904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시장보다 점포가 더 빨리 늘어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5C6A70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경쟁이 과열되는 양상을 띄는가</a:t>
            </a:r>
            <a:r>
              <a:rPr lang="en-US" altLang="ko-KR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?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5C6A70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70" name="Rounded Rectangle 19">
            <a:extLst>
              <a:ext uri="{FF2B5EF4-FFF2-40B4-BE49-F238E27FC236}">
                <a16:creationId xmlns:a16="http://schemas.microsoft.com/office/drawing/2014/main" id="{7A036B94-5544-841B-23F2-C65698CA3EA1}"/>
              </a:ext>
            </a:extLst>
          </p:cNvPr>
          <p:cNvSpPr/>
          <p:nvPr/>
        </p:nvSpPr>
        <p:spPr>
          <a:xfrm>
            <a:off x="8267673" y="3680237"/>
            <a:ext cx="2355342" cy="101498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71" name="Rounded Rectangle 19">
            <a:extLst>
              <a:ext uri="{FF2B5EF4-FFF2-40B4-BE49-F238E27FC236}">
                <a16:creationId xmlns:a16="http://schemas.microsoft.com/office/drawing/2014/main" id="{CB57E01E-F252-1B50-347A-AF5D11518898}"/>
              </a:ext>
            </a:extLst>
          </p:cNvPr>
          <p:cNvSpPr/>
          <p:nvPr/>
        </p:nvSpPr>
        <p:spPr>
          <a:xfrm>
            <a:off x="5684901" y="3680237"/>
            <a:ext cx="2355342" cy="101498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480F6FF-779E-6708-1544-90797E8EA95E}"/>
              </a:ext>
            </a:extLst>
          </p:cNvPr>
          <p:cNvSpPr txBox="1"/>
          <p:nvPr/>
        </p:nvSpPr>
        <p:spPr>
          <a:xfrm>
            <a:off x="6021378" y="3783261"/>
            <a:ext cx="1682388" cy="375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750" dirty="0">
                <a:solidFill>
                  <a:srgbClr val="15747C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지역 내수 감소</a:t>
            </a:r>
            <a:endParaRPr sz="1750" dirty="0">
              <a:solidFill>
                <a:srgbClr val="15747C"/>
              </a:solidFill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A678E6A-2B4B-30BE-85B9-97651952598E}"/>
              </a:ext>
            </a:extLst>
          </p:cNvPr>
          <p:cNvSpPr txBox="1"/>
          <p:nvPr/>
        </p:nvSpPr>
        <p:spPr>
          <a:xfrm>
            <a:off x="5846037" y="4140639"/>
            <a:ext cx="2033070" cy="3904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관광소비가 늘어도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5C6A70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현지인 소비 감소 시 폐업이 증가하는가</a:t>
            </a:r>
            <a:r>
              <a:rPr lang="en-US" altLang="ko-KR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?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5C6A70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4A06889-B18F-CCC2-3CA6-4DEC49EE6BD3}"/>
              </a:ext>
            </a:extLst>
          </p:cNvPr>
          <p:cNvSpPr txBox="1"/>
          <p:nvPr/>
        </p:nvSpPr>
        <p:spPr>
          <a:xfrm>
            <a:off x="8604150" y="3783261"/>
            <a:ext cx="1682388" cy="375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750" dirty="0">
                <a:solidFill>
                  <a:srgbClr val="15747C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성장</a:t>
            </a:r>
            <a:r>
              <a:rPr lang="en-US" altLang="ko-KR" sz="1750" dirty="0">
                <a:solidFill>
                  <a:srgbClr val="15747C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–</a:t>
            </a:r>
            <a:r>
              <a:rPr lang="ko-KR" altLang="en-US" sz="1750" dirty="0">
                <a:solidFill>
                  <a:srgbClr val="15747C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생존 괴리</a:t>
            </a:r>
            <a:endParaRPr sz="1750" dirty="0">
              <a:solidFill>
                <a:srgbClr val="15747C"/>
              </a:solidFill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FEE26B0-E215-84FD-C1BF-C83B18A47E44}"/>
              </a:ext>
            </a:extLst>
          </p:cNvPr>
          <p:cNvSpPr txBox="1"/>
          <p:nvPr/>
        </p:nvSpPr>
        <p:spPr>
          <a:xfrm>
            <a:off x="8428809" y="4140639"/>
            <a:ext cx="2033070" cy="3904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관광객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/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매출이 모두 늘었음에도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5C6A70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dirty="0" err="1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폐업률이</a:t>
            </a:r>
            <a:r>
              <a:rPr lang="ko-KR" altLang="en-US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높은 지역이 존재하는가</a:t>
            </a:r>
            <a:r>
              <a:rPr lang="en-US" altLang="ko-KR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?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5C6A70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76" name="Rounded Rectangle 14">
            <a:extLst>
              <a:ext uri="{FF2B5EF4-FFF2-40B4-BE49-F238E27FC236}">
                <a16:creationId xmlns:a16="http://schemas.microsoft.com/office/drawing/2014/main" id="{78758A2D-E5B9-B51F-3E57-B3A07FEFF8AA}"/>
              </a:ext>
            </a:extLst>
          </p:cNvPr>
          <p:cNvSpPr/>
          <p:nvPr/>
        </p:nvSpPr>
        <p:spPr>
          <a:xfrm>
            <a:off x="5490972" y="4981887"/>
            <a:ext cx="2743200" cy="347472"/>
          </a:xfrm>
          <a:prstGeom prst="roundRect">
            <a:avLst/>
          </a:prstGeom>
          <a:solidFill>
            <a:srgbClr val="DEF1F3"/>
          </a:solidFill>
          <a:ln w="12700">
            <a:solidFill>
              <a:srgbClr val="DE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80" b="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인원 별 데이터 수집</a:t>
            </a:r>
            <a:endParaRPr kumimoji="0" sz="1180" b="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29" name="Rounded Rectangle 19">
            <a:extLst>
              <a:ext uri="{FF2B5EF4-FFF2-40B4-BE49-F238E27FC236}">
                <a16:creationId xmlns:a16="http://schemas.microsoft.com/office/drawing/2014/main" id="{181F585F-C2C9-16DB-0FEB-DBED4D0D66F5}"/>
              </a:ext>
            </a:extLst>
          </p:cNvPr>
          <p:cNvSpPr/>
          <p:nvPr/>
        </p:nvSpPr>
        <p:spPr>
          <a:xfrm>
            <a:off x="2359152" y="5570582"/>
            <a:ext cx="2149382" cy="92623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653F47-E129-FDDC-3BAE-D8CD15004BF2}"/>
              </a:ext>
            </a:extLst>
          </p:cNvPr>
          <p:cNvSpPr txBox="1"/>
          <p:nvPr/>
        </p:nvSpPr>
        <p:spPr>
          <a:xfrm>
            <a:off x="2666206" y="5770081"/>
            <a:ext cx="1535274" cy="375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김성우</a:t>
            </a:r>
            <a:endParaRPr kumimoji="0" sz="1750" b="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9EC237-638F-4E63-7BFD-71BEB9340644}"/>
              </a:ext>
            </a:extLst>
          </p:cNvPr>
          <p:cNvSpPr txBox="1"/>
          <p:nvPr/>
        </p:nvSpPr>
        <p:spPr>
          <a:xfrm>
            <a:off x="2529769" y="6078825"/>
            <a:ext cx="1808148" cy="238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지역별 폐업 </a:t>
            </a:r>
            <a:r>
              <a:rPr lang="en-US" altLang="ko-KR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/ </a:t>
            </a:r>
            <a:r>
              <a:rPr lang="ko-KR" altLang="en-US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신설 데이터 분석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5C6A70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34" name="Rounded Rectangle 19">
            <a:extLst>
              <a:ext uri="{FF2B5EF4-FFF2-40B4-BE49-F238E27FC236}">
                <a16:creationId xmlns:a16="http://schemas.microsoft.com/office/drawing/2014/main" id="{77C604B2-267B-A394-97CA-82AE68BE4A49}"/>
              </a:ext>
            </a:extLst>
          </p:cNvPr>
          <p:cNvSpPr/>
          <p:nvPr/>
        </p:nvSpPr>
        <p:spPr>
          <a:xfrm>
            <a:off x="4644971" y="5570582"/>
            <a:ext cx="2149382" cy="92623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78" name="Rounded Rectangle 19">
            <a:extLst>
              <a:ext uri="{FF2B5EF4-FFF2-40B4-BE49-F238E27FC236}">
                <a16:creationId xmlns:a16="http://schemas.microsoft.com/office/drawing/2014/main" id="{DC3A36DC-B97F-3198-0A83-E54C7CE4348F}"/>
              </a:ext>
            </a:extLst>
          </p:cNvPr>
          <p:cNvSpPr/>
          <p:nvPr/>
        </p:nvSpPr>
        <p:spPr>
          <a:xfrm>
            <a:off x="6930791" y="5570582"/>
            <a:ext cx="2149382" cy="92623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82" name="Rounded Rectangle 19">
            <a:extLst>
              <a:ext uri="{FF2B5EF4-FFF2-40B4-BE49-F238E27FC236}">
                <a16:creationId xmlns:a16="http://schemas.microsoft.com/office/drawing/2014/main" id="{EB86EF0F-9A4E-1826-E429-753D81D40E67}"/>
              </a:ext>
            </a:extLst>
          </p:cNvPr>
          <p:cNvSpPr/>
          <p:nvPr/>
        </p:nvSpPr>
        <p:spPr>
          <a:xfrm>
            <a:off x="9216610" y="5570582"/>
            <a:ext cx="2149382" cy="92623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463E610-38DB-5EE3-7CC3-89085B1C03B9}"/>
              </a:ext>
            </a:extLst>
          </p:cNvPr>
          <p:cNvSpPr txBox="1"/>
          <p:nvPr/>
        </p:nvSpPr>
        <p:spPr>
          <a:xfrm>
            <a:off x="4952025" y="5770081"/>
            <a:ext cx="1535274" cy="375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50" b="0" i="0" u="none" strike="noStrike" kern="1200" cap="none" spc="0" normalizeH="0" baseline="0" noProof="0" dirty="0" err="1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정연재</a:t>
            </a:r>
            <a:endParaRPr kumimoji="0" sz="1750" b="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D9D89F6-6FB3-223C-8602-2995AB28F586}"/>
              </a:ext>
            </a:extLst>
          </p:cNvPr>
          <p:cNvSpPr txBox="1"/>
          <p:nvPr/>
        </p:nvSpPr>
        <p:spPr>
          <a:xfrm>
            <a:off x="4952025" y="6078825"/>
            <a:ext cx="1535274" cy="238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관광객 </a:t>
            </a:r>
            <a:r>
              <a:rPr lang="en-US" altLang="ko-KR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/ </a:t>
            </a:r>
            <a:r>
              <a:rPr lang="ko-KR" altLang="en-US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관광소비 분석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5C6A70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24F2C2F-9FE6-55B2-0033-26144BAF249D}"/>
              </a:ext>
            </a:extLst>
          </p:cNvPr>
          <p:cNvSpPr txBox="1"/>
          <p:nvPr/>
        </p:nvSpPr>
        <p:spPr>
          <a:xfrm>
            <a:off x="7237845" y="5770081"/>
            <a:ext cx="1535274" cy="375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750" dirty="0" err="1">
                <a:solidFill>
                  <a:srgbClr val="15747C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박인해</a:t>
            </a:r>
            <a:endParaRPr kumimoji="0" sz="1750" b="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A9381D0-76B5-292C-8197-A2362D5D9653}"/>
              </a:ext>
            </a:extLst>
          </p:cNvPr>
          <p:cNvSpPr txBox="1"/>
          <p:nvPr/>
        </p:nvSpPr>
        <p:spPr>
          <a:xfrm>
            <a:off x="7237845" y="6078825"/>
            <a:ext cx="1535274" cy="238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지역별 매출 </a:t>
            </a:r>
            <a:r>
              <a:rPr lang="en-US" altLang="ko-KR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/ </a:t>
            </a:r>
            <a:r>
              <a:rPr lang="ko-KR" altLang="en-US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소비 분석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5C6A70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EEFF133-F40D-32B9-48B6-EF6CF61ED4C0}"/>
              </a:ext>
            </a:extLst>
          </p:cNvPr>
          <p:cNvSpPr txBox="1"/>
          <p:nvPr/>
        </p:nvSpPr>
        <p:spPr>
          <a:xfrm>
            <a:off x="9525794" y="5770081"/>
            <a:ext cx="1535274" cy="375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50" b="0" i="0" u="none" strike="noStrike" kern="1200" cap="none" spc="0" normalizeH="0" baseline="0" noProof="0" dirty="0" err="1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이석원</a:t>
            </a:r>
            <a:endParaRPr kumimoji="0" sz="1750" b="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34430F8-DE90-1384-819D-E79D6EC3E982}"/>
              </a:ext>
            </a:extLst>
          </p:cNvPr>
          <p:cNvSpPr txBox="1"/>
          <p:nvPr/>
        </p:nvSpPr>
        <p:spPr>
          <a:xfrm>
            <a:off x="9525794" y="6078825"/>
            <a:ext cx="1535274" cy="238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업종별 매출 </a:t>
            </a:r>
            <a:r>
              <a:rPr lang="en-US" altLang="ko-KR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/ </a:t>
            </a:r>
            <a:r>
              <a:rPr lang="ko-KR" altLang="en-US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상권 분석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5C6A70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4806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76DFF-92E0-BB0F-3700-D5DC27CCF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E3054B5-5211-5856-05AA-863CFE3ADC88}"/>
              </a:ext>
            </a:extLst>
          </p:cNvPr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0</a:t>
            </a:r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1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. Hypothesis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7DF7EA4-E964-C1FF-1AE1-7E89D528CA2E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0A2EB25-8882-D69B-B931-73DFF69A74DD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데이터 분석 전 가설 수립</a:t>
            </a:r>
            <a:endParaRPr kumimoji="0" lang="en-US" sz="1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C3F4C6D-0A13-BE77-B814-2E61A53B5138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부산의 관광 </a:t>
            </a:r>
            <a:r>
              <a:rPr lang="en-US" altLang="ko-KR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/ </a:t>
            </a:r>
            <a:r>
              <a:rPr lang="ko-KR" alt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소비 </a:t>
            </a:r>
            <a:r>
              <a:rPr lang="en-US" altLang="ko-KR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/ </a:t>
            </a:r>
            <a:r>
              <a:rPr lang="ko-KR" alt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폐업 간 관계를 검증하기 위한 </a:t>
            </a:r>
            <a:r>
              <a:rPr lang="en-US" altLang="ko-KR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6</a:t>
            </a:r>
            <a:r>
              <a:rPr lang="ko-KR" alt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가지 핵심 가설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5717D77-B58A-FA2B-0354-6C6BBDBE0CDE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BD88CEB-67DD-19C2-1CA0-A75FFBA9A8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333"/>
          <a:stretch>
            <a:fillRect/>
          </a:stretch>
        </p:blipFill>
        <p:spPr>
          <a:xfrm>
            <a:off x="657726" y="1558115"/>
            <a:ext cx="10876548" cy="4999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537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61DC3-C73B-DC84-CF98-B2526B8BB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63C6744-02D5-BC8D-8D71-AE30C8DBC173}"/>
              </a:ext>
            </a:extLst>
          </p:cNvPr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0</a:t>
            </a:r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2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. Data Assignment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AB8E9D5-41B5-DF1E-D2F5-46A4F7B70ABA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4D5A8CB-EDEB-24B6-9AFD-BD5AF0DAB945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2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가설</a:t>
            </a:r>
            <a:r>
              <a:rPr kumimoji="0" lang="en-US" altLang="ko-KR" sz="172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 </a:t>
            </a:r>
            <a:r>
              <a:rPr kumimoji="0" lang="ko-KR" altLang="en-US" sz="172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별 필요 데이터 및 담당자</a:t>
            </a:r>
            <a:endParaRPr kumimoji="0" lang="en-US" sz="1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34DAFA5-990A-FB8F-1E18-AB26053B83A3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+mn-cs"/>
              </a:rPr>
              <a:t>가설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+mn-cs"/>
              </a:rPr>
              <a:t>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+mn-cs"/>
              </a:rPr>
              <a:t>검증을 위해 필요한 핵심 데이터 </a:t>
            </a:r>
            <a:r>
              <a:rPr lang="en-US" altLang="ko-KR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(4</a:t>
            </a:r>
            <a:r>
              <a:rPr lang="ko-KR" alt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종</a:t>
            </a:r>
            <a:r>
              <a:rPr lang="en-US" altLang="ko-KR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) </a:t>
            </a:r>
            <a:r>
              <a:rPr lang="ko-KR" alt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정리 및 담당자 분담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265D36A-7B48-50B1-DEB6-8D20583E9CE1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E7D0684-E541-5EF0-47BB-C2A9BB23E9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2" t="18666" r="7352" b="3600"/>
          <a:stretch>
            <a:fillRect/>
          </a:stretch>
        </p:blipFill>
        <p:spPr>
          <a:xfrm>
            <a:off x="1434000" y="1554481"/>
            <a:ext cx="9324000" cy="478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239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AE6C6-B765-8F42-C54F-E89B0B2DB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165841C-412E-DA19-538E-CDA1CF58FC23}"/>
              </a:ext>
            </a:extLst>
          </p:cNvPr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0</a:t>
            </a:r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3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. Data Assignment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590EE3E-DF03-8251-FC06-6FBC7CD55B71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E3FB14E-BA4B-9E42-3BE8-E1CEBCA2B2CC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2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데이터 수집 기준</a:t>
            </a:r>
            <a:endParaRPr kumimoji="0" lang="en-US" sz="1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B7F68BE-59BA-0D57-1E81-978496FEDC60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전처리</a:t>
            </a:r>
            <a:r>
              <a:rPr lang="ko-KR" alt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과정의 최소화를 위한 데이터 수집 기준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89C2950-8E98-F4EE-066D-5D1AC595FF1D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4131E9-9BFF-D324-D6CE-2717F7068ABE}"/>
              </a:ext>
            </a:extLst>
          </p:cNvPr>
          <p:cNvSpPr txBox="1"/>
          <p:nvPr/>
        </p:nvSpPr>
        <p:spPr>
          <a:xfrm>
            <a:off x="3828391" y="5746663"/>
            <a:ext cx="45352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>
              <a:defRPr/>
            </a:pPr>
            <a:r>
              <a:rPr lang="ko-KR" altLang="en-US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*출처 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: </a:t>
            </a:r>
            <a:r>
              <a:rPr lang="ko-KR" altLang="en-US" sz="800" dirty="0" err="1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공공데이터포털</a:t>
            </a:r>
            <a:r>
              <a:rPr lang="ko-KR" altLang="en-US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 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(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  <a:hlinkClick r:id="rId3"/>
              </a:rPr>
              <a:t>https://www.data.go.kr/index.do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 )</a:t>
            </a:r>
          </a:p>
          <a:p>
            <a:pPr lvl="0" algn="ctr">
              <a:defRPr/>
            </a:pP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*</a:t>
            </a:r>
            <a:r>
              <a:rPr lang="ko-KR" altLang="en-US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출처 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: Big-</a:t>
            </a:r>
            <a:r>
              <a:rPr lang="ko-KR" altLang="en-US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데이터웨이브 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(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  <a:hlinkClick r:id="rId4"/>
              </a:rPr>
              <a:t>https://data.busan.go.kr/bdip/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 )</a:t>
            </a:r>
          </a:p>
          <a:p>
            <a:pPr lvl="0" algn="ctr">
              <a:defRPr/>
            </a:pP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*</a:t>
            </a:r>
            <a:r>
              <a:rPr lang="ko-KR" altLang="en-US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출처 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: TASIS </a:t>
            </a:r>
            <a:r>
              <a:rPr lang="ko-KR" altLang="en-US" sz="800" dirty="0" err="1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국세통계포털</a:t>
            </a:r>
            <a:r>
              <a:rPr lang="ko-KR" altLang="en-US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 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(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  <a:hlinkClick r:id="rId5"/>
              </a:rPr>
              <a:t>https://tasis.nts.go.kr/websquare/websquare.html?w2xPath=/cm/index.xml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 )</a:t>
            </a:r>
          </a:p>
          <a:p>
            <a:pPr lvl="0" algn="ctr">
              <a:defRPr/>
            </a:pP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*</a:t>
            </a:r>
            <a:r>
              <a:rPr lang="ko-KR" altLang="en-US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출처 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: </a:t>
            </a:r>
            <a:r>
              <a:rPr lang="ko-KR" altLang="en-US" sz="800" dirty="0" err="1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한국광광데이터랩</a:t>
            </a:r>
            <a:r>
              <a:rPr lang="ko-KR" altLang="en-US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 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(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  <a:hlinkClick r:id="rId6"/>
              </a:rPr>
              <a:t>https://datalab.visitkorea.or.kr/datalab/portal/main/getMainForm.do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) </a:t>
            </a:r>
          </a:p>
          <a:p>
            <a:pPr lvl="0" algn="ctr">
              <a:defRPr/>
            </a:pP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*</a:t>
            </a:r>
            <a:r>
              <a:rPr lang="ko-KR" altLang="en-US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출처 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: </a:t>
            </a:r>
            <a:r>
              <a:rPr lang="ko-KR" altLang="en-US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중소벤처기업 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(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  <a:hlinkClick r:id="rId7"/>
              </a:rPr>
              <a:t>https://mss.go.kr/site/smba/main.do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) </a:t>
            </a:r>
          </a:p>
          <a:p>
            <a:pPr lvl="0" algn="ctr">
              <a:defRPr/>
            </a:pP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*</a:t>
            </a:r>
            <a:r>
              <a:rPr lang="ko-KR" altLang="en-US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출처 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: ONE </a:t>
            </a:r>
            <a:r>
              <a:rPr lang="ko-KR" altLang="en-US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윈도우 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(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  <a:hlinkClick r:id="rId8"/>
              </a:rPr>
              <a:t>https://www.data1window.kr/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) 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00g" panose="02020603020101020101" pitchFamily="18" charset="-127"/>
              <a:ea typeface="HG꼬딕씨_Pro 00g" panose="02020603020101020101" pitchFamily="18" charset="-127"/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A72518B3-47AB-F80C-C1B2-373218BE8AD2}"/>
              </a:ext>
            </a:extLst>
          </p:cNvPr>
          <p:cNvGrpSpPr/>
          <p:nvPr/>
        </p:nvGrpSpPr>
        <p:grpSpPr>
          <a:xfrm>
            <a:off x="401679" y="1651175"/>
            <a:ext cx="3657599" cy="3678754"/>
            <a:chOff x="376636" y="1747857"/>
            <a:chExt cx="3657599" cy="3678754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51FCBD5B-557A-23B7-B476-4142241F611B}"/>
                </a:ext>
              </a:extLst>
            </p:cNvPr>
            <p:cNvSpPr/>
            <p:nvPr/>
          </p:nvSpPr>
          <p:spPr>
            <a:xfrm>
              <a:off x="376636" y="1747857"/>
              <a:ext cx="3657599" cy="3678754"/>
            </a:xfrm>
            <a:prstGeom prst="roundRect">
              <a:avLst>
                <a:gd name="adj" fmla="val 858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srgbClr val="21AFBF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A0BBBCD-DBEE-D0BA-7AA4-C03DD7F0F0FF}"/>
                </a:ext>
              </a:extLst>
            </p:cNvPr>
            <p:cNvSpPr txBox="1"/>
            <p:nvPr/>
          </p:nvSpPr>
          <p:spPr>
            <a:xfrm>
              <a:off x="1190585" y="4533088"/>
              <a:ext cx="198804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G꼬딕씨_Pro 80g" panose="02020603020101020101" pitchFamily="18" charset="-127"/>
                  <a:ea typeface="HG꼬딕씨_Pro 80g" panose="02020603020101020101" pitchFamily="18" charset="-127"/>
                </a:rPr>
                <a:t>신뢰할 수 있는 데이터</a:t>
              </a:r>
              <a:endPara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730EF01-9EE4-5CBD-2411-6F288543FA58}"/>
                </a:ext>
              </a:extLst>
            </p:cNvPr>
            <p:cNvSpPr txBox="1"/>
            <p:nvPr/>
          </p:nvSpPr>
          <p:spPr>
            <a:xfrm>
              <a:off x="567591" y="4897091"/>
              <a:ext cx="323403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dirty="0">
                  <a:solidFill>
                    <a:prstClr val="black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[ </a:t>
              </a:r>
              <a:r>
                <a:rPr lang="ko-KR" altLang="en-US" sz="900" dirty="0">
                  <a:solidFill>
                    <a:prstClr val="black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부산</a:t>
              </a:r>
              <a:r>
                <a:rPr lang="en-US" altLang="ko-KR" sz="900" dirty="0">
                  <a:solidFill>
                    <a:prstClr val="black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/</a:t>
              </a:r>
              <a:r>
                <a:rPr lang="ko-KR" altLang="en-US" sz="900" dirty="0">
                  <a:solidFill>
                    <a:prstClr val="black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정부 공식 데이터 위주의</a:t>
              </a:r>
              <a:r>
                <a:rPr lang="en-US" altLang="ko-KR" sz="900" dirty="0">
                  <a:solidFill>
                    <a:prstClr val="black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,</a:t>
              </a:r>
              <a:r>
                <a:rPr lang="ko-KR" altLang="en-US" sz="900" dirty="0">
                  <a:solidFill>
                    <a:prstClr val="black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 신뢰할 수 있는 데이터 수집 </a:t>
              </a:r>
              <a:r>
                <a:rPr lang="en-US" altLang="ko-KR" sz="900" dirty="0">
                  <a:solidFill>
                    <a:prstClr val="black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]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20g" panose="02020603020101020101" pitchFamily="18" charset="-127"/>
                <a:ea typeface="HG꼬딕씨_Pro 20g" panose="02020603020101020101" pitchFamily="18" charset="-127"/>
              </a:endParaRPr>
            </a:p>
          </p:txBody>
        </p:sp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62880FC2-7B32-AD46-BF0A-BC764B157FC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138" y="1837790"/>
              <a:ext cx="2420941" cy="2420941"/>
            </a:xfrm>
            <a:prstGeom prst="rect">
              <a:avLst/>
            </a:prstGeom>
          </p:spPr>
        </p:pic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D20553A0-8206-04CB-D954-6DAE15F8464A}"/>
              </a:ext>
            </a:extLst>
          </p:cNvPr>
          <p:cNvGrpSpPr/>
          <p:nvPr/>
        </p:nvGrpSpPr>
        <p:grpSpPr>
          <a:xfrm>
            <a:off x="4267200" y="1651175"/>
            <a:ext cx="3657599" cy="3678754"/>
            <a:chOff x="4277614" y="1747857"/>
            <a:chExt cx="3657599" cy="3678754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8A47FB9C-D13B-8A6F-8C3A-F6832604530A}"/>
                </a:ext>
              </a:extLst>
            </p:cNvPr>
            <p:cNvSpPr/>
            <p:nvPr/>
          </p:nvSpPr>
          <p:spPr>
            <a:xfrm>
              <a:off x="4277614" y="1747857"/>
              <a:ext cx="3657599" cy="3678754"/>
            </a:xfrm>
            <a:prstGeom prst="roundRect">
              <a:avLst>
                <a:gd name="adj" fmla="val 858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srgbClr val="21AFBF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04891C5-23D0-09B5-90E4-734DCA63912B}"/>
                </a:ext>
              </a:extLst>
            </p:cNvPr>
            <p:cNvSpPr txBox="1"/>
            <p:nvPr/>
          </p:nvSpPr>
          <p:spPr>
            <a:xfrm>
              <a:off x="5426586" y="4475808"/>
              <a:ext cx="13388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G꼬딕씨_Pro 80g" panose="02020603020101020101" pitchFamily="18" charset="-127"/>
                  <a:ea typeface="HG꼬딕씨_Pro 80g" panose="02020603020101020101" pitchFamily="18" charset="-127"/>
                </a:rPr>
                <a:t>유효한 데이터</a:t>
              </a:r>
              <a:endPara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80CDFC0-EC1F-D570-C84E-0AAB5D52D61B}"/>
                </a:ext>
              </a:extLst>
            </p:cNvPr>
            <p:cNvSpPr txBox="1"/>
            <p:nvPr/>
          </p:nvSpPr>
          <p:spPr>
            <a:xfrm>
              <a:off x="4343400" y="4897092"/>
              <a:ext cx="350520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dirty="0">
                  <a:solidFill>
                    <a:prstClr val="black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[ </a:t>
              </a:r>
              <a:r>
                <a:rPr lang="ko-KR" altLang="en-US" sz="900" dirty="0">
                  <a:solidFill>
                    <a:prstClr val="black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근 </a:t>
              </a:r>
              <a:r>
                <a:rPr lang="en-US" altLang="ko-KR" sz="900" dirty="0">
                  <a:solidFill>
                    <a:prstClr val="black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5</a:t>
              </a:r>
              <a:r>
                <a:rPr lang="ko-KR" altLang="en-US" sz="900" dirty="0">
                  <a:solidFill>
                    <a:prstClr val="black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년 이내의 데이터를 사용하되 코로나 이슈 내 데이터는 제외 </a:t>
              </a:r>
              <a:r>
                <a:rPr lang="en-US" altLang="ko-KR" sz="900" dirty="0">
                  <a:solidFill>
                    <a:prstClr val="black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]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20g" panose="02020603020101020101" pitchFamily="18" charset="-127"/>
                <a:ea typeface="HG꼬딕씨_Pro 20g" panose="02020603020101020101" pitchFamily="18" charset="-127"/>
              </a:endParaRPr>
            </a:p>
          </p:txBody>
        </p:sp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F605A59E-641F-5D28-E677-0BF80CCC4E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85530" y="1839424"/>
              <a:ext cx="2420941" cy="2420941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C88C857D-1764-89D2-D84B-6556E608B5B2}"/>
              </a:ext>
            </a:extLst>
          </p:cNvPr>
          <p:cNvGrpSpPr/>
          <p:nvPr/>
        </p:nvGrpSpPr>
        <p:grpSpPr>
          <a:xfrm>
            <a:off x="8132722" y="1651175"/>
            <a:ext cx="3657600" cy="3678754"/>
            <a:chOff x="8107679" y="1747857"/>
            <a:chExt cx="3657600" cy="3678754"/>
          </a:xfrm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D349E80A-A1A6-07C3-B603-5B487FC5833E}"/>
                </a:ext>
              </a:extLst>
            </p:cNvPr>
            <p:cNvSpPr/>
            <p:nvPr/>
          </p:nvSpPr>
          <p:spPr>
            <a:xfrm>
              <a:off x="8107680" y="1747857"/>
              <a:ext cx="3657599" cy="3678754"/>
            </a:xfrm>
            <a:prstGeom prst="roundRect">
              <a:avLst>
                <a:gd name="adj" fmla="val 858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srgbClr val="21AFBF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AA815F1-E44A-66B5-C5A1-87FB9AD47036}"/>
                </a:ext>
              </a:extLst>
            </p:cNvPr>
            <p:cNvSpPr txBox="1"/>
            <p:nvPr/>
          </p:nvSpPr>
          <p:spPr>
            <a:xfrm>
              <a:off x="9174893" y="4475808"/>
              <a:ext cx="152317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G꼬딕씨_Pro 80g" panose="02020603020101020101" pitchFamily="18" charset="-127"/>
                  <a:ea typeface="HG꼬딕씨_Pro 80g" panose="02020603020101020101" pitchFamily="18" charset="-127"/>
                </a:rPr>
                <a:t>디테일한 데이터</a:t>
              </a:r>
              <a:endPara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285985F-968A-0DED-3654-85A5BD47DF26}"/>
                </a:ext>
              </a:extLst>
            </p:cNvPr>
            <p:cNvSpPr txBox="1"/>
            <p:nvPr/>
          </p:nvSpPr>
          <p:spPr>
            <a:xfrm>
              <a:off x="8107679" y="4897091"/>
              <a:ext cx="365760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dirty="0">
                  <a:solidFill>
                    <a:prstClr val="black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[ </a:t>
              </a:r>
              <a:r>
                <a:rPr lang="ko-KR" altLang="en-US" sz="900" dirty="0">
                  <a:solidFill>
                    <a:prstClr val="black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다양하고 많은 데이터 수집을 위해 월별로 준비된 데이터 위주 수집</a:t>
              </a:r>
              <a:r>
                <a:rPr lang="en-US" altLang="ko-KR" sz="900" dirty="0">
                  <a:solidFill>
                    <a:prstClr val="black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 ]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20g" panose="02020603020101020101" pitchFamily="18" charset="-127"/>
                <a:ea typeface="HG꼬딕씨_Pro 20g" panose="02020603020101020101" pitchFamily="18" charset="-127"/>
              </a:endParaRPr>
            </a:p>
          </p:txBody>
        </p:sp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FF63C08E-4B16-EE88-6CEB-9ACB3CEA55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26010" y="1837791"/>
              <a:ext cx="2420940" cy="24209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94363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F2578-E517-9B27-B486-B2BC00AAA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5A261C2-E921-9D57-AE18-DE8C186AEF0E}"/>
              </a:ext>
            </a:extLst>
          </p:cNvPr>
          <p:cNvSpPr/>
          <p:nvPr/>
        </p:nvSpPr>
        <p:spPr>
          <a:xfrm>
            <a:off x="530351" y="246888"/>
            <a:ext cx="1593723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 latinLnBrk="0">
              <a:defRPr/>
            </a:pPr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0</a:t>
            </a:r>
            <a:r>
              <a:rPr lang="en-US" altLang="ko-KR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4</a:t>
            </a:r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. </a:t>
            </a:r>
            <a:r>
              <a:rPr lang="ko-KR" altLang="ko-KR" sz="9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Data </a:t>
            </a:r>
            <a:r>
              <a:rPr lang="ko-KR" altLang="ko-KR" sz="9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Preprocessing</a:t>
            </a:r>
            <a:r>
              <a:rPr lang="ko-KR" altLang="ko-KR" sz="9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ko-KR" altLang="ko-KR" sz="9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Overview</a:t>
            </a:r>
            <a:endParaRPr lang="en-US" sz="90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893FFBB-F0A0-D000-6BCC-73D2C6D385CB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6DAE51A-0049-5C9F-5570-47D0A3CA27D9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2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데이터 </a:t>
            </a:r>
            <a:r>
              <a:rPr kumimoji="0" lang="ko-KR" altLang="en-US" sz="172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전처리</a:t>
            </a:r>
            <a:r>
              <a:rPr kumimoji="0" lang="ko-KR" altLang="en-US" sz="172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 개요</a:t>
            </a:r>
            <a:endParaRPr kumimoji="0" lang="en-US" sz="1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2D71E29-F6DC-2FB5-5758-8C1255920681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분석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방향성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결정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및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데이터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구조화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계획</a:t>
            </a:r>
            <a:endParaRPr lang="en-US" altLang="ko-KR" sz="8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AD8A696-9074-52F7-834C-FE242C52280F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A19AC05-CF3D-7D02-DD7E-D33B859F569E}"/>
              </a:ext>
            </a:extLst>
          </p:cNvPr>
          <p:cNvSpPr/>
          <p:nvPr/>
        </p:nvSpPr>
        <p:spPr>
          <a:xfrm>
            <a:off x="1993392" y="1737360"/>
            <a:ext cx="2834640" cy="347472"/>
          </a:xfrm>
          <a:prstGeom prst="roundRect">
            <a:avLst>
              <a:gd name="adj" fmla="val 13158"/>
            </a:avLst>
          </a:prstGeom>
          <a:solidFill>
            <a:srgbClr val="DDF5F7"/>
          </a:solidFill>
          <a:ln w="12700">
            <a:solidFill>
              <a:srgbClr val="DDF5F7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D2D7DB">
                <a:alpha val="18000"/>
              </a:srgbClr>
            </a:outerShdw>
          </a:effectLst>
        </p:spPr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FC02355-C2C7-BF17-F6C5-A18A6994C6F3}"/>
              </a:ext>
            </a:extLst>
          </p:cNvPr>
          <p:cNvSpPr/>
          <p:nvPr/>
        </p:nvSpPr>
        <p:spPr>
          <a:xfrm>
            <a:off x="1993392" y="18333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87B84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관광 · 소비 · 폐업 관계 검증</a:t>
            </a:r>
            <a:endParaRPr lang="en-US" sz="130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CB754928-01B3-B765-2426-DFF631783AFC}"/>
              </a:ext>
            </a:extLst>
          </p:cNvPr>
          <p:cNvSpPr/>
          <p:nvPr/>
        </p:nvSpPr>
        <p:spPr>
          <a:xfrm>
            <a:off x="4983480" y="1737360"/>
            <a:ext cx="2423160" cy="347472"/>
          </a:xfrm>
          <a:prstGeom prst="roundRect">
            <a:avLst>
              <a:gd name="adj" fmla="val 13158"/>
            </a:avLst>
          </a:prstGeom>
          <a:solidFill>
            <a:srgbClr val="DDF5F7"/>
          </a:solidFill>
          <a:ln w="12700">
            <a:solidFill>
              <a:srgbClr val="DDF5F7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D2D7DB">
                <a:alpha val="18000"/>
              </a:srgbClr>
            </a:outerShdw>
          </a:effectLst>
        </p:spPr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2B7F73E6-A768-5F05-0224-DBBD0EBDFC1B}"/>
              </a:ext>
            </a:extLst>
          </p:cNvPr>
          <p:cNvSpPr/>
          <p:nvPr/>
        </p:nvSpPr>
        <p:spPr>
          <a:xfrm>
            <a:off x="4983480" y="1833372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87B84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구 단위 · 월 단위 통합</a:t>
            </a:r>
            <a:endParaRPr lang="en-US" sz="1300" dirty="0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F7134195-C08D-4E44-1EB8-ED044725CE67}"/>
              </a:ext>
            </a:extLst>
          </p:cNvPr>
          <p:cNvSpPr/>
          <p:nvPr/>
        </p:nvSpPr>
        <p:spPr>
          <a:xfrm>
            <a:off x="7589520" y="1737360"/>
            <a:ext cx="2148840" cy="347472"/>
          </a:xfrm>
          <a:prstGeom prst="roundRect">
            <a:avLst>
              <a:gd name="adj" fmla="val 13158"/>
            </a:avLst>
          </a:prstGeom>
          <a:solidFill>
            <a:srgbClr val="DDF5F7"/>
          </a:solidFill>
          <a:ln w="12700">
            <a:solidFill>
              <a:srgbClr val="DDF5F7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D2D7DB">
                <a:alpha val="18000"/>
              </a:srgbClr>
            </a:outerShdw>
          </a:effectLst>
        </p:spPr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D7969324-CA6A-0F1C-E4DB-DEFA00456849}"/>
              </a:ext>
            </a:extLst>
          </p:cNvPr>
          <p:cNvSpPr/>
          <p:nvPr/>
        </p:nvSpPr>
        <p:spPr>
          <a:xfrm>
            <a:off x="7589520" y="183337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87B84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분석 변수 단순화</a:t>
            </a:r>
            <a:endParaRPr lang="en-US" sz="1300" dirty="0"/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87989259-65FE-5538-BCB4-E0B7BFD49BD8}"/>
              </a:ext>
            </a:extLst>
          </p:cNvPr>
          <p:cNvSpPr/>
          <p:nvPr/>
        </p:nvSpPr>
        <p:spPr>
          <a:xfrm>
            <a:off x="1005840" y="2331720"/>
            <a:ext cx="101955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1430">
            <a:solidFill>
              <a:srgbClr val="DDE7EC"/>
            </a:solidFill>
            <a:prstDash val="solid"/>
          </a:ln>
          <a:effectLst>
            <a:outerShdw blurRad="12700" dist="50800" dir="2700000" algn="bl" rotWithShape="0">
              <a:srgbClr val="AEB4B9">
                <a:alpha val="16000"/>
              </a:srgbClr>
            </a:outerShdw>
          </a:effectLst>
        </p:spPr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0139170C-A569-DC49-EA10-D221CA4A0223}"/>
              </a:ext>
            </a:extLst>
          </p:cNvPr>
          <p:cNvSpPr/>
          <p:nvPr/>
        </p:nvSpPr>
        <p:spPr>
          <a:xfrm>
            <a:off x="1298448" y="26334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7B84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분석 전 핵심 정리</a:t>
            </a:r>
            <a:endParaRPr lang="en-US" sz="1300" dirty="0"/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94FFA795-CBE8-29E9-4118-6FE2FED7275B}"/>
              </a:ext>
            </a:extLst>
          </p:cNvPr>
          <p:cNvSpPr/>
          <p:nvPr/>
        </p:nvSpPr>
        <p:spPr>
          <a:xfrm>
            <a:off x="1298448" y="2897124"/>
            <a:ext cx="94640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lnSpc>
                <a:spcPct val="210000"/>
              </a:lnSpc>
              <a:buNone/>
            </a:pPr>
            <a:r>
              <a:rPr lang="en-US" sz="1240" dirty="0">
                <a:solidFill>
                  <a:srgbClr val="243138"/>
                </a:solidFill>
                <a:latin typeface="HG꼬딕씨_Pro 40g" pitchFamily="34" charset="0"/>
                <a:ea typeface="HG꼬딕씨_Pro 40g" pitchFamily="34" charset="-122"/>
                <a:cs typeface="HG꼬딕씨_Pro 40g" pitchFamily="34" charset="-120"/>
              </a:rPr>
              <a:t>•  부산의 관광 증가, 소비 흐름, 사업체 변화, 폐업률을 하나의 분석 구조로 연결한다.</a:t>
            </a:r>
            <a:endParaRPr lang="en-US" sz="1240" dirty="0"/>
          </a:p>
          <a:p>
            <a:pPr marL="0" indent="0">
              <a:lnSpc>
                <a:spcPct val="210000"/>
              </a:lnSpc>
              <a:buNone/>
            </a:pPr>
            <a:r>
              <a:rPr lang="en-US" sz="1240" dirty="0">
                <a:solidFill>
                  <a:srgbClr val="243138"/>
                </a:solidFill>
                <a:latin typeface="HG꼬딕씨_Pro 40g" pitchFamily="34" charset="0"/>
                <a:ea typeface="HG꼬딕씨_Pro 40g" pitchFamily="34" charset="-122"/>
                <a:cs typeface="HG꼬딕씨_Pro 40g" pitchFamily="34" charset="-120"/>
              </a:rPr>
              <a:t>•  서로 다른 공간 단위와 시간 단위를 행정구·월 단위로 맞춰 비교 가능하게 만든다.</a:t>
            </a:r>
            <a:endParaRPr lang="en-US" sz="1240" dirty="0"/>
          </a:p>
          <a:p>
            <a:pPr marL="0" indent="0">
              <a:lnSpc>
                <a:spcPct val="210000"/>
              </a:lnSpc>
              <a:buNone/>
            </a:pPr>
            <a:r>
              <a:rPr lang="en-US" sz="1240" dirty="0">
                <a:solidFill>
                  <a:srgbClr val="243138"/>
                </a:solidFill>
                <a:latin typeface="HG꼬딕씨_Pro 40g" pitchFamily="34" charset="0"/>
                <a:ea typeface="HG꼬딕씨_Pro 40g" pitchFamily="34" charset="-122"/>
                <a:cs typeface="HG꼬딕씨_Pro 40g" pitchFamily="34" charset="-120"/>
              </a:rPr>
              <a:t>•  분석 목적과 직접 관련이 낮은 변수는 제거하고 핵심 변수 중심의 데이터셋으로 단순화한다.</a:t>
            </a:r>
            <a:endParaRPr lang="en-US" sz="1240" dirty="0"/>
          </a:p>
          <a:p>
            <a:pPr marL="0" indent="0">
              <a:lnSpc>
                <a:spcPct val="210000"/>
              </a:lnSpc>
              <a:buNone/>
            </a:pPr>
            <a:r>
              <a:rPr lang="en-US" sz="1240" dirty="0">
                <a:solidFill>
                  <a:srgbClr val="243138"/>
                </a:solidFill>
                <a:latin typeface="HG꼬딕씨_Pro 40g" pitchFamily="34" charset="0"/>
                <a:ea typeface="HG꼬딕씨_Pro 40g" pitchFamily="34" charset="-122"/>
                <a:cs typeface="HG꼬딕씨_Pro 40g" pitchFamily="34" charset="-120"/>
              </a:rPr>
              <a:t>•  이후 EDA에서는 지역·시점·업종별 차이를 기준으로 상권 변화의 패턴을 확인한다.</a:t>
            </a:r>
            <a:endParaRPr lang="en-US" sz="1240" dirty="0"/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3C4ABC4-9F2F-B6E7-2545-8C50DEB24C0E}"/>
              </a:ext>
            </a:extLst>
          </p:cNvPr>
          <p:cNvGrpSpPr/>
          <p:nvPr/>
        </p:nvGrpSpPr>
        <p:grpSpPr>
          <a:xfrm>
            <a:off x="950594" y="4846320"/>
            <a:ext cx="1887474" cy="1104900"/>
            <a:chOff x="950594" y="4846320"/>
            <a:chExt cx="1887474" cy="1104900"/>
          </a:xfrm>
        </p:grpSpPr>
        <p:sp>
          <p:nvSpPr>
            <p:cNvPr id="26" name="Shape 14">
              <a:extLst>
                <a:ext uri="{FF2B5EF4-FFF2-40B4-BE49-F238E27FC236}">
                  <a16:creationId xmlns:a16="http://schemas.microsoft.com/office/drawing/2014/main" id="{F3CD4F90-8802-1703-ADBD-4B542A378D61}"/>
                </a:ext>
              </a:extLst>
            </p:cNvPr>
            <p:cNvSpPr/>
            <p:nvPr/>
          </p:nvSpPr>
          <p:spPr>
            <a:xfrm>
              <a:off x="950594" y="4846320"/>
              <a:ext cx="1887474" cy="1104900"/>
            </a:xfrm>
            <a:prstGeom prst="roundRect">
              <a:avLst>
                <a:gd name="adj" fmla="val 7843"/>
              </a:avLst>
            </a:prstGeom>
            <a:solidFill>
              <a:srgbClr val="FFFFFF"/>
            </a:solidFill>
            <a:ln w="10160">
              <a:solidFill>
                <a:srgbClr val="DDE7EC"/>
              </a:solidFill>
              <a:prstDash val="solid"/>
            </a:ln>
            <a:effectLst>
              <a:outerShdw blurRad="12700" dist="50800" dir="2700000" algn="bl" rotWithShape="0">
                <a:srgbClr val="B5BCC2">
                  <a:alpha val="15000"/>
                </a:srgbClr>
              </a:outerShdw>
            </a:effectLst>
          </p:spPr>
        </p:sp>
        <p:grpSp>
          <p:nvGrpSpPr>
            <p:cNvPr id="67" name="그룹 66">
              <a:extLst>
                <a:ext uri="{FF2B5EF4-FFF2-40B4-BE49-F238E27FC236}">
                  <a16:creationId xmlns:a16="http://schemas.microsoft.com/office/drawing/2014/main" id="{F1539953-F93C-8792-E9C5-A889D62FEC5A}"/>
                </a:ext>
              </a:extLst>
            </p:cNvPr>
            <p:cNvGrpSpPr/>
            <p:nvPr/>
          </p:nvGrpSpPr>
          <p:grpSpPr>
            <a:xfrm>
              <a:off x="1118616" y="5074158"/>
              <a:ext cx="1551432" cy="649224"/>
              <a:chOff x="1078992" y="5074920"/>
              <a:chExt cx="1819656" cy="649224"/>
            </a:xfrm>
          </p:grpSpPr>
          <p:sp>
            <p:nvSpPr>
              <p:cNvPr id="28" name="Text 15">
                <a:extLst>
                  <a:ext uri="{FF2B5EF4-FFF2-40B4-BE49-F238E27FC236}">
                    <a16:creationId xmlns:a16="http://schemas.microsoft.com/office/drawing/2014/main" id="{0842B42E-8814-7480-285D-3AA954352C89}"/>
                  </a:ext>
                </a:extLst>
              </p:cNvPr>
              <p:cNvSpPr/>
              <p:nvPr/>
            </p:nvSpPr>
            <p:spPr>
              <a:xfrm>
                <a:off x="1078992" y="5074920"/>
                <a:ext cx="1819656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50" dirty="0">
                    <a:solidFill>
                      <a:srgbClr val="087B84"/>
                    </a:solidFill>
                    <a:latin typeface="HG꼬딕씨_Pro 60g" pitchFamily="34" charset="0"/>
                    <a:ea typeface="HG꼬딕씨_Pro 60g" pitchFamily="34" charset="-122"/>
                    <a:cs typeface="HG꼬딕씨_Pro 60g" pitchFamily="34" charset="-120"/>
                  </a:rPr>
                  <a:t>9개</a:t>
                </a:r>
                <a:endParaRPr lang="en-US" sz="1450" dirty="0"/>
              </a:p>
            </p:txBody>
          </p:sp>
          <p:sp>
            <p:nvSpPr>
              <p:cNvPr id="30" name="Text 16">
                <a:extLst>
                  <a:ext uri="{FF2B5EF4-FFF2-40B4-BE49-F238E27FC236}">
                    <a16:creationId xmlns:a16="http://schemas.microsoft.com/office/drawing/2014/main" id="{CFA4BB08-4A59-AB7C-8DAB-F1618ABE2290}"/>
                  </a:ext>
                </a:extLst>
              </p:cNvPr>
              <p:cNvSpPr/>
              <p:nvPr/>
            </p:nvSpPr>
            <p:spPr>
              <a:xfrm>
                <a:off x="1097280" y="5358384"/>
                <a:ext cx="1783080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6E7C85"/>
                    </a:solidFill>
                    <a:latin typeface="HG꼬딕씨_Pro 20g" pitchFamily="34" charset="0"/>
                    <a:ea typeface="HG꼬딕씨_Pro 20g" pitchFamily="34" charset="-122"/>
                    <a:cs typeface="HG꼬딕씨_Pro 20g" pitchFamily="34" charset="-120"/>
                  </a:rPr>
                  <a:t>관광·소비·폐업·사업체</a:t>
                </a:r>
                <a:endParaRPr lang="en-US" sz="900" dirty="0"/>
              </a:p>
            </p:txBody>
          </p:sp>
          <p:sp>
            <p:nvSpPr>
              <p:cNvPr id="32" name="Text 17">
                <a:extLst>
                  <a:ext uri="{FF2B5EF4-FFF2-40B4-BE49-F238E27FC236}">
                    <a16:creationId xmlns:a16="http://schemas.microsoft.com/office/drawing/2014/main" id="{83B7966D-5C94-97F3-228C-917EAC130D4C}"/>
                  </a:ext>
                </a:extLst>
              </p:cNvPr>
              <p:cNvSpPr/>
              <p:nvPr/>
            </p:nvSpPr>
            <p:spPr>
              <a:xfrm>
                <a:off x="1097280" y="5559552"/>
                <a:ext cx="1783080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780" dirty="0">
                    <a:solidFill>
                      <a:srgbClr val="97A0A6"/>
                    </a:solidFill>
                    <a:latin typeface="HG꼬딕씨_Pro 20g" pitchFamily="34" charset="0"/>
                    <a:ea typeface="HG꼬딕씨_Pro 20g" pitchFamily="34" charset="-122"/>
                    <a:cs typeface="HG꼬딕씨_Pro 20g" pitchFamily="34" charset="-120"/>
                  </a:rPr>
                  <a:t>확보 데이터군</a:t>
                </a:r>
                <a:endParaRPr lang="en-US" sz="780" dirty="0"/>
              </a:p>
            </p:txBody>
          </p:sp>
        </p:grp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477E0205-9C40-50AF-9631-C86079F4FCE0}"/>
              </a:ext>
            </a:extLst>
          </p:cNvPr>
          <p:cNvGrpSpPr/>
          <p:nvPr/>
        </p:nvGrpSpPr>
        <p:grpSpPr>
          <a:xfrm>
            <a:off x="3041427" y="4846320"/>
            <a:ext cx="1887474" cy="1104900"/>
            <a:chOff x="2848551" y="4846320"/>
            <a:chExt cx="1887474" cy="1104900"/>
          </a:xfrm>
        </p:grpSpPr>
        <p:sp>
          <p:nvSpPr>
            <p:cNvPr id="34" name="Shape 18">
              <a:extLst>
                <a:ext uri="{FF2B5EF4-FFF2-40B4-BE49-F238E27FC236}">
                  <a16:creationId xmlns:a16="http://schemas.microsoft.com/office/drawing/2014/main" id="{6867B33A-B456-F5DB-31F9-9ADDE6B616B9}"/>
                </a:ext>
              </a:extLst>
            </p:cNvPr>
            <p:cNvSpPr/>
            <p:nvPr/>
          </p:nvSpPr>
          <p:spPr>
            <a:xfrm>
              <a:off x="2848551" y="4846320"/>
              <a:ext cx="1887474" cy="1104900"/>
            </a:xfrm>
            <a:prstGeom prst="roundRect">
              <a:avLst>
                <a:gd name="adj" fmla="val 7843"/>
              </a:avLst>
            </a:prstGeom>
            <a:solidFill>
              <a:srgbClr val="FFFFFF"/>
            </a:solidFill>
            <a:ln w="10160">
              <a:solidFill>
                <a:srgbClr val="DDE7EC"/>
              </a:solidFill>
              <a:prstDash val="solid"/>
            </a:ln>
            <a:effectLst>
              <a:outerShdw blurRad="12700" dist="50800" dir="2700000" algn="bl" rotWithShape="0">
                <a:srgbClr val="B5BCC2">
                  <a:alpha val="15000"/>
                </a:srgbClr>
              </a:outerShdw>
            </a:effectLst>
          </p:spPr>
        </p: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CC70F857-60FF-FAC4-2D17-62AC43999347}"/>
                </a:ext>
              </a:extLst>
            </p:cNvPr>
            <p:cNvGrpSpPr/>
            <p:nvPr/>
          </p:nvGrpSpPr>
          <p:grpSpPr>
            <a:xfrm>
              <a:off x="3210120" y="5074920"/>
              <a:ext cx="1164336" cy="649224"/>
              <a:chOff x="3255264" y="5074920"/>
              <a:chExt cx="1819656" cy="649224"/>
            </a:xfrm>
          </p:grpSpPr>
          <p:sp>
            <p:nvSpPr>
              <p:cNvPr id="36" name="Text 19">
                <a:extLst>
                  <a:ext uri="{FF2B5EF4-FFF2-40B4-BE49-F238E27FC236}">
                    <a16:creationId xmlns:a16="http://schemas.microsoft.com/office/drawing/2014/main" id="{7F89284E-A84D-6E80-72A4-ACF9ED9BAB8A}"/>
                  </a:ext>
                </a:extLst>
              </p:cNvPr>
              <p:cNvSpPr/>
              <p:nvPr/>
            </p:nvSpPr>
            <p:spPr>
              <a:xfrm>
                <a:off x="3255264" y="5074920"/>
                <a:ext cx="1819656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50" dirty="0">
                    <a:solidFill>
                      <a:srgbClr val="087B84"/>
                    </a:solidFill>
                    <a:latin typeface="HG꼬딕씨_Pro 60g" pitchFamily="34" charset="0"/>
                    <a:ea typeface="HG꼬딕씨_Pro 60g" pitchFamily="34" charset="-122"/>
                    <a:cs typeface="HG꼬딕씨_Pro 60g" pitchFamily="34" charset="-120"/>
                  </a:rPr>
                  <a:t>행정구</a:t>
                </a:r>
                <a:endParaRPr lang="en-US" sz="1450" dirty="0"/>
              </a:p>
            </p:txBody>
          </p:sp>
          <p:sp>
            <p:nvSpPr>
              <p:cNvPr id="38" name="Text 20">
                <a:extLst>
                  <a:ext uri="{FF2B5EF4-FFF2-40B4-BE49-F238E27FC236}">
                    <a16:creationId xmlns:a16="http://schemas.microsoft.com/office/drawing/2014/main" id="{CCB9A329-D52D-40F9-3E96-14318B1AB253}"/>
                  </a:ext>
                </a:extLst>
              </p:cNvPr>
              <p:cNvSpPr/>
              <p:nvPr/>
            </p:nvSpPr>
            <p:spPr>
              <a:xfrm>
                <a:off x="3273552" y="5358384"/>
                <a:ext cx="1783080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6E7C85"/>
                    </a:solidFill>
                    <a:latin typeface="HG꼬딕씨_Pro 20g" pitchFamily="34" charset="0"/>
                    <a:ea typeface="HG꼬딕씨_Pro 20g" pitchFamily="34" charset="-122"/>
                    <a:cs typeface="HG꼬딕씨_Pro 20g" pitchFamily="34" charset="-120"/>
                  </a:rPr>
                  <a:t>공간 기준</a:t>
                </a:r>
                <a:endParaRPr lang="en-US" sz="900" dirty="0"/>
              </a:p>
            </p:txBody>
          </p:sp>
          <p:sp>
            <p:nvSpPr>
              <p:cNvPr id="40" name="Text 21">
                <a:extLst>
                  <a:ext uri="{FF2B5EF4-FFF2-40B4-BE49-F238E27FC236}">
                    <a16:creationId xmlns:a16="http://schemas.microsoft.com/office/drawing/2014/main" id="{654AB749-5F4F-9952-FB23-6426A4C0BF8E}"/>
                  </a:ext>
                </a:extLst>
              </p:cNvPr>
              <p:cNvSpPr/>
              <p:nvPr/>
            </p:nvSpPr>
            <p:spPr>
              <a:xfrm>
                <a:off x="3273552" y="5559552"/>
                <a:ext cx="1783080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780" dirty="0">
                    <a:solidFill>
                      <a:srgbClr val="97A0A6"/>
                    </a:solidFill>
                    <a:latin typeface="HG꼬딕씨_Pro 20g" pitchFamily="34" charset="0"/>
                    <a:ea typeface="HG꼬딕씨_Pro 20g" pitchFamily="34" charset="-122"/>
                    <a:cs typeface="HG꼬딕씨_Pro 20g" pitchFamily="34" charset="-120"/>
                  </a:rPr>
                  <a:t>행정동 → 구</a:t>
                </a:r>
                <a:endParaRPr lang="en-US" sz="780" dirty="0"/>
              </a:p>
            </p:txBody>
          </p:sp>
        </p:grp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95746F0F-BBC2-FC50-C656-8A02308D40CD}"/>
              </a:ext>
            </a:extLst>
          </p:cNvPr>
          <p:cNvGrpSpPr/>
          <p:nvPr/>
        </p:nvGrpSpPr>
        <p:grpSpPr>
          <a:xfrm>
            <a:off x="5132260" y="4846320"/>
            <a:ext cx="1887474" cy="1104900"/>
            <a:chOff x="4801752" y="4846320"/>
            <a:chExt cx="1887474" cy="1104900"/>
          </a:xfrm>
        </p:grpSpPr>
        <p:sp>
          <p:nvSpPr>
            <p:cNvPr id="42" name="Shape 22">
              <a:extLst>
                <a:ext uri="{FF2B5EF4-FFF2-40B4-BE49-F238E27FC236}">
                  <a16:creationId xmlns:a16="http://schemas.microsoft.com/office/drawing/2014/main" id="{2BB180DC-7770-4473-4B70-EA2F938DEA4D}"/>
                </a:ext>
              </a:extLst>
            </p:cNvPr>
            <p:cNvSpPr/>
            <p:nvPr/>
          </p:nvSpPr>
          <p:spPr>
            <a:xfrm>
              <a:off x="4801752" y="4846320"/>
              <a:ext cx="1887474" cy="1104900"/>
            </a:xfrm>
            <a:prstGeom prst="roundRect">
              <a:avLst>
                <a:gd name="adj" fmla="val 7843"/>
              </a:avLst>
            </a:prstGeom>
            <a:solidFill>
              <a:srgbClr val="FFFFFF"/>
            </a:solidFill>
            <a:ln w="10160">
              <a:solidFill>
                <a:srgbClr val="DDE7EC"/>
              </a:solidFill>
              <a:prstDash val="solid"/>
            </a:ln>
            <a:effectLst>
              <a:outerShdw blurRad="12700" dist="50800" dir="2700000" algn="bl" rotWithShape="0">
                <a:srgbClr val="B5BCC2">
                  <a:alpha val="15000"/>
                </a:srgbClr>
              </a:outerShdw>
            </a:effectLst>
          </p:spPr>
        </p:sp>
        <p:grpSp>
          <p:nvGrpSpPr>
            <p:cNvPr id="69" name="그룹 68">
              <a:extLst>
                <a:ext uri="{FF2B5EF4-FFF2-40B4-BE49-F238E27FC236}">
                  <a16:creationId xmlns:a16="http://schemas.microsoft.com/office/drawing/2014/main" id="{6634A949-EC36-B949-DD6B-ABB88BE3C3E0}"/>
                </a:ext>
              </a:extLst>
            </p:cNvPr>
            <p:cNvGrpSpPr/>
            <p:nvPr/>
          </p:nvGrpSpPr>
          <p:grpSpPr>
            <a:xfrm>
              <a:off x="5137413" y="5074920"/>
              <a:ext cx="1216152" cy="649224"/>
              <a:chOff x="5431536" y="5074920"/>
              <a:chExt cx="1819656" cy="649224"/>
            </a:xfrm>
          </p:grpSpPr>
          <p:sp>
            <p:nvSpPr>
              <p:cNvPr id="44" name="Text 23">
                <a:extLst>
                  <a:ext uri="{FF2B5EF4-FFF2-40B4-BE49-F238E27FC236}">
                    <a16:creationId xmlns:a16="http://schemas.microsoft.com/office/drawing/2014/main" id="{ADAAD74A-AA8B-A32A-DC64-97D82A773CB7}"/>
                  </a:ext>
                </a:extLst>
              </p:cNvPr>
              <p:cNvSpPr/>
              <p:nvPr/>
            </p:nvSpPr>
            <p:spPr>
              <a:xfrm>
                <a:off x="5431536" y="5074920"/>
                <a:ext cx="1819656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50" dirty="0">
                    <a:solidFill>
                      <a:srgbClr val="087B84"/>
                    </a:solidFill>
                    <a:latin typeface="HG꼬딕씨_Pro 60g" pitchFamily="34" charset="0"/>
                    <a:ea typeface="HG꼬딕씨_Pro 60g" pitchFamily="34" charset="-122"/>
                    <a:cs typeface="HG꼬딕씨_Pro 60g" pitchFamily="34" charset="-120"/>
                  </a:rPr>
                  <a:t>월 단위</a:t>
                </a:r>
                <a:endParaRPr lang="en-US" sz="1450" dirty="0"/>
              </a:p>
            </p:txBody>
          </p:sp>
          <p:sp>
            <p:nvSpPr>
              <p:cNvPr id="46" name="Text 24">
                <a:extLst>
                  <a:ext uri="{FF2B5EF4-FFF2-40B4-BE49-F238E27FC236}">
                    <a16:creationId xmlns:a16="http://schemas.microsoft.com/office/drawing/2014/main" id="{0742FFCD-351C-4A22-FE7F-2C5C4280E6F7}"/>
                  </a:ext>
                </a:extLst>
              </p:cNvPr>
              <p:cNvSpPr/>
              <p:nvPr/>
            </p:nvSpPr>
            <p:spPr>
              <a:xfrm>
                <a:off x="5449824" y="5358384"/>
                <a:ext cx="1783080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6E7C85"/>
                    </a:solidFill>
                    <a:latin typeface="HG꼬딕씨_Pro 20g" pitchFamily="34" charset="0"/>
                    <a:ea typeface="HG꼬딕씨_Pro 20g" pitchFamily="34" charset="-122"/>
                    <a:cs typeface="HG꼬딕씨_Pro 20g" pitchFamily="34" charset="-120"/>
                  </a:rPr>
                  <a:t>시간 기준</a:t>
                </a:r>
                <a:endParaRPr lang="en-US" sz="900" dirty="0"/>
              </a:p>
            </p:txBody>
          </p:sp>
          <p:sp>
            <p:nvSpPr>
              <p:cNvPr id="48" name="Text 25">
                <a:extLst>
                  <a:ext uri="{FF2B5EF4-FFF2-40B4-BE49-F238E27FC236}">
                    <a16:creationId xmlns:a16="http://schemas.microsoft.com/office/drawing/2014/main" id="{73817041-49B8-76F8-D78C-B392CD4820F8}"/>
                  </a:ext>
                </a:extLst>
              </p:cNvPr>
              <p:cNvSpPr/>
              <p:nvPr/>
            </p:nvSpPr>
            <p:spPr>
              <a:xfrm>
                <a:off x="5449824" y="5559552"/>
                <a:ext cx="1783080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780" dirty="0">
                    <a:solidFill>
                      <a:srgbClr val="97A0A6"/>
                    </a:solidFill>
                    <a:latin typeface="HG꼬딕씨_Pro 20g" pitchFamily="34" charset="0"/>
                    <a:ea typeface="HG꼬딕씨_Pro 20g" pitchFamily="34" charset="-122"/>
                    <a:cs typeface="HG꼬딕씨_Pro 20g" pitchFamily="34" charset="-120"/>
                  </a:rPr>
                  <a:t>일/연도 → 월</a:t>
                </a:r>
                <a:endParaRPr lang="en-US" sz="780" dirty="0"/>
              </a:p>
            </p:txBody>
          </p:sp>
        </p:grp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8899C255-73C4-D92D-4B81-9AFD6B7B22F9}"/>
              </a:ext>
            </a:extLst>
          </p:cNvPr>
          <p:cNvGrpSpPr/>
          <p:nvPr/>
        </p:nvGrpSpPr>
        <p:grpSpPr>
          <a:xfrm>
            <a:off x="7223093" y="4846320"/>
            <a:ext cx="1887474" cy="1104900"/>
            <a:chOff x="6871375" y="4846320"/>
            <a:chExt cx="1887474" cy="1104900"/>
          </a:xfrm>
        </p:grpSpPr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86B14683-7AE0-FDDC-0EB9-6B51F0BC25ED}"/>
                </a:ext>
              </a:extLst>
            </p:cNvPr>
            <p:cNvSpPr/>
            <p:nvPr/>
          </p:nvSpPr>
          <p:spPr>
            <a:xfrm>
              <a:off x="6871375" y="4846320"/>
              <a:ext cx="1887474" cy="1104900"/>
            </a:xfrm>
            <a:prstGeom prst="roundRect">
              <a:avLst>
                <a:gd name="adj" fmla="val 7843"/>
              </a:avLst>
            </a:prstGeom>
            <a:solidFill>
              <a:srgbClr val="FFFFFF"/>
            </a:solidFill>
            <a:ln w="10160">
              <a:solidFill>
                <a:srgbClr val="DDE7EC"/>
              </a:solidFill>
              <a:prstDash val="solid"/>
            </a:ln>
            <a:effectLst>
              <a:outerShdw blurRad="12700" dist="50800" dir="2700000" algn="bl" rotWithShape="0">
                <a:srgbClr val="B5BCC2">
                  <a:alpha val="15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A8B64453-5F54-D54C-3078-CC93E64CFBC1}"/>
                </a:ext>
              </a:extLst>
            </p:cNvPr>
            <p:cNvGrpSpPr/>
            <p:nvPr/>
          </p:nvGrpSpPr>
          <p:grpSpPr>
            <a:xfrm>
              <a:off x="7219228" y="5074920"/>
              <a:ext cx="1191768" cy="649224"/>
              <a:chOff x="7607808" y="5074920"/>
              <a:chExt cx="1819656" cy="649224"/>
            </a:xfrm>
          </p:grpSpPr>
          <p:sp>
            <p:nvSpPr>
              <p:cNvPr id="52" name="Text 27">
                <a:extLst>
                  <a:ext uri="{FF2B5EF4-FFF2-40B4-BE49-F238E27FC236}">
                    <a16:creationId xmlns:a16="http://schemas.microsoft.com/office/drawing/2014/main" id="{6DFBBB7D-D909-25B4-3C4B-35859C0B59E2}"/>
                  </a:ext>
                </a:extLst>
              </p:cNvPr>
              <p:cNvSpPr/>
              <p:nvPr/>
            </p:nvSpPr>
            <p:spPr>
              <a:xfrm>
                <a:off x="7607808" y="5074920"/>
                <a:ext cx="1819656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50" dirty="0">
                    <a:solidFill>
                      <a:srgbClr val="087B84"/>
                    </a:solidFill>
                    <a:latin typeface="HG꼬딕씨_Pro 60g" pitchFamily="34" charset="0"/>
                    <a:ea typeface="HG꼬딕씨_Pro 60g" pitchFamily="34" charset="-122"/>
                    <a:cs typeface="HG꼬딕씨_Pro 60g" pitchFamily="34" charset="-120"/>
                  </a:rPr>
                  <a:t>핵심 변수</a:t>
                </a:r>
                <a:endParaRPr lang="en-US" sz="1450" dirty="0"/>
              </a:p>
            </p:txBody>
          </p:sp>
          <p:sp>
            <p:nvSpPr>
              <p:cNvPr id="54" name="Text 28">
                <a:extLst>
                  <a:ext uri="{FF2B5EF4-FFF2-40B4-BE49-F238E27FC236}">
                    <a16:creationId xmlns:a16="http://schemas.microsoft.com/office/drawing/2014/main" id="{01CFD2E3-5992-F05D-68AA-9B72A4B11F37}"/>
                  </a:ext>
                </a:extLst>
              </p:cNvPr>
              <p:cNvSpPr/>
              <p:nvPr/>
            </p:nvSpPr>
            <p:spPr>
              <a:xfrm>
                <a:off x="7626096" y="5358384"/>
                <a:ext cx="1783080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6E7C85"/>
                    </a:solidFill>
                    <a:latin typeface="HG꼬딕씨_Pro 20g" pitchFamily="34" charset="0"/>
                    <a:ea typeface="HG꼬딕씨_Pro 20g" pitchFamily="34" charset="-122"/>
                    <a:cs typeface="HG꼬딕씨_Pro 20g" pitchFamily="34" charset="-120"/>
                  </a:rPr>
                  <a:t>최종 방향</a:t>
                </a:r>
                <a:endParaRPr lang="en-US" sz="900" dirty="0"/>
              </a:p>
            </p:txBody>
          </p:sp>
          <p:sp>
            <p:nvSpPr>
              <p:cNvPr id="56" name="Text 29">
                <a:extLst>
                  <a:ext uri="{FF2B5EF4-FFF2-40B4-BE49-F238E27FC236}">
                    <a16:creationId xmlns:a16="http://schemas.microsoft.com/office/drawing/2014/main" id="{B2F2C742-B8BD-1D7A-3EFA-BA4DB21FEFDA}"/>
                  </a:ext>
                </a:extLst>
              </p:cNvPr>
              <p:cNvSpPr/>
              <p:nvPr/>
            </p:nvSpPr>
            <p:spPr>
              <a:xfrm>
                <a:off x="7626096" y="5559552"/>
                <a:ext cx="1783080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780" dirty="0">
                    <a:solidFill>
                      <a:srgbClr val="97A0A6"/>
                    </a:solidFill>
                    <a:latin typeface="HG꼬딕씨_Pro 20g" pitchFamily="34" charset="0"/>
                    <a:ea typeface="HG꼬딕씨_Pro 20g" pitchFamily="34" charset="-122"/>
                    <a:cs typeface="HG꼬딕씨_Pro 20g" pitchFamily="34" charset="-120"/>
                  </a:rPr>
                  <a:t>중복·불필요 항목 제거</a:t>
                </a:r>
                <a:endParaRPr lang="en-US" sz="780" dirty="0"/>
              </a:p>
            </p:txBody>
          </p:sp>
        </p:grp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1ED3B3DA-E077-C39E-7D04-EF5CD36DF284}"/>
              </a:ext>
            </a:extLst>
          </p:cNvPr>
          <p:cNvGrpSpPr/>
          <p:nvPr/>
        </p:nvGrpSpPr>
        <p:grpSpPr>
          <a:xfrm>
            <a:off x="9313926" y="4814316"/>
            <a:ext cx="1887474" cy="1104900"/>
            <a:chOff x="9313926" y="4828032"/>
            <a:chExt cx="1887474" cy="1104900"/>
          </a:xfrm>
        </p:grpSpPr>
        <p:sp>
          <p:nvSpPr>
            <p:cNvPr id="58" name="Shape 30">
              <a:extLst>
                <a:ext uri="{FF2B5EF4-FFF2-40B4-BE49-F238E27FC236}">
                  <a16:creationId xmlns:a16="http://schemas.microsoft.com/office/drawing/2014/main" id="{CB52C2B1-343F-34CD-02D4-47F72273BC8A}"/>
                </a:ext>
              </a:extLst>
            </p:cNvPr>
            <p:cNvSpPr/>
            <p:nvPr/>
          </p:nvSpPr>
          <p:spPr>
            <a:xfrm>
              <a:off x="9313926" y="4828032"/>
              <a:ext cx="1887474" cy="1104900"/>
            </a:xfrm>
            <a:prstGeom prst="roundRect">
              <a:avLst>
                <a:gd name="adj" fmla="val 7843"/>
              </a:avLst>
            </a:prstGeom>
            <a:solidFill>
              <a:srgbClr val="DDF5F7"/>
            </a:solidFill>
            <a:ln w="12700">
              <a:solidFill>
                <a:srgbClr val="DDF5F7"/>
              </a:solidFill>
              <a:prstDash val="solid"/>
            </a:ln>
            <a:effectLst>
              <a:outerShdw blurRad="12700" dist="50800" dir="2700000" algn="bl" rotWithShape="0">
                <a:srgbClr val="AEB4B9">
                  <a:alpha val="14000"/>
                </a:srgbClr>
              </a:outerShdw>
            </a:effectLst>
          </p:spPr>
        </p: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4B03B51E-A1C8-C4ED-0360-087EC7271048}"/>
                </a:ext>
              </a:extLst>
            </p:cNvPr>
            <p:cNvGrpSpPr/>
            <p:nvPr/>
          </p:nvGrpSpPr>
          <p:grpSpPr>
            <a:xfrm>
              <a:off x="9603867" y="5179314"/>
              <a:ext cx="1307592" cy="438912"/>
              <a:chOff x="9802368" y="5084064"/>
              <a:chExt cx="1307592" cy="438912"/>
            </a:xfrm>
          </p:grpSpPr>
          <p:sp>
            <p:nvSpPr>
              <p:cNvPr id="60" name="Text 31">
                <a:extLst>
                  <a:ext uri="{FF2B5EF4-FFF2-40B4-BE49-F238E27FC236}">
                    <a16:creationId xmlns:a16="http://schemas.microsoft.com/office/drawing/2014/main" id="{08EBF7C4-FEC8-21E4-92F5-79509E642D3C}"/>
                  </a:ext>
                </a:extLst>
              </p:cNvPr>
              <p:cNvSpPr/>
              <p:nvPr/>
            </p:nvSpPr>
            <p:spPr>
              <a:xfrm>
                <a:off x="9802368" y="5084064"/>
                <a:ext cx="1307592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087B84"/>
                    </a:solidFill>
                    <a:latin typeface="HG꼬딕씨_Pro 60g" pitchFamily="34" charset="0"/>
                    <a:ea typeface="HG꼬딕씨_Pro 60g" pitchFamily="34" charset="-122"/>
                    <a:cs typeface="HG꼬딕씨_Pro 60g" pitchFamily="34" charset="-120"/>
                  </a:rPr>
                  <a:t>EDA 준비</a:t>
                </a:r>
                <a:endParaRPr lang="en-US" sz="1200" dirty="0"/>
              </a:p>
            </p:txBody>
          </p:sp>
          <p:sp>
            <p:nvSpPr>
              <p:cNvPr id="62" name="Text 32">
                <a:extLst>
                  <a:ext uri="{FF2B5EF4-FFF2-40B4-BE49-F238E27FC236}">
                    <a16:creationId xmlns:a16="http://schemas.microsoft.com/office/drawing/2014/main" id="{3001DAAF-2975-903F-A986-3F3FB82C425E}"/>
                  </a:ext>
                </a:extLst>
              </p:cNvPr>
              <p:cNvSpPr/>
              <p:nvPr/>
            </p:nvSpPr>
            <p:spPr>
              <a:xfrm>
                <a:off x="9802368" y="5358384"/>
                <a:ext cx="1307592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780" dirty="0">
                    <a:solidFill>
                      <a:srgbClr val="6E7C85"/>
                    </a:solidFill>
                    <a:latin typeface="HG꼬딕씨_Pro 20g" pitchFamily="34" charset="0"/>
                    <a:ea typeface="HG꼬딕씨_Pro 20g" pitchFamily="34" charset="-122"/>
                    <a:cs typeface="HG꼬딕씨_Pro 20g" pitchFamily="34" charset="-120"/>
                  </a:rPr>
                  <a:t>분석 가능 형태로 변환</a:t>
                </a:r>
                <a:endParaRPr lang="en-US" sz="78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383699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A1302-28F4-2EFF-3C24-98B9A27CA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46CB706-D995-8AA5-A866-3384EB1B72B5}"/>
              </a:ext>
            </a:extLst>
          </p:cNvPr>
          <p:cNvSpPr/>
          <p:nvPr/>
        </p:nvSpPr>
        <p:spPr>
          <a:xfrm>
            <a:off x="530351" y="246888"/>
            <a:ext cx="1593723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 latinLnBrk="0"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+mn-cs"/>
              </a:rPr>
              <a:t>0</a:t>
            </a: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+mn-cs"/>
              </a:rPr>
              <a:t>5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+mn-cs"/>
              </a:rPr>
              <a:t>. </a:t>
            </a:r>
            <a:r>
              <a:rPr lang="en-US" altLang="ko-KR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Data Sources</a:t>
            </a:r>
            <a:endParaRPr lang="en-US" sz="85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BFDA2BB-C584-1FF9-9CC5-B9F7540833D7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251393C-F50A-D62D-2ABD-1EF48C4798C2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2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확보한 데이터 종류</a:t>
            </a:r>
            <a:endParaRPr kumimoji="0" lang="en-US" sz="1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BAA5D10-476C-3CD5-50F7-5C6AF618E313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관광객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,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소비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,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사업체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,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폐업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,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인구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데이터를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분석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목적에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맞게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분류</a:t>
            </a:r>
            <a:endParaRPr lang="en-US" altLang="ko-KR" sz="8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02884C4-12B4-8DF5-1F79-255D650047CF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99D468AF-0268-67B4-0927-B7C43C4D5093}"/>
              </a:ext>
            </a:extLst>
          </p:cNvPr>
          <p:cNvSpPr/>
          <p:nvPr/>
        </p:nvSpPr>
        <p:spPr>
          <a:xfrm>
            <a:off x="685800" y="1783080"/>
            <a:ext cx="27432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blurRad="12700" dist="50800" dir="2700000" algn="bl" rotWithShape="0">
              <a:srgbClr val="B5BCC2">
                <a:alpha val="12000"/>
              </a:srgbClr>
            </a:outerShdw>
          </a:effectLst>
        </p:spPr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F6EA163C-32A9-4125-4089-D0DFBEEC7F9A}"/>
              </a:ext>
            </a:extLst>
          </p:cNvPr>
          <p:cNvSpPr/>
          <p:nvPr/>
        </p:nvSpPr>
        <p:spPr>
          <a:xfrm>
            <a:off x="685800" y="1783080"/>
            <a:ext cx="2743200" cy="493776"/>
          </a:xfrm>
          <a:prstGeom prst="roundRect">
            <a:avLst>
              <a:gd name="adj" fmla="val 14815"/>
            </a:avLst>
          </a:prstGeom>
          <a:solidFill>
            <a:srgbClr val="20AEB5"/>
          </a:solidFill>
          <a:ln w="12700">
            <a:solidFill>
              <a:srgbClr val="20AEB5">
                <a:alpha val="0"/>
              </a:srgbClr>
            </a:solidFill>
            <a:prstDash val="solid"/>
          </a:ln>
        </p:spPr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CCFC2977-A264-774B-374E-05977089018A}"/>
              </a:ext>
            </a:extLst>
          </p:cNvPr>
          <p:cNvSpPr/>
          <p:nvPr/>
        </p:nvSpPr>
        <p:spPr>
          <a:xfrm>
            <a:off x="795528" y="1911096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  <a:cs typeface="HG꼬딕씨_Pro 60g" pitchFamily="34" charset="-120"/>
              </a:rPr>
              <a:t>소비 · 매출 데이터</a:t>
            </a:r>
            <a:endParaRPr lang="en-US" sz="1350" dirty="0"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44C0EB67-2000-B8C7-7DD0-37D547E84154}"/>
              </a:ext>
            </a:extLst>
          </p:cNvPr>
          <p:cNvSpPr/>
          <p:nvPr/>
        </p:nvSpPr>
        <p:spPr>
          <a:xfrm>
            <a:off x="905256" y="2431659"/>
            <a:ext cx="2359152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40" dirty="0">
                <a:solidFill>
                  <a:srgbClr val="243138"/>
                </a:solidFill>
                <a:latin typeface="HG꼬딕씨_Pro 40g" pitchFamily="34" charset="0"/>
                <a:ea typeface="HG꼬딕씨_Pro 40g" pitchFamily="34" charset="-122"/>
                <a:cs typeface="HG꼬딕씨_Pro 40g" pitchFamily="34" charset="-120"/>
              </a:rPr>
              <a:t>•  행정동 별 소비매출</a:t>
            </a:r>
            <a:endParaRPr lang="en-US" sz="1140" dirty="0"/>
          </a:p>
          <a:p>
            <a:pPr>
              <a:lnSpc>
                <a:spcPct val="150000"/>
              </a:lnSpc>
            </a:pPr>
            <a:r>
              <a:rPr lang="en-US" sz="1140" dirty="0">
                <a:solidFill>
                  <a:srgbClr val="243138"/>
                </a:solidFill>
                <a:latin typeface="HG꼬딕씨_Pro 40g" pitchFamily="34" charset="0"/>
                <a:ea typeface="HG꼬딕씨_Pro 40g" pitchFamily="34" charset="-122"/>
                <a:cs typeface="HG꼬딕씨_Pro 40g" pitchFamily="34" charset="-120"/>
              </a:rPr>
              <a:t>•  관광객 소비금액 및 소비건수</a:t>
            </a:r>
            <a:endParaRPr lang="en-US" sz="1140" dirty="0"/>
          </a:p>
          <a:p>
            <a:pPr>
              <a:lnSpc>
                <a:spcPct val="150000"/>
              </a:lnSpc>
            </a:pPr>
            <a:r>
              <a:rPr lang="en-US" sz="1140" dirty="0">
                <a:solidFill>
                  <a:srgbClr val="243138"/>
                </a:solidFill>
                <a:latin typeface="HG꼬딕씨_Pro 40g" pitchFamily="34" charset="0"/>
                <a:ea typeface="HG꼬딕씨_Pro 40g" pitchFamily="34" charset="-122"/>
                <a:cs typeface="HG꼬딕씨_Pro 40g" pitchFamily="34" charset="-120"/>
              </a:rPr>
              <a:t>•  지역별 소비 흐름 확인</a:t>
            </a:r>
            <a:endParaRPr lang="en-US" sz="1140" dirty="0"/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9DAA4D13-DBDF-6136-2090-B091AFC76030}"/>
              </a:ext>
            </a:extLst>
          </p:cNvPr>
          <p:cNvSpPr/>
          <p:nvPr/>
        </p:nvSpPr>
        <p:spPr>
          <a:xfrm>
            <a:off x="3611880" y="1783080"/>
            <a:ext cx="27432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blurRad="12700" dist="50800" dir="2700000" algn="bl" rotWithShape="0">
              <a:srgbClr val="B5BCC2">
                <a:alpha val="12000"/>
              </a:srgbClr>
            </a:outerShdw>
          </a:effectLst>
        </p:spPr>
      </p:sp>
      <p:sp>
        <p:nvSpPr>
          <p:cNvPr id="29" name="Shape 10">
            <a:extLst>
              <a:ext uri="{FF2B5EF4-FFF2-40B4-BE49-F238E27FC236}">
                <a16:creationId xmlns:a16="http://schemas.microsoft.com/office/drawing/2014/main" id="{9FF5B1B8-62D8-CE23-F752-4D90E27092AA}"/>
              </a:ext>
            </a:extLst>
          </p:cNvPr>
          <p:cNvSpPr/>
          <p:nvPr/>
        </p:nvSpPr>
        <p:spPr>
          <a:xfrm>
            <a:off x="3611880" y="1783080"/>
            <a:ext cx="2743200" cy="493776"/>
          </a:xfrm>
          <a:prstGeom prst="roundRect">
            <a:avLst>
              <a:gd name="adj" fmla="val 14815"/>
            </a:avLst>
          </a:prstGeom>
          <a:solidFill>
            <a:srgbClr val="20AEB5"/>
          </a:solidFill>
          <a:ln w="12700">
            <a:solidFill>
              <a:srgbClr val="20AEB5">
                <a:alpha val="0"/>
              </a:srgbClr>
            </a:solidFill>
            <a:prstDash val="solid"/>
          </a:ln>
        </p:spPr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226E765C-5449-6AEE-2CC3-A80DABE3869A}"/>
              </a:ext>
            </a:extLst>
          </p:cNvPr>
          <p:cNvSpPr/>
          <p:nvPr/>
        </p:nvSpPr>
        <p:spPr>
          <a:xfrm>
            <a:off x="3721608" y="1911096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  <a:cs typeface="HG꼬딕씨_Pro 60g" pitchFamily="34" charset="-120"/>
              </a:rPr>
              <a:t>관광객 · 방문 데이터</a:t>
            </a:r>
            <a:endParaRPr lang="en-US" sz="1350" dirty="0"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36EA50-2533-A478-C0FE-DE488B4EFF17}"/>
              </a:ext>
            </a:extLst>
          </p:cNvPr>
          <p:cNvSpPr/>
          <p:nvPr/>
        </p:nvSpPr>
        <p:spPr>
          <a:xfrm>
            <a:off x="3831336" y="2431659"/>
            <a:ext cx="2359152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20" dirty="0">
                <a:solidFill>
                  <a:srgbClr val="243138"/>
                </a:solidFill>
                <a:latin typeface="HG꼬딕씨_Pro 40g" pitchFamily="34" charset="0"/>
                <a:ea typeface="HG꼬딕씨_Pro 40g" pitchFamily="34" charset="-122"/>
                <a:cs typeface="HG꼬딕씨_Pro 40g" pitchFamily="34" charset="-120"/>
              </a:rPr>
              <a:t>•  관광객 수 및 증감률</a:t>
            </a:r>
            <a:endParaRPr lang="en-US" sz="1120" dirty="0"/>
          </a:p>
          <a:p>
            <a:pPr>
              <a:lnSpc>
                <a:spcPct val="150000"/>
              </a:lnSpc>
            </a:pPr>
            <a:r>
              <a:rPr lang="en-US" sz="1120" dirty="0">
                <a:solidFill>
                  <a:srgbClr val="243138"/>
                </a:solidFill>
                <a:latin typeface="HG꼬딕씨_Pro 40g" pitchFamily="34" charset="0"/>
                <a:ea typeface="HG꼬딕씨_Pro 40g" pitchFamily="34" charset="-122"/>
                <a:cs typeface="HG꼬딕씨_Pro 40g" pitchFamily="34" charset="-120"/>
              </a:rPr>
              <a:t>•  주요 관광지 방문량</a:t>
            </a:r>
            <a:endParaRPr lang="en-US" sz="1120" dirty="0"/>
          </a:p>
          <a:p>
            <a:pPr>
              <a:lnSpc>
                <a:spcPct val="150000"/>
              </a:lnSpc>
            </a:pPr>
            <a:r>
              <a:rPr lang="en-US" sz="1120" dirty="0">
                <a:solidFill>
                  <a:srgbClr val="243138"/>
                </a:solidFill>
                <a:latin typeface="HG꼬딕씨_Pro 40g" pitchFamily="34" charset="0"/>
                <a:ea typeface="HG꼬딕씨_Pro 40g" pitchFamily="34" charset="-122"/>
                <a:cs typeface="HG꼬딕씨_Pro 40g" pitchFamily="34" charset="-120"/>
              </a:rPr>
              <a:t>•  내국인 · 외국인 관광객</a:t>
            </a:r>
            <a:endParaRPr lang="en-US" sz="1120" dirty="0"/>
          </a:p>
          <a:p>
            <a:pPr>
              <a:lnSpc>
                <a:spcPct val="150000"/>
              </a:lnSpc>
            </a:pPr>
            <a:r>
              <a:rPr lang="en-US" sz="1120" dirty="0">
                <a:solidFill>
                  <a:srgbClr val="243138"/>
                </a:solidFill>
                <a:latin typeface="HG꼬딕씨_Pro 40g" pitchFamily="34" charset="0"/>
                <a:ea typeface="HG꼬딕씨_Pro 40g" pitchFamily="34" charset="-122"/>
                <a:cs typeface="HG꼬딕씨_Pro 40g" pitchFamily="34" charset="-120"/>
              </a:rPr>
              <a:t>•  평균 체류시간</a:t>
            </a:r>
            <a:endParaRPr lang="en-US" sz="1120" dirty="0"/>
          </a:p>
        </p:txBody>
      </p:sp>
      <p:sp>
        <p:nvSpPr>
          <p:cNvPr id="41" name="Shape 13">
            <a:extLst>
              <a:ext uri="{FF2B5EF4-FFF2-40B4-BE49-F238E27FC236}">
                <a16:creationId xmlns:a16="http://schemas.microsoft.com/office/drawing/2014/main" id="{756B8E51-CE12-3B41-87BB-560854916A70}"/>
              </a:ext>
            </a:extLst>
          </p:cNvPr>
          <p:cNvSpPr/>
          <p:nvPr/>
        </p:nvSpPr>
        <p:spPr>
          <a:xfrm>
            <a:off x="6537960" y="1783080"/>
            <a:ext cx="23317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blurRad="12700" dist="50800" dir="2700000" algn="bl" rotWithShape="0">
              <a:srgbClr val="B5BCC2">
                <a:alpha val="12000"/>
              </a:srgbClr>
            </a:outerShdw>
          </a:effectLst>
        </p:spPr>
      </p:sp>
      <p:sp>
        <p:nvSpPr>
          <p:cNvPr id="45" name="Shape 14">
            <a:extLst>
              <a:ext uri="{FF2B5EF4-FFF2-40B4-BE49-F238E27FC236}">
                <a16:creationId xmlns:a16="http://schemas.microsoft.com/office/drawing/2014/main" id="{3A4FFC3F-AD10-14F7-B7FD-ED20B33F89B8}"/>
              </a:ext>
            </a:extLst>
          </p:cNvPr>
          <p:cNvSpPr/>
          <p:nvPr/>
        </p:nvSpPr>
        <p:spPr>
          <a:xfrm>
            <a:off x="6537960" y="1783080"/>
            <a:ext cx="2331720" cy="493776"/>
          </a:xfrm>
          <a:prstGeom prst="roundRect">
            <a:avLst>
              <a:gd name="adj" fmla="val 14815"/>
            </a:avLst>
          </a:prstGeom>
          <a:solidFill>
            <a:srgbClr val="20AEB5"/>
          </a:solidFill>
          <a:ln w="12700">
            <a:solidFill>
              <a:srgbClr val="20AEB5">
                <a:alpha val="0"/>
              </a:srgbClr>
            </a:solidFill>
            <a:prstDash val="solid"/>
          </a:ln>
        </p:spPr>
      </p:sp>
      <p:sp>
        <p:nvSpPr>
          <p:cNvPr id="49" name="Text 15">
            <a:extLst>
              <a:ext uri="{FF2B5EF4-FFF2-40B4-BE49-F238E27FC236}">
                <a16:creationId xmlns:a16="http://schemas.microsoft.com/office/drawing/2014/main" id="{8320D60F-D63F-AF0B-04B7-A80511AB78B1}"/>
              </a:ext>
            </a:extLst>
          </p:cNvPr>
          <p:cNvSpPr/>
          <p:nvPr/>
        </p:nvSpPr>
        <p:spPr>
          <a:xfrm>
            <a:off x="6647688" y="1911096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  <a:cs typeface="HG꼬딕씨_Pro 60g" pitchFamily="34" charset="-120"/>
              </a:rPr>
              <a:t>사업체 데이터</a:t>
            </a:r>
            <a:endParaRPr lang="en-US" sz="1350" dirty="0"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53" name="Text 16">
            <a:extLst>
              <a:ext uri="{FF2B5EF4-FFF2-40B4-BE49-F238E27FC236}">
                <a16:creationId xmlns:a16="http://schemas.microsoft.com/office/drawing/2014/main" id="{2453443A-7EA9-38FE-B002-4637B33C23C6}"/>
              </a:ext>
            </a:extLst>
          </p:cNvPr>
          <p:cNvSpPr/>
          <p:nvPr/>
        </p:nvSpPr>
        <p:spPr>
          <a:xfrm>
            <a:off x="6757416" y="2431659"/>
            <a:ext cx="1947672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40" dirty="0">
                <a:solidFill>
                  <a:srgbClr val="243138"/>
                </a:solidFill>
                <a:latin typeface="HG꼬딕씨_Pro 40g" pitchFamily="34" charset="0"/>
                <a:ea typeface="HG꼬딕씨_Pro 40g" pitchFamily="34" charset="-122"/>
                <a:cs typeface="HG꼬딕씨_Pro 40g" pitchFamily="34" charset="-120"/>
              </a:rPr>
              <a:t>•  부산 전 지역 사업체</a:t>
            </a:r>
            <a:endParaRPr lang="en-US" sz="1140" dirty="0"/>
          </a:p>
          <a:p>
            <a:pPr>
              <a:lnSpc>
                <a:spcPct val="150000"/>
              </a:lnSpc>
            </a:pPr>
            <a:r>
              <a:rPr lang="en-US" sz="1140" dirty="0">
                <a:solidFill>
                  <a:srgbClr val="243138"/>
                </a:solidFill>
                <a:latin typeface="HG꼬딕씨_Pro 40g" pitchFamily="34" charset="0"/>
                <a:ea typeface="HG꼬딕씨_Pro 40g" pitchFamily="34" charset="-122"/>
                <a:cs typeface="HG꼬딕씨_Pro 40g" pitchFamily="34" charset="-120"/>
              </a:rPr>
              <a:t>•  업종별 사업체 흐름</a:t>
            </a:r>
            <a:endParaRPr lang="en-US" sz="1140" dirty="0"/>
          </a:p>
          <a:p>
            <a:pPr>
              <a:lnSpc>
                <a:spcPct val="150000"/>
              </a:lnSpc>
            </a:pPr>
            <a:r>
              <a:rPr lang="en-US" sz="1140" dirty="0">
                <a:solidFill>
                  <a:srgbClr val="243138"/>
                </a:solidFill>
                <a:latin typeface="HG꼬딕씨_Pro 40g" pitchFamily="34" charset="0"/>
                <a:ea typeface="HG꼬딕씨_Pro 40g" pitchFamily="34" charset="-122"/>
                <a:cs typeface="HG꼬딕씨_Pro 40g" pitchFamily="34" charset="-120"/>
              </a:rPr>
              <a:t>•  지역별 사업자 변화</a:t>
            </a:r>
            <a:endParaRPr lang="en-US" sz="1140" dirty="0"/>
          </a:p>
        </p:txBody>
      </p:sp>
      <p:sp>
        <p:nvSpPr>
          <p:cNvPr id="57" name="Shape 17">
            <a:extLst>
              <a:ext uri="{FF2B5EF4-FFF2-40B4-BE49-F238E27FC236}">
                <a16:creationId xmlns:a16="http://schemas.microsoft.com/office/drawing/2014/main" id="{8F9C3DE8-7810-8161-FE6E-C11DBF900011}"/>
              </a:ext>
            </a:extLst>
          </p:cNvPr>
          <p:cNvSpPr/>
          <p:nvPr/>
        </p:nvSpPr>
        <p:spPr>
          <a:xfrm>
            <a:off x="9070848" y="1783080"/>
            <a:ext cx="23317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blurRad="12700" dist="50800" dir="2700000" algn="bl" rotWithShape="0">
              <a:srgbClr val="B5BCC2">
                <a:alpha val="12000"/>
              </a:srgbClr>
            </a:outerShdw>
          </a:effectLst>
        </p:spPr>
      </p:sp>
      <p:sp>
        <p:nvSpPr>
          <p:cNvPr id="61" name="Shape 18">
            <a:extLst>
              <a:ext uri="{FF2B5EF4-FFF2-40B4-BE49-F238E27FC236}">
                <a16:creationId xmlns:a16="http://schemas.microsoft.com/office/drawing/2014/main" id="{516846D0-3D0B-D2D5-07C7-BBAEC8FD92B0}"/>
              </a:ext>
            </a:extLst>
          </p:cNvPr>
          <p:cNvSpPr/>
          <p:nvPr/>
        </p:nvSpPr>
        <p:spPr>
          <a:xfrm>
            <a:off x="9070848" y="1783080"/>
            <a:ext cx="2331720" cy="493776"/>
          </a:xfrm>
          <a:prstGeom prst="roundRect">
            <a:avLst>
              <a:gd name="adj" fmla="val 14815"/>
            </a:avLst>
          </a:prstGeom>
          <a:solidFill>
            <a:srgbClr val="20AEB5"/>
          </a:solidFill>
          <a:ln w="12700">
            <a:solidFill>
              <a:srgbClr val="20AEB5">
                <a:alpha val="0"/>
              </a:srgbClr>
            </a:solidFill>
            <a:prstDash val="solid"/>
          </a:ln>
        </p:spPr>
      </p:sp>
      <p:sp>
        <p:nvSpPr>
          <p:cNvPr id="64" name="Text 19">
            <a:extLst>
              <a:ext uri="{FF2B5EF4-FFF2-40B4-BE49-F238E27FC236}">
                <a16:creationId xmlns:a16="http://schemas.microsoft.com/office/drawing/2014/main" id="{C6CF46E2-A6EC-F2B5-ED17-1DBA5084BA2D}"/>
              </a:ext>
            </a:extLst>
          </p:cNvPr>
          <p:cNvSpPr/>
          <p:nvPr/>
        </p:nvSpPr>
        <p:spPr>
          <a:xfrm>
            <a:off x="9180576" y="1911096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  <a:cs typeface="HG꼬딕씨_Pro 60g" pitchFamily="34" charset="-120"/>
              </a:rPr>
              <a:t>폐업 · 인구 데이터</a:t>
            </a:r>
            <a:endParaRPr lang="en-US" sz="1350" dirty="0"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72" name="Text 20">
            <a:extLst>
              <a:ext uri="{FF2B5EF4-FFF2-40B4-BE49-F238E27FC236}">
                <a16:creationId xmlns:a16="http://schemas.microsoft.com/office/drawing/2014/main" id="{925DB7CF-1E8F-E267-13D9-0710424BE67A}"/>
              </a:ext>
            </a:extLst>
          </p:cNvPr>
          <p:cNvSpPr/>
          <p:nvPr/>
        </p:nvSpPr>
        <p:spPr>
          <a:xfrm>
            <a:off x="9290304" y="2431659"/>
            <a:ext cx="1947672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40" dirty="0">
                <a:solidFill>
                  <a:srgbClr val="243138"/>
                </a:solidFill>
                <a:latin typeface="HG꼬딕씨_Pro 40g" pitchFamily="34" charset="0"/>
                <a:ea typeface="HG꼬딕씨_Pro 40g" pitchFamily="34" charset="-122"/>
                <a:cs typeface="HG꼬딕씨_Pro 40g" pitchFamily="34" charset="-120"/>
              </a:rPr>
              <a:t>•  폐업 점포 수</a:t>
            </a:r>
            <a:endParaRPr lang="en-US" sz="1140" dirty="0"/>
          </a:p>
          <a:p>
            <a:pPr>
              <a:lnSpc>
                <a:spcPct val="150000"/>
              </a:lnSpc>
            </a:pPr>
            <a:r>
              <a:rPr lang="en-US" sz="1140" dirty="0">
                <a:solidFill>
                  <a:srgbClr val="243138"/>
                </a:solidFill>
                <a:latin typeface="HG꼬딕씨_Pro 40g" pitchFamily="34" charset="0"/>
                <a:ea typeface="HG꼬딕씨_Pro 40g" pitchFamily="34" charset="-122"/>
                <a:cs typeface="HG꼬딕씨_Pro 40g" pitchFamily="34" charset="-120"/>
              </a:rPr>
              <a:t>•  폐업률</a:t>
            </a:r>
            <a:endParaRPr lang="en-US" sz="1140" dirty="0"/>
          </a:p>
          <a:p>
            <a:pPr>
              <a:lnSpc>
                <a:spcPct val="150000"/>
              </a:lnSpc>
            </a:pPr>
            <a:r>
              <a:rPr lang="en-US" sz="1140" dirty="0">
                <a:solidFill>
                  <a:srgbClr val="243138"/>
                </a:solidFill>
                <a:latin typeface="HG꼬딕씨_Pro 40g" pitchFamily="34" charset="0"/>
                <a:ea typeface="HG꼬딕씨_Pro 40g" pitchFamily="34" charset="-122"/>
                <a:cs typeface="HG꼬딕씨_Pro 40g" pitchFamily="34" charset="-120"/>
              </a:rPr>
              <a:t>•  부산 인구 수</a:t>
            </a:r>
            <a:endParaRPr lang="en-US" sz="1140" dirty="0"/>
          </a:p>
        </p:txBody>
      </p:sp>
      <p:sp>
        <p:nvSpPr>
          <p:cNvPr id="74" name="Text 21">
            <a:extLst>
              <a:ext uri="{FF2B5EF4-FFF2-40B4-BE49-F238E27FC236}">
                <a16:creationId xmlns:a16="http://schemas.microsoft.com/office/drawing/2014/main" id="{C5FE3B15-AFDC-4520-F852-FC12354B88AA}"/>
              </a:ext>
            </a:extLst>
          </p:cNvPr>
          <p:cNvSpPr/>
          <p:nvPr/>
        </p:nvSpPr>
        <p:spPr>
          <a:xfrm>
            <a:off x="777240" y="43708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7B84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분석 연결 구조</a:t>
            </a:r>
            <a:endParaRPr lang="en-US" sz="1300" dirty="0"/>
          </a:p>
        </p:txBody>
      </p:sp>
      <p:sp>
        <p:nvSpPr>
          <p:cNvPr id="79" name="Shape 22">
            <a:extLst>
              <a:ext uri="{FF2B5EF4-FFF2-40B4-BE49-F238E27FC236}">
                <a16:creationId xmlns:a16="http://schemas.microsoft.com/office/drawing/2014/main" id="{F7BE34D0-ADA1-7377-4413-4A3DE28DFCC7}"/>
              </a:ext>
            </a:extLst>
          </p:cNvPr>
          <p:cNvSpPr/>
          <p:nvPr/>
        </p:nvSpPr>
        <p:spPr>
          <a:xfrm>
            <a:off x="822960" y="4800600"/>
            <a:ext cx="1508760" cy="640080"/>
          </a:xfrm>
          <a:prstGeom prst="roundRect">
            <a:avLst>
              <a:gd name="adj" fmla="val 5714"/>
            </a:avLst>
          </a:prstGeom>
          <a:solidFill>
            <a:srgbClr val="F4FBFC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81" name="Text 23">
            <a:extLst>
              <a:ext uri="{FF2B5EF4-FFF2-40B4-BE49-F238E27FC236}">
                <a16:creationId xmlns:a16="http://schemas.microsoft.com/office/drawing/2014/main" id="{28322635-EE44-143C-C73E-E55472F8F506}"/>
              </a:ext>
            </a:extLst>
          </p:cNvPr>
          <p:cNvSpPr/>
          <p:nvPr/>
        </p:nvSpPr>
        <p:spPr>
          <a:xfrm>
            <a:off x="822960" y="49103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87B84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관광객</a:t>
            </a:r>
            <a:endParaRPr lang="en-US" sz="115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8140F501-3C13-623B-BB61-CD41FB695F8F}"/>
              </a:ext>
            </a:extLst>
          </p:cNvPr>
          <p:cNvSpPr/>
          <p:nvPr/>
        </p:nvSpPr>
        <p:spPr>
          <a:xfrm>
            <a:off x="822960" y="5157216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유입 규모</a:t>
            </a:r>
            <a:endParaRPr lang="en-US" sz="850" dirty="0"/>
          </a:p>
        </p:txBody>
      </p:sp>
      <p:sp>
        <p:nvSpPr>
          <p:cNvPr id="86" name="Shape 25">
            <a:extLst>
              <a:ext uri="{FF2B5EF4-FFF2-40B4-BE49-F238E27FC236}">
                <a16:creationId xmlns:a16="http://schemas.microsoft.com/office/drawing/2014/main" id="{04DBDD21-890C-0E05-4642-E2231721EE33}"/>
              </a:ext>
            </a:extLst>
          </p:cNvPr>
          <p:cNvSpPr/>
          <p:nvPr/>
        </p:nvSpPr>
        <p:spPr>
          <a:xfrm>
            <a:off x="2468880" y="4983480"/>
            <a:ext cx="301752" cy="274320"/>
          </a:xfrm>
          <a:prstGeom prst="chevron">
            <a:avLst/>
          </a:prstGeom>
          <a:solidFill>
            <a:srgbClr val="DDE7EC"/>
          </a:solidFill>
          <a:ln w="12700">
            <a:solidFill>
              <a:srgbClr val="DDE7EC">
                <a:alpha val="0"/>
              </a:srgbClr>
            </a:solidFill>
            <a:prstDash val="solid"/>
          </a:ln>
        </p:spPr>
      </p:sp>
      <p:sp>
        <p:nvSpPr>
          <p:cNvPr id="88" name="Shape 26">
            <a:extLst>
              <a:ext uri="{FF2B5EF4-FFF2-40B4-BE49-F238E27FC236}">
                <a16:creationId xmlns:a16="http://schemas.microsoft.com/office/drawing/2014/main" id="{54B3E3D1-33B1-5E03-1341-340DD77C2DF0}"/>
              </a:ext>
            </a:extLst>
          </p:cNvPr>
          <p:cNvSpPr/>
          <p:nvPr/>
        </p:nvSpPr>
        <p:spPr>
          <a:xfrm>
            <a:off x="2907792" y="4800600"/>
            <a:ext cx="1508760" cy="640080"/>
          </a:xfrm>
          <a:prstGeom prst="roundRect">
            <a:avLst>
              <a:gd name="adj" fmla="val 5714"/>
            </a:avLst>
          </a:prstGeom>
          <a:solidFill>
            <a:srgbClr val="F4FBFC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90" name="Text 27">
            <a:extLst>
              <a:ext uri="{FF2B5EF4-FFF2-40B4-BE49-F238E27FC236}">
                <a16:creationId xmlns:a16="http://schemas.microsoft.com/office/drawing/2014/main" id="{2DE54A9E-A988-32A3-2860-ECCC262291FA}"/>
              </a:ext>
            </a:extLst>
          </p:cNvPr>
          <p:cNvSpPr/>
          <p:nvPr/>
        </p:nvSpPr>
        <p:spPr>
          <a:xfrm>
            <a:off x="2907792" y="49103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87B84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소비·매출</a:t>
            </a:r>
            <a:endParaRPr lang="en-US" sz="1150" dirty="0"/>
          </a:p>
        </p:txBody>
      </p:sp>
      <p:sp>
        <p:nvSpPr>
          <p:cNvPr id="92" name="Text 28">
            <a:extLst>
              <a:ext uri="{FF2B5EF4-FFF2-40B4-BE49-F238E27FC236}">
                <a16:creationId xmlns:a16="http://schemas.microsoft.com/office/drawing/2014/main" id="{3945AE48-2E7D-606C-7F31-94E89300BD9B}"/>
              </a:ext>
            </a:extLst>
          </p:cNvPr>
          <p:cNvSpPr/>
          <p:nvPr/>
        </p:nvSpPr>
        <p:spPr>
          <a:xfrm>
            <a:off x="2907792" y="5157216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소비 전환</a:t>
            </a:r>
            <a:endParaRPr lang="en-US" sz="850" dirty="0"/>
          </a:p>
        </p:txBody>
      </p:sp>
      <p:sp>
        <p:nvSpPr>
          <p:cNvPr id="94" name="Shape 29">
            <a:extLst>
              <a:ext uri="{FF2B5EF4-FFF2-40B4-BE49-F238E27FC236}">
                <a16:creationId xmlns:a16="http://schemas.microsoft.com/office/drawing/2014/main" id="{8B1BD282-8062-251B-60EA-3833AC626472}"/>
              </a:ext>
            </a:extLst>
          </p:cNvPr>
          <p:cNvSpPr/>
          <p:nvPr/>
        </p:nvSpPr>
        <p:spPr>
          <a:xfrm>
            <a:off x="4553712" y="4983480"/>
            <a:ext cx="301752" cy="274320"/>
          </a:xfrm>
          <a:prstGeom prst="chevron">
            <a:avLst/>
          </a:prstGeom>
          <a:solidFill>
            <a:srgbClr val="DDE7EC"/>
          </a:solidFill>
          <a:ln w="12700">
            <a:solidFill>
              <a:srgbClr val="DDE7EC">
                <a:alpha val="0"/>
              </a:srgbClr>
            </a:solidFill>
            <a:prstDash val="solid"/>
          </a:ln>
        </p:spPr>
      </p:sp>
      <p:sp>
        <p:nvSpPr>
          <p:cNvPr id="96" name="Shape 30">
            <a:extLst>
              <a:ext uri="{FF2B5EF4-FFF2-40B4-BE49-F238E27FC236}">
                <a16:creationId xmlns:a16="http://schemas.microsoft.com/office/drawing/2014/main" id="{70531556-AF20-F6CB-53FD-88E6CE8B041F}"/>
              </a:ext>
            </a:extLst>
          </p:cNvPr>
          <p:cNvSpPr/>
          <p:nvPr/>
        </p:nvSpPr>
        <p:spPr>
          <a:xfrm>
            <a:off x="4992624" y="4800600"/>
            <a:ext cx="1508760" cy="640080"/>
          </a:xfrm>
          <a:prstGeom prst="roundRect">
            <a:avLst>
              <a:gd name="adj" fmla="val 5714"/>
            </a:avLst>
          </a:prstGeom>
          <a:solidFill>
            <a:srgbClr val="F4FBFC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98" name="Text 31">
            <a:extLst>
              <a:ext uri="{FF2B5EF4-FFF2-40B4-BE49-F238E27FC236}">
                <a16:creationId xmlns:a16="http://schemas.microsoft.com/office/drawing/2014/main" id="{8F02BD91-8E21-D95F-AB24-AE9E69D7AC4E}"/>
              </a:ext>
            </a:extLst>
          </p:cNvPr>
          <p:cNvSpPr/>
          <p:nvPr/>
        </p:nvSpPr>
        <p:spPr>
          <a:xfrm>
            <a:off x="4992624" y="49103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87B84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사업체</a:t>
            </a:r>
            <a:endParaRPr lang="en-US" sz="1150" dirty="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2F45E461-5695-6288-240D-29752FACDC77}"/>
              </a:ext>
            </a:extLst>
          </p:cNvPr>
          <p:cNvSpPr/>
          <p:nvPr/>
        </p:nvSpPr>
        <p:spPr>
          <a:xfrm>
            <a:off x="4992624" y="5157216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상권 변화</a:t>
            </a:r>
            <a:endParaRPr lang="en-US" sz="850" dirty="0"/>
          </a:p>
        </p:txBody>
      </p:sp>
      <p:sp>
        <p:nvSpPr>
          <p:cNvPr id="102" name="Shape 33">
            <a:extLst>
              <a:ext uri="{FF2B5EF4-FFF2-40B4-BE49-F238E27FC236}">
                <a16:creationId xmlns:a16="http://schemas.microsoft.com/office/drawing/2014/main" id="{C0432822-AFEC-BA9E-C37C-8F4459D165BD}"/>
              </a:ext>
            </a:extLst>
          </p:cNvPr>
          <p:cNvSpPr/>
          <p:nvPr/>
        </p:nvSpPr>
        <p:spPr>
          <a:xfrm>
            <a:off x="6638544" y="4983480"/>
            <a:ext cx="301752" cy="274320"/>
          </a:xfrm>
          <a:prstGeom prst="chevron">
            <a:avLst/>
          </a:prstGeom>
          <a:solidFill>
            <a:srgbClr val="DDE7EC"/>
          </a:solidFill>
          <a:ln w="12700">
            <a:solidFill>
              <a:srgbClr val="DDE7EC">
                <a:alpha val="0"/>
              </a:srgbClr>
            </a:solidFill>
            <a:prstDash val="solid"/>
          </a:ln>
        </p:spPr>
      </p:sp>
      <p:sp>
        <p:nvSpPr>
          <p:cNvPr id="104" name="Shape 34">
            <a:extLst>
              <a:ext uri="{FF2B5EF4-FFF2-40B4-BE49-F238E27FC236}">
                <a16:creationId xmlns:a16="http://schemas.microsoft.com/office/drawing/2014/main" id="{E46F7402-BE33-22C6-B1FB-2F0FB0BA19EF}"/>
              </a:ext>
            </a:extLst>
          </p:cNvPr>
          <p:cNvSpPr/>
          <p:nvPr/>
        </p:nvSpPr>
        <p:spPr>
          <a:xfrm>
            <a:off x="7077456" y="4800600"/>
            <a:ext cx="1508760" cy="640080"/>
          </a:xfrm>
          <a:prstGeom prst="roundRect">
            <a:avLst>
              <a:gd name="adj" fmla="val 5714"/>
            </a:avLst>
          </a:prstGeom>
          <a:solidFill>
            <a:srgbClr val="FFF6F2"/>
          </a:solidFill>
          <a:ln w="12700">
            <a:solidFill>
              <a:srgbClr val="F2D1C3"/>
            </a:solidFill>
            <a:prstDash val="solid"/>
          </a:ln>
        </p:spPr>
      </p:sp>
      <p:sp>
        <p:nvSpPr>
          <p:cNvPr id="106" name="Text 35">
            <a:extLst>
              <a:ext uri="{FF2B5EF4-FFF2-40B4-BE49-F238E27FC236}">
                <a16:creationId xmlns:a16="http://schemas.microsoft.com/office/drawing/2014/main" id="{77D9275C-CFC1-14E8-0478-184651C74BAB}"/>
              </a:ext>
            </a:extLst>
          </p:cNvPr>
          <p:cNvSpPr/>
          <p:nvPr/>
        </p:nvSpPr>
        <p:spPr>
          <a:xfrm>
            <a:off x="7077456" y="49103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45135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폐업률</a:t>
            </a:r>
            <a:endParaRPr lang="en-US" sz="1150" dirty="0"/>
          </a:p>
        </p:txBody>
      </p:sp>
      <p:sp>
        <p:nvSpPr>
          <p:cNvPr id="108" name="Text 36">
            <a:extLst>
              <a:ext uri="{FF2B5EF4-FFF2-40B4-BE49-F238E27FC236}">
                <a16:creationId xmlns:a16="http://schemas.microsoft.com/office/drawing/2014/main" id="{7BECC945-102C-2A9B-E664-39F55D3E7BE7}"/>
              </a:ext>
            </a:extLst>
          </p:cNvPr>
          <p:cNvSpPr/>
          <p:nvPr/>
        </p:nvSpPr>
        <p:spPr>
          <a:xfrm>
            <a:off x="7077456" y="5157216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결과 지표</a:t>
            </a:r>
            <a:endParaRPr lang="en-US" sz="850" dirty="0"/>
          </a:p>
        </p:txBody>
      </p:sp>
      <p:sp>
        <p:nvSpPr>
          <p:cNvPr id="110" name="Shape 37">
            <a:extLst>
              <a:ext uri="{FF2B5EF4-FFF2-40B4-BE49-F238E27FC236}">
                <a16:creationId xmlns:a16="http://schemas.microsoft.com/office/drawing/2014/main" id="{6540DAF7-0787-CC3C-07EF-547C53194A9E}"/>
              </a:ext>
            </a:extLst>
          </p:cNvPr>
          <p:cNvSpPr/>
          <p:nvPr/>
        </p:nvSpPr>
        <p:spPr>
          <a:xfrm>
            <a:off x="8723376" y="4983480"/>
            <a:ext cx="301752" cy="274320"/>
          </a:xfrm>
          <a:prstGeom prst="chevron">
            <a:avLst/>
          </a:prstGeom>
          <a:solidFill>
            <a:srgbClr val="DDE7EC"/>
          </a:solidFill>
          <a:ln w="12700">
            <a:solidFill>
              <a:srgbClr val="DDE7EC">
                <a:alpha val="0"/>
              </a:srgbClr>
            </a:solidFill>
            <a:prstDash val="solid"/>
          </a:ln>
        </p:spPr>
      </p:sp>
      <p:sp>
        <p:nvSpPr>
          <p:cNvPr id="112" name="Shape 38">
            <a:extLst>
              <a:ext uri="{FF2B5EF4-FFF2-40B4-BE49-F238E27FC236}">
                <a16:creationId xmlns:a16="http://schemas.microsoft.com/office/drawing/2014/main" id="{B9B89EA3-7455-5536-1722-F971DB485B58}"/>
              </a:ext>
            </a:extLst>
          </p:cNvPr>
          <p:cNvSpPr/>
          <p:nvPr/>
        </p:nvSpPr>
        <p:spPr>
          <a:xfrm>
            <a:off x="9162288" y="4800600"/>
            <a:ext cx="1508760" cy="640080"/>
          </a:xfrm>
          <a:prstGeom prst="roundRect">
            <a:avLst>
              <a:gd name="adj" fmla="val 5714"/>
            </a:avLst>
          </a:prstGeom>
          <a:solidFill>
            <a:srgbClr val="F4FBFC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114" name="Text 39">
            <a:extLst>
              <a:ext uri="{FF2B5EF4-FFF2-40B4-BE49-F238E27FC236}">
                <a16:creationId xmlns:a16="http://schemas.microsoft.com/office/drawing/2014/main" id="{67131CB9-DE46-5DE9-4F30-3204C1F27D42}"/>
              </a:ext>
            </a:extLst>
          </p:cNvPr>
          <p:cNvSpPr/>
          <p:nvPr/>
        </p:nvSpPr>
        <p:spPr>
          <a:xfrm>
            <a:off x="9162288" y="49103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87B84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지역 특성</a:t>
            </a:r>
            <a:endParaRPr lang="en-US" sz="1150" dirty="0"/>
          </a:p>
        </p:txBody>
      </p:sp>
      <p:sp>
        <p:nvSpPr>
          <p:cNvPr id="116" name="Text 40">
            <a:extLst>
              <a:ext uri="{FF2B5EF4-FFF2-40B4-BE49-F238E27FC236}">
                <a16:creationId xmlns:a16="http://schemas.microsoft.com/office/drawing/2014/main" id="{C4068501-2198-A0C4-9A8C-0669B0B4A325}"/>
              </a:ext>
            </a:extLst>
          </p:cNvPr>
          <p:cNvSpPr/>
          <p:nvPr/>
        </p:nvSpPr>
        <p:spPr>
          <a:xfrm>
            <a:off x="9162288" y="5157216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행정구·인구</a:t>
            </a:r>
            <a:endParaRPr lang="en-US" sz="850" dirty="0"/>
          </a:p>
        </p:txBody>
      </p:sp>
      <p:sp>
        <p:nvSpPr>
          <p:cNvPr id="118" name="Text 41">
            <a:extLst>
              <a:ext uri="{FF2B5EF4-FFF2-40B4-BE49-F238E27FC236}">
                <a16:creationId xmlns:a16="http://schemas.microsoft.com/office/drawing/2014/main" id="{8FA4801C-3F13-0AE0-7B71-A08CCEAF9325}"/>
              </a:ext>
            </a:extLst>
          </p:cNvPr>
          <p:cNvSpPr/>
          <p:nvPr/>
        </p:nvSpPr>
        <p:spPr>
          <a:xfrm>
            <a:off x="777240" y="580644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데이터는 단일 지표가 아니라 “관광 유입 → 소비 전환 → 사업체 변화 → 폐업률” 흐름으로 연결해 해석한다.</a:t>
            </a:r>
            <a:endParaRPr lang="en-US" sz="1000" dirty="0"/>
          </a:p>
        </p:txBody>
      </p:sp>
      <p:sp>
        <p:nvSpPr>
          <p:cNvPr id="120" name="Text 42">
            <a:extLst>
              <a:ext uri="{FF2B5EF4-FFF2-40B4-BE49-F238E27FC236}">
                <a16:creationId xmlns:a16="http://schemas.microsoft.com/office/drawing/2014/main" id="{45A43DE9-1BEA-CE3B-6A5C-CA93C4B7682A}"/>
              </a:ext>
            </a:extLst>
          </p:cNvPr>
          <p:cNvSpPr/>
          <p:nvPr/>
        </p:nvSpPr>
        <p:spPr>
          <a:xfrm>
            <a:off x="11539728" y="6309360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B858B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02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533375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F6EFC-70FC-5101-F094-48209307F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410EBAF-3925-B9C7-B467-FE84B9D69C63}"/>
              </a:ext>
            </a:extLst>
          </p:cNvPr>
          <p:cNvSpPr/>
          <p:nvPr/>
        </p:nvSpPr>
        <p:spPr>
          <a:xfrm>
            <a:off x="530351" y="246888"/>
            <a:ext cx="1593723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 latinLnBrk="0"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+mn-cs"/>
              </a:rPr>
              <a:t>0</a:t>
            </a: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+mn-cs"/>
              </a:rPr>
              <a:t>6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+mn-cs"/>
              </a:rPr>
              <a:t>. </a:t>
            </a:r>
            <a:r>
              <a:rPr lang="en-US" altLang="ko-KR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Pre-processing</a:t>
            </a:r>
            <a:endParaRPr lang="en-US" sz="85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DD162A1-1F1C-F469-2E40-758DA6B4B275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ECFC046-AA88-1072-B01E-813D5B185091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2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소비 데이터 </a:t>
            </a:r>
            <a:r>
              <a:rPr kumimoji="0" lang="ko-KR" altLang="en-US" sz="172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전처리</a:t>
            </a:r>
            <a:r>
              <a:rPr kumimoji="0" lang="ko-KR" altLang="en-US" sz="172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 방향</a:t>
            </a:r>
            <a:endParaRPr kumimoji="0" lang="en-US" sz="1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D69533F-3278-C2BE-6003-85A619ABBB23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행정동·일자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단위로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흩어진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소비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데이터를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행정구·월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단위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분석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테이블로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통합</a:t>
            </a:r>
            <a:endParaRPr lang="en-US" altLang="ko-KR" sz="8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FD57E32-3C1E-AAEA-405D-6D220B6237D7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24E2B25F-C4CC-6A32-FD5C-B1C1DCAEE415}"/>
              </a:ext>
            </a:extLst>
          </p:cNvPr>
          <p:cNvSpPr/>
          <p:nvPr/>
        </p:nvSpPr>
        <p:spPr>
          <a:xfrm>
            <a:off x="731520" y="1691640"/>
            <a:ext cx="10835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blurRad="12700" dist="50800" dir="2700000" algn="bl" rotWithShape="0">
              <a:srgbClr val="AEB4B9">
                <a:alpha val="12000"/>
              </a:srgbClr>
            </a:outerShdw>
          </a:effectLst>
        </p:spPr>
      </p: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8292F50B-9621-0177-A377-7F457CEE0D77}"/>
              </a:ext>
            </a:extLst>
          </p:cNvPr>
          <p:cNvGrpSpPr/>
          <p:nvPr/>
        </p:nvGrpSpPr>
        <p:grpSpPr>
          <a:xfrm>
            <a:off x="1235012" y="2103120"/>
            <a:ext cx="9828657" cy="274320"/>
            <a:chOff x="1235012" y="2103120"/>
            <a:chExt cx="9828657" cy="274320"/>
          </a:xfrm>
        </p:grpSpPr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4978CCA1-7F08-F592-6D9C-D8663C059AED}"/>
                </a:ext>
              </a:extLst>
            </p:cNvPr>
            <p:cNvGrpSpPr/>
            <p:nvPr/>
          </p:nvGrpSpPr>
          <p:grpSpPr>
            <a:xfrm>
              <a:off x="1235012" y="2125980"/>
              <a:ext cx="4322826" cy="228600"/>
              <a:chOff x="1129284" y="2125980"/>
              <a:chExt cx="4322826" cy="228600"/>
            </a:xfrm>
          </p:grpSpPr>
          <p:sp>
            <p:nvSpPr>
              <p:cNvPr id="10" name="Text 6">
                <a:extLst>
                  <a:ext uri="{FF2B5EF4-FFF2-40B4-BE49-F238E27FC236}">
                    <a16:creationId xmlns:a16="http://schemas.microsoft.com/office/drawing/2014/main" id="{7AA46912-A56B-618C-2691-A7AC0859A6B5}"/>
                  </a:ext>
                </a:extLst>
              </p:cNvPr>
              <p:cNvSpPr/>
              <p:nvPr/>
            </p:nvSpPr>
            <p:spPr>
              <a:xfrm>
                <a:off x="1129284" y="2125980"/>
                <a:ext cx="68580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300" b="1" dirty="0">
                    <a:solidFill>
                      <a:srgbClr val="6E7C85"/>
                    </a:solidFill>
                    <a:latin typeface="HG꼬딕씨_Pro 60g" pitchFamily="34" charset="0"/>
                    <a:ea typeface="HG꼬딕씨_Pro 60g" pitchFamily="34" charset="-122"/>
                    <a:cs typeface="HG꼬딕씨_Pro 60g" pitchFamily="34" charset="-120"/>
                  </a:rPr>
                  <a:t>Before</a:t>
                </a:r>
                <a:endParaRPr lang="en-US" sz="1300" dirty="0"/>
              </a:p>
            </p:txBody>
          </p:sp>
          <p:sp>
            <p:nvSpPr>
              <p:cNvPr id="12" name="Text 7">
                <a:extLst>
                  <a:ext uri="{FF2B5EF4-FFF2-40B4-BE49-F238E27FC236}">
                    <a16:creationId xmlns:a16="http://schemas.microsoft.com/office/drawing/2014/main" id="{5BFBB4DB-8C63-D479-21F7-8ADF2709BB60}"/>
                  </a:ext>
                </a:extLst>
              </p:cNvPr>
              <p:cNvSpPr/>
              <p:nvPr/>
            </p:nvSpPr>
            <p:spPr>
              <a:xfrm>
                <a:off x="1977390" y="2139696"/>
                <a:ext cx="3474720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30" dirty="0">
                    <a:solidFill>
                      <a:srgbClr val="243138"/>
                    </a:solidFill>
                    <a:latin typeface="HG꼬딕씨_Pro 40g" pitchFamily="34" charset="0"/>
                    <a:ea typeface="HG꼬딕씨_Pro 40g" pitchFamily="34" charset="-122"/>
                    <a:cs typeface="HG꼬딕씨_Pro 40g" pitchFamily="34" charset="-120"/>
                  </a:rPr>
                  <a:t>행정동별 · 일/연도별 · 금액단위 상이 · 중복 컬럼 포함</a:t>
                </a:r>
                <a:endParaRPr lang="en-US" sz="1130" dirty="0"/>
              </a:p>
            </p:txBody>
          </p:sp>
        </p:grpSp>
        <p:sp>
          <p:nvSpPr>
            <p:cNvPr id="14" name="Shape 8">
              <a:extLst>
                <a:ext uri="{FF2B5EF4-FFF2-40B4-BE49-F238E27FC236}">
                  <a16:creationId xmlns:a16="http://schemas.microsoft.com/office/drawing/2014/main" id="{0D1A4B70-56D9-D36D-B7D7-B3D112D60243}"/>
                </a:ext>
              </a:extLst>
            </p:cNvPr>
            <p:cNvSpPr/>
            <p:nvPr/>
          </p:nvSpPr>
          <p:spPr>
            <a:xfrm>
              <a:off x="5680219" y="2103120"/>
              <a:ext cx="411480" cy="274320"/>
            </a:xfrm>
            <a:prstGeom prst="chevron">
              <a:avLst/>
            </a:prstGeom>
            <a:solidFill>
              <a:srgbClr val="20AEB5"/>
            </a:solidFill>
            <a:ln w="12700">
              <a:solidFill>
                <a:srgbClr val="20AEB5">
                  <a:alpha val="0"/>
                </a:srgbClr>
              </a:solidFill>
              <a:prstDash val="solid"/>
            </a:ln>
          </p:spPr>
        </p:sp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B1D39102-51A5-11C7-FDF3-A3F683C8F4D4}"/>
                </a:ext>
              </a:extLst>
            </p:cNvPr>
            <p:cNvGrpSpPr/>
            <p:nvPr/>
          </p:nvGrpSpPr>
          <p:grpSpPr>
            <a:xfrm>
              <a:off x="6557963" y="2125980"/>
              <a:ext cx="4505706" cy="228600"/>
              <a:chOff x="1129284" y="2548890"/>
              <a:chExt cx="4505706" cy="228600"/>
            </a:xfrm>
          </p:grpSpPr>
          <p:sp>
            <p:nvSpPr>
              <p:cNvPr id="16" name="Text 9">
                <a:extLst>
                  <a:ext uri="{FF2B5EF4-FFF2-40B4-BE49-F238E27FC236}">
                    <a16:creationId xmlns:a16="http://schemas.microsoft.com/office/drawing/2014/main" id="{ABEEF165-3A70-C282-BACB-7B8DDDF5C6A1}"/>
                  </a:ext>
                </a:extLst>
              </p:cNvPr>
              <p:cNvSpPr/>
              <p:nvPr/>
            </p:nvSpPr>
            <p:spPr>
              <a:xfrm>
                <a:off x="1129284" y="2548890"/>
                <a:ext cx="68580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300" b="1" dirty="0">
                    <a:solidFill>
                      <a:srgbClr val="087B84"/>
                    </a:solidFill>
                    <a:latin typeface="HG꼬딕씨_Pro 60g" pitchFamily="34" charset="0"/>
                    <a:ea typeface="HG꼬딕씨_Pro 60g" pitchFamily="34" charset="-122"/>
                    <a:cs typeface="HG꼬딕씨_Pro 60g" pitchFamily="34" charset="-120"/>
                  </a:rPr>
                  <a:t>After</a:t>
                </a:r>
                <a:endParaRPr lang="en-US" sz="1300" dirty="0"/>
              </a:p>
            </p:txBody>
          </p:sp>
          <p:sp>
            <p:nvSpPr>
              <p:cNvPr id="18" name="Text 10">
                <a:extLst>
                  <a:ext uri="{FF2B5EF4-FFF2-40B4-BE49-F238E27FC236}">
                    <a16:creationId xmlns:a16="http://schemas.microsoft.com/office/drawing/2014/main" id="{5505375D-139D-4604-E29E-3F061A340064}"/>
                  </a:ext>
                </a:extLst>
              </p:cNvPr>
              <p:cNvSpPr/>
              <p:nvPr/>
            </p:nvSpPr>
            <p:spPr>
              <a:xfrm>
                <a:off x="1977390" y="2562606"/>
                <a:ext cx="3657600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30" dirty="0">
                    <a:solidFill>
                      <a:srgbClr val="243138"/>
                    </a:solidFill>
                    <a:latin typeface="HG꼬딕씨_Pro 40g" pitchFamily="34" charset="0"/>
                    <a:ea typeface="HG꼬딕씨_Pro 40g" pitchFamily="34" charset="-122"/>
                    <a:cs typeface="HG꼬딕씨_Pro 40g" pitchFamily="34" charset="-120"/>
                  </a:rPr>
                  <a:t>행정구 × 월 단위 · 소비금액/건수 표준화 · 분석 가능 테이블</a:t>
                </a:r>
                <a:endParaRPr lang="en-US" sz="1130" dirty="0"/>
              </a:p>
            </p:txBody>
          </p:sp>
        </p:grpSp>
      </p:grpSp>
      <p:sp>
        <p:nvSpPr>
          <p:cNvPr id="20" name="Shape 11">
            <a:extLst>
              <a:ext uri="{FF2B5EF4-FFF2-40B4-BE49-F238E27FC236}">
                <a16:creationId xmlns:a16="http://schemas.microsoft.com/office/drawing/2014/main" id="{5207EEC0-4E8E-2C04-9793-F61433E770D1}"/>
              </a:ext>
            </a:extLst>
          </p:cNvPr>
          <p:cNvSpPr/>
          <p:nvPr/>
        </p:nvSpPr>
        <p:spPr>
          <a:xfrm>
            <a:off x="777240" y="3310128"/>
            <a:ext cx="1965960" cy="228600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8890">
            <a:solidFill>
              <a:srgbClr val="DDE7EC"/>
            </a:solidFill>
            <a:prstDash val="solid"/>
          </a:ln>
          <a:effectLst>
            <a:outerShdw blurRad="12700" dist="50800" dir="2700000" algn="bl" rotWithShape="0">
              <a:srgbClr val="C8CDD2">
                <a:alpha val="8000"/>
              </a:srgbClr>
            </a:outerShdw>
          </a:effectLst>
        </p:spPr>
      </p:sp>
      <p:sp>
        <p:nvSpPr>
          <p:cNvPr id="22" name="Shape 12">
            <a:extLst>
              <a:ext uri="{FF2B5EF4-FFF2-40B4-BE49-F238E27FC236}">
                <a16:creationId xmlns:a16="http://schemas.microsoft.com/office/drawing/2014/main" id="{B4401676-2C0E-511A-BF80-59457E269CE5}"/>
              </a:ext>
            </a:extLst>
          </p:cNvPr>
          <p:cNvSpPr/>
          <p:nvPr/>
        </p:nvSpPr>
        <p:spPr>
          <a:xfrm>
            <a:off x="777240" y="3310128"/>
            <a:ext cx="1965960" cy="411480"/>
          </a:xfrm>
          <a:prstGeom prst="rect">
            <a:avLst/>
          </a:prstGeom>
          <a:solidFill>
            <a:srgbClr val="20AEB5"/>
          </a:solidFill>
          <a:ln w="12700">
            <a:solidFill>
              <a:srgbClr val="20AEB5">
                <a:alpha val="0"/>
              </a:srgbClr>
            </a:solidFill>
            <a:prstDash val="solid"/>
          </a:ln>
        </p:spPr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F4585F80-7FB2-670A-BF39-5221759561BD}"/>
              </a:ext>
            </a:extLst>
          </p:cNvPr>
          <p:cNvSpPr/>
          <p:nvPr/>
        </p:nvSpPr>
        <p:spPr>
          <a:xfrm>
            <a:off x="777240" y="341985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STEP 01</a:t>
            </a:r>
            <a:endParaRPr lang="en-US" sz="1200" dirty="0"/>
          </a:p>
        </p:txBody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B066E417-9A93-7928-2B02-5581175D48C6}"/>
              </a:ext>
            </a:extLst>
          </p:cNvPr>
          <p:cNvSpPr/>
          <p:nvPr/>
        </p:nvSpPr>
        <p:spPr>
          <a:xfrm>
            <a:off x="1472184" y="3931920"/>
            <a:ext cx="566928" cy="566928"/>
          </a:xfrm>
          <a:prstGeom prst="ellipse">
            <a:avLst/>
          </a:prstGeom>
          <a:solidFill>
            <a:srgbClr val="DDF5F7"/>
          </a:solidFill>
          <a:ln w="12700">
            <a:solidFill>
              <a:srgbClr val="DDF5F7"/>
            </a:solidFill>
            <a:prstDash val="solid"/>
          </a:ln>
        </p:spPr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BAC107A5-5E9B-E50C-6D14-35EE9C0441CC}"/>
              </a:ext>
            </a:extLst>
          </p:cNvPr>
          <p:cNvSpPr/>
          <p:nvPr/>
        </p:nvSpPr>
        <p:spPr>
          <a:xfrm>
            <a:off x="1472184" y="4145661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87B84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8C9CE7EC-9150-2AC7-E8C7-0A5067CDE825}"/>
              </a:ext>
            </a:extLst>
          </p:cNvPr>
          <p:cNvSpPr/>
          <p:nvPr/>
        </p:nvSpPr>
        <p:spPr>
          <a:xfrm>
            <a:off x="987552" y="4636008"/>
            <a:ext cx="1545336" cy="0"/>
          </a:xfrm>
          <a:prstGeom prst="line">
            <a:avLst/>
          </a:prstGeom>
          <a:noFill/>
          <a:ln w="10160">
            <a:solidFill>
              <a:srgbClr val="DDE7EC"/>
            </a:solidFill>
            <a:prstDash val="solid"/>
          </a:ln>
        </p:spPr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B73DB72-FCF1-9116-866A-E20E411FCC69}"/>
              </a:ext>
            </a:extLst>
          </p:cNvPr>
          <p:cNvSpPr/>
          <p:nvPr/>
        </p:nvSpPr>
        <p:spPr>
          <a:xfrm>
            <a:off x="914400" y="484567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행정동 → 행정구</a:t>
            </a:r>
            <a:endParaRPr lang="en-US" sz="1150" dirty="0"/>
          </a:p>
        </p:txBody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FA112D5D-2475-AD49-FD7C-968DB1118F4E}"/>
              </a:ext>
            </a:extLst>
          </p:cNvPr>
          <p:cNvSpPr/>
          <p:nvPr/>
        </p:nvSpPr>
        <p:spPr>
          <a:xfrm>
            <a:off x="914400" y="521208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해운대구의 여러 </a:t>
            </a:r>
            <a:r>
              <a:rPr lang="en-US" sz="82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행정동을</a:t>
            </a:r>
            <a:r>
              <a:rPr lang="en-US" sz="82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82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해운대구</a:t>
            </a:r>
            <a:r>
              <a:rPr lang="en-US" sz="82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하나로 집계</a:t>
            </a:r>
            <a:endParaRPr lang="en-US" sz="820" dirty="0"/>
          </a:p>
        </p:txBody>
      </p:sp>
      <p:sp>
        <p:nvSpPr>
          <p:cNvPr id="36" name="Shape 19">
            <a:extLst>
              <a:ext uri="{FF2B5EF4-FFF2-40B4-BE49-F238E27FC236}">
                <a16:creationId xmlns:a16="http://schemas.microsoft.com/office/drawing/2014/main" id="{D61D2DB1-1ED2-4E5A-B0A1-1C49C3497F19}"/>
              </a:ext>
            </a:extLst>
          </p:cNvPr>
          <p:cNvSpPr/>
          <p:nvPr/>
        </p:nvSpPr>
        <p:spPr>
          <a:xfrm>
            <a:off x="2999232" y="3310128"/>
            <a:ext cx="1965960" cy="228600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8890">
            <a:solidFill>
              <a:srgbClr val="DDE7EC"/>
            </a:solidFill>
            <a:prstDash val="solid"/>
          </a:ln>
          <a:effectLst>
            <a:outerShdw blurRad="12700" dist="50800" dir="2700000" algn="bl" rotWithShape="0">
              <a:srgbClr val="C8CDD2">
                <a:alpha val="8000"/>
              </a:srgbClr>
            </a:outerShdw>
          </a:effectLst>
        </p:spPr>
      </p:sp>
      <p:sp>
        <p:nvSpPr>
          <p:cNvPr id="38" name="Shape 20">
            <a:extLst>
              <a:ext uri="{FF2B5EF4-FFF2-40B4-BE49-F238E27FC236}">
                <a16:creationId xmlns:a16="http://schemas.microsoft.com/office/drawing/2014/main" id="{77AD7C66-8857-D2D5-C8EB-81020EE58B46}"/>
              </a:ext>
            </a:extLst>
          </p:cNvPr>
          <p:cNvSpPr/>
          <p:nvPr/>
        </p:nvSpPr>
        <p:spPr>
          <a:xfrm>
            <a:off x="2999232" y="3310128"/>
            <a:ext cx="1965960" cy="411480"/>
          </a:xfrm>
          <a:prstGeom prst="rect">
            <a:avLst/>
          </a:prstGeom>
          <a:solidFill>
            <a:srgbClr val="20AEB5"/>
          </a:solidFill>
          <a:ln w="12700">
            <a:solidFill>
              <a:srgbClr val="20AEB5">
                <a:alpha val="0"/>
              </a:srgbClr>
            </a:solidFill>
            <a:prstDash val="solid"/>
          </a:ln>
        </p:spPr>
      </p:sp>
      <p:sp>
        <p:nvSpPr>
          <p:cNvPr id="40" name="Text 21">
            <a:extLst>
              <a:ext uri="{FF2B5EF4-FFF2-40B4-BE49-F238E27FC236}">
                <a16:creationId xmlns:a16="http://schemas.microsoft.com/office/drawing/2014/main" id="{B80F6ED8-C25C-3FBD-D780-FB8F3BD5058B}"/>
              </a:ext>
            </a:extLst>
          </p:cNvPr>
          <p:cNvSpPr/>
          <p:nvPr/>
        </p:nvSpPr>
        <p:spPr>
          <a:xfrm>
            <a:off x="2999232" y="341985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STEP 02</a:t>
            </a:r>
            <a:endParaRPr lang="en-US" sz="1200" dirty="0"/>
          </a:p>
        </p:txBody>
      </p:sp>
      <p:sp>
        <p:nvSpPr>
          <p:cNvPr id="42" name="Shape 22">
            <a:extLst>
              <a:ext uri="{FF2B5EF4-FFF2-40B4-BE49-F238E27FC236}">
                <a16:creationId xmlns:a16="http://schemas.microsoft.com/office/drawing/2014/main" id="{C24C7E68-D4F6-7D61-E2DE-854A9192DD1E}"/>
              </a:ext>
            </a:extLst>
          </p:cNvPr>
          <p:cNvSpPr/>
          <p:nvPr/>
        </p:nvSpPr>
        <p:spPr>
          <a:xfrm>
            <a:off x="3694176" y="3931920"/>
            <a:ext cx="566928" cy="566928"/>
          </a:xfrm>
          <a:prstGeom prst="ellipse">
            <a:avLst/>
          </a:prstGeom>
          <a:solidFill>
            <a:srgbClr val="DDF5F7"/>
          </a:solidFill>
          <a:ln w="12700">
            <a:solidFill>
              <a:srgbClr val="DDF5F7"/>
            </a:solidFill>
            <a:prstDash val="solid"/>
          </a:ln>
        </p:spPr>
      </p:sp>
      <p:sp>
        <p:nvSpPr>
          <p:cNvPr id="44" name="Text 23">
            <a:extLst>
              <a:ext uri="{FF2B5EF4-FFF2-40B4-BE49-F238E27FC236}">
                <a16:creationId xmlns:a16="http://schemas.microsoft.com/office/drawing/2014/main" id="{B9BF6A33-3268-165E-2B9E-C8BFEBEC349B}"/>
              </a:ext>
            </a:extLst>
          </p:cNvPr>
          <p:cNvSpPr/>
          <p:nvPr/>
        </p:nvSpPr>
        <p:spPr>
          <a:xfrm>
            <a:off x="3694176" y="4145661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87B84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2</a:t>
            </a:r>
            <a:endParaRPr lang="en-US" sz="1300" dirty="0"/>
          </a:p>
        </p:txBody>
      </p:sp>
      <p:sp>
        <p:nvSpPr>
          <p:cNvPr id="46" name="Shape 24">
            <a:extLst>
              <a:ext uri="{FF2B5EF4-FFF2-40B4-BE49-F238E27FC236}">
                <a16:creationId xmlns:a16="http://schemas.microsoft.com/office/drawing/2014/main" id="{D56CEEA5-494C-24DD-ACC2-CE3BBE4EC49B}"/>
              </a:ext>
            </a:extLst>
          </p:cNvPr>
          <p:cNvSpPr/>
          <p:nvPr/>
        </p:nvSpPr>
        <p:spPr>
          <a:xfrm>
            <a:off x="3209544" y="4636008"/>
            <a:ext cx="1545336" cy="0"/>
          </a:xfrm>
          <a:prstGeom prst="line">
            <a:avLst/>
          </a:prstGeom>
          <a:noFill/>
          <a:ln w="10160">
            <a:solidFill>
              <a:srgbClr val="DDE7EC"/>
            </a:solidFill>
            <a:prstDash val="solid"/>
          </a:ln>
        </p:spPr>
      </p:sp>
      <p:sp>
        <p:nvSpPr>
          <p:cNvPr id="48" name="Text 25">
            <a:extLst>
              <a:ext uri="{FF2B5EF4-FFF2-40B4-BE49-F238E27FC236}">
                <a16:creationId xmlns:a16="http://schemas.microsoft.com/office/drawing/2014/main" id="{A68AEBDA-9766-AB0D-79F8-692C9C37007D}"/>
              </a:ext>
            </a:extLst>
          </p:cNvPr>
          <p:cNvSpPr/>
          <p:nvPr/>
        </p:nvSpPr>
        <p:spPr>
          <a:xfrm>
            <a:off x="3136392" y="484567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기간 단위 통일</a:t>
            </a:r>
            <a:endParaRPr lang="en-US" sz="1150" dirty="0"/>
          </a:p>
        </p:txBody>
      </p:sp>
      <p:sp>
        <p:nvSpPr>
          <p:cNvPr id="50" name="Text 26">
            <a:extLst>
              <a:ext uri="{FF2B5EF4-FFF2-40B4-BE49-F238E27FC236}">
                <a16:creationId xmlns:a16="http://schemas.microsoft.com/office/drawing/2014/main" id="{A9DB6E54-B91B-F211-94D5-8CA8E427DC44}"/>
              </a:ext>
            </a:extLst>
          </p:cNvPr>
          <p:cNvSpPr/>
          <p:nvPr/>
        </p:nvSpPr>
        <p:spPr>
          <a:xfrm>
            <a:off x="3136392" y="521208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202301, 202302처럼 </a:t>
            </a:r>
            <a:r>
              <a:rPr lang="ko-KR" altLang="en-US" sz="82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연</a:t>
            </a:r>
            <a:r>
              <a:rPr lang="en-US" sz="82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월 단위로 변환</a:t>
            </a:r>
            <a:endParaRPr lang="en-US" sz="820" dirty="0"/>
          </a:p>
        </p:txBody>
      </p:sp>
      <p:sp>
        <p:nvSpPr>
          <p:cNvPr id="52" name="Shape 27">
            <a:extLst>
              <a:ext uri="{FF2B5EF4-FFF2-40B4-BE49-F238E27FC236}">
                <a16:creationId xmlns:a16="http://schemas.microsoft.com/office/drawing/2014/main" id="{0725D63B-272B-DBFC-9D9B-8B28159B2684}"/>
              </a:ext>
            </a:extLst>
          </p:cNvPr>
          <p:cNvSpPr/>
          <p:nvPr/>
        </p:nvSpPr>
        <p:spPr>
          <a:xfrm>
            <a:off x="5221224" y="3310128"/>
            <a:ext cx="1965960" cy="228600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8890">
            <a:solidFill>
              <a:srgbClr val="DDE7EC"/>
            </a:solidFill>
            <a:prstDash val="solid"/>
          </a:ln>
          <a:effectLst>
            <a:outerShdw blurRad="12700" dist="50800" dir="2700000" algn="bl" rotWithShape="0">
              <a:srgbClr val="C8CDD2">
                <a:alpha val="8000"/>
              </a:srgbClr>
            </a:outerShdw>
          </a:effectLst>
        </p:spPr>
      </p:sp>
      <p:sp>
        <p:nvSpPr>
          <p:cNvPr id="54" name="Shape 28">
            <a:extLst>
              <a:ext uri="{FF2B5EF4-FFF2-40B4-BE49-F238E27FC236}">
                <a16:creationId xmlns:a16="http://schemas.microsoft.com/office/drawing/2014/main" id="{5DF55518-6FF3-0E51-C9F6-3C3115C3EE6D}"/>
              </a:ext>
            </a:extLst>
          </p:cNvPr>
          <p:cNvSpPr/>
          <p:nvPr/>
        </p:nvSpPr>
        <p:spPr>
          <a:xfrm>
            <a:off x="5221224" y="3310128"/>
            <a:ext cx="1965960" cy="411480"/>
          </a:xfrm>
          <a:prstGeom prst="rect">
            <a:avLst/>
          </a:prstGeom>
          <a:solidFill>
            <a:srgbClr val="20AEB5"/>
          </a:solidFill>
          <a:ln w="12700">
            <a:solidFill>
              <a:srgbClr val="20AEB5">
                <a:alpha val="0"/>
              </a:srgbClr>
            </a:solidFill>
            <a:prstDash val="solid"/>
          </a:ln>
        </p:spPr>
      </p:sp>
      <p:sp>
        <p:nvSpPr>
          <p:cNvPr id="56" name="Text 29">
            <a:extLst>
              <a:ext uri="{FF2B5EF4-FFF2-40B4-BE49-F238E27FC236}">
                <a16:creationId xmlns:a16="http://schemas.microsoft.com/office/drawing/2014/main" id="{111E6528-8CFB-B054-9CA8-DEF38D51BB93}"/>
              </a:ext>
            </a:extLst>
          </p:cNvPr>
          <p:cNvSpPr/>
          <p:nvPr/>
        </p:nvSpPr>
        <p:spPr>
          <a:xfrm>
            <a:off x="5221224" y="341985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STEP 03</a:t>
            </a:r>
            <a:endParaRPr lang="en-US" sz="1200" dirty="0"/>
          </a:p>
        </p:txBody>
      </p:sp>
      <p:sp>
        <p:nvSpPr>
          <p:cNvPr id="58" name="Shape 30">
            <a:extLst>
              <a:ext uri="{FF2B5EF4-FFF2-40B4-BE49-F238E27FC236}">
                <a16:creationId xmlns:a16="http://schemas.microsoft.com/office/drawing/2014/main" id="{56DF1488-725E-B12C-69EE-5001BED803A2}"/>
              </a:ext>
            </a:extLst>
          </p:cNvPr>
          <p:cNvSpPr/>
          <p:nvPr/>
        </p:nvSpPr>
        <p:spPr>
          <a:xfrm>
            <a:off x="5916168" y="3931920"/>
            <a:ext cx="566928" cy="566928"/>
          </a:xfrm>
          <a:prstGeom prst="ellipse">
            <a:avLst/>
          </a:prstGeom>
          <a:solidFill>
            <a:srgbClr val="DDF5F7"/>
          </a:solidFill>
          <a:ln w="12700">
            <a:solidFill>
              <a:srgbClr val="DDF5F7"/>
            </a:solidFill>
            <a:prstDash val="solid"/>
          </a:ln>
        </p:spPr>
      </p:sp>
      <p:sp>
        <p:nvSpPr>
          <p:cNvPr id="60" name="Text 31">
            <a:extLst>
              <a:ext uri="{FF2B5EF4-FFF2-40B4-BE49-F238E27FC236}">
                <a16:creationId xmlns:a16="http://schemas.microsoft.com/office/drawing/2014/main" id="{B7CAF975-8131-166D-7457-B290A4AF689A}"/>
              </a:ext>
            </a:extLst>
          </p:cNvPr>
          <p:cNvSpPr/>
          <p:nvPr/>
        </p:nvSpPr>
        <p:spPr>
          <a:xfrm>
            <a:off x="5916168" y="4145661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87B84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3</a:t>
            </a:r>
            <a:endParaRPr lang="en-US" sz="1300" dirty="0"/>
          </a:p>
        </p:txBody>
      </p:sp>
      <p:sp>
        <p:nvSpPr>
          <p:cNvPr id="62" name="Shape 32">
            <a:extLst>
              <a:ext uri="{FF2B5EF4-FFF2-40B4-BE49-F238E27FC236}">
                <a16:creationId xmlns:a16="http://schemas.microsoft.com/office/drawing/2014/main" id="{83A9615A-F90D-85D7-221C-E7509A9E26C8}"/>
              </a:ext>
            </a:extLst>
          </p:cNvPr>
          <p:cNvSpPr/>
          <p:nvPr/>
        </p:nvSpPr>
        <p:spPr>
          <a:xfrm>
            <a:off x="5431536" y="4636008"/>
            <a:ext cx="1545336" cy="0"/>
          </a:xfrm>
          <a:prstGeom prst="line">
            <a:avLst/>
          </a:prstGeom>
          <a:noFill/>
          <a:ln w="10160">
            <a:solidFill>
              <a:srgbClr val="DDE7EC"/>
            </a:solidFill>
            <a:prstDash val="solid"/>
          </a:ln>
        </p:spPr>
      </p:sp>
      <p:sp>
        <p:nvSpPr>
          <p:cNvPr id="64" name="Text 33">
            <a:extLst>
              <a:ext uri="{FF2B5EF4-FFF2-40B4-BE49-F238E27FC236}">
                <a16:creationId xmlns:a16="http://schemas.microsoft.com/office/drawing/2014/main" id="{7A92F359-824C-F24E-8861-B0DE6276A25E}"/>
              </a:ext>
            </a:extLst>
          </p:cNvPr>
          <p:cNvSpPr/>
          <p:nvPr/>
        </p:nvSpPr>
        <p:spPr>
          <a:xfrm>
            <a:off x="5358384" y="484567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소비 지표 집계</a:t>
            </a:r>
            <a:endParaRPr lang="en-US" sz="1150" dirty="0"/>
          </a:p>
        </p:txBody>
      </p:sp>
      <p:sp>
        <p:nvSpPr>
          <p:cNvPr id="66" name="Text 34">
            <a:extLst>
              <a:ext uri="{FF2B5EF4-FFF2-40B4-BE49-F238E27FC236}">
                <a16:creationId xmlns:a16="http://schemas.microsoft.com/office/drawing/2014/main" id="{EC717AD1-5BF6-46FA-1CBF-7F43D0E710F0}"/>
              </a:ext>
            </a:extLst>
          </p:cNvPr>
          <p:cNvSpPr/>
          <p:nvPr/>
        </p:nvSpPr>
        <p:spPr>
          <a:xfrm>
            <a:off x="5358384" y="521208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소비건수 합산 · 소비금액 합산</a:t>
            </a:r>
            <a:endParaRPr lang="en-US" sz="820" dirty="0"/>
          </a:p>
        </p:txBody>
      </p:sp>
      <p:sp>
        <p:nvSpPr>
          <p:cNvPr id="68" name="Shape 35">
            <a:extLst>
              <a:ext uri="{FF2B5EF4-FFF2-40B4-BE49-F238E27FC236}">
                <a16:creationId xmlns:a16="http://schemas.microsoft.com/office/drawing/2014/main" id="{AF719A51-3C37-7930-F9CC-44758BA0231E}"/>
              </a:ext>
            </a:extLst>
          </p:cNvPr>
          <p:cNvSpPr/>
          <p:nvPr/>
        </p:nvSpPr>
        <p:spPr>
          <a:xfrm>
            <a:off x="7443216" y="3310128"/>
            <a:ext cx="1965960" cy="228600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8890">
            <a:solidFill>
              <a:srgbClr val="DDE7EC"/>
            </a:solidFill>
            <a:prstDash val="solid"/>
          </a:ln>
          <a:effectLst>
            <a:outerShdw blurRad="12700" dist="50800" dir="2700000" algn="bl" rotWithShape="0">
              <a:srgbClr val="C8CDD2">
                <a:alpha val="8000"/>
              </a:srgbClr>
            </a:outerShdw>
          </a:effectLst>
        </p:spPr>
      </p:sp>
      <p:sp>
        <p:nvSpPr>
          <p:cNvPr id="70" name="Shape 36">
            <a:extLst>
              <a:ext uri="{FF2B5EF4-FFF2-40B4-BE49-F238E27FC236}">
                <a16:creationId xmlns:a16="http://schemas.microsoft.com/office/drawing/2014/main" id="{008EB04D-1DE4-C34C-CA14-2AD32C75AC21}"/>
              </a:ext>
            </a:extLst>
          </p:cNvPr>
          <p:cNvSpPr/>
          <p:nvPr/>
        </p:nvSpPr>
        <p:spPr>
          <a:xfrm>
            <a:off x="7443216" y="3310128"/>
            <a:ext cx="1965960" cy="411480"/>
          </a:xfrm>
          <a:prstGeom prst="rect">
            <a:avLst/>
          </a:prstGeom>
          <a:solidFill>
            <a:srgbClr val="20AEB5"/>
          </a:solidFill>
          <a:ln w="12700">
            <a:solidFill>
              <a:srgbClr val="20AEB5">
                <a:alpha val="0"/>
              </a:srgbClr>
            </a:solidFill>
            <a:prstDash val="solid"/>
          </a:ln>
        </p:spPr>
      </p:sp>
      <p:sp>
        <p:nvSpPr>
          <p:cNvPr id="72" name="Text 37">
            <a:extLst>
              <a:ext uri="{FF2B5EF4-FFF2-40B4-BE49-F238E27FC236}">
                <a16:creationId xmlns:a16="http://schemas.microsoft.com/office/drawing/2014/main" id="{1F7F7703-1ECF-A75E-780D-ED6F4927C29F}"/>
              </a:ext>
            </a:extLst>
          </p:cNvPr>
          <p:cNvSpPr/>
          <p:nvPr/>
        </p:nvSpPr>
        <p:spPr>
          <a:xfrm>
            <a:off x="7443216" y="341985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STEP 04</a:t>
            </a:r>
            <a:endParaRPr lang="en-US" sz="1200" dirty="0"/>
          </a:p>
        </p:txBody>
      </p:sp>
      <p:sp>
        <p:nvSpPr>
          <p:cNvPr id="74" name="Shape 38">
            <a:extLst>
              <a:ext uri="{FF2B5EF4-FFF2-40B4-BE49-F238E27FC236}">
                <a16:creationId xmlns:a16="http://schemas.microsoft.com/office/drawing/2014/main" id="{493B2F7A-F48B-D447-E825-107A0A6CC95E}"/>
              </a:ext>
            </a:extLst>
          </p:cNvPr>
          <p:cNvSpPr/>
          <p:nvPr/>
        </p:nvSpPr>
        <p:spPr>
          <a:xfrm>
            <a:off x="8138160" y="3931920"/>
            <a:ext cx="566928" cy="566928"/>
          </a:xfrm>
          <a:prstGeom prst="ellipse">
            <a:avLst/>
          </a:prstGeom>
          <a:solidFill>
            <a:srgbClr val="DDF5F7"/>
          </a:solidFill>
          <a:ln w="12700">
            <a:solidFill>
              <a:srgbClr val="DDF5F7"/>
            </a:solidFill>
            <a:prstDash val="solid"/>
          </a:ln>
        </p:spPr>
      </p:sp>
      <p:sp>
        <p:nvSpPr>
          <p:cNvPr id="76" name="Text 39">
            <a:extLst>
              <a:ext uri="{FF2B5EF4-FFF2-40B4-BE49-F238E27FC236}">
                <a16:creationId xmlns:a16="http://schemas.microsoft.com/office/drawing/2014/main" id="{54F5E077-1F9F-2D4A-1A22-331554652738}"/>
              </a:ext>
            </a:extLst>
          </p:cNvPr>
          <p:cNvSpPr/>
          <p:nvPr/>
        </p:nvSpPr>
        <p:spPr>
          <a:xfrm>
            <a:off x="8138160" y="4145661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87B84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4</a:t>
            </a:r>
            <a:endParaRPr lang="en-US" sz="1300" dirty="0"/>
          </a:p>
        </p:txBody>
      </p:sp>
      <p:sp>
        <p:nvSpPr>
          <p:cNvPr id="78" name="Shape 40">
            <a:extLst>
              <a:ext uri="{FF2B5EF4-FFF2-40B4-BE49-F238E27FC236}">
                <a16:creationId xmlns:a16="http://schemas.microsoft.com/office/drawing/2014/main" id="{348C3074-EA8D-AC82-4217-582647EF221A}"/>
              </a:ext>
            </a:extLst>
          </p:cNvPr>
          <p:cNvSpPr/>
          <p:nvPr/>
        </p:nvSpPr>
        <p:spPr>
          <a:xfrm>
            <a:off x="7653528" y="4636008"/>
            <a:ext cx="1545336" cy="0"/>
          </a:xfrm>
          <a:prstGeom prst="line">
            <a:avLst/>
          </a:prstGeom>
          <a:noFill/>
          <a:ln w="10160">
            <a:solidFill>
              <a:srgbClr val="DDE7EC"/>
            </a:solidFill>
            <a:prstDash val="solid"/>
          </a:ln>
        </p:spPr>
      </p:sp>
      <p:sp>
        <p:nvSpPr>
          <p:cNvPr id="80" name="Text 41">
            <a:extLst>
              <a:ext uri="{FF2B5EF4-FFF2-40B4-BE49-F238E27FC236}">
                <a16:creationId xmlns:a16="http://schemas.microsoft.com/office/drawing/2014/main" id="{A186E2AA-27FA-E7D5-7E8C-CB8E798BC5A2}"/>
              </a:ext>
            </a:extLst>
          </p:cNvPr>
          <p:cNvSpPr/>
          <p:nvPr/>
        </p:nvSpPr>
        <p:spPr>
          <a:xfrm>
            <a:off x="7580376" y="484567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평균 지표 계산</a:t>
            </a:r>
            <a:endParaRPr lang="en-US" sz="1150" dirty="0"/>
          </a:p>
        </p:txBody>
      </p:sp>
      <p:sp>
        <p:nvSpPr>
          <p:cNvPr id="82" name="Text 42">
            <a:extLst>
              <a:ext uri="{FF2B5EF4-FFF2-40B4-BE49-F238E27FC236}">
                <a16:creationId xmlns:a16="http://schemas.microsoft.com/office/drawing/2014/main" id="{66091B03-0BC0-8679-A820-72881D456788}"/>
              </a:ext>
            </a:extLst>
          </p:cNvPr>
          <p:cNvSpPr/>
          <p:nvPr/>
        </p:nvSpPr>
        <p:spPr>
          <a:xfrm>
            <a:off x="7580376" y="521208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필요 시 월평균·일평균 소비 산출</a:t>
            </a:r>
            <a:endParaRPr lang="en-US" sz="820" dirty="0"/>
          </a:p>
        </p:txBody>
      </p:sp>
      <p:sp>
        <p:nvSpPr>
          <p:cNvPr id="84" name="Shape 43">
            <a:extLst>
              <a:ext uri="{FF2B5EF4-FFF2-40B4-BE49-F238E27FC236}">
                <a16:creationId xmlns:a16="http://schemas.microsoft.com/office/drawing/2014/main" id="{FA4B78EA-3E6D-AF29-874F-9177BBF0BFCC}"/>
              </a:ext>
            </a:extLst>
          </p:cNvPr>
          <p:cNvSpPr/>
          <p:nvPr/>
        </p:nvSpPr>
        <p:spPr>
          <a:xfrm>
            <a:off x="9665208" y="3310128"/>
            <a:ext cx="1965960" cy="228600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8890">
            <a:solidFill>
              <a:srgbClr val="DDE7EC"/>
            </a:solidFill>
            <a:prstDash val="solid"/>
          </a:ln>
          <a:effectLst>
            <a:outerShdw blurRad="12700" dist="50800" dir="2700000" algn="bl" rotWithShape="0">
              <a:srgbClr val="C8CDD2">
                <a:alpha val="8000"/>
              </a:srgbClr>
            </a:outerShdw>
          </a:effectLst>
        </p:spPr>
      </p:sp>
      <p:sp>
        <p:nvSpPr>
          <p:cNvPr id="86" name="Shape 44">
            <a:extLst>
              <a:ext uri="{FF2B5EF4-FFF2-40B4-BE49-F238E27FC236}">
                <a16:creationId xmlns:a16="http://schemas.microsoft.com/office/drawing/2014/main" id="{F01E0756-DAD9-3826-B32D-37ABC3711B4A}"/>
              </a:ext>
            </a:extLst>
          </p:cNvPr>
          <p:cNvSpPr/>
          <p:nvPr/>
        </p:nvSpPr>
        <p:spPr>
          <a:xfrm>
            <a:off x="9665208" y="3310128"/>
            <a:ext cx="1965960" cy="411480"/>
          </a:xfrm>
          <a:prstGeom prst="rect">
            <a:avLst/>
          </a:prstGeom>
          <a:solidFill>
            <a:srgbClr val="20AEB5"/>
          </a:solidFill>
          <a:ln w="12700">
            <a:solidFill>
              <a:srgbClr val="20AEB5">
                <a:alpha val="0"/>
              </a:srgbClr>
            </a:solidFill>
            <a:prstDash val="solid"/>
          </a:ln>
        </p:spPr>
      </p:sp>
      <p:sp>
        <p:nvSpPr>
          <p:cNvPr id="88" name="Text 45">
            <a:extLst>
              <a:ext uri="{FF2B5EF4-FFF2-40B4-BE49-F238E27FC236}">
                <a16:creationId xmlns:a16="http://schemas.microsoft.com/office/drawing/2014/main" id="{59C42501-5CD2-6FDC-F008-63B54BB15913}"/>
              </a:ext>
            </a:extLst>
          </p:cNvPr>
          <p:cNvSpPr/>
          <p:nvPr/>
        </p:nvSpPr>
        <p:spPr>
          <a:xfrm>
            <a:off x="9665208" y="341985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STEP 05</a:t>
            </a:r>
            <a:endParaRPr lang="en-US" sz="1200" dirty="0"/>
          </a:p>
        </p:txBody>
      </p:sp>
      <p:sp>
        <p:nvSpPr>
          <p:cNvPr id="90" name="Shape 46">
            <a:extLst>
              <a:ext uri="{FF2B5EF4-FFF2-40B4-BE49-F238E27FC236}">
                <a16:creationId xmlns:a16="http://schemas.microsoft.com/office/drawing/2014/main" id="{58C5BD69-7EF6-AC12-61F5-99C1B0442D95}"/>
              </a:ext>
            </a:extLst>
          </p:cNvPr>
          <p:cNvSpPr/>
          <p:nvPr/>
        </p:nvSpPr>
        <p:spPr>
          <a:xfrm>
            <a:off x="10360152" y="3931920"/>
            <a:ext cx="566928" cy="566928"/>
          </a:xfrm>
          <a:prstGeom prst="ellipse">
            <a:avLst/>
          </a:prstGeom>
          <a:solidFill>
            <a:srgbClr val="DDF5F7"/>
          </a:solidFill>
          <a:ln w="12700">
            <a:solidFill>
              <a:srgbClr val="DDF5F7"/>
            </a:solidFill>
            <a:prstDash val="solid"/>
          </a:ln>
        </p:spPr>
      </p:sp>
      <p:sp>
        <p:nvSpPr>
          <p:cNvPr id="92" name="Text 47">
            <a:extLst>
              <a:ext uri="{FF2B5EF4-FFF2-40B4-BE49-F238E27FC236}">
                <a16:creationId xmlns:a16="http://schemas.microsoft.com/office/drawing/2014/main" id="{251A1C08-4CCD-4C83-33D5-3E416F0C6D1B}"/>
              </a:ext>
            </a:extLst>
          </p:cNvPr>
          <p:cNvSpPr/>
          <p:nvPr/>
        </p:nvSpPr>
        <p:spPr>
          <a:xfrm>
            <a:off x="10360152" y="4145661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87B84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5</a:t>
            </a:r>
            <a:endParaRPr lang="en-US" sz="1300" dirty="0"/>
          </a:p>
        </p:txBody>
      </p:sp>
      <p:sp>
        <p:nvSpPr>
          <p:cNvPr id="94" name="Shape 48">
            <a:extLst>
              <a:ext uri="{FF2B5EF4-FFF2-40B4-BE49-F238E27FC236}">
                <a16:creationId xmlns:a16="http://schemas.microsoft.com/office/drawing/2014/main" id="{08CABB36-21F7-E8BE-BE12-A141054BEBB2}"/>
              </a:ext>
            </a:extLst>
          </p:cNvPr>
          <p:cNvSpPr/>
          <p:nvPr/>
        </p:nvSpPr>
        <p:spPr>
          <a:xfrm>
            <a:off x="9875520" y="4636008"/>
            <a:ext cx="1545336" cy="0"/>
          </a:xfrm>
          <a:prstGeom prst="line">
            <a:avLst/>
          </a:prstGeom>
          <a:noFill/>
          <a:ln w="10160">
            <a:solidFill>
              <a:srgbClr val="DDE7EC"/>
            </a:solidFill>
            <a:prstDash val="solid"/>
          </a:ln>
        </p:spPr>
      </p:sp>
      <p:sp>
        <p:nvSpPr>
          <p:cNvPr id="96" name="Text 49">
            <a:extLst>
              <a:ext uri="{FF2B5EF4-FFF2-40B4-BE49-F238E27FC236}">
                <a16:creationId xmlns:a16="http://schemas.microsoft.com/office/drawing/2014/main" id="{F4D00B7A-D3DF-ED1C-4843-237F82822FB7}"/>
              </a:ext>
            </a:extLst>
          </p:cNvPr>
          <p:cNvSpPr/>
          <p:nvPr/>
        </p:nvSpPr>
        <p:spPr>
          <a:xfrm>
            <a:off x="9802368" y="484567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단위 표준화</a:t>
            </a:r>
            <a:endParaRPr lang="en-US" sz="1150" dirty="0"/>
          </a:p>
        </p:txBody>
      </p:sp>
      <p:sp>
        <p:nvSpPr>
          <p:cNvPr id="98" name="Text 50">
            <a:extLst>
              <a:ext uri="{FF2B5EF4-FFF2-40B4-BE49-F238E27FC236}">
                <a16:creationId xmlns:a16="http://schemas.microsoft.com/office/drawing/2014/main" id="{EC57708C-CFF4-6F8B-94E8-1DC962197A03}"/>
              </a:ext>
            </a:extLst>
          </p:cNvPr>
          <p:cNvSpPr/>
          <p:nvPr/>
        </p:nvSpPr>
        <p:spPr>
          <a:xfrm>
            <a:off x="9802368" y="521208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금액 단위 통일 및 소수점 정리</a:t>
            </a:r>
            <a:endParaRPr lang="en-US" sz="820" dirty="0"/>
          </a:p>
        </p:txBody>
      </p:sp>
    </p:spTree>
    <p:extLst>
      <p:ext uri="{BB962C8B-B14F-4D97-AF65-F5344CB8AC3E}">
        <p14:creationId xmlns:p14="http://schemas.microsoft.com/office/powerpoint/2010/main" val="3669551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4CEFD-8758-D54B-B3F3-E65CD9738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AB3352D-F861-DE88-A9C9-D09DE4C8631F}"/>
              </a:ext>
            </a:extLst>
          </p:cNvPr>
          <p:cNvSpPr/>
          <p:nvPr/>
        </p:nvSpPr>
        <p:spPr>
          <a:xfrm>
            <a:off x="530351" y="246888"/>
            <a:ext cx="1593723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 latinLnBrk="0">
              <a:defRPr/>
            </a:pPr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0</a:t>
            </a:r>
            <a:r>
              <a:rPr lang="en-US" altLang="ko-KR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7</a:t>
            </a:r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. </a:t>
            </a:r>
            <a:r>
              <a:rPr lang="en-US" altLang="ko-KR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Cleaning &amp; Variable Selection</a:t>
            </a:r>
            <a:endParaRPr lang="en-US" sz="85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53AFE4E-7980-E90D-2A80-DD5D4E326D10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D042F62-EAD5-87BE-50C8-A24BF8F4AB7A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2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데이터 정제 및 변수 </a:t>
            </a:r>
            <a:r>
              <a:rPr lang="ko-KR" altLang="en-US" sz="1720" dirty="0">
                <a:solidFill>
                  <a:prstClr val="black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선택</a:t>
            </a:r>
            <a:endParaRPr lang="en-US" sz="1720" dirty="0">
              <a:solidFill>
                <a:prstClr val="black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50BD62C-04C8-A6DA-7BEE-DA05DDB90EC3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분석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목적에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직접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필요한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변수만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남기고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,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단위와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중복값을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정리</a:t>
            </a:r>
            <a:endParaRPr lang="en-US" altLang="ko-KR" sz="8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42F4656-3A62-F505-2DC8-7DA7622B17B2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8F1A1AF7-EB1B-E5D0-7943-EB18D65AA804}"/>
              </a:ext>
            </a:extLst>
          </p:cNvPr>
          <p:cNvSpPr/>
          <p:nvPr/>
        </p:nvSpPr>
        <p:spPr>
          <a:xfrm>
            <a:off x="2057400" y="1719072"/>
            <a:ext cx="2148840" cy="347472"/>
          </a:xfrm>
          <a:prstGeom prst="roundRect">
            <a:avLst>
              <a:gd name="adj" fmla="val 13158"/>
            </a:avLst>
          </a:prstGeom>
          <a:solidFill>
            <a:srgbClr val="DDF5F7"/>
          </a:solidFill>
          <a:ln w="12700">
            <a:solidFill>
              <a:srgbClr val="DDF5F7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D2D7DB">
                <a:alpha val="18000"/>
              </a:srgbClr>
            </a:outerShdw>
          </a:effectLst>
        </p:spPr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EE63BF59-7978-36DF-5C8F-37264398E21A}"/>
              </a:ext>
            </a:extLst>
          </p:cNvPr>
          <p:cNvSpPr/>
          <p:nvPr/>
        </p:nvSpPr>
        <p:spPr>
          <a:xfrm>
            <a:off x="2057400" y="180746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87B84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데이터 표준화</a:t>
            </a:r>
            <a:endParaRPr lang="en-US" sz="130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C3E36650-F333-3E7E-BD2F-A17716491747}"/>
              </a:ext>
            </a:extLst>
          </p:cNvPr>
          <p:cNvSpPr/>
          <p:nvPr/>
        </p:nvSpPr>
        <p:spPr>
          <a:xfrm>
            <a:off x="4434840" y="1719072"/>
            <a:ext cx="2423160" cy="347472"/>
          </a:xfrm>
          <a:prstGeom prst="roundRect">
            <a:avLst>
              <a:gd name="adj" fmla="val 13158"/>
            </a:avLst>
          </a:prstGeom>
          <a:solidFill>
            <a:srgbClr val="DDF5F7"/>
          </a:solidFill>
          <a:ln w="12700">
            <a:solidFill>
              <a:srgbClr val="DDF5F7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D2D7DB">
                <a:alpha val="18000"/>
              </a:srgbClr>
            </a:outerShdw>
          </a:effectLst>
        </p:spPr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3DC1CDC-C666-1ECA-08B9-D5E33484B98C}"/>
              </a:ext>
            </a:extLst>
          </p:cNvPr>
          <p:cNvSpPr/>
          <p:nvPr/>
        </p:nvSpPr>
        <p:spPr>
          <a:xfrm>
            <a:off x="4434840" y="1807464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87B84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중복값 · 전체값 정리</a:t>
            </a:r>
            <a:endParaRPr lang="en-US" sz="1300" dirty="0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215028C6-FCD1-8CBD-A45E-02991F40139A}"/>
              </a:ext>
            </a:extLst>
          </p:cNvPr>
          <p:cNvSpPr/>
          <p:nvPr/>
        </p:nvSpPr>
        <p:spPr>
          <a:xfrm>
            <a:off x="7132320" y="1719072"/>
            <a:ext cx="2423160" cy="347472"/>
          </a:xfrm>
          <a:prstGeom prst="roundRect">
            <a:avLst>
              <a:gd name="adj" fmla="val 13158"/>
            </a:avLst>
          </a:prstGeom>
          <a:solidFill>
            <a:srgbClr val="DDF5F7"/>
          </a:solidFill>
          <a:ln w="12700">
            <a:solidFill>
              <a:srgbClr val="DDF5F7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D2D7DB">
                <a:alpha val="18000"/>
              </a:srgbClr>
            </a:outerShdw>
          </a:effectLst>
        </p:spPr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25527D23-1264-A780-6648-21EE0DDD6457}"/>
              </a:ext>
            </a:extLst>
          </p:cNvPr>
          <p:cNvSpPr/>
          <p:nvPr/>
        </p:nvSpPr>
        <p:spPr>
          <a:xfrm>
            <a:off x="7132320" y="1807464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87B84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핵심 변수 중심 구성</a:t>
            </a:r>
            <a:endParaRPr lang="en-US" sz="1300" dirty="0"/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C2AB1729-73F6-F4E5-C30C-8F5CF823A667}"/>
              </a:ext>
            </a:extLst>
          </p:cNvPr>
          <p:cNvSpPr/>
          <p:nvPr/>
        </p:nvSpPr>
        <p:spPr>
          <a:xfrm>
            <a:off x="731520" y="2331720"/>
            <a:ext cx="108356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1430">
            <a:solidFill>
              <a:srgbClr val="DDE7EC"/>
            </a:solidFill>
            <a:prstDash val="solid"/>
          </a:ln>
          <a:effectLst>
            <a:outerShdw blurRad="12700" dist="50800" dir="2700000" algn="bl" rotWithShape="0">
              <a:srgbClr val="AEB4B9">
                <a:alpha val="16000"/>
              </a:srgbClr>
            </a:outerShdw>
          </a:effectLst>
        </p:spPr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FEEAAAD2-8FAF-367B-0A2E-1F491244B615}"/>
              </a:ext>
            </a:extLst>
          </p:cNvPr>
          <p:cNvSpPr/>
          <p:nvPr/>
        </p:nvSpPr>
        <p:spPr>
          <a:xfrm>
            <a:off x="1024128" y="24734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7B84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정제 작업</a:t>
            </a:r>
            <a:endParaRPr lang="en-US" sz="1300" dirty="0"/>
          </a:p>
        </p:txBody>
      </p: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58018773-183C-DBA2-627A-243186181581}"/>
              </a:ext>
            </a:extLst>
          </p:cNvPr>
          <p:cNvGrpSpPr/>
          <p:nvPr/>
        </p:nvGrpSpPr>
        <p:grpSpPr>
          <a:xfrm>
            <a:off x="1005840" y="2944368"/>
            <a:ext cx="4846320" cy="329184"/>
            <a:chOff x="1005840" y="2959608"/>
            <a:chExt cx="4846320" cy="329184"/>
          </a:xfrm>
        </p:grpSpPr>
        <p:sp>
          <p:nvSpPr>
            <p:cNvPr id="24" name="Shape 13">
              <a:extLst>
                <a:ext uri="{FF2B5EF4-FFF2-40B4-BE49-F238E27FC236}">
                  <a16:creationId xmlns:a16="http://schemas.microsoft.com/office/drawing/2014/main" id="{DF63FEB0-EE07-A57D-ACCE-56E3364EA6D9}"/>
                </a:ext>
              </a:extLst>
            </p:cNvPr>
            <p:cNvSpPr/>
            <p:nvPr/>
          </p:nvSpPr>
          <p:spPr>
            <a:xfrm>
              <a:off x="1005840" y="2959608"/>
              <a:ext cx="329184" cy="329184"/>
            </a:xfrm>
            <a:prstGeom prst="ellipse">
              <a:avLst/>
            </a:prstGeom>
            <a:solidFill>
              <a:srgbClr val="20AEB5"/>
            </a:solidFill>
            <a:ln w="12700">
              <a:solidFill>
                <a:srgbClr val="20AEB5"/>
              </a:solidFill>
              <a:prstDash val="solid"/>
            </a:ln>
          </p:spPr>
        </p:sp>
        <p:sp>
          <p:nvSpPr>
            <p:cNvPr id="26" name="Text 14">
              <a:extLst>
                <a:ext uri="{FF2B5EF4-FFF2-40B4-BE49-F238E27FC236}">
                  <a16:creationId xmlns:a16="http://schemas.microsoft.com/office/drawing/2014/main" id="{78246744-A8B9-B635-DAD5-594982A8AE8B}"/>
                </a:ext>
              </a:extLst>
            </p:cNvPr>
            <p:cNvSpPr/>
            <p:nvPr/>
          </p:nvSpPr>
          <p:spPr>
            <a:xfrm>
              <a:off x="1005840" y="3069336"/>
              <a:ext cx="329184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FFFFFF"/>
                  </a:solidFill>
                  <a:latin typeface="HG꼬딕씨_Pro 60g" pitchFamily="34" charset="0"/>
                  <a:ea typeface="HG꼬딕씨_Pro 60g" pitchFamily="34" charset="-122"/>
                  <a:cs typeface="HG꼬딕씨_Pro 60g" pitchFamily="34" charset="-120"/>
                </a:rPr>
                <a:t>01</a:t>
              </a:r>
              <a:endParaRPr lang="en-US" sz="850" dirty="0"/>
            </a:p>
          </p:txBody>
        </p:sp>
        <p:sp>
          <p:nvSpPr>
            <p:cNvPr id="28" name="Text 15">
              <a:extLst>
                <a:ext uri="{FF2B5EF4-FFF2-40B4-BE49-F238E27FC236}">
                  <a16:creationId xmlns:a16="http://schemas.microsoft.com/office/drawing/2014/main" id="{350776C2-61AD-E890-20AD-4752F63E0D65}"/>
                </a:ext>
              </a:extLst>
            </p:cNvPr>
            <p:cNvSpPr/>
            <p:nvPr/>
          </p:nvSpPr>
          <p:spPr>
            <a:xfrm>
              <a:off x="1481328" y="3051048"/>
              <a:ext cx="77724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80" dirty="0">
                  <a:solidFill>
                    <a:srgbClr val="087B84"/>
                  </a:solidFill>
                  <a:latin typeface="HG꼬딕씨_Pro 60g" pitchFamily="34" charset="0"/>
                  <a:ea typeface="HG꼬딕씨_Pro 60g" pitchFamily="34" charset="-122"/>
                  <a:cs typeface="HG꼬딕씨_Pro 60g" pitchFamily="34" charset="-120"/>
                </a:rPr>
                <a:t>금액 단위</a:t>
              </a:r>
              <a:endParaRPr lang="en-US" sz="980" dirty="0"/>
            </a:p>
          </p:txBody>
        </p:sp>
        <p:sp>
          <p:nvSpPr>
            <p:cNvPr id="30" name="Text 16">
              <a:extLst>
                <a:ext uri="{FF2B5EF4-FFF2-40B4-BE49-F238E27FC236}">
                  <a16:creationId xmlns:a16="http://schemas.microsoft.com/office/drawing/2014/main" id="{6F225D9E-A629-E55A-5CD6-2E09E37009B7}"/>
                </a:ext>
              </a:extLst>
            </p:cNvPr>
            <p:cNvSpPr/>
            <p:nvPr/>
          </p:nvSpPr>
          <p:spPr>
            <a:xfrm>
              <a:off x="2514600" y="3032760"/>
              <a:ext cx="33375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70" dirty="0">
                  <a:solidFill>
                    <a:srgbClr val="243138"/>
                  </a:solidFill>
                  <a:latin typeface="HG꼬딕씨_Pro 40g" pitchFamily="34" charset="0"/>
                  <a:ea typeface="HG꼬딕씨_Pro 40g" pitchFamily="34" charset="-122"/>
                  <a:cs typeface="HG꼬딕씨_Pro 40g" pitchFamily="34" charset="-120"/>
                </a:rPr>
                <a:t>E+08 등 지수 표기를 일반 숫자로 통일</a:t>
              </a:r>
              <a:endParaRPr lang="en-US" sz="970" dirty="0"/>
            </a:p>
          </p:txBody>
        </p:sp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716EC9C4-D1EA-F14D-E9E4-17F97E491FD8}"/>
              </a:ext>
            </a:extLst>
          </p:cNvPr>
          <p:cNvGrpSpPr/>
          <p:nvPr/>
        </p:nvGrpSpPr>
        <p:grpSpPr>
          <a:xfrm>
            <a:off x="6172200" y="2944368"/>
            <a:ext cx="4846320" cy="329184"/>
            <a:chOff x="6172200" y="2967228"/>
            <a:chExt cx="4846320" cy="329184"/>
          </a:xfrm>
        </p:grpSpPr>
        <p:sp>
          <p:nvSpPr>
            <p:cNvPr id="32" name="Shape 17">
              <a:extLst>
                <a:ext uri="{FF2B5EF4-FFF2-40B4-BE49-F238E27FC236}">
                  <a16:creationId xmlns:a16="http://schemas.microsoft.com/office/drawing/2014/main" id="{8E7D304A-BBED-4E4F-687A-1CC09DE8191C}"/>
                </a:ext>
              </a:extLst>
            </p:cNvPr>
            <p:cNvSpPr/>
            <p:nvPr/>
          </p:nvSpPr>
          <p:spPr>
            <a:xfrm>
              <a:off x="6172200" y="2967228"/>
              <a:ext cx="329184" cy="329184"/>
            </a:xfrm>
            <a:prstGeom prst="ellipse">
              <a:avLst/>
            </a:prstGeom>
            <a:solidFill>
              <a:srgbClr val="20AEB5"/>
            </a:solidFill>
            <a:ln w="12700">
              <a:solidFill>
                <a:srgbClr val="20AEB5"/>
              </a:solidFill>
              <a:prstDash val="solid"/>
            </a:ln>
          </p:spPr>
        </p:sp>
        <p:sp>
          <p:nvSpPr>
            <p:cNvPr id="34" name="Text 18">
              <a:extLst>
                <a:ext uri="{FF2B5EF4-FFF2-40B4-BE49-F238E27FC236}">
                  <a16:creationId xmlns:a16="http://schemas.microsoft.com/office/drawing/2014/main" id="{EAA5DC32-861F-FF55-C827-04EC08A00360}"/>
                </a:ext>
              </a:extLst>
            </p:cNvPr>
            <p:cNvSpPr/>
            <p:nvPr/>
          </p:nvSpPr>
          <p:spPr>
            <a:xfrm>
              <a:off x="6172200" y="3076956"/>
              <a:ext cx="329184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FFFFFF"/>
                  </a:solidFill>
                  <a:latin typeface="HG꼬딕씨_Pro 60g" pitchFamily="34" charset="0"/>
                  <a:ea typeface="HG꼬딕씨_Pro 60g" pitchFamily="34" charset="-122"/>
                  <a:cs typeface="HG꼬딕씨_Pro 60g" pitchFamily="34" charset="-120"/>
                </a:rPr>
                <a:t>02</a:t>
              </a:r>
              <a:endParaRPr lang="en-US" sz="850" dirty="0"/>
            </a:p>
          </p:txBody>
        </p:sp>
        <p:sp>
          <p:nvSpPr>
            <p:cNvPr id="36" name="Text 19">
              <a:extLst>
                <a:ext uri="{FF2B5EF4-FFF2-40B4-BE49-F238E27FC236}">
                  <a16:creationId xmlns:a16="http://schemas.microsoft.com/office/drawing/2014/main" id="{E8EEF836-85D7-B526-9D6B-24DF0F54F46D}"/>
                </a:ext>
              </a:extLst>
            </p:cNvPr>
            <p:cNvSpPr/>
            <p:nvPr/>
          </p:nvSpPr>
          <p:spPr>
            <a:xfrm>
              <a:off x="6647688" y="3058668"/>
              <a:ext cx="77724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80" dirty="0">
                  <a:solidFill>
                    <a:srgbClr val="087B84"/>
                  </a:solidFill>
                  <a:latin typeface="HG꼬딕씨_Pro 60g" pitchFamily="34" charset="0"/>
                  <a:ea typeface="HG꼬딕씨_Pro 60g" pitchFamily="34" charset="-122"/>
                  <a:cs typeface="HG꼬딕씨_Pro 60g" pitchFamily="34" charset="-120"/>
                </a:rPr>
                <a:t>성별 구분</a:t>
              </a:r>
              <a:endParaRPr lang="en-US" sz="980" dirty="0"/>
            </a:p>
          </p:txBody>
        </p:sp>
        <p:sp>
          <p:nvSpPr>
            <p:cNvPr id="38" name="Text 20">
              <a:extLst>
                <a:ext uri="{FF2B5EF4-FFF2-40B4-BE49-F238E27FC236}">
                  <a16:creationId xmlns:a16="http://schemas.microsoft.com/office/drawing/2014/main" id="{DAE59482-46F4-5F76-29C2-EDABD4DF5671}"/>
                </a:ext>
              </a:extLst>
            </p:cNvPr>
            <p:cNvSpPr/>
            <p:nvPr/>
          </p:nvSpPr>
          <p:spPr>
            <a:xfrm>
              <a:off x="7680960" y="3040380"/>
              <a:ext cx="33375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70" dirty="0">
                  <a:solidFill>
                    <a:srgbClr val="243138"/>
                  </a:solidFill>
                  <a:latin typeface="HG꼬딕씨_Pro 40g" pitchFamily="34" charset="0"/>
                  <a:ea typeface="HG꼬딕씨_Pro 40g" pitchFamily="34" charset="-122"/>
                  <a:cs typeface="HG꼬딕씨_Pro 40g" pitchFamily="34" charset="-120"/>
                </a:rPr>
                <a:t>통합 평균 소비율 또는 전체 평균값으로 처리</a:t>
              </a:r>
              <a:endParaRPr lang="en-US" sz="970" dirty="0"/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CB89C6F9-7F5F-539B-109B-3BC12E436E7D}"/>
              </a:ext>
            </a:extLst>
          </p:cNvPr>
          <p:cNvGrpSpPr/>
          <p:nvPr/>
        </p:nvGrpSpPr>
        <p:grpSpPr>
          <a:xfrm>
            <a:off x="1005840" y="3368040"/>
            <a:ext cx="4846320" cy="329184"/>
            <a:chOff x="1005840" y="3368040"/>
            <a:chExt cx="4846320" cy="329184"/>
          </a:xfrm>
        </p:grpSpPr>
        <p:sp>
          <p:nvSpPr>
            <p:cNvPr id="40" name="Shape 21">
              <a:extLst>
                <a:ext uri="{FF2B5EF4-FFF2-40B4-BE49-F238E27FC236}">
                  <a16:creationId xmlns:a16="http://schemas.microsoft.com/office/drawing/2014/main" id="{EDC7CD45-BD11-973E-E6E1-E7AB15099519}"/>
                </a:ext>
              </a:extLst>
            </p:cNvPr>
            <p:cNvSpPr/>
            <p:nvPr/>
          </p:nvSpPr>
          <p:spPr>
            <a:xfrm>
              <a:off x="1005840" y="3368040"/>
              <a:ext cx="329184" cy="329184"/>
            </a:xfrm>
            <a:prstGeom prst="ellipse">
              <a:avLst/>
            </a:prstGeom>
            <a:solidFill>
              <a:srgbClr val="20AEB5"/>
            </a:solidFill>
            <a:ln w="12700">
              <a:solidFill>
                <a:srgbClr val="20AEB5"/>
              </a:solidFill>
              <a:prstDash val="solid"/>
            </a:ln>
          </p:spPr>
        </p:sp>
        <p:sp>
          <p:nvSpPr>
            <p:cNvPr id="42" name="Text 22">
              <a:extLst>
                <a:ext uri="{FF2B5EF4-FFF2-40B4-BE49-F238E27FC236}">
                  <a16:creationId xmlns:a16="http://schemas.microsoft.com/office/drawing/2014/main" id="{64026C67-825A-2166-BABD-BF88713B263A}"/>
                </a:ext>
              </a:extLst>
            </p:cNvPr>
            <p:cNvSpPr/>
            <p:nvPr/>
          </p:nvSpPr>
          <p:spPr>
            <a:xfrm>
              <a:off x="1005840" y="3477768"/>
              <a:ext cx="329184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FFFFFF"/>
                  </a:solidFill>
                  <a:latin typeface="HG꼬딕씨_Pro 60g" pitchFamily="34" charset="0"/>
                  <a:ea typeface="HG꼬딕씨_Pro 60g" pitchFamily="34" charset="-122"/>
                  <a:cs typeface="HG꼬딕씨_Pro 60g" pitchFamily="34" charset="-120"/>
                </a:rPr>
                <a:t>03</a:t>
              </a:r>
              <a:endParaRPr lang="en-US" sz="850" dirty="0"/>
            </a:p>
          </p:txBody>
        </p:sp>
        <p:sp>
          <p:nvSpPr>
            <p:cNvPr id="44" name="Text 23">
              <a:extLst>
                <a:ext uri="{FF2B5EF4-FFF2-40B4-BE49-F238E27FC236}">
                  <a16:creationId xmlns:a16="http://schemas.microsoft.com/office/drawing/2014/main" id="{AB8A8520-D990-5B0F-17D4-9A110BC8CAE8}"/>
                </a:ext>
              </a:extLst>
            </p:cNvPr>
            <p:cNvSpPr/>
            <p:nvPr/>
          </p:nvSpPr>
          <p:spPr>
            <a:xfrm>
              <a:off x="1481328" y="3459480"/>
              <a:ext cx="77724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80" dirty="0">
                  <a:solidFill>
                    <a:srgbClr val="087B84"/>
                  </a:solidFill>
                  <a:latin typeface="HG꼬딕씨_Pro 60g" pitchFamily="34" charset="0"/>
                  <a:ea typeface="HG꼬딕씨_Pro 60g" pitchFamily="34" charset="-122"/>
                  <a:cs typeface="HG꼬딕씨_Pro 60g" pitchFamily="34" charset="-120"/>
                </a:rPr>
                <a:t>공간 단위</a:t>
              </a:r>
              <a:endParaRPr lang="en-US" sz="980" dirty="0"/>
            </a:p>
          </p:txBody>
        </p:sp>
        <p:sp>
          <p:nvSpPr>
            <p:cNvPr id="46" name="Text 24">
              <a:extLst>
                <a:ext uri="{FF2B5EF4-FFF2-40B4-BE49-F238E27FC236}">
                  <a16:creationId xmlns:a16="http://schemas.microsoft.com/office/drawing/2014/main" id="{C692B143-88C0-21AB-FA45-088E2EF34E63}"/>
                </a:ext>
              </a:extLst>
            </p:cNvPr>
            <p:cNvSpPr/>
            <p:nvPr/>
          </p:nvSpPr>
          <p:spPr>
            <a:xfrm>
              <a:off x="2514600" y="3441192"/>
              <a:ext cx="33375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70" dirty="0">
                  <a:solidFill>
                    <a:srgbClr val="243138"/>
                  </a:solidFill>
                  <a:latin typeface="HG꼬딕씨_Pro 40g" pitchFamily="34" charset="0"/>
                  <a:ea typeface="HG꼬딕씨_Pro 40g" pitchFamily="34" charset="-122"/>
                  <a:cs typeface="HG꼬딕씨_Pro 40g" pitchFamily="34" charset="-120"/>
                </a:rPr>
                <a:t>행정동별 데이터를 구 단위로 집계 후 평균 산출</a:t>
              </a:r>
              <a:endParaRPr lang="en-US" sz="970" dirty="0"/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DAF8C98F-3205-3EB5-0D6C-B8A5C14CBE57}"/>
              </a:ext>
            </a:extLst>
          </p:cNvPr>
          <p:cNvGrpSpPr/>
          <p:nvPr/>
        </p:nvGrpSpPr>
        <p:grpSpPr>
          <a:xfrm>
            <a:off x="6172200" y="3368040"/>
            <a:ext cx="4846320" cy="329184"/>
            <a:chOff x="6172200" y="3368040"/>
            <a:chExt cx="4846320" cy="329184"/>
          </a:xfrm>
        </p:grpSpPr>
        <p:sp>
          <p:nvSpPr>
            <p:cNvPr id="48" name="Shape 25">
              <a:extLst>
                <a:ext uri="{FF2B5EF4-FFF2-40B4-BE49-F238E27FC236}">
                  <a16:creationId xmlns:a16="http://schemas.microsoft.com/office/drawing/2014/main" id="{ADB48DDA-891D-DEC6-1CE7-ED3BBC839191}"/>
                </a:ext>
              </a:extLst>
            </p:cNvPr>
            <p:cNvSpPr/>
            <p:nvPr/>
          </p:nvSpPr>
          <p:spPr>
            <a:xfrm>
              <a:off x="6172200" y="3368040"/>
              <a:ext cx="329184" cy="329184"/>
            </a:xfrm>
            <a:prstGeom prst="ellipse">
              <a:avLst/>
            </a:prstGeom>
            <a:solidFill>
              <a:srgbClr val="20AEB5"/>
            </a:solidFill>
            <a:ln w="12700">
              <a:solidFill>
                <a:srgbClr val="20AEB5"/>
              </a:solidFill>
              <a:prstDash val="solid"/>
            </a:ln>
          </p:spPr>
        </p:sp>
        <p:sp>
          <p:nvSpPr>
            <p:cNvPr id="50" name="Text 26">
              <a:extLst>
                <a:ext uri="{FF2B5EF4-FFF2-40B4-BE49-F238E27FC236}">
                  <a16:creationId xmlns:a16="http://schemas.microsoft.com/office/drawing/2014/main" id="{55C4931A-C84E-A40F-3319-356106B6E212}"/>
                </a:ext>
              </a:extLst>
            </p:cNvPr>
            <p:cNvSpPr/>
            <p:nvPr/>
          </p:nvSpPr>
          <p:spPr>
            <a:xfrm>
              <a:off x="6172200" y="3477768"/>
              <a:ext cx="329184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FFFFFF"/>
                  </a:solidFill>
                  <a:latin typeface="HG꼬딕씨_Pro 60g" pitchFamily="34" charset="0"/>
                  <a:ea typeface="HG꼬딕씨_Pro 60g" pitchFamily="34" charset="-122"/>
                  <a:cs typeface="HG꼬딕씨_Pro 60g" pitchFamily="34" charset="-120"/>
                </a:rPr>
                <a:t>04</a:t>
              </a:r>
              <a:endParaRPr lang="en-US" sz="850" dirty="0"/>
            </a:p>
          </p:txBody>
        </p:sp>
        <p:sp>
          <p:nvSpPr>
            <p:cNvPr id="52" name="Text 27">
              <a:extLst>
                <a:ext uri="{FF2B5EF4-FFF2-40B4-BE49-F238E27FC236}">
                  <a16:creationId xmlns:a16="http://schemas.microsoft.com/office/drawing/2014/main" id="{ED3F2C13-CF32-29FE-5836-F94D70237B84}"/>
                </a:ext>
              </a:extLst>
            </p:cNvPr>
            <p:cNvSpPr/>
            <p:nvPr/>
          </p:nvSpPr>
          <p:spPr>
            <a:xfrm>
              <a:off x="6647688" y="3459480"/>
              <a:ext cx="77724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80" dirty="0">
                  <a:solidFill>
                    <a:srgbClr val="087B84"/>
                  </a:solidFill>
                  <a:latin typeface="HG꼬딕씨_Pro 60g" pitchFamily="34" charset="0"/>
                  <a:ea typeface="HG꼬딕씨_Pro 60g" pitchFamily="34" charset="-122"/>
                  <a:cs typeface="HG꼬딕씨_Pro 60g" pitchFamily="34" charset="-120"/>
                </a:rPr>
                <a:t>캡처 데이터</a:t>
              </a:r>
              <a:endParaRPr lang="en-US" sz="980" dirty="0"/>
            </a:p>
          </p:txBody>
        </p:sp>
        <p:sp>
          <p:nvSpPr>
            <p:cNvPr id="54" name="Text 28">
              <a:extLst>
                <a:ext uri="{FF2B5EF4-FFF2-40B4-BE49-F238E27FC236}">
                  <a16:creationId xmlns:a16="http://schemas.microsoft.com/office/drawing/2014/main" id="{6E6ABA8B-0510-D924-9E7E-BFF944D91FD2}"/>
                </a:ext>
              </a:extLst>
            </p:cNvPr>
            <p:cNvSpPr/>
            <p:nvPr/>
          </p:nvSpPr>
          <p:spPr>
            <a:xfrm>
              <a:off x="7680960" y="3441192"/>
              <a:ext cx="33375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70" dirty="0">
                  <a:solidFill>
                    <a:srgbClr val="243138"/>
                  </a:solidFill>
                  <a:latin typeface="HG꼬딕씨_Pro 40g" pitchFamily="34" charset="0"/>
                  <a:ea typeface="HG꼬딕씨_Pro 40g" pitchFamily="34" charset="-122"/>
                  <a:cs typeface="HG꼬딕씨_Pro 40g" pitchFamily="34" charset="-120"/>
                </a:rPr>
                <a:t>AI 기반 CSV 변환 후 활용 가능성 검토</a:t>
              </a:r>
              <a:endParaRPr lang="en-US" sz="970" dirty="0"/>
            </a:p>
          </p:txBody>
        </p: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582C6C6A-95FA-E6B8-A312-47B41EABC208}"/>
              </a:ext>
            </a:extLst>
          </p:cNvPr>
          <p:cNvGrpSpPr/>
          <p:nvPr/>
        </p:nvGrpSpPr>
        <p:grpSpPr>
          <a:xfrm>
            <a:off x="1005840" y="3776472"/>
            <a:ext cx="4846320" cy="329184"/>
            <a:chOff x="1005840" y="3776472"/>
            <a:chExt cx="4846320" cy="329184"/>
          </a:xfrm>
        </p:grpSpPr>
        <p:sp>
          <p:nvSpPr>
            <p:cNvPr id="56" name="Shape 29">
              <a:extLst>
                <a:ext uri="{FF2B5EF4-FFF2-40B4-BE49-F238E27FC236}">
                  <a16:creationId xmlns:a16="http://schemas.microsoft.com/office/drawing/2014/main" id="{DDB89527-6B4E-25B0-EFC4-62918B63EB8F}"/>
                </a:ext>
              </a:extLst>
            </p:cNvPr>
            <p:cNvSpPr/>
            <p:nvPr/>
          </p:nvSpPr>
          <p:spPr>
            <a:xfrm>
              <a:off x="1005840" y="3776472"/>
              <a:ext cx="329184" cy="329184"/>
            </a:xfrm>
            <a:prstGeom prst="ellipse">
              <a:avLst/>
            </a:prstGeom>
            <a:solidFill>
              <a:srgbClr val="20AEB5"/>
            </a:solidFill>
            <a:ln w="12700">
              <a:solidFill>
                <a:srgbClr val="20AEB5"/>
              </a:solidFill>
              <a:prstDash val="solid"/>
            </a:ln>
          </p:spPr>
        </p:sp>
        <p:sp>
          <p:nvSpPr>
            <p:cNvPr id="58" name="Text 30">
              <a:extLst>
                <a:ext uri="{FF2B5EF4-FFF2-40B4-BE49-F238E27FC236}">
                  <a16:creationId xmlns:a16="http://schemas.microsoft.com/office/drawing/2014/main" id="{65F6213E-11CD-2175-C5BD-341D3CA82A22}"/>
                </a:ext>
              </a:extLst>
            </p:cNvPr>
            <p:cNvSpPr/>
            <p:nvPr/>
          </p:nvSpPr>
          <p:spPr>
            <a:xfrm>
              <a:off x="1005840" y="3886200"/>
              <a:ext cx="329184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FFFFFF"/>
                  </a:solidFill>
                  <a:latin typeface="HG꼬딕씨_Pro 60g" pitchFamily="34" charset="0"/>
                  <a:ea typeface="HG꼬딕씨_Pro 60g" pitchFamily="34" charset="-122"/>
                  <a:cs typeface="HG꼬딕씨_Pro 60g" pitchFamily="34" charset="-120"/>
                </a:rPr>
                <a:t>05</a:t>
              </a:r>
              <a:endParaRPr lang="en-US" sz="850" dirty="0"/>
            </a:p>
          </p:txBody>
        </p:sp>
        <p:sp>
          <p:nvSpPr>
            <p:cNvPr id="60" name="Text 31">
              <a:extLst>
                <a:ext uri="{FF2B5EF4-FFF2-40B4-BE49-F238E27FC236}">
                  <a16:creationId xmlns:a16="http://schemas.microsoft.com/office/drawing/2014/main" id="{3CBD5BD4-0255-B4A5-996E-01ED26D2423C}"/>
                </a:ext>
              </a:extLst>
            </p:cNvPr>
            <p:cNvSpPr/>
            <p:nvPr/>
          </p:nvSpPr>
          <p:spPr>
            <a:xfrm>
              <a:off x="1481328" y="3867912"/>
              <a:ext cx="77724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80" dirty="0">
                  <a:solidFill>
                    <a:srgbClr val="087B84"/>
                  </a:solidFill>
                  <a:latin typeface="HG꼬딕씨_Pro 60g" pitchFamily="34" charset="0"/>
                  <a:ea typeface="HG꼬딕씨_Pro 60g" pitchFamily="34" charset="-122"/>
                  <a:cs typeface="HG꼬딕씨_Pro 60g" pitchFamily="34" charset="-120"/>
                </a:rPr>
                <a:t>기간 범위</a:t>
              </a:r>
              <a:endParaRPr lang="en-US" sz="980" dirty="0"/>
            </a:p>
          </p:txBody>
        </p:sp>
        <p:sp>
          <p:nvSpPr>
            <p:cNvPr id="62" name="Text 32">
              <a:extLst>
                <a:ext uri="{FF2B5EF4-FFF2-40B4-BE49-F238E27FC236}">
                  <a16:creationId xmlns:a16="http://schemas.microsoft.com/office/drawing/2014/main" id="{94697833-EBB7-E47E-81CB-3F62F5DFF103}"/>
                </a:ext>
              </a:extLst>
            </p:cNvPr>
            <p:cNvSpPr/>
            <p:nvPr/>
          </p:nvSpPr>
          <p:spPr>
            <a:xfrm>
              <a:off x="2514600" y="3849624"/>
              <a:ext cx="33375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70" dirty="0">
                  <a:solidFill>
                    <a:srgbClr val="243138"/>
                  </a:solidFill>
                  <a:latin typeface="HG꼬딕씨_Pro 40g" pitchFamily="34" charset="0"/>
                  <a:ea typeface="HG꼬딕씨_Pro 40g" pitchFamily="34" charset="-122"/>
                  <a:cs typeface="HG꼬딕씨_Pro 40g" pitchFamily="34" charset="-120"/>
                </a:rPr>
                <a:t>2023년~2026년 데이터로 범위 조정</a:t>
              </a:r>
              <a:endParaRPr lang="en-US" sz="970" dirty="0"/>
            </a:p>
          </p:txBody>
        </p: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876B858C-47B5-EC89-F448-47537869D710}"/>
              </a:ext>
            </a:extLst>
          </p:cNvPr>
          <p:cNvGrpSpPr/>
          <p:nvPr/>
        </p:nvGrpSpPr>
        <p:grpSpPr>
          <a:xfrm>
            <a:off x="6172200" y="3776472"/>
            <a:ext cx="4846320" cy="329184"/>
            <a:chOff x="6172200" y="3776472"/>
            <a:chExt cx="4846320" cy="329184"/>
          </a:xfrm>
        </p:grpSpPr>
        <p:sp>
          <p:nvSpPr>
            <p:cNvPr id="64" name="Shape 33">
              <a:extLst>
                <a:ext uri="{FF2B5EF4-FFF2-40B4-BE49-F238E27FC236}">
                  <a16:creationId xmlns:a16="http://schemas.microsoft.com/office/drawing/2014/main" id="{25D8F28B-1312-C0EE-32C8-C3D5A3D68E41}"/>
                </a:ext>
              </a:extLst>
            </p:cNvPr>
            <p:cNvSpPr/>
            <p:nvPr/>
          </p:nvSpPr>
          <p:spPr>
            <a:xfrm>
              <a:off x="6172200" y="3776472"/>
              <a:ext cx="329184" cy="329184"/>
            </a:xfrm>
            <a:prstGeom prst="ellipse">
              <a:avLst/>
            </a:prstGeom>
            <a:solidFill>
              <a:srgbClr val="20AEB5"/>
            </a:solidFill>
            <a:ln w="12700">
              <a:solidFill>
                <a:srgbClr val="20AEB5"/>
              </a:solidFill>
              <a:prstDash val="solid"/>
            </a:ln>
          </p:spPr>
        </p:sp>
        <p:sp>
          <p:nvSpPr>
            <p:cNvPr id="66" name="Text 34">
              <a:extLst>
                <a:ext uri="{FF2B5EF4-FFF2-40B4-BE49-F238E27FC236}">
                  <a16:creationId xmlns:a16="http://schemas.microsoft.com/office/drawing/2014/main" id="{EF7127BA-B0A5-59F0-3E5D-AE0AE5D9490B}"/>
                </a:ext>
              </a:extLst>
            </p:cNvPr>
            <p:cNvSpPr/>
            <p:nvPr/>
          </p:nvSpPr>
          <p:spPr>
            <a:xfrm>
              <a:off x="6172200" y="3886200"/>
              <a:ext cx="329184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FFFFFF"/>
                  </a:solidFill>
                  <a:latin typeface="HG꼬딕씨_Pro 60g" pitchFamily="34" charset="0"/>
                  <a:ea typeface="HG꼬딕씨_Pro 60g" pitchFamily="34" charset="-122"/>
                  <a:cs typeface="HG꼬딕씨_Pro 60g" pitchFamily="34" charset="-120"/>
                </a:rPr>
                <a:t>06</a:t>
              </a:r>
              <a:endParaRPr lang="en-US" sz="850" dirty="0"/>
            </a:p>
          </p:txBody>
        </p:sp>
        <p:sp>
          <p:nvSpPr>
            <p:cNvPr id="68" name="Text 35">
              <a:extLst>
                <a:ext uri="{FF2B5EF4-FFF2-40B4-BE49-F238E27FC236}">
                  <a16:creationId xmlns:a16="http://schemas.microsoft.com/office/drawing/2014/main" id="{9263B2C3-57B0-51BC-3EE9-97ADFB8708A8}"/>
                </a:ext>
              </a:extLst>
            </p:cNvPr>
            <p:cNvSpPr/>
            <p:nvPr/>
          </p:nvSpPr>
          <p:spPr>
            <a:xfrm>
              <a:off x="6647688" y="3867912"/>
              <a:ext cx="77724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80" dirty="0">
                  <a:solidFill>
                    <a:srgbClr val="087B84"/>
                  </a:solidFill>
                  <a:latin typeface="HG꼬딕씨_Pro 60g" pitchFamily="34" charset="0"/>
                  <a:ea typeface="HG꼬딕씨_Pro 60g" pitchFamily="34" charset="-122"/>
                  <a:cs typeface="HG꼬딕씨_Pro 60g" pitchFamily="34" charset="-120"/>
                </a:rPr>
                <a:t>중복 관리</a:t>
              </a:r>
              <a:endParaRPr lang="en-US" sz="980" dirty="0"/>
            </a:p>
          </p:txBody>
        </p:sp>
        <p:sp>
          <p:nvSpPr>
            <p:cNvPr id="70" name="Text 36">
              <a:extLst>
                <a:ext uri="{FF2B5EF4-FFF2-40B4-BE49-F238E27FC236}">
                  <a16:creationId xmlns:a16="http://schemas.microsoft.com/office/drawing/2014/main" id="{705BE4E8-347C-818F-A49D-17D8C7D4DB28}"/>
                </a:ext>
              </a:extLst>
            </p:cNvPr>
            <p:cNvSpPr/>
            <p:nvPr/>
          </p:nvSpPr>
          <p:spPr>
            <a:xfrm>
              <a:off x="7680960" y="3849624"/>
              <a:ext cx="33375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70" dirty="0">
                  <a:solidFill>
                    <a:srgbClr val="243138"/>
                  </a:solidFill>
                  <a:latin typeface="HG꼬딕씨_Pro 40g" pitchFamily="34" charset="0"/>
                  <a:ea typeface="HG꼬딕씨_Pro 40g" pitchFamily="34" charset="-122"/>
                  <a:cs typeface="HG꼬딕씨_Pro 40g" pitchFamily="34" charset="-120"/>
                </a:rPr>
                <a:t>빅데이터 플랫폼·데이터랩 간 중복 항목 제거</a:t>
              </a:r>
              <a:endParaRPr lang="en-US" sz="970" dirty="0"/>
            </a:p>
          </p:txBody>
        </p:sp>
      </p:grpSp>
      <p:sp>
        <p:nvSpPr>
          <p:cNvPr id="72" name="Shape 37">
            <a:extLst>
              <a:ext uri="{FF2B5EF4-FFF2-40B4-BE49-F238E27FC236}">
                <a16:creationId xmlns:a16="http://schemas.microsoft.com/office/drawing/2014/main" id="{AA7FAC42-E4E5-E2ED-4FA2-905BC31B7651}"/>
              </a:ext>
            </a:extLst>
          </p:cNvPr>
          <p:cNvSpPr/>
          <p:nvPr/>
        </p:nvSpPr>
        <p:spPr>
          <a:xfrm>
            <a:off x="731520" y="4709160"/>
            <a:ext cx="2194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1430">
            <a:solidFill>
              <a:srgbClr val="DDE7EC"/>
            </a:solidFill>
            <a:prstDash val="solid"/>
          </a:ln>
          <a:effectLst>
            <a:outerShdw blurRad="12700" dist="50800" dir="2700000" algn="bl" rotWithShape="0">
              <a:srgbClr val="AEB4B9">
                <a:alpha val="18000"/>
              </a:srgbClr>
            </a:outerShdw>
          </a:effectLst>
        </p:spPr>
      </p:sp>
      <p:sp>
        <p:nvSpPr>
          <p:cNvPr id="74" name="Shape 38">
            <a:extLst>
              <a:ext uri="{FF2B5EF4-FFF2-40B4-BE49-F238E27FC236}">
                <a16:creationId xmlns:a16="http://schemas.microsoft.com/office/drawing/2014/main" id="{F9759882-FAFE-EA5B-00A8-D5B7796F076E}"/>
              </a:ext>
            </a:extLst>
          </p:cNvPr>
          <p:cNvSpPr/>
          <p:nvPr/>
        </p:nvSpPr>
        <p:spPr>
          <a:xfrm>
            <a:off x="932688" y="4823460"/>
            <a:ext cx="329184" cy="329184"/>
          </a:xfrm>
          <a:prstGeom prst="ellipse">
            <a:avLst/>
          </a:prstGeom>
          <a:solidFill>
            <a:srgbClr val="20AEB5"/>
          </a:solidFill>
          <a:ln w="12700">
            <a:solidFill>
              <a:srgbClr val="20AEB5"/>
            </a:solidFill>
            <a:prstDash val="solid"/>
          </a:ln>
        </p:spPr>
      </p:sp>
      <p:sp>
        <p:nvSpPr>
          <p:cNvPr id="76" name="Text 39">
            <a:extLst>
              <a:ext uri="{FF2B5EF4-FFF2-40B4-BE49-F238E27FC236}">
                <a16:creationId xmlns:a16="http://schemas.microsoft.com/office/drawing/2014/main" id="{595B7709-6E3C-30AB-C139-959973C8E3D7}"/>
              </a:ext>
            </a:extLst>
          </p:cNvPr>
          <p:cNvSpPr/>
          <p:nvPr/>
        </p:nvSpPr>
        <p:spPr>
          <a:xfrm>
            <a:off x="932688" y="4933188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01</a:t>
            </a:r>
            <a:endParaRPr lang="en-US" sz="8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6743C35-DFFA-76E7-EA8E-AADC74F26C4F}"/>
              </a:ext>
            </a:extLst>
          </p:cNvPr>
          <p:cNvSpPr/>
          <p:nvPr/>
        </p:nvSpPr>
        <p:spPr>
          <a:xfrm>
            <a:off x="1353312" y="488746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087B84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제거 변수</a:t>
            </a:r>
            <a:endParaRPr lang="en-US" sz="1220" dirty="0"/>
          </a:p>
        </p:txBody>
      </p:sp>
      <p:sp>
        <p:nvSpPr>
          <p:cNvPr id="80" name="Text 41">
            <a:extLst>
              <a:ext uri="{FF2B5EF4-FFF2-40B4-BE49-F238E27FC236}">
                <a16:creationId xmlns:a16="http://schemas.microsoft.com/office/drawing/2014/main" id="{639EEDFD-E52E-EDDB-31A2-308395B5FCFE}"/>
              </a:ext>
            </a:extLst>
          </p:cNvPr>
          <p:cNvSpPr/>
          <p:nvPr/>
        </p:nvSpPr>
        <p:spPr>
          <a:xfrm>
            <a:off x="1353312" y="523951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성별 · 전월세 관련 </a:t>
            </a:r>
            <a:r>
              <a:rPr lang="en-US" sz="800" dirty="0" err="1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변수</a:t>
            </a:r>
            <a:r>
              <a:rPr lang="en-US" sz="800" dirty="0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· 분석 목적과 직접 관련 </a:t>
            </a:r>
            <a:r>
              <a:rPr lang="en-US" sz="800" dirty="0" err="1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없는</a:t>
            </a:r>
            <a:r>
              <a:rPr lang="en-US" sz="800" dirty="0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800" dirty="0" err="1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상세</a:t>
            </a:r>
            <a:r>
              <a:rPr lang="en-US" sz="800" dirty="0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정보</a:t>
            </a:r>
            <a:endParaRPr lang="en-US" sz="800" dirty="0"/>
          </a:p>
        </p:txBody>
      </p:sp>
      <p:sp>
        <p:nvSpPr>
          <p:cNvPr id="82" name="Shape 42">
            <a:extLst>
              <a:ext uri="{FF2B5EF4-FFF2-40B4-BE49-F238E27FC236}">
                <a16:creationId xmlns:a16="http://schemas.microsoft.com/office/drawing/2014/main" id="{D1658F78-1059-19D7-3C35-626DFDEBE7FB}"/>
              </a:ext>
            </a:extLst>
          </p:cNvPr>
          <p:cNvSpPr/>
          <p:nvPr/>
        </p:nvSpPr>
        <p:spPr>
          <a:xfrm>
            <a:off x="3154680" y="4709160"/>
            <a:ext cx="2194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1430">
            <a:solidFill>
              <a:srgbClr val="DDE7EC"/>
            </a:solidFill>
            <a:prstDash val="solid"/>
          </a:ln>
          <a:effectLst>
            <a:outerShdw blurRad="12700" dist="50800" dir="2700000" algn="bl" rotWithShape="0">
              <a:srgbClr val="AEB4B9">
                <a:alpha val="18000"/>
              </a:srgbClr>
            </a:outerShdw>
          </a:effectLst>
        </p:spPr>
      </p:sp>
      <p:sp>
        <p:nvSpPr>
          <p:cNvPr id="84" name="Shape 43">
            <a:extLst>
              <a:ext uri="{FF2B5EF4-FFF2-40B4-BE49-F238E27FC236}">
                <a16:creationId xmlns:a16="http://schemas.microsoft.com/office/drawing/2014/main" id="{AB2F664D-BDB5-24F2-A3C3-267DE45A5AAC}"/>
              </a:ext>
            </a:extLst>
          </p:cNvPr>
          <p:cNvSpPr/>
          <p:nvPr/>
        </p:nvSpPr>
        <p:spPr>
          <a:xfrm>
            <a:off x="3355848" y="4823460"/>
            <a:ext cx="329184" cy="329184"/>
          </a:xfrm>
          <a:prstGeom prst="ellipse">
            <a:avLst/>
          </a:prstGeom>
          <a:solidFill>
            <a:srgbClr val="20AEB5"/>
          </a:solidFill>
          <a:ln w="12700">
            <a:solidFill>
              <a:srgbClr val="20AEB5"/>
            </a:solidFill>
            <a:prstDash val="solid"/>
          </a:ln>
        </p:spPr>
      </p:sp>
      <p:sp>
        <p:nvSpPr>
          <p:cNvPr id="86" name="Text 44">
            <a:extLst>
              <a:ext uri="{FF2B5EF4-FFF2-40B4-BE49-F238E27FC236}">
                <a16:creationId xmlns:a16="http://schemas.microsoft.com/office/drawing/2014/main" id="{1C9B24F8-8284-016E-88D2-107C8DCD6A28}"/>
              </a:ext>
            </a:extLst>
          </p:cNvPr>
          <p:cNvSpPr/>
          <p:nvPr/>
        </p:nvSpPr>
        <p:spPr>
          <a:xfrm>
            <a:off x="3355848" y="4933188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02</a:t>
            </a:r>
            <a:endParaRPr lang="en-US" sz="850" dirty="0"/>
          </a:p>
        </p:txBody>
      </p:sp>
      <p:sp>
        <p:nvSpPr>
          <p:cNvPr id="88" name="Text 45">
            <a:extLst>
              <a:ext uri="{FF2B5EF4-FFF2-40B4-BE49-F238E27FC236}">
                <a16:creationId xmlns:a16="http://schemas.microsoft.com/office/drawing/2014/main" id="{1E642252-6026-BA03-43FF-66FFC74F90E2}"/>
              </a:ext>
            </a:extLst>
          </p:cNvPr>
          <p:cNvSpPr/>
          <p:nvPr/>
        </p:nvSpPr>
        <p:spPr>
          <a:xfrm>
            <a:off x="3776472" y="488746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087B84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중복 항목</a:t>
            </a:r>
            <a:endParaRPr lang="en-US" sz="1220" dirty="0"/>
          </a:p>
        </p:txBody>
      </p:sp>
      <p:sp>
        <p:nvSpPr>
          <p:cNvPr id="90" name="Text 46">
            <a:extLst>
              <a:ext uri="{FF2B5EF4-FFF2-40B4-BE49-F238E27FC236}">
                <a16:creationId xmlns:a16="http://schemas.microsoft.com/office/drawing/2014/main" id="{3C91FD47-7E8C-99A6-24F0-C389CB594072}"/>
              </a:ext>
            </a:extLst>
          </p:cNvPr>
          <p:cNvSpPr/>
          <p:nvPr/>
        </p:nvSpPr>
        <p:spPr>
          <a:xfrm>
            <a:off x="3776472" y="523951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</a:rPr>
              <a:t>불필요한 </a:t>
            </a:r>
            <a:r>
              <a:rPr lang="en-US" sz="800" dirty="0" err="1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</a:rPr>
              <a:t>전체값</a:t>
            </a:r>
            <a:r>
              <a:rPr lang="en-US" sz="800" dirty="0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</a:rPr>
              <a:t> · 중복 </a:t>
            </a:r>
            <a:r>
              <a:rPr lang="en-US" sz="800" dirty="0" err="1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</a:rPr>
              <a:t>업종</a:t>
            </a:r>
            <a:r>
              <a:rPr lang="en-US" sz="800" dirty="0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</a:rPr>
              <a:t> </a:t>
            </a:r>
          </a:p>
          <a:p>
            <a:pPr marL="0" indent="0">
              <a:buNone/>
            </a:pPr>
            <a:r>
              <a:rPr lang="en-US" sz="800" dirty="0" err="1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</a:rPr>
              <a:t>전체값</a:t>
            </a:r>
            <a:r>
              <a:rPr lang="en-US" sz="800" dirty="0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</a:rPr>
              <a:t> · 반복 </a:t>
            </a:r>
            <a:r>
              <a:rPr lang="en-US" sz="800" dirty="0" err="1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</a:rPr>
              <a:t>컬럼</a:t>
            </a:r>
            <a:r>
              <a:rPr lang="en-US" sz="800" dirty="0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</a:rPr>
              <a:t> </a:t>
            </a:r>
            <a:r>
              <a:rPr lang="en-US" sz="800" dirty="0" err="1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</a:rPr>
              <a:t>삭제</a:t>
            </a:r>
            <a:endParaRPr lang="en-US" sz="800" dirty="0">
              <a:solidFill>
                <a:srgbClr val="243138"/>
              </a:solidFill>
              <a:latin typeface="HG꼬딕씨_Pro 20g" pitchFamily="34" charset="0"/>
              <a:ea typeface="HG꼬딕씨_Pro 20g" pitchFamily="34" charset="-122"/>
            </a:endParaRPr>
          </a:p>
        </p:txBody>
      </p:sp>
      <p:sp>
        <p:nvSpPr>
          <p:cNvPr id="92" name="Shape 47">
            <a:extLst>
              <a:ext uri="{FF2B5EF4-FFF2-40B4-BE49-F238E27FC236}">
                <a16:creationId xmlns:a16="http://schemas.microsoft.com/office/drawing/2014/main" id="{2C91F972-FB1A-E13B-F164-7A898BDA3F69}"/>
              </a:ext>
            </a:extLst>
          </p:cNvPr>
          <p:cNvSpPr/>
          <p:nvPr/>
        </p:nvSpPr>
        <p:spPr>
          <a:xfrm>
            <a:off x="5577840" y="4709160"/>
            <a:ext cx="2194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1430">
            <a:solidFill>
              <a:srgbClr val="DDE7EC"/>
            </a:solidFill>
            <a:prstDash val="solid"/>
          </a:ln>
          <a:effectLst>
            <a:outerShdw blurRad="12700" dist="50800" dir="2700000" algn="bl" rotWithShape="0">
              <a:srgbClr val="AEB4B9">
                <a:alpha val="18000"/>
              </a:srgbClr>
            </a:outerShdw>
          </a:effectLst>
        </p:spPr>
      </p:sp>
      <p:sp>
        <p:nvSpPr>
          <p:cNvPr id="94" name="Shape 48">
            <a:extLst>
              <a:ext uri="{FF2B5EF4-FFF2-40B4-BE49-F238E27FC236}">
                <a16:creationId xmlns:a16="http://schemas.microsoft.com/office/drawing/2014/main" id="{48C4DFB3-1E62-A17C-AD62-2A59C7BD8707}"/>
              </a:ext>
            </a:extLst>
          </p:cNvPr>
          <p:cNvSpPr/>
          <p:nvPr/>
        </p:nvSpPr>
        <p:spPr>
          <a:xfrm>
            <a:off x="5779008" y="4823460"/>
            <a:ext cx="329184" cy="329184"/>
          </a:xfrm>
          <a:prstGeom prst="ellipse">
            <a:avLst/>
          </a:prstGeom>
          <a:solidFill>
            <a:srgbClr val="20AEB5"/>
          </a:solidFill>
          <a:ln w="12700">
            <a:solidFill>
              <a:srgbClr val="20AEB5"/>
            </a:solidFill>
            <a:prstDash val="solid"/>
          </a:ln>
        </p:spPr>
      </p:sp>
      <p:sp>
        <p:nvSpPr>
          <p:cNvPr id="96" name="Text 49">
            <a:extLst>
              <a:ext uri="{FF2B5EF4-FFF2-40B4-BE49-F238E27FC236}">
                <a16:creationId xmlns:a16="http://schemas.microsoft.com/office/drawing/2014/main" id="{FD73CBDF-4A73-FAE0-6FB4-272699D24052}"/>
              </a:ext>
            </a:extLst>
          </p:cNvPr>
          <p:cNvSpPr/>
          <p:nvPr/>
        </p:nvSpPr>
        <p:spPr>
          <a:xfrm>
            <a:off x="5779008" y="4933188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03</a:t>
            </a:r>
            <a:endParaRPr lang="en-US" sz="850" dirty="0"/>
          </a:p>
        </p:txBody>
      </p:sp>
      <p:sp>
        <p:nvSpPr>
          <p:cNvPr id="98" name="Text 50">
            <a:extLst>
              <a:ext uri="{FF2B5EF4-FFF2-40B4-BE49-F238E27FC236}">
                <a16:creationId xmlns:a16="http://schemas.microsoft.com/office/drawing/2014/main" id="{D5560615-5217-BB13-EF82-FAB79A97A65F}"/>
              </a:ext>
            </a:extLst>
          </p:cNvPr>
          <p:cNvSpPr/>
          <p:nvPr/>
        </p:nvSpPr>
        <p:spPr>
          <a:xfrm>
            <a:off x="6199632" y="488746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087B84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최종 축</a:t>
            </a:r>
            <a:endParaRPr lang="en-US" sz="1220" dirty="0"/>
          </a:p>
        </p:txBody>
      </p:sp>
      <p:sp>
        <p:nvSpPr>
          <p:cNvPr id="100" name="Text 51">
            <a:extLst>
              <a:ext uri="{FF2B5EF4-FFF2-40B4-BE49-F238E27FC236}">
                <a16:creationId xmlns:a16="http://schemas.microsoft.com/office/drawing/2014/main" id="{89983289-799E-0159-7D71-95FB4834BB1E}"/>
              </a:ext>
            </a:extLst>
          </p:cNvPr>
          <p:cNvSpPr/>
          <p:nvPr/>
        </p:nvSpPr>
        <p:spPr>
          <a:xfrm>
            <a:off x="6199632" y="523951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</a:rPr>
              <a:t>지역 / 시점 / </a:t>
            </a:r>
            <a:r>
              <a:rPr lang="en-US" sz="800" dirty="0" err="1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</a:rPr>
              <a:t>관광객</a:t>
            </a:r>
            <a:r>
              <a:rPr lang="en-US" sz="800" dirty="0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</a:rPr>
              <a:t> 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</a:rPr>
              <a:t>/ 소비 / 업종 / 사업체 / </a:t>
            </a:r>
            <a:r>
              <a:rPr lang="en-US" sz="800" dirty="0" err="1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</a:rPr>
              <a:t>폐업</a:t>
            </a:r>
            <a:endParaRPr lang="en-US" sz="800" dirty="0">
              <a:solidFill>
                <a:srgbClr val="243138"/>
              </a:solidFill>
              <a:latin typeface="HG꼬딕씨_Pro 20g" pitchFamily="34" charset="0"/>
              <a:ea typeface="HG꼬딕씨_Pro 20g" pitchFamily="34" charset="-122"/>
            </a:endParaRPr>
          </a:p>
        </p:txBody>
      </p:sp>
      <p:sp>
        <p:nvSpPr>
          <p:cNvPr id="102" name="Shape 52">
            <a:extLst>
              <a:ext uri="{FF2B5EF4-FFF2-40B4-BE49-F238E27FC236}">
                <a16:creationId xmlns:a16="http://schemas.microsoft.com/office/drawing/2014/main" id="{0CAAD104-5006-C4F8-6C78-34D1C77C86C1}"/>
              </a:ext>
            </a:extLst>
          </p:cNvPr>
          <p:cNvSpPr/>
          <p:nvPr/>
        </p:nvSpPr>
        <p:spPr>
          <a:xfrm>
            <a:off x="8092440" y="4709160"/>
            <a:ext cx="34747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1430">
            <a:solidFill>
              <a:srgbClr val="DDE7EC"/>
            </a:solidFill>
            <a:prstDash val="solid"/>
          </a:ln>
          <a:effectLst>
            <a:outerShdw blurRad="12700" dist="50800" dir="2700000" algn="bl" rotWithShape="0">
              <a:srgbClr val="AEB4B9">
                <a:alpha val="18000"/>
              </a:srgbClr>
            </a:outerShdw>
          </a:effectLst>
        </p:spPr>
      </p:sp>
      <p:sp>
        <p:nvSpPr>
          <p:cNvPr id="104" name="Text 53">
            <a:extLst>
              <a:ext uri="{FF2B5EF4-FFF2-40B4-BE49-F238E27FC236}">
                <a16:creationId xmlns:a16="http://schemas.microsoft.com/office/drawing/2014/main" id="{3AA5EE41-D09D-7C78-87A6-279F37D84B0A}"/>
              </a:ext>
            </a:extLst>
          </p:cNvPr>
          <p:cNvSpPr/>
          <p:nvPr/>
        </p:nvSpPr>
        <p:spPr>
          <a:xfrm>
            <a:off x="8412480" y="489204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087B84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SECTION SUMMARY</a:t>
            </a:r>
            <a:endParaRPr lang="en-US" sz="960" dirty="0"/>
          </a:p>
        </p:txBody>
      </p:sp>
      <p:sp>
        <p:nvSpPr>
          <p:cNvPr id="106" name="Text 54">
            <a:extLst>
              <a:ext uri="{FF2B5EF4-FFF2-40B4-BE49-F238E27FC236}">
                <a16:creationId xmlns:a16="http://schemas.microsoft.com/office/drawing/2014/main" id="{E25D95BB-8428-C67C-3C94-B718B95D72A1}"/>
              </a:ext>
            </a:extLst>
          </p:cNvPr>
          <p:cNvSpPr/>
          <p:nvPr/>
        </p:nvSpPr>
        <p:spPr>
          <a:xfrm>
            <a:off x="8412480" y="5074092"/>
            <a:ext cx="2834640" cy="55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E7C85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HG꼬딕씨_Pro 20g" pitchFamily="34" charset="-120"/>
              </a:rPr>
              <a:t>데이터셋을 넓게 모은 뒤, </a:t>
            </a:r>
          </a:p>
          <a:p>
            <a:pPr marL="0" indent="0">
              <a:buNone/>
            </a:pPr>
            <a:r>
              <a:rPr lang="en-US" sz="910" dirty="0" err="1">
                <a:solidFill>
                  <a:srgbClr val="6E7C85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HG꼬딕씨_Pro 20g" pitchFamily="34" charset="-120"/>
              </a:rPr>
              <a:t>분석</a:t>
            </a:r>
            <a:r>
              <a:rPr lang="en-US" sz="910" dirty="0">
                <a:solidFill>
                  <a:srgbClr val="6E7C85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HG꼬딕씨_Pro 20g" pitchFamily="34" charset="-120"/>
              </a:rPr>
              <a:t> 기준에 맞춰 공간·시간·금액 단위를 </a:t>
            </a:r>
            <a:r>
              <a:rPr lang="en-US" sz="910" dirty="0" err="1">
                <a:solidFill>
                  <a:srgbClr val="6E7C85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HG꼬딕씨_Pro 20g" pitchFamily="34" charset="-120"/>
              </a:rPr>
              <a:t>통일하고</a:t>
            </a:r>
            <a:r>
              <a:rPr lang="en-US" sz="910" dirty="0">
                <a:solidFill>
                  <a:srgbClr val="6E7C85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HG꼬딕씨_Pro 20g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910" dirty="0" err="1">
                <a:solidFill>
                  <a:srgbClr val="6E7C85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HG꼬딕씨_Pro 20g" pitchFamily="34" charset="-120"/>
              </a:rPr>
              <a:t>핵심</a:t>
            </a:r>
            <a:r>
              <a:rPr lang="en-US" sz="910" dirty="0">
                <a:solidFill>
                  <a:srgbClr val="6E7C85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HG꼬딕씨_Pro 20g" pitchFamily="34" charset="-120"/>
              </a:rPr>
              <a:t> 변수만 남긴다.</a:t>
            </a:r>
            <a:endParaRPr lang="en-US" sz="910" dirty="0"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19275A9-363D-B277-A232-290ECCDE9D9D}"/>
              </a:ext>
            </a:extLst>
          </p:cNvPr>
          <p:cNvSpPr txBox="1"/>
          <p:nvPr/>
        </p:nvSpPr>
        <p:spPr>
          <a:xfrm>
            <a:off x="12182764" y="285403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7572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16BBA-8EED-556B-73FE-D8E2CB59D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D8391C-E128-A708-260D-C5EB2DFA267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8"/>
          </a:solidFill>
          <a:ln>
            <a:solidFill>
              <a:srgbClr val="F7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41662E-E0FF-7219-57E2-FA54760ECBB0}"/>
              </a:ext>
            </a:extLst>
          </p:cNvPr>
          <p:cNvSpPr/>
          <p:nvPr/>
        </p:nvSpPr>
        <p:spPr>
          <a:xfrm>
            <a:off x="0" y="0"/>
            <a:ext cx="1965960" cy="6858000"/>
          </a:xfrm>
          <a:prstGeom prst="rect">
            <a:avLst/>
          </a:prstGeom>
          <a:solidFill>
            <a:srgbClr val="1FAAB5"/>
          </a:solidFill>
          <a:ln>
            <a:solidFill>
              <a:srgbClr val="1FA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B196D0B9-7970-FA42-4D19-C28F7F6F1BEC}"/>
              </a:ext>
            </a:extLst>
          </p:cNvPr>
          <p:cNvGrpSpPr/>
          <p:nvPr/>
        </p:nvGrpSpPr>
        <p:grpSpPr>
          <a:xfrm>
            <a:off x="329184" y="530352"/>
            <a:ext cx="1271016" cy="861646"/>
            <a:chOff x="109728" y="217346"/>
            <a:chExt cx="1271016" cy="86164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353E1A4-9BE9-32E6-63CF-6A296F6B50D2}"/>
                </a:ext>
              </a:extLst>
            </p:cNvPr>
            <p:cNvSpPr txBox="1"/>
            <p:nvPr/>
          </p:nvSpPr>
          <p:spPr>
            <a:xfrm>
              <a:off x="109728" y="338918"/>
              <a:ext cx="1271016" cy="74007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0</a:t>
              </a:r>
              <a:r>
                <a:rPr lang="en-US" sz="4000" b="1" dirty="0">
                  <a:solidFill>
                    <a:srgbClr val="FFFFFF"/>
                  </a:solidFill>
                  <a:latin typeface="HG꼬딕씨_Pro 60g" panose="02020603020101020101" pitchFamily="18" charset="-127"/>
                </a:rPr>
                <a:t>3-1</a:t>
              </a:r>
              <a:endPara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0CF18DF-FEFC-E412-22AA-002A79067C06}"/>
                </a:ext>
              </a:extLst>
            </p:cNvPr>
            <p:cNvSpPr txBox="1"/>
            <p:nvPr/>
          </p:nvSpPr>
          <p:spPr>
            <a:xfrm>
              <a:off x="109728" y="217346"/>
              <a:ext cx="877824" cy="24314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8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SECTION</a:t>
              </a:r>
            </a:p>
          </p:txBody>
        </p:sp>
      </p:grp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3FE6927-8F71-BD4D-8832-0C2027FBB23C}"/>
              </a:ext>
            </a:extLst>
          </p:cNvPr>
          <p:cNvSpPr/>
          <p:nvPr/>
        </p:nvSpPr>
        <p:spPr>
          <a:xfrm>
            <a:off x="329184" y="5559552"/>
            <a:ext cx="1051560" cy="100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867FD9D-F932-097C-E77E-EEA9F0DFC457}"/>
              </a:ext>
            </a:extLst>
          </p:cNvPr>
          <p:cNvSpPr/>
          <p:nvPr/>
        </p:nvSpPr>
        <p:spPr>
          <a:xfrm>
            <a:off x="329184" y="5788152"/>
            <a:ext cx="658368" cy="100584"/>
          </a:xfrm>
          <a:prstGeom prst="roundRect">
            <a:avLst/>
          </a:prstGeom>
          <a:solidFill>
            <a:srgbClr val="DEF1F3"/>
          </a:solidFill>
          <a:ln w="12700">
            <a:solidFill>
              <a:srgbClr val="DE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F0A5E2-21DE-88EB-DAF0-7630572291C6}"/>
              </a:ext>
            </a:extLst>
          </p:cNvPr>
          <p:cNvSpPr txBox="1"/>
          <p:nvPr/>
        </p:nvSpPr>
        <p:spPr>
          <a:xfrm>
            <a:off x="2359152" y="530352"/>
            <a:ext cx="2011680" cy="27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EDA_1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30A2545C-CB85-F5E5-18E5-3D48166E8360}"/>
              </a:ext>
            </a:extLst>
          </p:cNvPr>
          <p:cNvCxnSpPr/>
          <p:nvPr/>
        </p:nvCxnSpPr>
        <p:spPr>
          <a:xfrm>
            <a:off x="2359152" y="868680"/>
            <a:ext cx="9006840" cy="0"/>
          </a:xfrm>
          <a:prstGeom prst="line">
            <a:avLst/>
          </a:prstGeom>
          <a:ln w="17780">
            <a:solidFill>
              <a:srgbClr val="DEF1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CD0E186-60A0-4596-F27D-9D9D98E7D7D6}"/>
              </a:ext>
            </a:extLst>
          </p:cNvPr>
          <p:cNvSpPr txBox="1"/>
          <p:nvPr/>
        </p:nvSpPr>
        <p:spPr>
          <a:xfrm>
            <a:off x="2359152" y="1022120"/>
            <a:ext cx="6309360" cy="781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350" dirty="0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가설 별 탐색적 데이터 분석</a:t>
            </a:r>
            <a:endParaRPr lang="en-US" altLang="ko-KR" sz="2350" dirty="0">
              <a:solidFill>
                <a:srgbClr val="223035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srgbClr val="223035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  : </a:t>
            </a:r>
            <a:r>
              <a:rPr lang="ko-KR" altLang="en-US" dirty="0">
                <a:solidFill>
                  <a:srgbClr val="223035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관광객 </a:t>
            </a:r>
            <a:r>
              <a:rPr lang="en-US" altLang="ko-KR" dirty="0">
                <a:solidFill>
                  <a:srgbClr val="223035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· </a:t>
            </a:r>
            <a:r>
              <a:rPr lang="ko-KR" altLang="en-US" dirty="0">
                <a:solidFill>
                  <a:srgbClr val="223035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관광소비 분석 </a:t>
            </a:r>
            <a:r>
              <a:rPr lang="en-US" altLang="ko-KR" dirty="0">
                <a:solidFill>
                  <a:srgbClr val="223035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(</a:t>
            </a:r>
            <a:r>
              <a:rPr lang="ko-KR" altLang="en-US" dirty="0" err="1">
                <a:solidFill>
                  <a:srgbClr val="223035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정연재</a:t>
            </a:r>
            <a:r>
              <a:rPr lang="en-US" altLang="ko-KR" dirty="0">
                <a:solidFill>
                  <a:srgbClr val="223035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)</a:t>
            </a:r>
            <a:endParaRPr kumimoji="0" b="0" i="0" u="none" strike="noStrike" kern="1200" cap="none" spc="0" normalizeH="0" baseline="0" noProof="0" dirty="0">
              <a:ln>
                <a:noFill/>
              </a:ln>
              <a:solidFill>
                <a:srgbClr val="223035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9909D61-F27D-C4BE-866A-DB7F1F7BD74D}"/>
              </a:ext>
            </a:extLst>
          </p:cNvPr>
          <p:cNvSpPr/>
          <p:nvPr/>
        </p:nvSpPr>
        <p:spPr>
          <a:xfrm>
            <a:off x="5655444" y="4543294"/>
            <a:ext cx="2743200" cy="347472"/>
          </a:xfrm>
          <a:prstGeom prst="roundRect">
            <a:avLst/>
          </a:prstGeom>
          <a:solidFill>
            <a:srgbClr val="DEF1F3"/>
          </a:solidFill>
          <a:ln w="12700">
            <a:solidFill>
              <a:srgbClr val="DE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80" b="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주요 데이터</a:t>
            </a:r>
            <a:endParaRPr kumimoji="0" sz="1180" b="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3D1B8E2-D5F3-6CB0-2F51-D199CAC440BB}"/>
              </a:ext>
            </a:extLst>
          </p:cNvPr>
          <p:cNvSpPr/>
          <p:nvPr/>
        </p:nvSpPr>
        <p:spPr>
          <a:xfrm>
            <a:off x="2522082" y="5191535"/>
            <a:ext cx="2078262" cy="781621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11B224-C9DC-5BAF-4AEA-9881BDCB228B}"/>
              </a:ext>
            </a:extLst>
          </p:cNvPr>
          <p:cNvSpPr txBox="1"/>
          <p:nvPr/>
        </p:nvSpPr>
        <p:spPr>
          <a:xfrm>
            <a:off x="2707641" y="5412701"/>
            <a:ext cx="1707144" cy="351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관광객 증가율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19" name="Rounded Rectangle 15">
            <a:extLst>
              <a:ext uri="{FF2B5EF4-FFF2-40B4-BE49-F238E27FC236}">
                <a16:creationId xmlns:a16="http://schemas.microsoft.com/office/drawing/2014/main" id="{4B92200E-A3AC-B8BF-AA40-BD7A9D279D46}"/>
              </a:ext>
            </a:extLst>
          </p:cNvPr>
          <p:cNvSpPr/>
          <p:nvPr/>
        </p:nvSpPr>
        <p:spPr>
          <a:xfrm>
            <a:off x="4856003" y="5191535"/>
            <a:ext cx="2078262" cy="781621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64C97D-A75F-9C68-DDC5-07D2A1C5FB5B}"/>
              </a:ext>
            </a:extLst>
          </p:cNvPr>
          <p:cNvSpPr txBox="1"/>
          <p:nvPr/>
        </p:nvSpPr>
        <p:spPr>
          <a:xfrm>
            <a:off x="5041562" y="5412701"/>
            <a:ext cx="1707144" cy="351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방문인구 증가율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31" name="Rounded Rectangle 15">
            <a:extLst>
              <a:ext uri="{FF2B5EF4-FFF2-40B4-BE49-F238E27FC236}">
                <a16:creationId xmlns:a16="http://schemas.microsoft.com/office/drawing/2014/main" id="{1EB27E6F-E0C2-EABA-84EE-F2BF4CA46677}"/>
              </a:ext>
            </a:extLst>
          </p:cNvPr>
          <p:cNvSpPr/>
          <p:nvPr/>
        </p:nvSpPr>
        <p:spPr>
          <a:xfrm>
            <a:off x="7119824" y="5191535"/>
            <a:ext cx="2078262" cy="781621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37A2E7-6529-54A3-7783-FDFAFB620E7A}"/>
              </a:ext>
            </a:extLst>
          </p:cNvPr>
          <p:cNvSpPr txBox="1"/>
          <p:nvPr/>
        </p:nvSpPr>
        <p:spPr>
          <a:xfrm>
            <a:off x="7305383" y="5412701"/>
            <a:ext cx="1707144" cy="351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관광소비 증가율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33" name="Rounded Rectangle 15">
            <a:extLst>
              <a:ext uri="{FF2B5EF4-FFF2-40B4-BE49-F238E27FC236}">
                <a16:creationId xmlns:a16="http://schemas.microsoft.com/office/drawing/2014/main" id="{99CA8607-21F6-B660-1CD5-D4D05F85EB1F}"/>
              </a:ext>
            </a:extLst>
          </p:cNvPr>
          <p:cNvSpPr/>
          <p:nvPr/>
        </p:nvSpPr>
        <p:spPr>
          <a:xfrm>
            <a:off x="9453745" y="5191535"/>
            <a:ext cx="2078262" cy="781621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EF9561D-F46F-01A9-28D8-6034ADDF5512}"/>
              </a:ext>
            </a:extLst>
          </p:cNvPr>
          <p:cNvSpPr txBox="1"/>
          <p:nvPr/>
        </p:nvSpPr>
        <p:spPr>
          <a:xfrm>
            <a:off x="9639304" y="5412701"/>
            <a:ext cx="1707144" cy="351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관광객 집중도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48512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40DC9-9901-2001-F1F2-7FE8B9B2A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F7E1ED8-200C-07AF-4C87-E6EBA912AE01}"/>
              </a:ext>
            </a:extLst>
          </p:cNvPr>
          <p:cNvSpPr/>
          <p:nvPr/>
        </p:nvSpPr>
        <p:spPr>
          <a:xfrm>
            <a:off x="530352" y="246888"/>
            <a:ext cx="12857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 latinLnBrk="0"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0</a:t>
            </a:r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1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. </a:t>
            </a:r>
            <a:r>
              <a:rPr lang="en-US" altLang="ko-KR" sz="9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Hypotheses Summary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EF70BA1-8F18-89F2-9C30-234B730D1EF1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0787EF1-709E-92C0-FBCA-4F6BE8852534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 defTabSz="457200" latinLnBrk="0">
              <a:defRPr/>
            </a:pPr>
            <a:r>
              <a:rPr lang="ko-KR" altLang="en-US" dirty="0">
                <a:solidFill>
                  <a:srgbClr val="161616"/>
                </a:solidFill>
                <a:latin typeface="HG꼬딕씨_Pro 80g"/>
                <a:ea typeface="HG꼬딕씨_Pro 80g"/>
                <a:cs typeface="HG꼬딕씨_Pro 80g"/>
              </a:rPr>
              <a:t>관광객</a:t>
            </a:r>
            <a:r>
              <a:rPr lang="en-US" altLang="ko-KR" dirty="0">
                <a:solidFill>
                  <a:srgbClr val="161616"/>
                </a:solidFill>
                <a:latin typeface="HG꼬딕씨_Pro 80g"/>
                <a:ea typeface="HG꼬딕씨_Pro 80g"/>
                <a:cs typeface="HG꼬딕씨_Pro 80g"/>
              </a:rPr>
              <a:t>·</a:t>
            </a:r>
            <a:r>
              <a:rPr lang="ko-KR" altLang="en-US" dirty="0">
                <a:solidFill>
                  <a:srgbClr val="161616"/>
                </a:solidFill>
                <a:latin typeface="HG꼬딕씨_Pro 80g"/>
                <a:ea typeface="HG꼬딕씨_Pro 80g"/>
                <a:cs typeface="HG꼬딕씨_Pro 80g"/>
              </a:rPr>
              <a:t>관광소비와 </a:t>
            </a:r>
            <a:r>
              <a:rPr lang="ko-KR" altLang="en-US" dirty="0" err="1">
                <a:solidFill>
                  <a:srgbClr val="161616"/>
                </a:solidFill>
                <a:latin typeface="HG꼬딕씨_Pro 80g"/>
                <a:ea typeface="HG꼬딕씨_Pro 80g"/>
                <a:cs typeface="HG꼬딕씨_Pro 80g"/>
              </a:rPr>
              <a:t>폐업률</a:t>
            </a:r>
            <a:r>
              <a:rPr lang="ko-KR" altLang="en-US" dirty="0">
                <a:solidFill>
                  <a:srgbClr val="161616"/>
                </a:solidFill>
                <a:latin typeface="HG꼬딕씨_Pro 80g"/>
                <a:ea typeface="HG꼬딕씨_Pro 80g"/>
                <a:cs typeface="HG꼬딕씨_Pro 80g"/>
              </a:rPr>
              <a:t> 가설 검증 요약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82D419C-037A-0711-9FE9-9FF7415A34AC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 defTabSz="457200" latinLnBrk="0">
              <a:defRPr/>
            </a:pPr>
            <a:r>
              <a:rPr lang="en-US" altLang="ko-KR" sz="8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HTML </a:t>
            </a:r>
            <a:r>
              <a:rPr lang="ko-KR" altLang="en-US" sz="8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대시보드의 실제 그래프 데이터를 활용한 </a:t>
            </a:r>
            <a:r>
              <a:rPr lang="en-US" altLang="ko-KR" sz="8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H1~H3 </a:t>
            </a:r>
            <a:r>
              <a:rPr lang="ko-KR" altLang="en-US" sz="8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통합 정리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E821C95-0038-2315-FA5D-EC05A5AE4DEC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2CDE65D9-4418-2E0A-77B9-ACFD078ECFC8}"/>
              </a:ext>
            </a:extLst>
          </p:cNvPr>
          <p:cNvSpPr/>
          <p:nvPr/>
        </p:nvSpPr>
        <p:spPr>
          <a:xfrm>
            <a:off x="502920" y="15544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F5015ECB-05A6-DA37-ED35-F047E09326F9}"/>
              </a:ext>
            </a:extLst>
          </p:cNvPr>
          <p:cNvSpPr/>
          <p:nvPr/>
        </p:nvSpPr>
        <p:spPr>
          <a:xfrm>
            <a:off x="502920" y="1554480"/>
            <a:ext cx="3429000" cy="393192"/>
          </a:xfrm>
          <a:prstGeom prst="roundRect">
            <a:avLst/>
          </a:prstGeom>
          <a:solidFill>
            <a:srgbClr val="23C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7E2016-B00C-3AF0-3CAA-CCEE1F387995}"/>
              </a:ext>
            </a:extLst>
          </p:cNvPr>
          <p:cNvSpPr txBox="1"/>
          <p:nvPr/>
        </p:nvSpPr>
        <p:spPr>
          <a:xfrm>
            <a:off x="576072" y="1556129"/>
            <a:ext cx="328269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H1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관광객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수</a:t>
            </a:r>
          </a:p>
        </p:txBody>
      </p:sp>
      <p:sp>
        <p:nvSpPr>
          <p:cNvPr id="15" name="Rounded Rectangle 8">
            <a:extLst>
              <a:ext uri="{FF2B5EF4-FFF2-40B4-BE49-F238E27FC236}">
                <a16:creationId xmlns:a16="http://schemas.microsoft.com/office/drawing/2014/main" id="{874F5C67-680A-3B46-35CC-2100FD8A694B}"/>
              </a:ext>
            </a:extLst>
          </p:cNvPr>
          <p:cNvSpPr/>
          <p:nvPr/>
        </p:nvSpPr>
        <p:spPr>
          <a:xfrm>
            <a:off x="2606039" y="2084831"/>
            <a:ext cx="1115568" cy="329184"/>
          </a:xfrm>
          <a:prstGeom prst="roundRect">
            <a:avLst/>
          </a:prstGeom>
          <a:solidFill>
            <a:srgbClr val="F7F9FC"/>
          </a:solidFill>
          <a:ln>
            <a:solidFill>
              <a:srgbClr val="DC5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49C13B-8C6C-D013-ED96-58901DDA78B7}"/>
              </a:ext>
            </a:extLst>
          </p:cNvPr>
          <p:cNvSpPr txBox="1"/>
          <p:nvPr/>
        </p:nvSpPr>
        <p:spPr>
          <a:xfrm>
            <a:off x="2633471" y="2135124"/>
            <a:ext cx="1060704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DC5151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기각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1B31D3-C092-11E8-694F-E102C8785FA7}"/>
              </a:ext>
            </a:extLst>
          </p:cNvPr>
          <p:cNvSpPr txBox="1"/>
          <p:nvPr/>
        </p:nvSpPr>
        <p:spPr>
          <a:xfrm>
            <a:off x="685800" y="2079682"/>
            <a:ext cx="1920240" cy="4675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3C0C9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•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외국인만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단순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분석에서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유의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161616"/>
              </a:solidFill>
              <a:effectLst/>
              <a:uLnTx/>
              <a:uFillTx/>
              <a:latin typeface="HG꼬딕씨_Pro 20g"/>
              <a:ea typeface="HG꼬딕씨_Pro 20g"/>
              <a:cs typeface="HG꼬딕씨_Pro 20g"/>
            </a:endParaRPr>
          </a:p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3C0C9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•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고정효과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적용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 시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모두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비유의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161616"/>
              </a:solidFill>
              <a:effectLst/>
              <a:uLnTx/>
              <a:uFillTx/>
              <a:latin typeface="HG꼬딕씨_Pro 20g"/>
              <a:ea typeface="HG꼬딕씨_Pro 20g"/>
              <a:cs typeface="HG꼬딕씨_Pro 20g"/>
            </a:endParaRPr>
          </a:p>
        </p:txBody>
      </p:sp>
      <p:sp>
        <p:nvSpPr>
          <p:cNvPr id="21" name="Rounded Rectangle 11">
            <a:extLst>
              <a:ext uri="{FF2B5EF4-FFF2-40B4-BE49-F238E27FC236}">
                <a16:creationId xmlns:a16="http://schemas.microsoft.com/office/drawing/2014/main" id="{B412CAFF-3B87-632E-251F-47AE9A858C87}"/>
              </a:ext>
            </a:extLst>
          </p:cNvPr>
          <p:cNvSpPr/>
          <p:nvPr/>
        </p:nvSpPr>
        <p:spPr>
          <a:xfrm>
            <a:off x="502920" y="31546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23" name="Rounded Rectangle 12">
            <a:extLst>
              <a:ext uri="{FF2B5EF4-FFF2-40B4-BE49-F238E27FC236}">
                <a16:creationId xmlns:a16="http://schemas.microsoft.com/office/drawing/2014/main" id="{E9570B7E-1694-3575-A465-9534FEC083DC}"/>
              </a:ext>
            </a:extLst>
          </p:cNvPr>
          <p:cNvSpPr/>
          <p:nvPr/>
        </p:nvSpPr>
        <p:spPr>
          <a:xfrm>
            <a:off x="502920" y="3154680"/>
            <a:ext cx="3429000" cy="393192"/>
          </a:xfrm>
          <a:prstGeom prst="roundRect">
            <a:avLst/>
          </a:prstGeom>
          <a:solidFill>
            <a:srgbClr val="23C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D30240-9966-7177-5F60-87632B4C7E45}"/>
              </a:ext>
            </a:extLst>
          </p:cNvPr>
          <p:cNvSpPr txBox="1"/>
          <p:nvPr/>
        </p:nvSpPr>
        <p:spPr>
          <a:xfrm>
            <a:off x="576072" y="3156329"/>
            <a:ext cx="328269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H2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관광소비액</a:t>
            </a:r>
            <a:endParaRPr kumimoji="0" sz="14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</p:txBody>
      </p:sp>
      <p:sp>
        <p:nvSpPr>
          <p:cNvPr id="27" name="Rounded Rectangle 14">
            <a:extLst>
              <a:ext uri="{FF2B5EF4-FFF2-40B4-BE49-F238E27FC236}">
                <a16:creationId xmlns:a16="http://schemas.microsoft.com/office/drawing/2014/main" id="{773607C8-B4A9-FD09-6532-1495F5AC19EF}"/>
              </a:ext>
            </a:extLst>
          </p:cNvPr>
          <p:cNvSpPr/>
          <p:nvPr/>
        </p:nvSpPr>
        <p:spPr>
          <a:xfrm>
            <a:off x="2606039" y="3685032"/>
            <a:ext cx="1115568" cy="329184"/>
          </a:xfrm>
          <a:prstGeom prst="roundRect">
            <a:avLst/>
          </a:prstGeom>
          <a:solidFill>
            <a:srgbClr val="F7F9FC"/>
          </a:solidFill>
          <a:ln>
            <a:solidFill>
              <a:srgbClr val="F28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AE3F3C-D236-6480-DEAA-573999D633CC}"/>
              </a:ext>
            </a:extLst>
          </p:cNvPr>
          <p:cNvSpPr txBox="1"/>
          <p:nvPr/>
        </p:nvSpPr>
        <p:spPr>
          <a:xfrm>
            <a:off x="2633471" y="3735324"/>
            <a:ext cx="1060704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F28C40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부분 지지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3C33AF-6382-45A4-9221-5F59A4824F6E}"/>
              </a:ext>
            </a:extLst>
          </p:cNvPr>
          <p:cNvSpPr txBox="1"/>
          <p:nvPr/>
        </p:nvSpPr>
        <p:spPr>
          <a:xfrm>
            <a:off x="685800" y="3685032"/>
            <a:ext cx="1920240" cy="4675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3C0C9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•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외지인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소비액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일부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유의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161616"/>
              </a:solidFill>
              <a:effectLst/>
              <a:uLnTx/>
              <a:uFillTx/>
              <a:latin typeface="HG꼬딕씨_Pro 20g"/>
              <a:ea typeface="HG꼬딕씨_Pro 20g"/>
              <a:cs typeface="HG꼬딕씨_Pro 20g"/>
            </a:endParaRPr>
          </a:p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3C0C9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•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통제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 후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일관성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약화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161616"/>
              </a:solidFill>
              <a:effectLst/>
              <a:uLnTx/>
              <a:uFillTx/>
              <a:latin typeface="HG꼬딕씨_Pro 20g"/>
              <a:ea typeface="HG꼬딕씨_Pro 20g"/>
              <a:cs typeface="HG꼬딕씨_Pro 20g"/>
            </a:endParaRPr>
          </a:p>
        </p:txBody>
      </p:sp>
      <p:sp>
        <p:nvSpPr>
          <p:cNvPr id="33" name="Rounded Rectangle 17">
            <a:extLst>
              <a:ext uri="{FF2B5EF4-FFF2-40B4-BE49-F238E27FC236}">
                <a16:creationId xmlns:a16="http://schemas.microsoft.com/office/drawing/2014/main" id="{CC52EEE9-DFE6-1086-A1E6-1E88EF07A8F4}"/>
              </a:ext>
            </a:extLst>
          </p:cNvPr>
          <p:cNvSpPr/>
          <p:nvPr/>
        </p:nvSpPr>
        <p:spPr>
          <a:xfrm>
            <a:off x="502920" y="47548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35" name="Rounded Rectangle 18">
            <a:extLst>
              <a:ext uri="{FF2B5EF4-FFF2-40B4-BE49-F238E27FC236}">
                <a16:creationId xmlns:a16="http://schemas.microsoft.com/office/drawing/2014/main" id="{FF419DC5-1EC1-E24E-1AB3-14CDDBE1B689}"/>
              </a:ext>
            </a:extLst>
          </p:cNvPr>
          <p:cNvSpPr/>
          <p:nvPr/>
        </p:nvSpPr>
        <p:spPr>
          <a:xfrm>
            <a:off x="502920" y="4754880"/>
            <a:ext cx="3429000" cy="393192"/>
          </a:xfrm>
          <a:prstGeom prst="roundRect">
            <a:avLst/>
          </a:prstGeom>
          <a:solidFill>
            <a:srgbClr val="23C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BA31880-9F3C-34E1-8B33-CF4937870484}"/>
              </a:ext>
            </a:extLst>
          </p:cNvPr>
          <p:cNvSpPr txBox="1"/>
          <p:nvPr/>
        </p:nvSpPr>
        <p:spPr>
          <a:xfrm>
            <a:off x="576072" y="4756529"/>
            <a:ext cx="328269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H3 관계 강도 비교</a:t>
            </a:r>
          </a:p>
        </p:txBody>
      </p:sp>
      <p:sp>
        <p:nvSpPr>
          <p:cNvPr id="39" name="Rounded Rectangle 20">
            <a:extLst>
              <a:ext uri="{FF2B5EF4-FFF2-40B4-BE49-F238E27FC236}">
                <a16:creationId xmlns:a16="http://schemas.microsoft.com/office/drawing/2014/main" id="{8FCA00BC-5407-54C9-0BE9-535AFD8EA4AD}"/>
              </a:ext>
            </a:extLst>
          </p:cNvPr>
          <p:cNvSpPr/>
          <p:nvPr/>
        </p:nvSpPr>
        <p:spPr>
          <a:xfrm>
            <a:off x="2606039" y="5285232"/>
            <a:ext cx="1115568" cy="329184"/>
          </a:xfrm>
          <a:prstGeom prst="roundRect">
            <a:avLst/>
          </a:prstGeom>
          <a:solidFill>
            <a:srgbClr val="F7F9FC"/>
          </a:solidFill>
          <a:ln>
            <a:solidFill>
              <a:srgbClr val="F28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39ED1C0-B2A4-99FD-FDFE-EB1174BAF8CF}"/>
              </a:ext>
            </a:extLst>
          </p:cNvPr>
          <p:cNvSpPr txBox="1"/>
          <p:nvPr/>
        </p:nvSpPr>
        <p:spPr>
          <a:xfrm>
            <a:off x="2633471" y="5335524"/>
            <a:ext cx="1060704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F28C40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부분 지지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AC57219-CAC6-F315-54BB-1DF4848A80A9}"/>
              </a:ext>
            </a:extLst>
          </p:cNvPr>
          <p:cNvSpPr txBox="1"/>
          <p:nvPr/>
        </p:nvSpPr>
        <p:spPr>
          <a:xfrm>
            <a:off x="685800" y="5285232"/>
            <a:ext cx="1920240" cy="67088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3C0C9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•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단순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관계는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소비액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우세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161616"/>
              </a:solidFill>
              <a:effectLst/>
              <a:uLnTx/>
              <a:uFillTx/>
              <a:latin typeface="HG꼬딕씨_Pro 20g"/>
              <a:ea typeface="HG꼬딕씨_Pro 20g"/>
              <a:cs typeface="HG꼬딕씨_Pro 20g"/>
            </a:endParaRPr>
          </a:p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3C0C9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•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다중회귀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설명력은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61616"/>
              </a:solidFill>
              <a:effectLst/>
              <a:uLnTx/>
              <a:uFillTx/>
              <a:latin typeface="HG꼬딕씨_Pro 20g"/>
              <a:ea typeface="HG꼬딕씨_Pro 20g"/>
              <a:cs typeface="HG꼬딕씨_Pro 20g"/>
            </a:endParaRPr>
          </a:p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rgbClr val="161616"/>
                </a:solidFill>
                <a:latin typeface="HG꼬딕씨_Pro 20g"/>
                <a:ea typeface="HG꼬딕씨_Pro 20g"/>
                <a:cs typeface="HG꼬딕씨_Pro 20g"/>
              </a:rPr>
              <a:t>    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관광객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 수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우세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161616"/>
              </a:solidFill>
              <a:effectLst/>
              <a:uLnTx/>
              <a:uFillTx/>
              <a:latin typeface="HG꼬딕씨_Pro 20g"/>
              <a:ea typeface="HG꼬딕씨_Pro 20g"/>
              <a:cs typeface="HG꼬딕씨_Pro 20g"/>
            </a:endParaRPr>
          </a:p>
        </p:txBody>
      </p:sp>
      <p:sp>
        <p:nvSpPr>
          <p:cNvPr id="45" name="Rounded Rectangle 23">
            <a:extLst>
              <a:ext uri="{FF2B5EF4-FFF2-40B4-BE49-F238E27FC236}">
                <a16:creationId xmlns:a16="http://schemas.microsoft.com/office/drawing/2014/main" id="{75904E82-E5B8-E469-1035-74B828B8EF48}"/>
              </a:ext>
            </a:extLst>
          </p:cNvPr>
          <p:cNvSpPr/>
          <p:nvPr/>
        </p:nvSpPr>
        <p:spPr>
          <a:xfrm>
            <a:off x="4251960" y="1554480"/>
            <a:ext cx="7269480" cy="37033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47" name="Rounded Rectangle 24">
            <a:extLst>
              <a:ext uri="{FF2B5EF4-FFF2-40B4-BE49-F238E27FC236}">
                <a16:creationId xmlns:a16="http://schemas.microsoft.com/office/drawing/2014/main" id="{099979BA-6276-C3F9-2DF3-45A3BB6C5A4A}"/>
              </a:ext>
            </a:extLst>
          </p:cNvPr>
          <p:cNvSpPr/>
          <p:nvPr/>
        </p:nvSpPr>
        <p:spPr>
          <a:xfrm>
            <a:off x="4251960" y="1554480"/>
            <a:ext cx="7269480" cy="393192"/>
          </a:xfrm>
          <a:prstGeom prst="roundRect">
            <a:avLst/>
          </a:prstGeom>
          <a:solidFill>
            <a:srgbClr val="23C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07CA26B-A1CD-B792-9FA0-7E5C77381A8C}"/>
              </a:ext>
            </a:extLst>
          </p:cNvPr>
          <p:cNvSpPr txBox="1"/>
          <p:nvPr/>
        </p:nvSpPr>
        <p:spPr>
          <a:xfrm>
            <a:off x="4325112" y="1556129"/>
            <a:ext cx="712317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실제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그래프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: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다중회귀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설명력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비교</a:t>
            </a:r>
            <a:endParaRPr kumimoji="0" sz="14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</p:txBody>
      </p:sp>
      <p:pic>
        <p:nvPicPr>
          <p:cNvPr id="51" name="Picture 26" descr="h3_r2.png">
            <a:extLst>
              <a:ext uri="{FF2B5EF4-FFF2-40B4-BE49-F238E27FC236}">
                <a16:creationId xmlns:a16="http://schemas.microsoft.com/office/drawing/2014/main" id="{B6449F3D-4241-1DB7-3120-A98AAF042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836" y="2135124"/>
            <a:ext cx="5137728" cy="2834640"/>
          </a:xfrm>
          <a:prstGeom prst="rect">
            <a:avLst/>
          </a:prstGeom>
        </p:spPr>
      </p:pic>
      <p:sp>
        <p:nvSpPr>
          <p:cNvPr id="53" name="Rounded Rectangle 27">
            <a:extLst>
              <a:ext uri="{FF2B5EF4-FFF2-40B4-BE49-F238E27FC236}">
                <a16:creationId xmlns:a16="http://schemas.microsoft.com/office/drawing/2014/main" id="{FF142F9D-DE2A-8F02-1196-FBA9981612C3}"/>
              </a:ext>
            </a:extLst>
          </p:cNvPr>
          <p:cNvSpPr/>
          <p:nvPr/>
        </p:nvSpPr>
        <p:spPr>
          <a:xfrm>
            <a:off x="4251960" y="5504688"/>
            <a:ext cx="7269480" cy="585216"/>
          </a:xfrm>
          <a:prstGeom prst="roundRect">
            <a:avLst/>
          </a:prstGeom>
          <a:solidFill>
            <a:srgbClr val="F7F9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6B22CD9-24DB-F52C-A4D1-86069ED139DC}"/>
              </a:ext>
            </a:extLst>
          </p:cNvPr>
          <p:cNvSpPr txBox="1"/>
          <p:nvPr/>
        </p:nvSpPr>
        <p:spPr>
          <a:xfrm>
            <a:off x="4480560" y="5696712"/>
            <a:ext cx="68122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60" b="0" i="0" u="none" strike="noStrike" kern="120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결론: 관광객 규모만으로는 폐업률을 설명하기 어렵고, 소비 구조와 지역 고유 특성을 함께 봐야 한다.</a:t>
            </a:r>
          </a:p>
        </p:txBody>
      </p:sp>
    </p:spTree>
    <p:extLst>
      <p:ext uri="{BB962C8B-B14F-4D97-AF65-F5344CB8AC3E}">
        <p14:creationId xmlns:p14="http://schemas.microsoft.com/office/powerpoint/2010/main" val="29463387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5FD5E-B97E-425A-4EDE-9762A0E80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F53480D-9C29-7554-A44B-CCDBDFB5521D}"/>
              </a:ext>
            </a:extLst>
          </p:cNvPr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 latinLnBrk="0"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0</a:t>
            </a:r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2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. </a:t>
            </a:r>
            <a:r>
              <a:rPr lang="en-US" altLang="ko-KR" sz="9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H1 Result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026010B-1E23-767E-9CF7-D97E3C7DF4B8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AD0B32B-830F-E013-7A80-6D0FBCF6133E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 defTabSz="457200" latinLnBrk="0">
              <a:defRPr/>
            </a:pPr>
            <a:r>
              <a:rPr lang="en-US" altLang="ko-KR" dirty="0">
                <a:solidFill>
                  <a:srgbClr val="161616"/>
                </a:solidFill>
                <a:latin typeface="HG꼬딕씨_Pro 80g"/>
                <a:ea typeface="HG꼬딕씨_Pro 80g"/>
                <a:cs typeface="HG꼬딕씨_Pro 80g"/>
              </a:rPr>
              <a:t>H1. </a:t>
            </a:r>
            <a:r>
              <a:rPr lang="ko-KR" altLang="en-US" dirty="0">
                <a:solidFill>
                  <a:srgbClr val="161616"/>
                </a:solidFill>
                <a:latin typeface="HG꼬딕씨_Pro 80g"/>
                <a:ea typeface="HG꼬딕씨_Pro 80g"/>
                <a:cs typeface="HG꼬딕씨_Pro 80g"/>
              </a:rPr>
              <a:t>관광객 수와 </a:t>
            </a:r>
            <a:r>
              <a:rPr lang="ko-KR" altLang="en-US" dirty="0" err="1">
                <a:solidFill>
                  <a:srgbClr val="161616"/>
                </a:solidFill>
                <a:latin typeface="HG꼬딕씨_Pro 80g"/>
                <a:ea typeface="HG꼬딕씨_Pro 80g"/>
                <a:cs typeface="HG꼬딕씨_Pro 80g"/>
              </a:rPr>
              <a:t>폐업률</a:t>
            </a:r>
            <a:endParaRPr lang="ko-KR" altLang="en-US" dirty="0">
              <a:solidFill>
                <a:srgbClr val="161616"/>
              </a:solidFill>
              <a:latin typeface="HG꼬딕씨_Pro 80g"/>
              <a:ea typeface="HG꼬딕씨_Pro 80g"/>
              <a:cs typeface="HG꼬딕씨_Pro 80g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26E9EAF-4B59-DAB0-BCA9-87AA0076491F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 defTabSz="457200" latinLnBrk="0">
              <a:defRPr/>
            </a:pPr>
            <a:r>
              <a:rPr lang="ko-KR" altLang="en-US" sz="8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외국인 방문자 수는 단순 분석에서 유의했지만</a:t>
            </a:r>
            <a:r>
              <a:rPr lang="en-US" altLang="ko-KR" sz="8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, </a:t>
            </a:r>
            <a:r>
              <a:rPr lang="ko-KR" altLang="en-US" sz="8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고정효과 적용 시 관계가 사라짐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D2A3432-A3FF-33BB-0ABE-721A7338E749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69AFFE67-3500-1BB3-18E0-015F09CB6FF2}"/>
              </a:ext>
            </a:extLst>
          </p:cNvPr>
          <p:cNvSpPr/>
          <p:nvPr/>
        </p:nvSpPr>
        <p:spPr>
          <a:xfrm>
            <a:off x="502920" y="1554480"/>
            <a:ext cx="6537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1AB53925-09C8-CEAF-CFC0-2490B1F0A07C}"/>
              </a:ext>
            </a:extLst>
          </p:cNvPr>
          <p:cNvSpPr/>
          <p:nvPr/>
        </p:nvSpPr>
        <p:spPr>
          <a:xfrm>
            <a:off x="502920" y="1554480"/>
            <a:ext cx="6537960" cy="393192"/>
          </a:xfrm>
          <a:prstGeom prst="roundRect">
            <a:avLst/>
          </a:prstGeom>
          <a:solidFill>
            <a:srgbClr val="23C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BAABE1-21B7-627D-3D5E-517DEB60124A}"/>
              </a:ext>
            </a:extLst>
          </p:cNvPr>
          <p:cNvSpPr txBox="1"/>
          <p:nvPr/>
        </p:nvSpPr>
        <p:spPr>
          <a:xfrm>
            <a:off x="576072" y="1593073"/>
            <a:ext cx="639165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실제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그래프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: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외국인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방문자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수 ↔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폐업률</a:t>
            </a:r>
            <a:endParaRPr kumimoji="0" sz="14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</p:txBody>
      </p:sp>
      <p:sp>
        <p:nvSpPr>
          <p:cNvPr id="17" name="Rounded Rectangle 9">
            <a:extLst>
              <a:ext uri="{FF2B5EF4-FFF2-40B4-BE49-F238E27FC236}">
                <a16:creationId xmlns:a16="http://schemas.microsoft.com/office/drawing/2014/main" id="{BC5259C1-BFC4-F325-CA96-B6364A16BF2B}"/>
              </a:ext>
            </a:extLst>
          </p:cNvPr>
          <p:cNvSpPr/>
          <p:nvPr/>
        </p:nvSpPr>
        <p:spPr>
          <a:xfrm>
            <a:off x="7269480" y="1554480"/>
            <a:ext cx="44348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19" name="Rounded Rectangle 10">
            <a:extLst>
              <a:ext uri="{FF2B5EF4-FFF2-40B4-BE49-F238E27FC236}">
                <a16:creationId xmlns:a16="http://schemas.microsoft.com/office/drawing/2014/main" id="{AF040634-E8D8-FD05-3746-617C8135C824}"/>
              </a:ext>
            </a:extLst>
          </p:cNvPr>
          <p:cNvSpPr/>
          <p:nvPr/>
        </p:nvSpPr>
        <p:spPr>
          <a:xfrm>
            <a:off x="7269480" y="1554480"/>
            <a:ext cx="4434840" cy="393192"/>
          </a:xfrm>
          <a:prstGeom prst="roundRect">
            <a:avLst/>
          </a:prstGeom>
          <a:solidFill>
            <a:srgbClr val="23C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44658A-9AD1-FE02-7DAB-08339A2BEA3E}"/>
              </a:ext>
            </a:extLst>
          </p:cNvPr>
          <p:cNvSpPr txBox="1"/>
          <p:nvPr/>
        </p:nvSpPr>
        <p:spPr>
          <a:xfrm>
            <a:off x="7342631" y="1593073"/>
            <a:ext cx="428853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상관계수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그래프</a:t>
            </a:r>
            <a:endParaRPr kumimoji="0" sz="14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</p:txBody>
      </p:sp>
      <p:pic>
        <p:nvPicPr>
          <p:cNvPr id="23" name="Picture 12" descr="h1_pearson.png">
            <a:extLst>
              <a:ext uri="{FF2B5EF4-FFF2-40B4-BE49-F238E27FC236}">
                <a16:creationId xmlns:a16="http://schemas.microsoft.com/office/drawing/2014/main" id="{B927CD24-73C1-9E29-1DCE-8B151D63F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111" y="2011680"/>
            <a:ext cx="2722144" cy="1508760"/>
          </a:xfrm>
          <a:prstGeom prst="rect">
            <a:avLst/>
          </a:prstGeom>
        </p:spPr>
      </p:pic>
      <p:sp>
        <p:nvSpPr>
          <p:cNvPr id="25" name="Rounded Rectangle 13">
            <a:extLst>
              <a:ext uri="{FF2B5EF4-FFF2-40B4-BE49-F238E27FC236}">
                <a16:creationId xmlns:a16="http://schemas.microsoft.com/office/drawing/2014/main" id="{F35EF927-B664-210A-4124-3600C05236A6}"/>
              </a:ext>
            </a:extLst>
          </p:cNvPr>
          <p:cNvSpPr/>
          <p:nvPr/>
        </p:nvSpPr>
        <p:spPr>
          <a:xfrm>
            <a:off x="7269480" y="3886200"/>
            <a:ext cx="4434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27" name="Rounded Rectangle 14">
            <a:extLst>
              <a:ext uri="{FF2B5EF4-FFF2-40B4-BE49-F238E27FC236}">
                <a16:creationId xmlns:a16="http://schemas.microsoft.com/office/drawing/2014/main" id="{3051D619-7303-B833-3287-E1FCEC4C7AAC}"/>
              </a:ext>
            </a:extLst>
          </p:cNvPr>
          <p:cNvSpPr/>
          <p:nvPr/>
        </p:nvSpPr>
        <p:spPr>
          <a:xfrm>
            <a:off x="7269480" y="3886200"/>
            <a:ext cx="4434840" cy="393192"/>
          </a:xfrm>
          <a:prstGeom prst="roundRect">
            <a:avLst/>
          </a:prstGeom>
          <a:solidFill>
            <a:srgbClr val="23C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F51B32-43E6-7A5A-D58A-EC27F5441519}"/>
              </a:ext>
            </a:extLst>
          </p:cNvPr>
          <p:cNvSpPr txBox="1"/>
          <p:nvPr/>
        </p:nvSpPr>
        <p:spPr>
          <a:xfrm>
            <a:off x="7342631" y="3922776"/>
            <a:ext cx="428853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결론</a:t>
            </a:r>
            <a:endParaRPr kumimoji="0" sz="14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509A683-F59F-0517-D4FD-CF42E38BA32A}"/>
              </a:ext>
            </a:extLst>
          </p:cNvPr>
          <p:cNvSpPr txBox="1"/>
          <p:nvPr/>
        </p:nvSpPr>
        <p:spPr>
          <a:xfrm>
            <a:off x="7498079" y="4393771"/>
            <a:ext cx="3977639" cy="157261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240" b="1" i="0" u="none" strike="noStrike" kern="1200" cap="none" spc="0" normalizeH="0" baseline="0" noProof="0" dirty="0">
                <a:ln>
                  <a:noFill/>
                </a:ln>
                <a:solidFill>
                  <a:srgbClr val="246ED2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•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외국인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방문자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수</a:t>
            </a:r>
            <a:r>
              <a:rPr kumimoji="0" lang="ko-KR" altLang="en-US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와 </a:t>
            </a:r>
            <a:r>
              <a:rPr kumimoji="0" lang="ko-KR" altLang="en-US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폐업률은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endParaRPr kumimoji="0" lang="en-US" sz="1240" b="0" i="0" u="none" strike="noStrike" kern="1200" cap="none" spc="0" normalizeH="0" baseline="0" noProof="0" dirty="0">
              <a:ln>
                <a:noFill/>
              </a:ln>
              <a:solidFill>
                <a:srgbClr val="161616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240" dirty="0">
                <a:solidFill>
                  <a:srgbClr val="161616"/>
                </a:solidFill>
                <a:latin typeface="HG꼬딕씨_Pro 40g"/>
                <a:ea typeface="HG꼬딕씨_Pro 40g"/>
                <a:cs typeface="HG꼬딕씨_Pro 40g"/>
              </a:rPr>
              <a:t>    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Pearson·Spearman·회귀에서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양(+)의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관계</a:t>
            </a:r>
            <a:endParaRPr kumimoji="0" lang="en-US" sz="1240" b="0" i="0" u="none" strike="noStrike" kern="1200" cap="none" spc="0" normalizeH="0" baseline="0" noProof="0" dirty="0">
              <a:ln>
                <a:noFill/>
              </a:ln>
              <a:solidFill>
                <a:srgbClr val="161616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161616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240" b="1" i="0" u="none" strike="noStrike" kern="1200" cap="none" spc="0" normalizeH="0" baseline="0" noProof="0" dirty="0">
                <a:ln>
                  <a:noFill/>
                </a:ln>
                <a:solidFill>
                  <a:srgbClr val="246ED2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•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그러나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행정구·연도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통제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후에는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endParaRPr kumimoji="0" lang="en-US" sz="1240" b="0" i="0" u="none" strike="noStrike" kern="1200" cap="none" spc="0" normalizeH="0" baseline="0" noProof="0" dirty="0">
              <a:ln>
                <a:noFill/>
              </a:ln>
              <a:solidFill>
                <a:srgbClr val="161616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240" dirty="0">
                <a:solidFill>
                  <a:srgbClr val="161616"/>
                </a:solidFill>
                <a:latin typeface="HG꼬딕씨_Pro 40g"/>
                <a:ea typeface="HG꼬딕씨_Pro 40g"/>
                <a:cs typeface="HG꼬딕씨_Pro 40g"/>
              </a:rPr>
              <a:t>    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모든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방문자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유형이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lang="ko-KR" altLang="en-US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유의하지 않음</a:t>
            </a:r>
            <a:endParaRPr kumimoji="0" lang="en-US" altLang="ko-KR" sz="1240" b="0" i="0" u="none" strike="noStrike" kern="1200" cap="none" spc="0" normalizeH="0" baseline="0" noProof="0" dirty="0">
              <a:ln>
                <a:noFill/>
              </a:ln>
              <a:solidFill>
                <a:srgbClr val="161616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161616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240" b="1" i="0" u="none" strike="noStrike" kern="1200" cap="none" spc="0" normalizeH="0" baseline="0" noProof="0" dirty="0">
                <a:ln>
                  <a:noFill/>
                </a:ln>
                <a:solidFill>
                  <a:srgbClr val="246ED2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• 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H1은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최종적으로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lang="ko-KR" altLang="en-US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기각</a:t>
            </a:r>
            <a:endParaRPr kumimoji="0" sz="1240" b="0" i="0" u="none" strike="noStrike" kern="1200" cap="none" spc="0" normalizeH="0" baseline="0" noProof="0" dirty="0">
              <a:ln>
                <a:noFill/>
              </a:ln>
              <a:solidFill>
                <a:srgbClr val="161616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76A8B089-B0B4-E7AE-7F28-D33796AB82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308" y="2020823"/>
            <a:ext cx="5409184" cy="3933215"/>
          </a:xfrm>
          <a:prstGeom prst="rect">
            <a:avLst/>
          </a:prstGeom>
        </p:spPr>
      </p:pic>
      <p:sp>
        <p:nvSpPr>
          <p:cNvPr id="42" name="Rounded Rectangle 17">
            <a:extLst>
              <a:ext uri="{FF2B5EF4-FFF2-40B4-BE49-F238E27FC236}">
                <a16:creationId xmlns:a16="http://schemas.microsoft.com/office/drawing/2014/main" id="{7909C86E-5965-9C6E-C082-15EFFC8101EC}"/>
              </a:ext>
            </a:extLst>
          </p:cNvPr>
          <p:cNvSpPr/>
          <p:nvPr/>
        </p:nvSpPr>
        <p:spPr>
          <a:xfrm>
            <a:off x="2856138" y="603504"/>
            <a:ext cx="858012" cy="310895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D521DDF-4D93-5F22-6EEB-5ACF473E5FC9}"/>
              </a:ext>
            </a:extLst>
          </p:cNvPr>
          <p:cNvSpPr txBox="1"/>
          <p:nvPr/>
        </p:nvSpPr>
        <p:spPr>
          <a:xfrm>
            <a:off x="2866688" y="633532"/>
            <a:ext cx="836913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기각</a:t>
            </a:r>
            <a:endParaRPr kumimoji="0" sz="115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HG꼬딕씨_Pro 20g"/>
              <a:ea typeface="HG꼬딕씨_Pro 20g"/>
              <a:cs typeface="HG꼬딕씨_Pro 20g"/>
            </a:endParaRPr>
          </a:p>
        </p:txBody>
      </p:sp>
    </p:spTree>
    <p:extLst>
      <p:ext uri="{BB962C8B-B14F-4D97-AF65-F5344CB8AC3E}">
        <p14:creationId xmlns:p14="http://schemas.microsoft.com/office/powerpoint/2010/main" val="17636098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00193-9547-1C7E-AE49-01A4C2C51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7BF988C-CC4D-40FF-7F3C-54FB5863A2C0}"/>
              </a:ext>
            </a:extLst>
          </p:cNvPr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 latinLnBrk="0"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0</a:t>
            </a:r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3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. </a:t>
            </a:r>
            <a:r>
              <a:rPr lang="en-US" altLang="ko-KR" sz="9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H2 Result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420226E-1088-E662-503C-A67CB81896C9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F1F530D-C8B7-824D-BBEA-DBB7509BA3D9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 defTabSz="457200" latinLnBrk="0">
              <a:defRPr/>
            </a:pPr>
            <a:r>
              <a:rPr lang="en-US" altLang="ko-KR" dirty="0">
                <a:solidFill>
                  <a:srgbClr val="161616"/>
                </a:solidFill>
                <a:latin typeface="HG꼬딕씨_Pro 80g"/>
                <a:ea typeface="HG꼬딕씨_Pro 80g"/>
                <a:cs typeface="HG꼬딕씨_Pro 80g"/>
              </a:rPr>
              <a:t>H2. </a:t>
            </a:r>
            <a:r>
              <a:rPr lang="ko-KR" altLang="en-US" dirty="0">
                <a:solidFill>
                  <a:srgbClr val="161616"/>
                </a:solidFill>
                <a:latin typeface="HG꼬딕씨_Pro 80g"/>
                <a:ea typeface="HG꼬딕씨_Pro 80g"/>
                <a:cs typeface="HG꼬딕씨_Pro 80g"/>
              </a:rPr>
              <a:t>관광소비액과 </a:t>
            </a:r>
            <a:r>
              <a:rPr lang="ko-KR" altLang="en-US" dirty="0" err="1">
                <a:solidFill>
                  <a:srgbClr val="161616"/>
                </a:solidFill>
                <a:latin typeface="HG꼬딕씨_Pro 80g"/>
                <a:ea typeface="HG꼬딕씨_Pro 80g"/>
                <a:cs typeface="HG꼬딕씨_Pro 80g"/>
              </a:rPr>
              <a:t>폐업률</a:t>
            </a:r>
            <a:endParaRPr lang="ko-KR" altLang="en-US" dirty="0">
              <a:solidFill>
                <a:srgbClr val="161616"/>
              </a:solidFill>
              <a:latin typeface="HG꼬딕씨_Pro 80g"/>
              <a:ea typeface="HG꼬딕씨_Pro 80g"/>
              <a:cs typeface="HG꼬딕씨_Pro 80g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17E7F7C-83DE-CC1A-C1E3-9D5328D36B24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 defTabSz="457200" latinLnBrk="0">
              <a:defRPr/>
            </a:pPr>
            <a:r>
              <a:rPr lang="ko-KR" altLang="en-US" sz="8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외지인 관광소비액은 일부 분석에서 양</a:t>
            </a:r>
            <a:r>
              <a:rPr lang="en-US" altLang="ko-KR" sz="8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(+)</a:t>
            </a:r>
            <a:r>
              <a:rPr lang="ko-KR" altLang="en-US" sz="8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의 관계를 보였으나</a:t>
            </a:r>
            <a:r>
              <a:rPr lang="en-US" altLang="ko-KR" sz="8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, </a:t>
            </a:r>
            <a:r>
              <a:rPr lang="ko-KR" altLang="en-US" sz="8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통제 후 견고성은 낮음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D5536F4-1347-79A4-CA3D-DCD68DC03768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74BA6933-F753-5F8E-58CA-2E9D0DA81D5F}"/>
              </a:ext>
            </a:extLst>
          </p:cNvPr>
          <p:cNvSpPr/>
          <p:nvPr/>
        </p:nvSpPr>
        <p:spPr>
          <a:xfrm>
            <a:off x="502920" y="1554480"/>
            <a:ext cx="6537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07AD0CA4-9A0C-9FC9-E85F-71C068EDA9B7}"/>
              </a:ext>
            </a:extLst>
          </p:cNvPr>
          <p:cNvSpPr/>
          <p:nvPr/>
        </p:nvSpPr>
        <p:spPr>
          <a:xfrm>
            <a:off x="502920" y="1554480"/>
            <a:ext cx="6537960" cy="393192"/>
          </a:xfrm>
          <a:prstGeom prst="roundRect">
            <a:avLst/>
          </a:prstGeom>
          <a:solidFill>
            <a:srgbClr val="23C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B7DD37-4C1C-CE60-64A3-F81BAE580EAC}"/>
              </a:ext>
            </a:extLst>
          </p:cNvPr>
          <p:cNvSpPr txBox="1"/>
          <p:nvPr/>
        </p:nvSpPr>
        <p:spPr>
          <a:xfrm>
            <a:off x="576072" y="1593073"/>
            <a:ext cx="639165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실제 그래프: 외지인 관광소비액 ↔ 폐업률</a:t>
            </a:r>
          </a:p>
        </p:txBody>
      </p:sp>
      <p:sp>
        <p:nvSpPr>
          <p:cNvPr id="16" name="Rounded Rectangle 9">
            <a:extLst>
              <a:ext uri="{FF2B5EF4-FFF2-40B4-BE49-F238E27FC236}">
                <a16:creationId xmlns:a16="http://schemas.microsoft.com/office/drawing/2014/main" id="{F6C2DD6F-1E57-63B2-C377-0C46681A42B8}"/>
              </a:ext>
            </a:extLst>
          </p:cNvPr>
          <p:cNvSpPr/>
          <p:nvPr/>
        </p:nvSpPr>
        <p:spPr>
          <a:xfrm>
            <a:off x="7269480" y="1554480"/>
            <a:ext cx="44348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18" name="Rounded Rectangle 10">
            <a:extLst>
              <a:ext uri="{FF2B5EF4-FFF2-40B4-BE49-F238E27FC236}">
                <a16:creationId xmlns:a16="http://schemas.microsoft.com/office/drawing/2014/main" id="{27CFE4C8-905B-7D19-BD56-9BA33B2829AE}"/>
              </a:ext>
            </a:extLst>
          </p:cNvPr>
          <p:cNvSpPr/>
          <p:nvPr/>
        </p:nvSpPr>
        <p:spPr>
          <a:xfrm>
            <a:off x="7269480" y="1554480"/>
            <a:ext cx="4434840" cy="393192"/>
          </a:xfrm>
          <a:prstGeom prst="roundRect">
            <a:avLst/>
          </a:prstGeom>
          <a:solidFill>
            <a:srgbClr val="23C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22C6B1-7CC2-5477-F834-A9D6DE10B501}"/>
              </a:ext>
            </a:extLst>
          </p:cNvPr>
          <p:cNvSpPr txBox="1"/>
          <p:nvPr/>
        </p:nvSpPr>
        <p:spPr>
          <a:xfrm>
            <a:off x="7342631" y="1593073"/>
            <a:ext cx="428853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상관계수 그래프</a:t>
            </a:r>
          </a:p>
        </p:txBody>
      </p:sp>
      <p:pic>
        <p:nvPicPr>
          <p:cNvPr id="22" name="Picture 12" descr="h2_pearson.png">
            <a:extLst>
              <a:ext uri="{FF2B5EF4-FFF2-40B4-BE49-F238E27FC236}">
                <a16:creationId xmlns:a16="http://schemas.microsoft.com/office/drawing/2014/main" id="{5BB06FF2-3B42-DAB1-1ED1-A6736BDCD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2184" y="2011680"/>
            <a:ext cx="2481998" cy="1508760"/>
          </a:xfrm>
          <a:prstGeom prst="rect">
            <a:avLst/>
          </a:prstGeom>
        </p:spPr>
      </p:pic>
      <p:sp>
        <p:nvSpPr>
          <p:cNvPr id="24" name="Rounded Rectangle 13">
            <a:extLst>
              <a:ext uri="{FF2B5EF4-FFF2-40B4-BE49-F238E27FC236}">
                <a16:creationId xmlns:a16="http://schemas.microsoft.com/office/drawing/2014/main" id="{3218978B-63C4-B0D4-F25F-22EC28BC85CF}"/>
              </a:ext>
            </a:extLst>
          </p:cNvPr>
          <p:cNvSpPr/>
          <p:nvPr/>
        </p:nvSpPr>
        <p:spPr>
          <a:xfrm>
            <a:off x="7269480" y="3886200"/>
            <a:ext cx="4434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26" name="Rounded Rectangle 14">
            <a:extLst>
              <a:ext uri="{FF2B5EF4-FFF2-40B4-BE49-F238E27FC236}">
                <a16:creationId xmlns:a16="http://schemas.microsoft.com/office/drawing/2014/main" id="{B6A48A1F-9E7C-B69E-40AD-EDB48ECD77F7}"/>
              </a:ext>
            </a:extLst>
          </p:cNvPr>
          <p:cNvSpPr/>
          <p:nvPr/>
        </p:nvSpPr>
        <p:spPr>
          <a:xfrm>
            <a:off x="7269480" y="3886200"/>
            <a:ext cx="4434840" cy="393192"/>
          </a:xfrm>
          <a:prstGeom prst="roundRect">
            <a:avLst/>
          </a:prstGeom>
          <a:solidFill>
            <a:srgbClr val="23C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DB7881-C040-2B4B-76F2-FF16D0860B17}"/>
              </a:ext>
            </a:extLst>
          </p:cNvPr>
          <p:cNvSpPr txBox="1"/>
          <p:nvPr/>
        </p:nvSpPr>
        <p:spPr>
          <a:xfrm>
            <a:off x="7342631" y="3924792"/>
            <a:ext cx="428853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결론</a:t>
            </a:r>
            <a:endParaRPr kumimoji="0" sz="14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5AAC8B1-5046-721D-67DB-1020EBDDE883}"/>
              </a:ext>
            </a:extLst>
          </p:cNvPr>
          <p:cNvSpPr txBox="1"/>
          <p:nvPr/>
        </p:nvSpPr>
        <p:spPr>
          <a:xfrm>
            <a:off x="7498079" y="4585041"/>
            <a:ext cx="3977639" cy="119006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240" b="1" i="0" u="none" strike="noStrike" kern="1200" cap="none" spc="0" normalizeH="0" baseline="0" noProof="0" dirty="0">
                <a:ln>
                  <a:noFill/>
                </a:ln>
                <a:solidFill>
                  <a:srgbClr val="246ED2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•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외지인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관광소비액은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Pearson·단순회귀·다중회귀에서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유의</a:t>
            </a:r>
            <a:endParaRPr kumimoji="0" lang="en-US" sz="1240" b="0" i="0" u="none" strike="noStrike" kern="1200" cap="none" spc="0" normalizeH="0" baseline="0" noProof="0" dirty="0">
              <a:ln>
                <a:noFill/>
              </a:ln>
              <a:solidFill>
                <a:srgbClr val="161616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sz="1240" b="0" i="0" u="none" strike="noStrike" kern="1200" cap="none" spc="0" normalizeH="0" baseline="0" noProof="0" dirty="0">
              <a:ln>
                <a:noFill/>
              </a:ln>
              <a:solidFill>
                <a:srgbClr val="161616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240" b="1" i="0" u="none" strike="noStrike" kern="1200" cap="none" spc="0" normalizeH="0" baseline="0" noProof="0" dirty="0">
                <a:ln>
                  <a:noFill/>
                </a:ln>
                <a:solidFill>
                  <a:srgbClr val="246ED2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•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외국인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소비액은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Spearman 및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고정효과에서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방향이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달라짐</a:t>
            </a:r>
            <a:endParaRPr kumimoji="0" lang="en-US" sz="1240" b="0" i="0" u="none" strike="noStrike" kern="1200" cap="none" spc="0" normalizeH="0" baseline="0" noProof="0" dirty="0">
              <a:ln>
                <a:noFill/>
              </a:ln>
              <a:solidFill>
                <a:srgbClr val="161616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sz="1240" b="0" i="0" u="none" strike="noStrike" kern="1200" cap="none" spc="0" normalizeH="0" baseline="0" noProof="0" dirty="0">
              <a:ln>
                <a:noFill/>
              </a:ln>
              <a:solidFill>
                <a:srgbClr val="161616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240" b="1" i="0" u="none" strike="noStrike" kern="1200" cap="none" spc="0" normalizeH="0" baseline="0" noProof="0" dirty="0">
                <a:ln>
                  <a:noFill/>
                </a:ln>
                <a:solidFill>
                  <a:srgbClr val="246ED2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• 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H2는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최종적으로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부분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지지</a:t>
            </a:r>
            <a:endParaRPr kumimoji="0" sz="1240" b="0" i="0" u="none" strike="noStrike" kern="1200" cap="none" spc="0" normalizeH="0" baseline="0" noProof="0" dirty="0">
              <a:ln>
                <a:noFill/>
              </a:ln>
              <a:solidFill>
                <a:srgbClr val="161616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</p:txBody>
      </p:sp>
      <p:sp>
        <p:nvSpPr>
          <p:cNvPr id="32" name="Rounded Rectangle 17">
            <a:extLst>
              <a:ext uri="{FF2B5EF4-FFF2-40B4-BE49-F238E27FC236}">
                <a16:creationId xmlns:a16="http://schemas.microsoft.com/office/drawing/2014/main" id="{877C8960-F9A9-F0B8-A6C5-E3904F3935C6}"/>
              </a:ext>
            </a:extLst>
          </p:cNvPr>
          <p:cNvSpPr/>
          <p:nvPr/>
        </p:nvSpPr>
        <p:spPr>
          <a:xfrm>
            <a:off x="3050101" y="603504"/>
            <a:ext cx="858012" cy="310895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079BF0D-58FA-3A50-54DC-4BC86E484E3B}"/>
              </a:ext>
            </a:extLst>
          </p:cNvPr>
          <p:cNvSpPr txBox="1"/>
          <p:nvPr/>
        </p:nvSpPr>
        <p:spPr>
          <a:xfrm>
            <a:off x="3060651" y="633532"/>
            <a:ext cx="836913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부분 지지</a:t>
            </a:r>
            <a:endParaRPr kumimoji="0" sz="115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HG꼬딕씨_Pro 20g"/>
              <a:ea typeface="HG꼬딕씨_Pro 20g"/>
              <a:cs typeface="HG꼬딕씨_Pro 20g"/>
            </a:endParaRP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F6DF5E25-9576-11E0-90CD-CAA5C2B846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858" y="2067054"/>
            <a:ext cx="5472084" cy="386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1117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3BCA4-4C88-AF86-82C8-680CF0246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5">
            <a:extLst>
              <a:ext uri="{FF2B5EF4-FFF2-40B4-BE49-F238E27FC236}">
                <a16:creationId xmlns:a16="http://schemas.microsoft.com/office/drawing/2014/main" id="{3C9589AD-4448-1640-272A-4A334280B86F}"/>
              </a:ext>
            </a:extLst>
          </p:cNvPr>
          <p:cNvSpPr/>
          <p:nvPr/>
        </p:nvSpPr>
        <p:spPr>
          <a:xfrm>
            <a:off x="502920" y="1414721"/>
            <a:ext cx="5715000" cy="4526280"/>
          </a:xfrm>
          <a:prstGeom prst="roundRect">
            <a:avLst>
              <a:gd name="adj" fmla="val 8096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1C804445-4F66-F1D6-9D2D-DA7782192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924288"/>
            <a:ext cx="5244223" cy="3809236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6DFF9704-A155-16EB-F28F-A8542323F916}"/>
              </a:ext>
            </a:extLst>
          </p:cNvPr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 defTabSz="457200" latinLnBrk="0">
              <a:defRPr/>
            </a:pPr>
            <a:r>
              <a:rPr lang="en-US" altLang="ko-KR" sz="9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04. H3 Result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90B0D5E-9A6B-0B6E-51B3-2778EB0D72CA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CB95267-F277-82F8-51D6-679BFE74B974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 defTabSz="457200" latinLnBrk="0">
              <a:defRPr/>
            </a:pPr>
            <a:r>
              <a:rPr lang="en-US" altLang="ko-KR" dirty="0">
                <a:solidFill>
                  <a:srgbClr val="161616"/>
                </a:solidFill>
                <a:latin typeface="HG꼬딕씨_Pro 80g"/>
                <a:ea typeface="HG꼬딕씨_Pro 80g"/>
                <a:cs typeface="HG꼬딕씨_Pro 80g"/>
              </a:rPr>
              <a:t>H3. </a:t>
            </a:r>
            <a:r>
              <a:rPr lang="ko-KR" altLang="en-US" dirty="0">
                <a:solidFill>
                  <a:srgbClr val="161616"/>
                </a:solidFill>
                <a:latin typeface="HG꼬딕씨_Pro 80g"/>
                <a:ea typeface="HG꼬딕씨_Pro 80g"/>
                <a:cs typeface="HG꼬딕씨_Pro 80g"/>
              </a:rPr>
              <a:t>관광객 수 </a:t>
            </a:r>
            <a:r>
              <a:rPr lang="en-US" altLang="ko-KR" dirty="0">
                <a:solidFill>
                  <a:srgbClr val="161616"/>
                </a:solidFill>
                <a:latin typeface="HG꼬딕씨_Pro 80g"/>
                <a:ea typeface="HG꼬딕씨_Pro 80g"/>
                <a:cs typeface="HG꼬딕씨_Pro 80g"/>
              </a:rPr>
              <a:t>vs </a:t>
            </a:r>
            <a:r>
              <a:rPr lang="ko-KR" altLang="en-US" dirty="0">
                <a:solidFill>
                  <a:srgbClr val="161616"/>
                </a:solidFill>
                <a:latin typeface="HG꼬딕씨_Pro 80g"/>
                <a:ea typeface="HG꼬딕씨_Pro 80g"/>
                <a:cs typeface="HG꼬딕씨_Pro 80g"/>
              </a:rPr>
              <a:t>관광소비액 비교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B909782-00F3-EBC8-FD78-451C8C4E7E58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 defTabSz="457200" latinLnBrk="0">
              <a:defRPr/>
            </a:pPr>
            <a:r>
              <a:rPr lang="ko-KR" altLang="en-US" sz="8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전체 관광소비액은 단순 관계에서 우세했지만</a:t>
            </a:r>
            <a:r>
              <a:rPr lang="en-US" altLang="ko-KR" sz="8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, </a:t>
            </a:r>
            <a:r>
              <a:rPr lang="ko-KR" altLang="en-US" sz="8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다중회귀 설명력은 관광객 수 모델이 더 높음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347EF4A-812C-5EDC-DA2D-D0969C486684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E2580C59-3F1D-F347-CE2B-C2BFCB7E5D31}"/>
              </a:ext>
            </a:extLst>
          </p:cNvPr>
          <p:cNvSpPr/>
          <p:nvPr/>
        </p:nvSpPr>
        <p:spPr>
          <a:xfrm>
            <a:off x="3890611" y="603504"/>
            <a:ext cx="858012" cy="310895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DC2573-78E8-83CE-590D-154ACF63490F}"/>
              </a:ext>
            </a:extLst>
          </p:cNvPr>
          <p:cNvSpPr txBox="1"/>
          <p:nvPr/>
        </p:nvSpPr>
        <p:spPr>
          <a:xfrm>
            <a:off x="3901161" y="633532"/>
            <a:ext cx="836913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부분 지지</a:t>
            </a:r>
            <a:endParaRPr kumimoji="0" sz="115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HG꼬딕씨_Pro 20g"/>
              <a:ea typeface="HG꼬딕씨_Pro 20g"/>
              <a:cs typeface="HG꼬딕씨_Pro 20g"/>
            </a:endParaRPr>
          </a:p>
        </p:txBody>
      </p:sp>
      <p:sp>
        <p:nvSpPr>
          <p:cNvPr id="14" name="Rounded Rectangle 6">
            <a:extLst>
              <a:ext uri="{FF2B5EF4-FFF2-40B4-BE49-F238E27FC236}">
                <a16:creationId xmlns:a16="http://schemas.microsoft.com/office/drawing/2014/main" id="{911D5F1A-4F9E-3CAC-A3FA-1BAE6CC13E60}"/>
              </a:ext>
            </a:extLst>
          </p:cNvPr>
          <p:cNvSpPr/>
          <p:nvPr/>
        </p:nvSpPr>
        <p:spPr>
          <a:xfrm>
            <a:off x="502920" y="1414721"/>
            <a:ext cx="5715000" cy="393192"/>
          </a:xfrm>
          <a:prstGeom prst="roundRect">
            <a:avLst/>
          </a:prstGeom>
          <a:solidFill>
            <a:srgbClr val="23C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B1EA0D-DDC3-7672-EBFB-319405270453}"/>
              </a:ext>
            </a:extLst>
          </p:cNvPr>
          <p:cNvSpPr txBox="1"/>
          <p:nvPr/>
        </p:nvSpPr>
        <p:spPr>
          <a:xfrm>
            <a:off x="576072" y="1453314"/>
            <a:ext cx="556869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실제 그래프: 전체 관광소비액 ↔ 폐업률</a:t>
            </a:r>
          </a:p>
        </p:txBody>
      </p:sp>
      <p:sp>
        <p:nvSpPr>
          <p:cNvPr id="20" name="Rounded Rectangle 9">
            <a:extLst>
              <a:ext uri="{FF2B5EF4-FFF2-40B4-BE49-F238E27FC236}">
                <a16:creationId xmlns:a16="http://schemas.microsoft.com/office/drawing/2014/main" id="{E62F2104-4317-B679-1E7E-9385A54F41E6}"/>
              </a:ext>
            </a:extLst>
          </p:cNvPr>
          <p:cNvSpPr/>
          <p:nvPr/>
        </p:nvSpPr>
        <p:spPr>
          <a:xfrm>
            <a:off x="6446520" y="1414721"/>
            <a:ext cx="52578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22" name="Rounded Rectangle 10">
            <a:extLst>
              <a:ext uri="{FF2B5EF4-FFF2-40B4-BE49-F238E27FC236}">
                <a16:creationId xmlns:a16="http://schemas.microsoft.com/office/drawing/2014/main" id="{782563FA-F8FA-40F5-87B6-FEE867E72F98}"/>
              </a:ext>
            </a:extLst>
          </p:cNvPr>
          <p:cNvSpPr/>
          <p:nvPr/>
        </p:nvSpPr>
        <p:spPr>
          <a:xfrm>
            <a:off x="6446520" y="1414721"/>
            <a:ext cx="5257800" cy="393192"/>
          </a:xfrm>
          <a:prstGeom prst="roundRect">
            <a:avLst/>
          </a:prstGeom>
          <a:solidFill>
            <a:srgbClr val="23C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AE650A-8AF9-7076-1A43-D25CF995739F}"/>
              </a:ext>
            </a:extLst>
          </p:cNvPr>
          <p:cNvSpPr txBox="1"/>
          <p:nvPr/>
        </p:nvSpPr>
        <p:spPr>
          <a:xfrm>
            <a:off x="6519672" y="1453314"/>
            <a:ext cx="511149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관계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강도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lang="ko-KR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및 설명력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비교</a:t>
            </a:r>
            <a:endParaRPr kumimoji="0" sz="14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</p:txBody>
      </p:sp>
      <p:pic>
        <p:nvPicPr>
          <p:cNvPr id="26" name="Picture 12" descr="h3_pearson.png">
            <a:extLst>
              <a:ext uri="{FF2B5EF4-FFF2-40B4-BE49-F238E27FC236}">
                <a16:creationId xmlns:a16="http://schemas.microsoft.com/office/drawing/2014/main" id="{AB79E631-ED09-2753-9F63-14693AE5DF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3601" y="1985024"/>
            <a:ext cx="2058924" cy="1335124"/>
          </a:xfrm>
          <a:prstGeom prst="rect">
            <a:avLst/>
          </a:prstGeom>
        </p:spPr>
      </p:pic>
      <p:sp>
        <p:nvSpPr>
          <p:cNvPr id="28" name="Rounded Rectangle 13">
            <a:extLst>
              <a:ext uri="{FF2B5EF4-FFF2-40B4-BE49-F238E27FC236}">
                <a16:creationId xmlns:a16="http://schemas.microsoft.com/office/drawing/2014/main" id="{3E8DECA1-52D0-6055-FDE7-700B11822A04}"/>
              </a:ext>
            </a:extLst>
          </p:cNvPr>
          <p:cNvSpPr/>
          <p:nvPr/>
        </p:nvSpPr>
        <p:spPr>
          <a:xfrm>
            <a:off x="6446520" y="3719009"/>
            <a:ext cx="5257800" cy="2221992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30" name="Rounded Rectangle 14">
            <a:extLst>
              <a:ext uri="{FF2B5EF4-FFF2-40B4-BE49-F238E27FC236}">
                <a16:creationId xmlns:a16="http://schemas.microsoft.com/office/drawing/2014/main" id="{E266EC20-792C-98A1-A846-EF074B4C979E}"/>
              </a:ext>
            </a:extLst>
          </p:cNvPr>
          <p:cNvSpPr/>
          <p:nvPr/>
        </p:nvSpPr>
        <p:spPr>
          <a:xfrm>
            <a:off x="6446520" y="3719009"/>
            <a:ext cx="5257800" cy="393192"/>
          </a:xfrm>
          <a:prstGeom prst="roundRect">
            <a:avLst/>
          </a:prstGeom>
          <a:solidFill>
            <a:srgbClr val="23C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FC5FA8C-AF02-0DCF-149D-314A2041A160}"/>
              </a:ext>
            </a:extLst>
          </p:cNvPr>
          <p:cNvSpPr txBox="1"/>
          <p:nvPr/>
        </p:nvSpPr>
        <p:spPr>
          <a:xfrm>
            <a:off x="6519672" y="3757601"/>
            <a:ext cx="511149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결론</a:t>
            </a:r>
            <a:endParaRPr kumimoji="0" sz="14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</p:txBody>
      </p:sp>
      <p:pic>
        <p:nvPicPr>
          <p:cNvPr id="34" name="Picture 16" descr="h3_r2.png">
            <a:extLst>
              <a:ext uri="{FF2B5EF4-FFF2-40B4-BE49-F238E27FC236}">
                <a16:creationId xmlns:a16="http://schemas.microsoft.com/office/drawing/2014/main" id="{536DB38C-FB4A-4FE0-74D4-873C7F5E19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4046" y="1963728"/>
            <a:ext cx="2494722" cy="135642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767C7716-B327-A1AE-361D-2EAC217055DB}"/>
              </a:ext>
            </a:extLst>
          </p:cNvPr>
          <p:cNvSpPr txBox="1"/>
          <p:nvPr/>
        </p:nvSpPr>
        <p:spPr>
          <a:xfrm>
            <a:off x="6672071" y="4378024"/>
            <a:ext cx="4806698" cy="1138773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lvl="0" defTabSz="457200" latinLnBrk="0">
              <a:lnSpc>
                <a:spcPct val="105000"/>
              </a:lnSpc>
              <a:spcAft>
                <a:spcPts val="200"/>
              </a:spcAft>
              <a:defRPr/>
            </a:pPr>
            <a:r>
              <a:rPr sz="1240" dirty="0">
                <a:solidFill>
                  <a:srgbClr val="161616"/>
                </a:solidFill>
                <a:latin typeface="HG꼬딕씨_Pro 40g"/>
                <a:ea typeface="HG꼬딕씨_Pro 40g"/>
              </a:rPr>
              <a:t>• </a:t>
            </a:r>
            <a:r>
              <a:rPr lang="ko-KR" altLang="ko-KR" sz="1240" dirty="0">
                <a:solidFill>
                  <a:srgbClr val="161616"/>
                </a:solidFill>
                <a:latin typeface="HG꼬딕씨_Pro 40g"/>
                <a:ea typeface="HG꼬딕씨_Pro 40g"/>
              </a:rPr>
              <a:t>관광소비액은 일부 분석에서 관광객 수보다 </a:t>
            </a:r>
            <a:r>
              <a:rPr lang="ko-KR" altLang="ko-KR" sz="1240" dirty="0" err="1">
                <a:solidFill>
                  <a:srgbClr val="161616"/>
                </a:solidFill>
                <a:latin typeface="HG꼬딕씨_Pro 40g"/>
                <a:ea typeface="HG꼬딕씨_Pro 40g"/>
              </a:rPr>
              <a:t>폐업률과</a:t>
            </a:r>
            <a:r>
              <a:rPr lang="ko-KR" altLang="ko-KR" sz="1240" dirty="0">
                <a:solidFill>
                  <a:srgbClr val="161616"/>
                </a:solidFill>
                <a:latin typeface="HG꼬딕씨_Pro 40g"/>
                <a:ea typeface="HG꼬딕씨_Pro 40g"/>
              </a:rPr>
              <a:t> 더 강한 관계를 </a:t>
            </a:r>
            <a:r>
              <a:rPr lang="ko-KR" altLang="en-US" sz="1240" dirty="0">
                <a:solidFill>
                  <a:srgbClr val="161616"/>
                </a:solidFill>
                <a:latin typeface="HG꼬딕씨_Pro 40g"/>
                <a:ea typeface="HG꼬딕씨_Pro 40g"/>
              </a:rPr>
              <a:t>보임</a:t>
            </a:r>
            <a:r>
              <a:rPr lang="ko-KR" altLang="ko-KR" sz="1240" dirty="0">
                <a:solidFill>
                  <a:srgbClr val="161616"/>
                </a:solidFill>
                <a:latin typeface="HG꼬딕씨_Pro 40g"/>
                <a:ea typeface="HG꼬딕씨_Pro 40g"/>
              </a:rPr>
              <a:t>.</a:t>
            </a:r>
            <a:endParaRPr lang="en-US" altLang="ko-KR" sz="1240" dirty="0">
              <a:solidFill>
                <a:srgbClr val="161616"/>
              </a:solidFill>
              <a:latin typeface="HG꼬딕씨_Pro 40g"/>
              <a:ea typeface="HG꼬딕씨_Pro 40g"/>
            </a:endParaRPr>
          </a:p>
          <a:p>
            <a:pPr lvl="0" defTabSz="457200" latinLnBrk="0">
              <a:lnSpc>
                <a:spcPct val="105000"/>
              </a:lnSpc>
              <a:spcAft>
                <a:spcPts val="200"/>
              </a:spcAft>
              <a:defRPr/>
            </a:pPr>
            <a:br>
              <a:rPr lang="ko-KR" altLang="ko-KR" sz="1240" dirty="0">
                <a:solidFill>
                  <a:srgbClr val="161616"/>
                </a:solidFill>
                <a:latin typeface="HG꼬딕씨_Pro 40g"/>
                <a:ea typeface="HG꼬딕씨_Pro 40g"/>
              </a:rPr>
            </a:br>
            <a:r>
              <a:rPr lang="en-US" altLang="ko-KR" sz="1240" dirty="0">
                <a:solidFill>
                  <a:srgbClr val="161616"/>
                </a:solidFill>
                <a:latin typeface="HG꼬딕씨_Pro 40g"/>
                <a:ea typeface="HG꼬딕씨_Pro 40g"/>
              </a:rPr>
              <a:t>• </a:t>
            </a:r>
            <a:r>
              <a:rPr lang="ko-KR" altLang="ko-KR" sz="1240" dirty="0">
                <a:solidFill>
                  <a:srgbClr val="161616"/>
                </a:solidFill>
                <a:latin typeface="HG꼬딕씨_Pro 40g"/>
                <a:ea typeface="HG꼬딕씨_Pro 40g"/>
              </a:rPr>
              <a:t>하지만 분석 방법과 통제변수에 따라 결과가 달라 일관성은 부족했다.</a:t>
            </a:r>
            <a:endParaRPr lang="en-US" altLang="ko-KR" sz="1240" dirty="0">
              <a:solidFill>
                <a:srgbClr val="161616"/>
              </a:solidFill>
              <a:latin typeface="HG꼬딕씨_Pro 40g"/>
              <a:ea typeface="HG꼬딕씨_Pro 40g"/>
            </a:endParaRPr>
          </a:p>
          <a:p>
            <a:pPr lvl="0" defTabSz="457200" latinLnBrk="0">
              <a:lnSpc>
                <a:spcPct val="105000"/>
              </a:lnSpc>
              <a:spcAft>
                <a:spcPts val="200"/>
              </a:spcAft>
              <a:defRPr/>
            </a:pPr>
            <a:br>
              <a:rPr lang="ko-KR" altLang="ko-KR" sz="1240" dirty="0">
                <a:solidFill>
                  <a:srgbClr val="161616"/>
                </a:solidFill>
                <a:latin typeface="HG꼬딕씨_Pro 40g"/>
                <a:ea typeface="HG꼬딕씨_Pro 40g"/>
              </a:rPr>
            </a:br>
            <a:r>
              <a:rPr lang="en-US" altLang="ko-KR" sz="1240" dirty="0">
                <a:solidFill>
                  <a:srgbClr val="161616"/>
                </a:solidFill>
                <a:latin typeface="HG꼬딕씨_Pro 40g"/>
                <a:ea typeface="HG꼬딕씨_Pro 40g"/>
              </a:rPr>
              <a:t>• </a:t>
            </a:r>
            <a:r>
              <a:rPr lang="ko-KR" altLang="ko-KR" sz="1240" dirty="0">
                <a:solidFill>
                  <a:srgbClr val="161616"/>
                </a:solidFill>
                <a:latin typeface="HG꼬딕씨_Pro 40g"/>
                <a:ea typeface="HG꼬딕씨_Pro 40g"/>
              </a:rPr>
              <a:t>H3는 </a:t>
            </a:r>
            <a:r>
              <a:rPr lang="ko-KR" altLang="en-US" sz="1240" dirty="0">
                <a:solidFill>
                  <a:srgbClr val="161616"/>
                </a:solidFill>
                <a:latin typeface="HG꼬딕씨_Pro 40g"/>
                <a:ea typeface="HG꼬딕씨_Pro 40g"/>
                <a:cs typeface="HG꼬딕씨_Pro 40g"/>
              </a:rPr>
              <a:t>최종적으로 부분 지지</a:t>
            </a:r>
            <a:endParaRPr kumimoji="0" sz="1240" i="0" u="none" strike="noStrike" kern="1200" cap="none" spc="0" normalizeH="0" baseline="0" noProof="0" dirty="0">
              <a:ln>
                <a:noFill/>
              </a:ln>
              <a:solidFill>
                <a:srgbClr val="161616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HG꼬딕씨_Pro 40g"/>
            </a:endParaRPr>
          </a:p>
        </p:txBody>
      </p:sp>
    </p:spTree>
    <p:extLst>
      <p:ext uri="{BB962C8B-B14F-4D97-AF65-F5344CB8AC3E}">
        <p14:creationId xmlns:p14="http://schemas.microsoft.com/office/powerpoint/2010/main" val="11842439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27FA8-66AD-0AC4-760C-085920E7F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AA26412-837B-5B06-A2D4-0F123BA5F762}"/>
              </a:ext>
            </a:extLst>
          </p:cNvPr>
          <p:cNvSpPr/>
          <p:nvPr/>
        </p:nvSpPr>
        <p:spPr>
          <a:xfrm>
            <a:off x="530352" y="246888"/>
            <a:ext cx="192328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 latinLnBrk="0"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0</a:t>
            </a:r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5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. </a:t>
            </a:r>
            <a:r>
              <a:rPr lang="en-US" altLang="ko-KR" sz="9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Integrated Conclusion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A090666-0E81-FB6A-A6DA-177F6C14D8C9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809A75B-8C84-D041-0ECD-97DF40947C5D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 defTabSz="457200" latinLnBrk="0">
              <a:defRPr/>
            </a:pPr>
            <a:r>
              <a:rPr lang="ko-KR" altLang="en-US" dirty="0">
                <a:solidFill>
                  <a:srgbClr val="161616"/>
                </a:solidFill>
                <a:latin typeface="HG꼬딕씨_Pro 80g"/>
                <a:ea typeface="HG꼬딕씨_Pro 80g"/>
                <a:cs typeface="HG꼬딕씨_Pro 80g"/>
              </a:rPr>
              <a:t>통합 결론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6E4FA89-21D0-E16B-EA6B-DE9260DC8814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 defTabSz="457200" latinLnBrk="0">
              <a:defRPr/>
            </a:pPr>
            <a:r>
              <a:rPr lang="ko-KR" altLang="en-US" sz="8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관광 규모보다 소비 주체</a:t>
            </a:r>
            <a:r>
              <a:rPr lang="en-US" altLang="ko-KR" sz="8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·</a:t>
            </a:r>
            <a:r>
              <a:rPr lang="ko-KR" altLang="en-US" sz="8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지역 고유 특성</a:t>
            </a:r>
            <a:r>
              <a:rPr lang="en-US" altLang="ko-KR" sz="8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·</a:t>
            </a:r>
            <a:r>
              <a:rPr lang="ko-KR" altLang="en-US" sz="8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통제조건을 함께 봐야 함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7D5182C-CA0D-1B58-B68E-A90A75C4A743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8D98DB4C-381E-3D88-1BF6-A1D3D4BE4655}"/>
              </a:ext>
            </a:extLst>
          </p:cNvPr>
          <p:cNvSpPr/>
          <p:nvPr/>
        </p:nvSpPr>
        <p:spPr>
          <a:xfrm>
            <a:off x="502920" y="1554480"/>
            <a:ext cx="60807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8DAEB322-9241-02C2-7A96-0174708B3944}"/>
              </a:ext>
            </a:extLst>
          </p:cNvPr>
          <p:cNvSpPr/>
          <p:nvPr/>
        </p:nvSpPr>
        <p:spPr>
          <a:xfrm>
            <a:off x="502920" y="1554480"/>
            <a:ext cx="6080760" cy="393192"/>
          </a:xfrm>
          <a:prstGeom prst="roundRect">
            <a:avLst/>
          </a:prstGeom>
          <a:solidFill>
            <a:srgbClr val="23C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AF5943-7616-7D7D-ED12-38AC65ACFC3C}"/>
              </a:ext>
            </a:extLst>
          </p:cNvPr>
          <p:cNvSpPr txBox="1"/>
          <p:nvPr/>
        </p:nvSpPr>
        <p:spPr>
          <a:xfrm>
            <a:off x="576072" y="1594229"/>
            <a:ext cx="593445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실제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그래프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: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고정효과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회귀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p-value</a:t>
            </a:r>
          </a:p>
        </p:txBody>
      </p:sp>
      <p:pic>
        <p:nvPicPr>
          <p:cNvPr id="14" name="Picture 8" descr="fixed_effect_pvalues.png">
            <a:extLst>
              <a:ext uri="{FF2B5EF4-FFF2-40B4-BE49-F238E27FC236}">
                <a16:creationId xmlns:a16="http://schemas.microsoft.com/office/drawing/2014/main" id="{6AEF0FB5-208B-C570-EEDE-26B632185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132457"/>
            <a:ext cx="5650992" cy="3445383"/>
          </a:xfrm>
          <a:prstGeom prst="rect">
            <a:avLst/>
          </a:prstGeom>
        </p:spPr>
      </p:pic>
      <p:sp>
        <p:nvSpPr>
          <p:cNvPr id="16" name="Rounded Rectangle 9">
            <a:extLst>
              <a:ext uri="{FF2B5EF4-FFF2-40B4-BE49-F238E27FC236}">
                <a16:creationId xmlns:a16="http://schemas.microsoft.com/office/drawing/2014/main" id="{E6BFF763-A2CF-2D4B-BA98-149A1EA440E6}"/>
              </a:ext>
            </a:extLst>
          </p:cNvPr>
          <p:cNvSpPr/>
          <p:nvPr/>
        </p:nvSpPr>
        <p:spPr>
          <a:xfrm>
            <a:off x="6858000" y="1554480"/>
            <a:ext cx="4709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18" name="Rounded Rectangle 10">
            <a:extLst>
              <a:ext uri="{FF2B5EF4-FFF2-40B4-BE49-F238E27FC236}">
                <a16:creationId xmlns:a16="http://schemas.microsoft.com/office/drawing/2014/main" id="{E2464481-1D9C-F07C-8BEA-B9B4C1924B91}"/>
              </a:ext>
            </a:extLst>
          </p:cNvPr>
          <p:cNvSpPr/>
          <p:nvPr/>
        </p:nvSpPr>
        <p:spPr>
          <a:xfrm>
            <a:off x="6858000" y="1554480"/>
            <a:ext cx="4709160" cy="393192"/>
          </a:xfrm>
          <a:prstGeom prst="roundRect">
            <a:avLst/>
          </a:prstGeom>
          <a:solidFill>
            <a:srgbClr val="23C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FF84BA-7C9A-2593-6B38-F4A42E83B3AD}"/>
              </a:ext>
            </a:extLst>
          </p:cNvPr>
          <p:cNvSpPr txBox="1"/>
          <p:nvPr/>
        </p:nvSpPr>
        <p:spPr>
          <a:xfrm>
            <a:off x="6931152" y="1594229"/>
            <a:ext cx="456285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핵심 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0D4918-87A5-A7A6-F004-D0AD0C6CD93D}"/>
              </a:ext>
            </a:extLst>
          </p:cNvPr>
          <p:cNvSpPr txBox="1"/>
          <p:nvPr/>
        </p:nvSpPr>
        <p:spPr>
          <a:xfrm>
            <a:off x="7095744" y="2203880"/>
            <a:ext cx="4251960" cy="2970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관광객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수만으로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폐업률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상승을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설명하기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어렵다</a:t>
            </a:r>
            <a:r>
              <a:rPr kumimoji="0" sz="1450" b="1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.</a:t>
            </a:r>
          </a:p>
        </p:txBody>
      </p:sp>
      <p:sp>
        <p:nvSpPr>
          <p:cNvPr id="24" name="Rounded Rectangle 13">
            <a:extLst>
              <a:ext uri="{FF2B5EF4-FFF2-40B4-BE49-F238E27FC236}">
                <a16:creationId xmlns:a16="http://schemas.microsoft.com/office/drawing/2014/main" id="{59A2DDB4-2322-E004-987D-BEDC48CF8ECC}"/>
              </a:ext>
            </a:extLst>
          </p:cNvPr>
          <p:cNvSpPr/>
          <p:nvPr/>
        </p:nvSpPr>
        <p:spPr>
          <a:xfrm>
            <a:off x="6858000" y="2971800"/>
            <a:ext cx="4709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26" name="Rounded Rectangle 14">
            <a:extLst>
              <a:ext uri="{FF2B5EF4-FFF2-40B4-BE49-F238E27FC236}">
                <a16:creationId xmlns:a16="http://schemas.microsoft.com/office/drawing/2014/main" id="{BBF6447E-F247-A60D-7A4A-4D6379FF4911}"/>
              </a:ext>
            </a:extLst>
          </p:cNvPr>
          <p:cNvSpPr/>
          <p:nvPr/>
        </p:nvSpPr>
        <p:spPr>
          <a:xfrm>
            <a:off x="6858000" y="2971800"/>
            <a:ext cx="4709160" cy="393192"/>
          </a:xfrm>
          <a:prstGeom prst="roundRect">
            <a:avLst/>
          </a:prstGeom>
          <a:solidFill>
            <a:srgbClr val="23C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64185E-C885-36C5-7740-BB434B47949D}"/>
              </a:ext>
            </a:extLst>
          </p:cNvPr>
          <p:cNvSpPr txBox="1"/>
          <p:nvPr/>
        </p:nvSpPr>
        <p:spPr>
          <a:xfrm>
            <a:off x="6931152" y="3011549"/>
            <a:ext cx="456285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핵심 02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6503A5-9202-B645-3F49-7C8E29D83CF4}"/>
              </a:ext>
            </a:extLst>
          </p:cNvPr>
          <p:cNvSpPr txBox="1"/>
          <p:nvPr/>
        </p:nvSpPr>
        <p:spPr>
          <a:xfrm>
            <a:off x="7095744" y="3621200"/>
            <a:ext cx="4251960" cy="2970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관광소비액은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일부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신호가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있지만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,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통제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후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일관성이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낮다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.</a:t>
            </a:r>
          </a:p>
        </p:txBody>
      </p:sp>
      <p:sp>
        <p:nvSpPr>
          <p:cNvPr id="32" name="Rounded Rectangle 17">
            <a:extLst>
              <a:ext uri="{FF2B5EF4-FFF2-40B4-BE49-F238E27FC236}">
                <a16:creationId xmlns:a16="http://schemas.microsoft.com/office/drawing/2014/main" id="{B0A5517F-19D5-BD0A-EEF0-F568EEDE2D08}"/>
              </a:ext>
            </a:extLst>
          </p:cNvPr>
          <p:cNvSpPr/>
          <p:nvPr/>
        </p:nvSpPr>
        <p:spPr>
          <a:xfrm>
            <a:off x="6858000" y="4389120"/>
            <a:ext cx="47091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34" name="Rounded Rectangle 18">
            <a:extLst>
              <a:ext uri="{FF2B5EF4-FFF2-40B4-BE49-F238E27FC236}">
                <a16:creationId xmlns:a16="http://schemas.microsoft.com/office/drawing/2014/main" id="{3C451237-2206-2C76-7BEB-98A6F4848620}"/>
              </a:ext>
            </a:extLst>
          </p:cNvPr>
          <p:cNvSpPr/>
          <p:nvPr/>
        </p:nvSpPr>
        <p:spPr>
          <a:xfrm>
            <a:off x="6858000" y="4389120"/>
            <a:ext cx="4709160" cy="393192"/>
          </a:xfrm>
          <a:prstGeom prst="roundRect">
            <a:avLst/>
          </a:prstGeom>
          <a:solidFill>
            <a:srgbClr val="23C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A43A5E-F07E-E4AE-7FD4-96AEA83B0DDD}"/>
              </a:ext>
            </a:extLst>
          </p:cNvPr>
          <p:cNvSpPr txBox="1"/>
          <p:nvPr/>
        </p:nvSpPr>
        <p:spPr>
          <a:xfrm>
            <a:off x="6931152" y="4428869"/>
            <a:ext cx="456285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결론</a:t>
            </a:r>
            <a:endParaRPr kumimoji="0" sz="14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D3C85A5-B9EA-56AA-D498-013756216A9F}"/>
              </a:ext>
            </a:extLst>
          </p:cNvPr>
          <p:cNvSpPr txBox="1"/>
          <p:nvPr/>
        </p:nvSpPr>
        <p:spPr>
          <a:xfrm>
            <a:off x="7114032" y="5078536"/>
            <a:ext cx="4251960" cy="56284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부산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상권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변화는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관광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규모의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문제가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아니라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, </a:t>
            </a: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srgbClr val="161616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  <a:p>
            <a:pPr marL="0" marR="0" lvl="0" indent="0" algn="ctr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161616"/>
                </a:solidFill>
                <a:latin typeface="HG꼬딕씨_Pro 40g"/>
                <a:ea typeface="HG꼬딕씨_Pro 40g"/>
                <a:cs typeface="HG꼬딕씨_Pro 40g"/>
              </a:rPr>
              <a:t>   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소비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구조와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지역별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체질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차이의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문제로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해석해야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한다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34248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3A897-6F1D-BBAB-44E1-75F60517F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11C045-C4C1-34D4-8AAC-B0BA0863D5F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8"/>
          </a:solidFill>
          <a:ln>
            <a:solidFill>
              <a:srgbClr val="F7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3E3973-E092-3249-729C-F39EAD5BADEE}"/>
              </a:ext>
            </a:extLst>
          </p:cNvPr>
          <p:cNvSpPr/>
          <p:nvPr/>
        </p:nvSpPr>
        <p:spPr>
          <a:xfrm>
            <a:off x="0" y="0"/>
            <a:ext cx="1965960" cy="6858000"/>
          </a:xfrm>
          <a:prstGeom prst="rect">
            <a:avLst/>
          </a:prstGeom>
          <a:solidFill>
            <a:srgbClr val="1FAAB5"/>
          </a:solidFill>
          <a:ln>
            <a:solidFill>
              <a:srgbClr val="1FA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6EB579E0-0894-CE90-6BD2-18C7B0F8E954}"/>
              </a:ext>
            </a:extLst>
          </p:cNvPr>
          <p:cNvGrpSpPr/>
          <p:nvPr/>
        </p:nvGrpSpPr>
        <p:grpSpPr>
          <a:xfrm>
            <a:off x="329184" y="530352"/>
            <a:ext cx="1388780" cy="861646"/>
            <a:chOff x="109728" y="217346"/>
            <a:chExt cx="1388780" cy="86164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ADC3B57-06A7-0044-F98D-13476CB944F0}"/>
                </a:ext>
              </a:extLst>
            </p:cNvPr>
            <p:cNvSpPr txBox="1"/>
            <p:nvPr/>
          </p:nvSpPr>
          <p:spPr>
            <a:xfrm>
              <a:off x="109728" y="338918"/>
              <a:ext cx="1388780" cy="74007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0</a:t>
              </a: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3-2</a:t>
              </a:r>
              <a:endPara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5997C2C-37B0-CA3F-3BC9-00B7A61FF4AE}"/>
                </a:ext>
              </a:extLst>
            </p:cNvPr>
            <p:cNvSpPr txBox="1"/>
            <p:nvPr/>
          </p:nvSpPr>
          <p:spPr>
            <a:xfrm>
              <a:off x="109728" y="217346"/>
              <a:ext cx="877824" cy="24314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8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SECTION</a:t>
              </a:r>
            </a:p>
          </p:txBody>
        </p:sp>
      </p:grp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ECBBBB9-F7B0-88D2-3087-26D508C5190F}"/>
              </a:ext>
            </a:extLst>
          </p:cNvPr>
          <p:cNvSpPr/>
          <p:nvPr/>
        </p:nvSpPr>
        <p:spPr>
          <a:xfrm>
            <a:off x="329184" y="5559552"/>
            <a:ext cx="1051560" cy="100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A525276-35B4-5C78-8E25-96B52DC806B8}"/>
              </a:ext>
            </a:extLst>
          </p:cNvPr>
          <p:cNvSpPr/>
          <p:nvPr/>
        </p:nvSpPr>
        <p:spPr>
          <a:xfrm>
            <a:off x="329184" y="5788152"/>
            <a:ext cx="658368" cy="100584"/>
          </a:xfrm>
          <a:prstGeom prst="roundRect">
            <a:avLst/>
          </a:prstGeom>
          <a:solidFill>
            <a:srgbClr val="DEF1F3"/>
          </a:solidFill>
          <a:ln w="12700">
            <a:solidFill>
              <a:srgbClr val="DE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369B61-BB83-E7AC-09AF-95B304B13C1C}"/>
              </a:ext>
            </a:extLst>
          </p:cNvPr>
          <p:cNvSpPr txBox="1"/>
          <p:nvPr/>
        </p:nvSpPr>
        <p:spPr>
          <a:xfrm>
            <a:off x="2359152" y="530352"/>
            <a:ext cx="2011680" cy="27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EDA_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2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E6029D87-3CF4-D13B-7313-5433EE49EB0B}"/>
              </a:ext>
            </a:extLst>
          </p:cNvPr>
          <p:cNvCxnSpPr/>
          <p:nvPr/>
        </p:nvCxnSpPr>
        <p:spPr>
          <a:xfrm>
            <a:off x="2359152" y="868680"/>
            <a:ext cx="9006840" cy="0"/>
          </a:xfrm>
          <a:prstGeom prst="line">
            <a:avLst/>
          </a:prstGeom>
          <a:ln w="17780">
            <a:solidFill>
              <a:srgbClr val="DEF1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4E38947-A3A8-253F-E580-5F0B042AC413}"/>
              </a:ext>
            </a:extLst>
          </p:cNvPr>
          <p:cNvSpPr txBox="1"/>
          <p:nvPr/>
        </p:nvSpPr>
        <p:spPr>
          <a:xfrm>
            <a:off x="2359152" y="1022120"/>
            <a:ext cx="6309360" cy="781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35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가설 별 탐색적 데이터 분석</a:t>
            </a:r>
            <a:endParaRPr kumimoji="0" lang="en-US" altLang="ko-KR" sz="2350" b="0" i="0" u="none" strike="noStrike" kern="1200" cap="none" spc="0" normalizeH="0" baseline="0" noProof="0" dirty="0">
              <a:ln>
                <a:noFill/>
              </a:ln>
              <a:solidFill>
                <a:srgbClr val="223035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   :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 지역</a:t>
            </a:r>
            <a:r>
              <a:rPr lang="en-US" altLang="ko-KR" dirty="0">
                <a:solidFill>
                  <a:srgbClr val="223035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</a:t>
            </a:r>
            <a:r>
              <a:rPr lang="ko-KR" altLang="en-US" dirty="0">
                <a:solidFill>
                  <a:srgbClr val="223035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별 매출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·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소비 분석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박인해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223035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A1A8793-AC23-8CC4-3B9E-0564D9B5D686}"/>
              </a:ext>
            </a:extLst>
          </p:cNvPr>
          <p:cNvSpPr/>
          <p:nvPr/>
        </p:nvSpPr>
        <p:spPr>
          <a:xfrm>
            <a:off x="5655444" y="4543294"/>
            <a:ext cx="2743200" cy="347472"/>
          </a:xfrm>
          <a:prstGeom prst="roundRect">
            <a:avLst/>
          </a:prstGeom>
          <a:solidFill>
            <a:srgbClr val="DEF1F3"/>
          </a:solidFill>
          <a:ln w="12700">
            <a:solidFill>
              <a:srgbClr val="DE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80" b="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주요 데이터</a:t>
            </a:r>
            <a:endParaRPr kumimoji="0" sz="1180" b="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4AEC792-3FF2-2C33-7EB8-A9CCBE433C6C}"/>
              </a:ext>
            </a:extLst>
          </p:cNvPr>
          <p:cNvGrpSpPr/>
          <p:nvPr/>
        </p:nvGrpSpPr>
        <p:grpSpPr>
          <a:xfrm>
            <a:off x="3724092" y="5191535"/>
            <a:ext cx="2078262" cy="781621"/>
            <a:chOff x="2522082" y="5191535"/>
            <a:chExt cx="2078262" cy="781621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5A471E4E-7523-B06D-2DF8-DD6FFAA8F9BD}"/>
                </a:ext>
              </a:extLst>
            </p:cNvPr>
            <p:cNvSpPr/>
            <p:nvPr/>
          </p:nvSpPr>
          <p:spPr>
            <a:xfrm>
              <a:off x="2522082" y="5191535"/>
              <a:ext cx="2078262" cy="781621"/>
            </a:xfrm>
            <a:prstGeom prst="roundRect">
              <a:avLst/>
            </a:prstGeom>
            <a:solidFill>
              <a:srgbClr val="FFFFFF"/>
            </a:solidFill>
            <a:ln w="14604">
              <a:solidFill>
                <a:srgbClr val="DCE2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73F7763-D2A8-9BC2-C6DD-99AFE310A709}"/>
                </a:ext>
              </a:extLst>
            </p:cNvPr>
            <p:cNvSpPr txBox="1"/>
            <p:nvPr/>
          </p:nvSpPr>
          <p:spPr>
            <a:xfrm>
              <a:off x="2707641" y="5304320"/>
              <a:ext cx="1707144" cy="55605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5747C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+mn-cs"/>
                </a:rPr>
                <a:t>지역 전체 매출 증가율</a:t>
              </a:r>
              <a:endPara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76F28539-6564-3DAC-E52F-BE2F691449D2}"/>
              </a:ext>
            </a:extLst>
          </p:cNvPr>
          <p:cNvGrpSpPr/>
          <p:nvPr/>
        </p:nvGrpSpPr>
        <p:grpSpPr>
          <a:xfrm>
            <a:off x="5987913" y="5191535"/>
            <a:ext cx="2078262" cy="781621"/>
            <a:chOff x="4856003" y="5191535"/>
            <a:chExt cx="2078262" cy="781621"/>
          </a:xfrm>
        </p:grpSpPr>
        <p:sp>
          <p:nvSpPr>
            <p:cNvPr id="19" name="Rounded Rectangle 15">
              <a:extLst>
                <a:ext uri="{FF2B5EF4-FFF2-40B4-BE49-F238E27FC236}">
                  <a16:creationId xmlns:a16="http://schemas.microsoft.com/office/drawing/2014/main" id="{FBFBEF38-122B-CB5D-556C-3686498D51C5}"/>
                </a:ext>
              </a:extLst>
            </p:cNvPr>
            <p:cNvSpPr/>
            <p:nvPr/>
          </p:nvSpPr>
          <p:spPr>
            <a:xfrm>
              <a:off x="4856003" y="5191535"/>
              <a:ext cx="2078262" cy="781621"/>
            </a:xfrm>
            <a:prstGeom prst="roundRect">
              <a:avLst/>
            </a:prstGeom>
            <a:solidFill>
              <a:srgbClr val="FFFFFF"/>
            </a:solidFill>
            <a:ln w="14604">
              <a:solidFill>
                <a:srgbClr val="DCE2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0548E04-C62E-9EFC-9B7B-A1F8F061EC04}"/>
                </a:ext>
              </a:extLst>
            </p:cNvPr>
            <p:cNvSpPr txBox="1"/>
            <p:nvPr/>
          </p:nvSpPr>
          <p:spPr>
            <a:xfrm>
              <a:off x="5041562" y="5422814"/>
              <a:ext cx="1707144" cy="31906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5747C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+mn-cs"/>
                </a:rPr>
                <a:t>현지인 소비 증감률</a:t>
              </a:r>
              <a:endPara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D3F38746-C651-3DB3-161F-774198AEAEFC}"/>
              </a:ext>
            </a:extLst>
          </p:cNvPr>
          <p:cNvGrpSpPr/>
          <p:nvPr/>
        </p:nvGrpSpPr>
        <p:grpSpPr>
          <a:xfrm>
            <a:off x="8251734" y="5191535"/>
            <a:ext cx="2078262" cy="781621"/>
            <a:chOff x="9453745" y="5191535"/>
            <a:chExt cx="2078262" cy="781621"/>
          </a:xfrm>
        </p:grpSpPr>
        <p:sp>
          <p:nvSpPr>
            <p:cNvPr id="33" name="Rounded Rectangle 15">
              <a:extLst>
                <a:ext uri="{FF2B5EF4-FFF2-40B4-BE49-F238E27FC236}">
                  <a16:creationId xmlns:a16="http://schemas.microsoft.com/office/drawing/2014/main" id="{F9384A41-E825-D296-8A2E-4CF0AADCBDFF}"/>
                </a:ext>
              </a:extLst>
            </p:cNvPr>
            <p:cNvSpPr/>
            <p:nvPr/>
          </p:nvSpPr>
          <p:spPr>
            <a:xfrm>
              <a:off x="9453745" y="5191535"/>
              <a:ext cx="2078262" cy="781621"/>
            </a:xfrm>
            <a:prstGeom prst="roundRect">
              <a:avLst/>
            </a:prstGeom>
            <a:solidFill>
              <a:srgbClr val="FFFFFF"/>
            </a:solidFill>
            <a:ln w="14604">
              <a:solidFill>
                <a:srgbClr val="DCE2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A842CE5-2D6D-3F75-4502-E6945839C54B}"/>
                </a:ext>
              </a:extLst>
            </p:cNvPr>
            <p:cNvSpPr txBox="1"/>
            <p:nvPr/>
          </p:nvSpPr>
          <p:spPr>
            <a:xfrm>
              <a:off x="9639304" y="5406624"/>
              <a:ext cx="1707144" cy="35144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5747C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+mn-cs"/>
                </a:rPr>
                <a:t>지역별 소비 흐름</a:t>
              </a:r>
              <a:endPara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866097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1258C-3FEC-0020-5A1D-253E32B57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그룹 94">
            <a:extLst>
              <a:ext uri="{FF2B5EF4-FFF2-40B4-BE49-F238E27FC236}">
                <a16:creationId xmlns:a16="http://schemas.microsoft.com/office/drawing/2014/main" id="{85080097-C64B-A1B0-A300-34E7C28DD6BE}"/>
              </a:ext>
            </a:extLst>
          </p:cNvPr>
          <p:cNvGrpSpPr/>
          <p:nvPr/>
        </p:nvGrpSpPr>
        <p:grpSpPr>
          <a:xfrm>
            <a:off x="7031520" y="2448450"/>
            <a:ext cx="1298880" cy="2423160"/>
            <a:chOff x="6656400" y="2423160"/>
            <a:chExt cx="1298880" cy="2423160"/>
          </a:xfrm>
        </p:grpSpPr>
        <p:sp>
          <p:nvSpPr>
            <p:cNvPr id="80" name="Shape 31">
              <a:extLst>
                <a:ext uri="{FF2B5EF4-FFF2-40B4-BE49-F238E27FC236}">
                  <a16:creationId xmlns:a16="http://schemas.microsoft.com/office/drawing/2014/main" id="{B2211721-CDB5-B3A7-DE7D-488DCD5A7C30}"/>
                </a:ext>
              </a:extLst>
            </p:cNvPr>
            <p:cNvSpPr/>
            <p:nvPr/>
          </p:nvSpPr>
          <p:spPr>
            <a:xfrm flipV="1">
              <a:off x="6656400" y="2423160"/>
              <a:ext cx="1298880" cy="1188358"/>
            </a:xfrm>
            <a:prstGeom prst="line">
              <a:avLst/>
            </a:prstGeom>
            <a:ln w="16510">
              <a:solidFill>
                <a:srgbClr val="DCE2E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Shape 33">
              <a:extLst>
                <a:ext uri="{FF2B5EF4-FFF2-40B4-BE49-F238E27FC236}">
                  <a16:creationId xmlns:a16="http://schemas.microsoft.com/office/drawing/2014/main" id="{767C6219-9DA2-1883-47AC-F6653F6AE9B6}"/>
                </a:ext>
              </a:extLst>
            </p:cNvPr>
            <p:cNvSpPr/>
            <p:nvPr/>
          </p:nvSpPr>
          <p:spPr>
            <a:xfrm>
              <a:off x="6656400" y="3611518"/>
              <a:ext cx="1298880" cy="1234802"/>
            </a:xfrm>
            <a:prstGeom prst="line">
              <a:avLst/>
            </a:prstGeom>
            <a:ln w="16510">
              <a:solidFill>
                <a:srgbClr val="DCE2E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0C4499E3-117F-BE25-0E86-54F0984257D7}"/>
              </a:ext>
            </a:extLst>
          </p:cNvPr>
          <p:cNvGrpSpPr/>
          <p:nvPr/>
        </p:nvGrpSpPr>
        <p:grpSpPr>
          <a:xfrm flipH="1">
            <a:off x="3902881" y="2448450"/>
            <a:ext cx="1273199" cy="2423160"/>
            <a:chOff x="6808800" y="2575560"/>
            <a:chExt cx="1298880" cy="2423160"/>
          </a:xfrm>
        </p:grpSpPr>
        <p:sp>
          <p:nvSpPr>
            <p:cNvPr id="91" name="Shape 31">
              <a:extLst>
                <a:ext uri="{FF2B5EF4-FFF2-40B4-BE49-F238E27FC236}">
                  <a16:creationId xmlns:a16="http://schemas.microsoft.com/office/drawing/2014/main" id="{D0DBE405-DC7A-E7B1-1F1C-20204CB40D7A}"/>
                </a:ext>
              </a:extLst>
            </p:cNvPr>
            <p:cNvSpPr/>
            <p:nvPr/>
          </p:nvSpPr>
          <p:spPr>
            <a:xfrm flipV="1">
              <a:off x="6808800" y="2575560"/>
              <a:ext cx="1298880" cy="1188358"/>
            </a:xfrm>
            <a:prstGeom prst="line">
              <a:avLst/>
            </a:prstGeom>
            <a:ln w="16510">
              <a:solidFill>
                <a:srgbClr val="DCE2E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Shape 33">
              <a:extLst>
                <a:ext uri="{FF2B5EF4-FFF2-40B4-BE49-F238E27FC236}">
                  <a16:creationId xmlns:a16="http://schemas.microsoft.com/office/drawing/2014/main" id="{58E12495-5141-E660-344A-695E4716B209}"/>
                </a:ext>
              </a:extLst>
            </p:cNvPr>
            <p:cNvSpPr/>
            <p:nvPr/>
          </p:nvSpPr>
          <p:spPr>
            <a:xfrm>
              <a:off x="6808800" y="3763918"/>
              <a:ext cx="1298880" cy="1234802"/>
            </a:xfrm>
            <a:prstGeom prst="line">
              <a:avLst/>
            </a:prstGeom>
            <a:ln w="16510">
              <a:solidFill>
                <a:srgbClr val="DCE2E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" name="Text 0">
            <a:extLst>
              <a:ext uri="{FF2B5EF4-FFF2-40B4-BE49-F238E27FC236}">
                <a16:creationId xmlns:a16="http://schemas.microsoft.com/office/drawing/2014/main" id="{4AFED02F-8245-B7C9-F796-12E33123BAC7}"/>
              </a:ext>
            </a:extLst>
          </p:cNvPr>
          <p:cNvSpPr/>
          <p:nvPr/>
        </p:nvSpPr>
        <p:spPr>
          <a:xfrm>
            <a:off x="530352" y="246888"/>
            <a:ext cx="163658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 latinLnBrk="0"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0</a:t>
            </a: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1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. </a:t>
            </a:r>
            <a:r>
              <a:rPr lang="en-US" altLang="ko-KR" sz="900" dirty="0">
                <a:solidFill>
                  <a:srgbClr val="6E7887"/>
                </a:solidFill>
                <a:latin typeface="HGGGothicssi_Pro 20g"/>
                <a:ea typeface="HGGGothicssi_Pro 20g"/>
              </a:rPr>
              <a:t>Hypotheses Summary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B6FBC48-7B5A-D04A-04C0-644375C4AFE8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8E50D9D-CA57-6ED7-354F-2F0D84EA55E3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>
              <a:tabLst>
                <a:tab pos="0" algn="l"/>
              </a:tabLst>
              <a:defRPr/>
            </a:pPr>
            <a:r>
              <a:rPr lang="zh-CN" altLang="en-US" dirty="0">
                <a:solidFill>
                  <a:srgbClr val="141414"/>
                </a:solidFill>
                <a:latin typeface="HGGGothicssi_Pro 80g"/>
                <a:ea typeface="HGGGothicssi_Pro 80g"/>
              </a:rPr>
              <a:t>지역별 매출</a:t>
            </a:r>
            <a:r>
              <a:rPr lang="en-US" altLang="ko-KR" dirty="0">
                <a:solidFill>
                  <a:srgbClr val="141414"/>
                </a:solidFill>
                <a:latin typeface="HGGGothicssi_Pro 80g"/>
                <a:ea typeface="HGGGothicssi_Pro 80g"/>
              </a:rPr>
              <a:t>·</a:t>
            </a:r>
            <a:r>
              <a:rPr lang="zh-CN" altLang="en-US" dirty="0">
                <a:solidFill>
                  <a:srgbClr val="141414"/>
                </a:solidFill>
                <a:latin typeface="HGGGothicssi_Pro 80g"/>
                <a:ea typeface="HGGGothicssi_Pro 80g"/>
              </a:rPr>
              <a:t>소비와 폐업률 가설 검증</a:t>
            </a:r>
            <a:endParaRPr lang="en-US" altLang="ko-KR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71C0278-5EA8-4A51-863A-E57E4CC24DD1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 defTabSz="457200" latinLnBrk="0">
              <a:defRPr/>
            </a:pPr>
            <a:r>
              <a:rPr lang="zh-CN" altLang="ko-KR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소비 수준</a:t>
            </a:r>
            <a:r>
              <a:rPr lang="en-US" altLang="ko-KR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, </a:t>
            </a:r>
            <a:r>
              <a:rPr lang="zh-CN" altLang="ko-KR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소비 변화</a:t>
            </a:r>
            <a:r>
              <a:rPr lang="en-US" altLang="ko-KR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, </a:t>
            </a:r>
            <a:r>
              <a:rPr lang="zh-CN" altLang="ko-KR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변동성</a:t>
            </a:r>
            <a:r>
              <a:rPr lang="en-US" altLang="ko-KR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, </a:t>
            </a:r>
            <a:r>
              <a:rPr lang="zh-CN" altLang="ko-KR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종합 소비 요인을 통해 폐업률과의 관계를 분석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6E7887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09829CD-D30C-70FA-F873-B31D8494DEC2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594C4D14-F96A-74FC-8721-C053CC00A87E}"/>
              </a:ext>
            </a:extLst>
          </p:cNvPr>
          <p:cNvGrpSpPr/>
          <p:nvPr/>
        </p:nvGrpSpPr>
        <p:grpSpPr>
          <a:xfrm>
            <a:off x="5181780" y="2679120"/>
            <a:ext cx="1828440" cy="1828440"/>
            <a:chOff x="4800600" y="2057400"/>
            <a:chExt cx="1828440" cy="1828440"/>
          </a:xfrm>
        </p:grpSpPr>
        <p:sp>
          <p:nvSpPr>
            <p:cNvPr id="15" name="Shape 4">
              <a:extLst>
                <a:ext uri="{FF2B5EF4-FFF2-40B4-BE49-F238E27FC236}">
                  <a16:creationId xmlns:a16="http://schemas.microsoft.com/office/drawing/2014/main" id="{C2C203FE-633B-8C5F-DEBA-09479FA62225}"/>
                </a:ext>
              </a:extLst>
            </p:cNvPr>
            <p:cNvSpPr/>
            <p:nvPr/>
          </p:nvSpPr>
          <p:spPr>
            <a:xfrm>
              <a:off x="4800600" y="2057400"/>
              <a:ext cx="1828440" cy="182844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23C0C9"/>
              </a:solidFill>
              <a:round/>
            </a:ln>
            <a:effectLst>
              <a:outerShdw blurRad="12600" dist="50402" dir="2700000" algn="bl" rotWithShape="0">
                <a:srgbClr val="CBD5E1">
                  <a:alpha val="2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Text 5">
              <a:extLst>
                <a:ext uri="{FF2B5EF4-FFF2-40B4-BE49-F238E27FC236}">
                  <a16:creationId xmlns:a16="http://schemas.microsoft.com/office/drawing/2014/main" id="{2ADDCA0E-6D8D-C415-4EFC-C42AB918E654}"/>
                </a:ext>
              </a:extLst>
            </p:cNvPr>
            <p:cNvSpPr/>
            <p:nvPr/>
          </p:nvSpPr>
          <p:spPr>
            <a:xfrm>
              <a:off x="5074920" y="2720340"/>
              <a:ext cx="1279800" cy="502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0" tIns="360" rIns="360" bIns="360" anchor="ctr">
              <a:normAutofit fontScale="92500" lnSpcReduction="1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CN" sz="1900" b="0" u="none" strike="noStrike" dirty="0">
                  <a:solidFill>
                    <a:srgbClr val="141414"/>
                  </a:solidFill>
                  <a:effectLst/>
                  <a:uFillTx/>
                  <a:latin typeface="HGGGothicssi_Pro 80g"/>
                  <a:ea typeface="HGGGothicssi_Pro 80g"/>
                </a:rPr>
                <a:t>지역별 소비</a:t>
              </a:r>
              <a:endParaRPr lang="en-US" sz="19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CN" sz="1900" b="0" u="none" strike="noStrike" dirty="0">
                  <a:solidFill>
                    <a:srgbClr val="141414"/>
                  </a:solidFill>
                  <a:effectLst/>
                  <a:uFillTx/>
                  <a:latin typeface="HGGGothicssi_Pro 80g"/>
                  <a:ea typeface="HGGGothicssi_Pro 80g"/>
                </a:rPr>
                <a:t>폐업률 관계</a:t>
              </a:r>
              <a:endParaRPr lang="en-US" sz="19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" name="Shape 6">
            <a:extLst>
              <a:ext uri="{FF2B5EF4-FFF2-40B4-BE49-F238E27FC236}">
                <a16:creationId xmlns:a16="http://schemas.microsoft.com/office/drawing/2014/main" id="{BD5A7144-F998-294F-974D-9C0B5D76B9B3}"/>
              </a:ext>
            </a:extLst>
          </p:cNvPr>
          <p:cNvSpPr/>
          <p:nvPr/>
        </p:nvSpPr>
        <p:spPr>
          <a:xfrm>
            <a:off x="701220" y="1691640"/>
            <a:ext cx="3428640" cy="14626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2EA"/>
            </a:solidFill>
            <a:round/>
          </a:ln>
          <a:effectLst>
            <a:outerShdw blurRad="12600" dist="50402" dir="2700000" algn="bl" rotWithShape="0">
              <a:srgbClr val="D7DEE8">
                <a:alpha val="2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CBD40639-A653-D811-A0DE-452B4AE59B4A}"/>
              </a:ext>
            </a:extLst>
          </p:cNvPr>
          <p:cNvSpPr/>
          <p:nvPr/>
        </p:nvSpPr>
        <p:spPr>
          <a:xfrm>
            <a:off x="701220" y="1691640"/>
            <a:ext cx="3428640" cy="438480"/>
          </a:xfrm>
          <a:prstGeom prst="roundRect">
            <a:avLst>
              <a:gd name="adj" fmla="val 20833"/>
            </a:avLst>
          </a:prstGeom>
          <a:solidFill>
            <a:srgbClr val="23C0C9"/>
          </a:solidFill>
          <a:ln w="12700">
            <a:solidFill>
              <a:srgbClr val="23C0C9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45A198E1-6096-EF1D-F7D7-0335BFC69856}"/>
              </a:ext>
            </a:extLst>
          </p:cNvPr>
          <p:cNvSpPr/>
          <p:nvPr/>
        </p:nvSpPr>
        <p:spPr>
          <a:xfrm>
            <a:off x="774300" y="1760400"/>
            <a:ext cx="3282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FFFFF"/>
                </a:solidFill>
                <a:effectLst/>
                <a:uFillTx/>
                <a:latin typeface="HGGGothicssi_Pro 60g"/>
                <a:ea typeface="HGGGothicssi_Pro 60g"/>
              </a:rPr>
              <a:t>H1  </a:t>
            </a:r>
            <a:r>
              <a:rPr lang="zh-CN" sz="1450" b="0" u="none" strike="noStrike">
                <a:solidFill>
                  <a:srgbClr val="FFFFFF"/>
                </a:solidFill>
                <a:effectLst/>
                <a:uFillTx/>
                <a:latin typeface="HGGGothicssi_Pro 60g"/>
                <a:ea typeface="HGGGothicssi_Pro 60g"/>
              </a:rPr>
              <a:t>소비 수준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BC2F27-5E02-7039-5CD0-023F0ECA0ECC}"/>
              </a:ext>
            </a:extLst>
          </p:cNvPr>
          <p:cNvSpPr/>
          <p:nvPr/>
        </p:nvSpPr>
        <p:spPr>
          <a:xfrm>
            <a:off x="780000" y="2236470"/>
            <a:ext cx="32710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소비 규모가 높은 지역에서 폐업률도 높게 나타나는가</a:t>
            </a:r>
            <a:r>
              <a:rPr lang="en-US" sz="110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?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7543CA9D-4562-DF0E-E762-4A562B146AA3}"/>
              </a:ext>
            </a:extLst>
          </p:cNvPr>
          <p:cNvGrpSpPr/>
          <p:nvPr/>
        </p:nvGrpSpPr>
        <p:grpSpPr>
          <a:xfrm>
            <a:off x="1844220" y="2679120"/>
            <a:ext cx="1142640" cy="328680"/>
            <a:chOff x="2712900" y="2679120"/>
            <a:chExt cx="1142640" cy="328680"/>
          </a:xfrm>
        </p:grpSpPr>
        <p:sp>
          <p:nvSpPr>
            <p:cNvPr id="35" name="Shape 10">
              <a:extLst>
                <a:ext uri="{FF2B5EF4-FFF2-40B4-BE49-F238E27FC236}">
                  <a16:creationId xmlns:a16="http://schemas.microsoft.com/office/drawing/2014/main" id="{492C9529-A288-42CF-8E6E-B7F2593A0266}"/>
                </a:ext>
              </a:extLst>
            </p:cNvPr>
            <p:cNvSpPr/>
            <p:nvPr/>
          </p:nvSpPr>
          <p:spPr>
            <a:xfrm>
              <a:off x="2712900" y="2679120"/>
              <a:ext cx="1142640" cy="328680"/>
            </a:xfrm>
            <a:prstGeom prst="roundRect">
              <a:avLst>
                <a:gd name="adj" fmla="val 33333"/>
              </a:avLst>
            </a:prstGeom>
            <a:solidFill>
              <a:srgbClr val="F7F9FC"/>
            </a:solidFill>
            <a:ln w="12700">
              <a:solidFill>
                <a:srgbClr val="F28C4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Text 11">
              <a:extLst>
                <a:ext uri="{FF2B5EF4-FFF2-40B4-BE49-F238E27FC236}">
                  <a16:creationId xmlns:a16="http://schemas.microsoft.com/office/drawing/2014/main" id="{C6847B19-377B-ECC2-962C-434E6DB542D5}"/>
                </a:ext>
              </a:extLst>
            </p:cNvPr>
            <p:cNvSpPr/>
            <p:nvPr/>
          </p:nvSpPr>
          <p:spPr>
            <a:xfrm>
              <a:off x="2740260" y="2761380"/>
              <a:ext cx="1087920" cy="16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0" tIns="360" rIns="360" bIns="360" anchor="ctr">
              <a:normAutofit lnSpcReduction="1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CN" sz="1150" b="0" u="none" strike="noStrike" dirty="0">
                  <a:solidFill>
                    <a:srgbClr val="F28C40"/>
                  </a:solidFill>
                  <a:effectLst/>
                  <a:uFillTx/>
                  <a:latin typeface="HGGGothicssi_Pro 60g"/>
                  <a:ea typeface="HGGGothicssi_Pro 60g"/>
                </a:rPr>
                <a:t>부분 지지</a:t>
              </a:r>
              <a:endParaRPr lang="en-US" sz="115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9" name="Shape 12">
            <a:extLst>
              <a:ext uri="{FF2B5EF4-FFF2-40B4-BE49-F238E27FC236}">
                <a16:creationId xmlns:a16="http://schemas.microsoft.com/office/drawing/2014/main" id="{1998660E-7CAC-3D92-40A0-23317D59FB98}"/>
              </a:ext>
            </a:extLst>
          </p:cNvPr>
          <p:cNvSpPr/>
          <p:nvPr/>
        </p:nvSpPr>
        <p:spPr>
          <a:xfrm>
            <a:off x="8062140" y="1691640"/>
            <a:ext cx="3428640" cy="14626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2EA"/>
            </a:solidFill>
            <a:round/>
          </a:ln>
          <a:effectLst>
            <a:outerShdw blurRad="12600" dist="50402" dir="2700000" algn="bl" rotWithShape="0">
              <a:srgbClr val="D7DEE8">
                <a:alpha val="2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3">
            <a:extLst>
              <a:ext uri="{FF2B5EF4-FFF2-40B4-BE49-F238E27FC236}">
                <a16:creationId xmlns:a16="http://schemas.microsoft.com/office/drawing/2014/main" id="{33992FD2-56B8-B884-C389-5D829C294026}"/>
              </a:ext>
            </a:extLst>
          </p:cNvPr>
          <p:cNvSpPr/>
          <p:nvPr/>
        </p:nvSpPr>
        <p:spPr>
          <a:xfrm>
            <a:off x="8062140" y="1691640"/>
            <a:ext cx="3428640" cy="438480"/>
          </a:xfrm>
          <a:prstGeom prst="roundRect">
            <a:avLst>
              <a:gd name="adj" fmla="val 20833"/>
            </a:avLst>
          </a:prstGeom>
          <a:solidFill>
            <a:srgbClr val="23C0C9"/>
          </a:solidFill>
          <a:ln w="12700">
            <a:solidFill>
              <a:srgbClr val="23C0C9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4">
            <a:extLst>
              <a:ext uri="{FF2B5EF4-FFF2-40B4-BE49-F238E27FC236}">
                <a16:creationId xmlns:a16="http://schemas.microsoft.com/office/drawing/2014/main" id="{0B32C234-1620-4ACD-BE6A-8556703435A4}"/>
              </a:ext>
            </a:extLst>
          </p:cNvPr>
          <p:cNvSpPr/>
          <p:nvPr/>
        </p:nvSpPr>
        <p:spPr>
          <a:xfrm>
            <a:off x="8135220" y="1760400"/>
            <a:ext cx="3282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FFFFF"/>
                </a:solidFill>
                <a:effectLst/>
                <a:uFillTx/>
                <a:latin typeface="HGGGothicssi_Pro 60g"/>
                <a:ea typeface="HGGGothicssi_Pro 60g"/>
              </a:rPr>
              <a:t>H2  </a:t>
            </a:r>
            <a:r>
              <a:rPr lang="zh-CN" sz="1450" b="0" u="none" strike="noStrike">
                <a:solidFill>
                  <a:srgbClr val="FFFFFF"/>
                </a:solidFill>
                <a:effectLst/>
                <a:uFillTx/>
                <a:latin typeface="HGGGothicssi_Pro 60g"/>
                <a:ea typeface="HGGGothicssi_Pro 60g"/>
              </a:rPr>
              <a:t>소비 변화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5">
            <a:extLst>
              <a:ext uri="{FF2B5EF4-FFF2-40B4-BE49-F238E27FC236}">
                <a16:creationId xmlns:a16="http://schemas.microsoft.com/office/drawing/2014/main" id="{E4FCA5E0-2D22-2180-F8E0-63BD171D7500}"/>
              </a:ext>
            </a:extLst>
          </p:cNvPr>
          <p:cNvSpPr/>
          <p:nvPr/>
        </p:nvSpPr>
        <p:spPr>
          <a:xfrm>
            <a:off x="8140920" y="2236470"/>
            <a:ext cx="32710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소비금액 변화가 폐업률 변화와 함께 움직이는가</a:t>
            </a:r>
            <a:r>
              <a:rPr lang="en-US" sz="110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?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95AAA4A5-9CE0-81C6-0A72-BA9541609F08}"/>
              </a:ext>
            </a:extLst>
          </p:cNvPr>
          <p:cNvGrpSpPr/>
          <p:nvPr/>
        </p:nvGrpSpPr>
        <p:grpSpPr>
          <a:xfrm>
            <a:off x="9205140" y="2679120"/>
            <a:ext cx="1142640" cy="328680"/>
            <a:chOff x="10073820" y="2679120"/>
            <a:chExt cx="1142640" cy="328680"/>
          </a:xfrm>
        </p:grpSpPr>
        <p:sp>
          <p:nvSpPr>
            <p:cNvPr id="50" name="Shape 16">
              <a:extLst>
                <a:ext uri="{FF2B5EF4-FFF2-40B4-BE49-F238E27FC236}">
                  <a16:creationId xmlns:a16="http://schemas.microsoft.com/office/drawing/2014/main" id="{68408AA0-474C-A9ED-E4AB-DA64AFC30FD7}"/>
                </a:ext>
              </a:extLst>
            </p:cNvPr>
            <p:cNvSpPr/>
            <p:nvPr/>
          </p:nvSpPr>
          <p:spPr>
            <a:xfrm>
              <a:off x="10073820" y="2679120"/>
              <a:ext cx="1142640" cy="328680"/>
            </a:xfrm>
            <a:prstGeom prst="roundRect">
              <a:avLst>
                <a:gd name="adj" fmla="val 33333"/>
              </a:avLst>
            </a:prstGeom>
            <a:solidFill>
              <a:srgbClr val="F7F9FC"/>
            </a:solidFill>
            <a:ln w="12700">
              <a:solidFill>
                <a:srgbClr val="F28C4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Text 17">
              <a:extLst>
                <a:ext uri="{FF2B5EF4-FFF2-40B4-BE49-F238E27FC236}">
                  <a16:creationId xmlns:a16="http://schemas.microsoft.com/office/drawing/2014/main" id="{4732A14D-037F-0D30-C304-5D13753A7FDC}"/>
                </a:ext>
              </a:extLst>
            </p:cNvPr>
            <p:cNvSpPr/>
            <p:nvPr/>
          </p:nvSpPr>
          <p:spPr>
            <a:xfrm>
              <a:off x="10101180" y="2761380"/>
              <a:ext cx="1087920" cy="16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0" tIns="360" rIns="360" bIns="360" anchor="ctr">
              <a:normAutofit lnSpcReduction="1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CN" sz="1150" b="0" u="none" strike="noStrike">
                  <a:solidFill>
                    <a:srgbClr val="F28C40"/>
                  </a:solidFill>
                  <a:effectLst/>
                  <a:uFillTx/>
                  <a:latin typeface="HGGGothicssi_Pro 60g"/>
                  <a:ea typeface="HGGGothicssi_Pro 60g"/>
                </a:rPr>
                <a:t>부분 지지</a:t>
              </a:r>
              <a:endPara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4" name="Shape 18">
            <a:extLst>
              <a:ext uri="{FF2B5EF4-FFF2-40B4-BE49-F238E27FC236}">
                <a16:creationId xmlns:a16="http://schemas.microsoft.com/office/drawing/2014/main" id="{8011AE4D-3C61-BF42-2FF6-E385902F7E9B}"/>
              </a:ext>
            </a:extLst>
          </p:cNvPr>
          <p:cNvSpPr/>
          <p:nvPr/>
        </p:nvSpPr>
        <p:spPr>
          <a:xfrm>
            <a:off x="695520" y="4114800"/>
            <a:ext cx="3428640" cy="14626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2EA"/>
            </a:solidFill>
            <a:round/>
          </a:ln>
          <a:effectLst>
            <a:outerShdw blurRad="12600" dist="50402" dir="2700000" algn="bl" rotWithShape="0">
              <a:srgbClr val="D7DEE8">
                <a:alpha val="2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9">
            <a:extLst>
              <a:ext uri="{FF2B5EF4-FFF2-40B4-BE49-F238E27FC236}">
                <a16:creationId xmlns:a16="http://schemas.microsoft.com/office/drawing/2014/main" id="{3E22727E-67FE-AB1B-55E6-2926FD48CCC7}"/>
              </a:ext>
            </a:extLst>
          </p:cNvPr>
          <p:cNvSpPr/>
          <p:nvPr/>
        </p:nvSpPr>
        <p:spPr>
          <a:xfrm>
            <a:off x="695520" y="4114800"/>
            <a:ext cx="3428640" cy="438480"/>
          </a:xfrm>
          <a:prstGeom prst="roundRect">
            <a:avLst>
              <a:gd name="adj" fmla="val 20833"/>
            </a:avLst>
          </a:prstGeom>
          <a:solidFill>
            <a:srgbClr val="33AAE3"/>
          </a:solidFill>
          <a:ln w="12700">
            <a:solidFill>
              <a:srgbClr val="33AAE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0">
            <a:extLst>
              <a:ext uri="{FF2B5EF4-FFF2-40B4-BE49-F238E27FC236}">
                <a16:creationId xmlns:a16="http://schemas.microsoft.com/office/drawing/2014/main" id="{22B60606-89C1-9689-0F38-20D5176DA85E}"/>
              </a:ext>
            </a:extLst>
          </p:cNvPr>
          <p:cNvSpPr/>
          <p:nvPr/>
        </p:nvSpPr>
        <p:spPr>
          <a:xfrm>
            <a:off x="768600" y="4183560"/>
            <a:ext cx="3282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FFFFF"/>
                </a:solidFill>
                <a:effectLst/>
                <a:uFillTx/>
                <a:latin typeface="HGGGothicssi_Pro 60g"/>
                <a:ea typeface="HGGGothicssi_Pro 60g"/>
              </a:rPr>
              <a:t>H3  </a:t>
            </a:r>
            <a:r>
              <a:rPr lang="zh-CN" sz="1450" b="0" u="none" strike="noStrike">
                <a:solidFill>
                  <a:srgbClr val="FFFFFF"/>
                </a:solidFill>
                <a:effectLst/>
                <a:uFillTx/>
                <a:latin typeface="HGGGothicssi_Pro 60g"/>
                <a:ea typeface="HGGGothicssi_Pro 60g"/>
              </a:rPr>
              <a:t>소비 변동성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C6E58A32-E50C-7D63-2678-1665276EF58C}"/>
              </a:ext>
            </a:extLst>
          </p:cNvPr>
          <p:cNvSpPr/>
          <p:nvPr/>
        </p:nvSpPr>
        <p:spPr>
          <a:xfrm>
            <a:off x="774300" y="4659630"/>
            <a:ext cx="32710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소비 변동성이 큰 지역일수록 폐업률이 높은가</a:t>
            </a:r>
            <a:r>
              <a:rPr lang="en-US" sz="110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?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5B2626B0-3511-2939-C9B2-D76AB5A66E83}"/>
              </a:ext>
            </a:extLst>
          </p:cNvPr>
          <p:cNvGrpSpPr/>
          <p:nvPr/>
        </p:nvGrpSpPr>
        <p:grpSpPr>
          <a:xfrm>
            <a:off x="1838520" y="5102280"/>
            <a:ext cx="1142640" cy="328680"/>
            <a:chOff x="2707200" y="5102280"/>
            <a:chExt cx="1142640" cy="328680"/>
          </a:xfrm>
        </p:grpSpPr>
        <p:sp>
          <p:nvSpPr>
            <p:cNvPr id="62" name="Shape 22">
              <a:extLst>
                <a:ext uri="{FF2B5EF4-FFF2-40B4-BE49-F238E27FC236}">
                  <a16:creationId xmlns:a16="http://schemas.microsoft.com/office/drawing/2014/main" id="{CACDF8CE-183E-1537-574C-A9AEEEBC347D}"/>
                </a:ext>
              </a:extLst>
            </p:cNvPr>
            <p:cNvSpPr/>
            <p:nvPr/>
          </p:nvSpPr>
          <p:spPr>
            <a:xfrm>
              <a:off x="2707200" y="5102280"/>
              <a:ext cx="1142640" cy="328680"/>
            </a:xfrm>
            <a:prstGeom prst="roundRect">
              <a:avLst>
                <a:gd name="adj" fmla="val 33333"/>
              </a:avLst>
            </a:prstGeom>
            <a:solidFill>
              <a:srgbClr val="F7F9FC"/>
            </a:solidFill>
            <a:ln w="12700">
              <a:solidFill>
                <a:srgbClr val="F28C4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Text 23">
              <a:extLst>
                <a:ext uri="{FF2B5EF4-FFF2-40B4-BE49-F238E27FC236}">
                  <a16:creationId xmlns:a16="http://schemas.microsoft.com/office/drawing/2014/main" id="{04449472-A5C5-D69B-006D-A8758E66E616}"/>
                </a:ext>
              </a:extLst>
            </p:cNvPr>
            <p:cNvSpPr/>
            <p:nvPr/>
          </p:nvSpPr>
          <p:spPr>
            <a:xfrm>
              <a:off x="2734560" y="5184540"/>
              <a:ext cx="1087920" cy="16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0" tIns="360" rIns="360" bIns="360" anchor="ctr">
              <a:normAutofit lnSpcReduction="1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CN" sz="1150" b="0" u="none" strike="noStrike">
                  <a:solidFill>
                    <a:srgbClr val="F28C40"/>
                  </a:solidFill>
                  <a:effectLst/>
                  <a:uFillTx/>
                  <a:latin typeface="HGGGothicssi_Pro 60g"/>
                  <a:ea typeface="HGGGothicssi_Pro 60g"/>
                </a:rPr>
                <a:t>부분 지지</a:t>
              </a:r>
              <a:endPara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6" name="Shape 24">
            <a:extLst>
              <a:ext uri="{FF2B5EF4-FFF2-40B4-BE49-F238E27FC236}">
                <a16:creationId xmlns:a16="http://schemas.microsoft.com/office/drawing/2014/main" id="{B1A1EFBC-C0C2-8732-735B-6C893963A1B5}"/>
              </a:ext>
            </a:extLst>
          </p:cNvPr>
          <p:cNvSpPr/>
          <p:nvPr/>
        </p:nvSpPr>
        <p:spPr>
          <a:xfrm>
            <a:off x="8067690" y="4114800"/>
            <a:ext cx="3428640" cy="14626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2EA"/>
            </a:solidFill>
            <a:round/>
          </a:ln>
          <a:effectLst>
            <a:outerShdw blurRad="12600" dist="50402" dir="2700000" algn="bl" rotWithShape="0">
              <a:srgbClr val="D7DEE8">
                <a:alpha val="2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25">
            <a:extLst>
              <a:ext uri="{FF2B5EF4-FFF2-40B4-BE49-F238E27FC236}">
                <a16:creationId xmlns:a16="http://schemas.microsoft.com/office/drawing/2014/main" id="{2AE817D9-BD9C-7EA1-934F-3A178970B987}"/>
              </a:ext>
            </a:extLst>
          </p:cNvPr>
          <p:cNvSpPr/>
          <p:nvPr/>
        </p:nvSpPr>
        <p:spPr>
          <a:xfrm>
            <a:off x="8067690" y="4114800"/>
            <a:ext cx="3428640" cy="438480"/>
          </a:xfrm>
          <a:prstGeom prst="roundRect">
            <a:avLst>
              <a:gd name="adj" fmla="val 20833"/>
            </a:avLst>
          </a:prstGeom>
          <a:solidFill>
            <a:srgbClr val="33AAE3"/>
          </a:solidFill>
          <a:ln w="12700">
            <a:solidFill>
              <a:srgbClr val="33AAE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6">
            <a:extLst>
              <a:ext uri="{FF2B5EF4-FFF2-40B4-BE49-F238E27FC236}">
                <a16:creationId xmlns:a16="http://schemas.microsoft.com/office/drawing/2014/main" id="{823C9667-C651-1380-E24E-6F599F73510F}"/>
              </a:ext>
            </a:extLst>
          </p:cNvPr>
          <p:cNvSpPr/>
          <p:nvPr/>
        </p:nvSpPr>
        <p:spPr>
          <a:xfrm>
            <a:off x="8140770" y="4183560"/>
            <a:ext cx="3282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FFFFF"/>
                </a:solidFill>
                <a:effectLst/>
                <a:uFillTx/>
                <a:latin typeface="HGGGothicssi_Pro 60g"/>
                <a:ea typeface="HGGGothicssi_Pro 60g"/>
              </a:rPr>
              <a:t>H4  </a:t>
            </a:r>
            <a:r>
              <a:rPr lang="zh-CN" sz="1450" b="0" u="none" strike="noStrike">
                <a:solidFill>
                  <a:srgbClr val="FFFFFF"/>
                </a:solidFill>
                <a:effectLst/>
                <a:uFillTx/>
                <a:latin typeface="HGGGothicssi_Pro 60g"/>
                <a:ea typeface="HGGGothicssi_Pro 60g"/>
              </a:rPr>
              <a:t>종합 소비 요인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7">
            <a:extLst>
              <a:ext uri="{FF2B5EF4-FFF2-40B4-BE49-F238E27FC236}">
                <a16:creationId xmlns:a16="http://schemas.microsoft.com/office/drawing/2014/main" id="{36C0BAA0-3836-3317-8F9C-714B518C273B}"/>
              </a:ext>
            </a:extLst>
          </p:cNvPr>
          <p:cNvSpPr/>
          <p:nvPr/>
        </p:nvSpPr>
        <p:spPr>
          <a:xfrm>
            <a:off x="8146470" y="4659630"/>
            <a:ext cx="32710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복수 소비 지표가 폐업률 변동을 설명하는가</a:t>
            </a:r>
            <a:r>
              <a:rPr lang="en-US" sz="1100" b="0" u="none" strike="noStrike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?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E102EDF7-9EB6-C914-58FB-0A6C67A61D69}"/>
              </a:ext>
            </a:extLst>
          </p:cNvPr>
          <p:cNvGrpSpPr/>
          <p:nvPr/>
        </p:nvGrpSpPr>
        <p:grpSpPr>
          <a:xfrm>
            <a:off x="9210690" y="5102280"/>
            <a:ext cx="1142640" cy="328680"/>
            <a:chOff x="10079370" y="5102280"/>
            <a:chExt cx="1142640" cy="328680"/>
          </a:xfrm>
        </p:grpSpPr>
        <p:sp>
          <p:nvSpPr>
            <p:cNvPr id="74" name="Shape 28">
              <a:extLst>
                <a:ext uri="{FF2B5EF4-FFF2-40B4-BE49-F238E27FC236}">
                  <a16:creationId xmlns:a16="http://schemas.microsoft.com/office/drawing/2014/main" id="{D18B1188-A0FE-8AC7-6440-012C3BB943B4}"/>
                </a:ext>
              </a:extLst>
            </p:cNvPr>
            <p:cNvSpPr/>
            <p:nvPr/>
          </p:nvSpPr>
          <p:spPr>
            <a:xfrm>
              <a:off x="10079370" y="5102280"/>
              <a:ext cx="1142640" cy="328680"/>
            </a:xfrm>
            <a:prstGeom prst="roundRect">
              <a:avLst>
                <a:gd name="adj" fmla="val 33333"/>
              </a:avLst>
            </a:prstGeom>
            <a:solidFill>
              <a:srgbClr val="F7F9FC"/>
            </a:solidFill>
            <a:ln w="12700">
              <a:solidFill>
                <a:srgbClr val="F28C4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Text 29">
              <a:extLst>
                <a:ext uri="{FF2B5EF4-FFF2-40B4-BE49-F238E27FC236}">
                  <a16:creationId xmlns:a16="http://schemas.microsoft.com/office/drawing/2014/main" id="{C877F24C-F332-A321-72D0-DA666F38D44D}"/>
                </a:ext>
              </a:extLst>
            </p:cNvPr>
            <p:cNvSpPr/>
            <p:nvPr/>
          </p:nvSpPr>
          <p:spPr>
            <a:xfrm>
              <a:off x="10106730" y="5184540"/>
              <a:ext cx="1087920" cy="16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0" tIns="360" rIns="360" bIns="360" anchor="ctr">
              <a:normAutofit lnSpcReduction="1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CN" sz="1150" b="0" u="none" strike="noStrike">
                  <a:solidFill>
                    <a:srgbClr val="F28C40"/>
                  </a:solidFill>
                  <a:effectLst/>
                  <a:uFillTx/>
                  <a:latin typeface="HGGGothicssi_Pro 60g"/>
                  <a:ea typeface="HGGGothicssi_Pro 60g"/>
                </a:rPr>
                <a:t>부분 지지</a:t>
              </a:r>
              <a:endPara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6" name="Shape 34">
            <a:extLst>
              <a:ext uri="{FF2B5EF4-FFF2-40B4-BE49-F238E27FC236}">
                <a16:creationId xmlns:a16="http://schemas.microsoft.com/office/drawing/2014/main" id="{2CB7A9D7-D1BA-50E5-685B-9841043F1870}"/>
              </a:ext>
            </a:extLst>
          </p:cNvPr>
          <p:cNvSpPr/>
          <p:nvPr/>
        </p:nvSpPr>
        <p:spPr>
          <a:xfrm>
            <a:off x="822960" y="5925240"/>
            <a:ext cx="10560960" cy="529920"/>
          </a:xfrm>
          <a:prstGeom prst="roundRect">
            <a:avLst>
              <a:gd name="adj" fmla="val 20690"/>
            </a:avLst>
          </a:prstGeom>
          <a:solidFill>
            <a:srgbClr val="F7F9FC"/>
          </a:solidFill>
          <a:ln w="12700">
            <a:solidFill>
              <a:srgbClr val="DC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35">
            <a:extLst>
              <a:ext uri="{FF2B5EF4-FFF2-40B4-BE49-F238E27FC236}">
                <a16:creationId xmlns:a16="http://schemas.microsoft.com/office/drawing/2014/main" id="{D01A7002-8C42-05B5-FD4D-C153B8AEDAA8}"/>
              </a:ext>
            </a:extLst>
          </p:cNvPr>
          <p:cNvSpPr/>
          <p:nvPr/>
        </p:nvSpPr>
        <p:spPr>
          <a:xfrm>
            <a:off x="1005840" y="6151740"/>
            <a:ext cx="101952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3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종합적으로 </a:t>
            </a:r>
            <a:r>
              <a:rPr lang="en-US" sz="123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H1~H4</a:t>
            </a:r>
            <a:r>
              <a:rPr lang="zh-CN" sz="123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는 모두 부분 지지</a:t>
            </a:r>
            <a:r>
              <a:rPr lang="en-US" sz="123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. </a:t>
            </a:r>
            <a:r>
              <a:rPr lang="zh-CN" sz="123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소비 지표와 폐업률 사이의 관계는 확인되지만</a:t>
            </a:r>
            <a:r>
              <a:rPr lang="en-US" sz="123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, </a:t>
            </a:r>
            <a:r>
              <a:rPr lang="zh-CN" sz="123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변수 간 공선성과 분석방법별 차이로 강한 인과로 보기는 어렵다</a:t>
            </a:r>
            <a:r>
              <a:rPr lang="en-US" sz="123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.</a:t>
            </a:r>
            <a:endParaRPr lang="en-US" sz="123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518928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4CD2C-528B-41C7-0907-4C6ADDC03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53968BA-EC61-3989-1387-E05B620A16A6}"/>
              </a:ext>
            </a:extLst>
          </p:cNvPr>
          <p:cNvSpPr/>
          <p:nvPr/>
        </p:nvSpPr>
        <p:spPr>
          <a:xfrm>
            <a:off x="530352" y="246888"/>
            <a:ext cx="163658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 latinLnBrk="0"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0</a:t>
            </a: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2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. </a:t>
            </a:r>
            <a:r>
              <a:rPr lang="en-US" altLang="ko-KR" sz="900" dirty="0">
                <a:solidFill>
                  <a:srgbClr val="6E7887"/>
                </a:solidFill>
                <a:latin typeface="HGGGothicssi_Pro 20g"/>
                <a:ea typeface="HGGGothicssi_Pro 20g"/>
              </a:rPr>
              <a:t>H1 Result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CBC031D-F35E-44FD-B0CF-5B6A0E770DA0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6D4D371-D906-92F2-4C97-1FA451281596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altLang="ko-KR" dirty="0">
                <a:solidFill>
                  <a:srgbClr val="141414"/>
                </a:solidFill>
                <a:latin typeface="HGGGothicssi_Pro 80g"/>
                <a:ea typeface="HGGGothicssi_Pro 80g"/>
              </a:rPr>
              <a:t>H1. </a:t>
            </a:r>
            <a:r>
              <a:rPr lang="zh-CN" altLang="ko-KR" dirty="0">
                <a:solidFill>
                  <a:srgbClr val="141414"/>
                </a:solidFill>
                <a:latin typeface="HGGGothicssi_Pro 80g"/>
                <a:ea typeface="HGGGothicssi_Pro 80g"/>
              </a:rPr>
              <a:t>소비 수준과 폐업률의 관계</a:t>
            </a:r>
            <a:endParaRPr lang="en-US" altLang="ko-KR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8C9CAD0-7A80-3523-0AC8-5735B8715A89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>
              <a:tabLst>
                <a:tab pos="0" algn="l"/>
              </a:tabLst>
            </a:pPr>
            <a:r>
              <a:rPr lang="zh-CN" altLang="ko-KR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소비 규모가 높은 지역에서 폐업률도 높게 나타나는 경향이 있으나</a:t>
            </a:r>
            <a:r>
              <a:rPr lang="en-US" altLang="ko-KR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, </a:t>
            </a:r>
            <a:r>
              <a:rPr lang="zh-CN" altLang="ko-KR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소비 수준만으로 설명하기에는 한계가 있음</a:t>
            </a:r>
            <a:endParaRPr lang="en-US" altLang="ko-KR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27A7DF5-A2D3-0CC9-5440-3F21FEB6A279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AB2819C3-212E-B844-3DE4-B64EDB90C24E}"/>
              </a:ext>
            </a:extLst>
          </p:cNvPr>
          <p:cNvSpPr/>
          <p:nvPr/>
        </p:nvSpPr>
        <p:spPr>
          <a:xfrm>
            <a:off x="594360" y="1572840"/>
            <a:ext cx="5303160" cy="45259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DCE2EA"/>
            </a:solidFill>
            <a:round/>
          </a:ln>
          <a:effectLst>
            <a:outerShdw blurRad="12600" dist="50402" dir="2700000" algn="bl" rotWithShape="0">
              <a:srgbClr val="D7DEE8">
                <a:alpha val="2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FE80907D-FAE4-DDFA-0600-43DF2C639C14}"/>
              </a:ext>
            </a:extLst>
          </p:cNvPr>
          <p:cNvSpPr/>
          <p:nvPr/>
        </p:nvSpPr>
        <p:spPr>
          <a:xfrm>
            <a:off x="594360" y="1572840"/>
            <a:ext cx="5303160" cy="438480"/>
          </a:xfrm>
          <a:prstGeom prst="roundRect">
            <a:avLst>
              <a:gd name="adj" fmla="val 20833"/>
            </a:avLst>
          </a:prstGeom>
          <a:solidFill>
            <a:srgbClr val="23C0C9"/>
          </a:solidFill>
          <a:ln w="12700">
            <a:solidFill>
              <a:srgbClr val="23C0C9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29B0693C-0F30-EB41-3B38-29316F24BABA}"/>
              </a:ext>
            </a:extLst>
          </p:cNvPr>
          <p:cNvSpPr/>
          <p:nvPr/>
        </p:nvSpPr>
        <p:spPr>
          <a:xfrm>
            <a:off x="667440" y="1641240"/>
            <a:ext cx="5157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50" b="0" u="none" strike="noStrike" dirty="0">
                <a:solidFill>
                  <a:srgbClr val="FFFFFF"/>
                </a:solidFill>
                <a:effectLst/>
                <a:uFillTx/>
                <a:latin typeface="HGGGothicssi_Pro 60g"/>
                <a:ea typeface="HGGGothicssi_Pro 60g"/>
              </a:rPr>
              <a:t>그래프 ① 상관관계 히트맵</a:t>
            </a:r>
            <a:endParaRPr lang="en-US" sz="14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" name="Image 0" descr="/mnt/data/인해_가설_trimmed/cell067_out0.png">
            <a:extLst>
              <a:ext uri="{FF2B5EF4-FFF2-40B4-BE49-F238E27FC236}">
                <a16:creationId xmlns:a16="http://schemas.microsoft.com/office/drawing/2014/main" id="{5D52E888-9EB5-79A5-E1CA-4DB56FB4B9D3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80148" y="2138198"/>
            <a:ext cx="4131585" cy="3763876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Shape 7">
            <a:extLst>
              <a:ext uri="{FF2B5EF4-FFF2-40B4-BE49-F238E27FC236}">
                <a16:creationId xmlns:a16="http://schemas.microsoft.com/office/drawing/2014/main" id="{8A9AABBC-705C-3855-C350-D84C634BD05C}"/>
              </a:ext>
            </a:extLst>
          </p:cNvPr>
          <p:cNvSpPr/>
          <p:nvPr/>
        </p:nvSpPr>
        <p:spPr>
          <a:xfrm>
            <a:off x="6172200" y="1572840"/>
            <a:ext cx="5257440" cy="214848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CE2EA"/>
            </a:solidFill>
            <a:round/>
          </a:ln>
          <a:effectLst>
            <a:outerShdw blurRad="12600" dist="50402" dir="2700000" algn="bl" rotWithShape="0">
              <a:srgbClr val="D7DEE8">
                <a:alpha val="2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F28A1E86-87B3-37F7-CC01-3B18724F8341}"/>
              </a:ext>
            </a:extLst>
          </p:cNvPr>
          <p:cNvSpPr/>
          <p:nvPr/>
        </p:nvSpPr>
        <p:spPr>
          <a:xfrm>
            <a:off x="6172200" y="1572840"/>
            <a:ext cx="5257440" cy="438480"/>
          </a:xfrm>
          <a:prstGeom prst="roundRect">
            <a:avLst>
              <a:gd name="adj" fmla="val 20833"/>
            </a:avLst>
          </a:prstGeom>
          <a:solidFill>
            <a:srgbClr val="23C0C9"/>
          </a:solidFill>
          <a:ln w="12700">
            <a:solidFill>
              <a:srgbClr val="23C0C9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758506B2-5D1F-D30C-50FD-91F2D05B6987}"/>
              </a:ext>
            </a:extLst>
          </p:cNvPr>
          <p:cNvSpPr/>
          <p:nvPr/>
        </p:nvSpPr>
        <p:spPr>
          <a:xfrm>
            <a:off x="6245280" y="1641240"/>
            <a:ext cx="5111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50" b="0" u="none" strike="noStrike" dirty="0">
                <a:solidFill>
                  <a:srgbClr val="FFFFFF"/>
                </a:solidFill>
                <a:effectLst/>
                <a:uFillTx/>
                <a:latin typeface="HGGGothicssi_Pro 60g"/>
                <a:ea typeface="HGGGothicssi_Pro 60g"/>
              </a:rPr>
              <a:t>그래프 ② 평균이용금액 ↔ 폐업률</a:t>
            </a:r>
            <a:endParaRPr lang="en-US" sz="14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" name="Image 1" descr="/mnt/data/인해_가설_trimmed/cell068_out0.png">
            <a:extLst>
              <a:ext uri="{FF2B5EF4-FFF2-40B4-BE49-F238E27FC236}">
                <a16:creationId xmlns:a16="http://schemas.microsoft.com/office/drawing/2014/main" id="{3BD4CF2F-08B2-D5B4-5BF5-6B68B8626F8E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581705" y="2131628"/>
            <a:ext cx="2429070" cy="1603732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Shape 10">
            <a:extLst>
              <a:ext uri="{FF2B5EF4-FFF2-40B4-BE49-F238E27FC236}">
                <a16:creationId xmlns:a16="http://schemas.microsoft.com/office/drawing/2014/main" id="{2B407C12-8448-10C3-388D-B0DAABBA17FB}"/>
              </a:ext>
            </a:extLst>
          </p:cNvPr>
          <p:cNvSpPr/>
          <p:nvPr/>
        </p:nvSpPr>
        <p:spPr>
          <a:xfrm>
            <a:off x="6172200" y="3950280"/>
            <a:ext cx="5257440" cy="21484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2EA"/>
            </a:solidFill>
            <a:round/>
          </a:ln>
          <a:effectLst>
            <a:outerShdw blurRad="12600" dist="50402" dir="2700000" algn="bl" rotWithShape="0">
              <a:srgbClr val="D7DEE8">
                <a:alpha val="2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1">
            <a:extLst>
              <a:ext uri="{FF2B5EF4-FFF2-40B4-BE49-F238E27FC236}">
                <a16:creationId xmlns:a16="http://schemas.microsoft.com/office/drawing/2014/main" id="{14A54682-F287-7CFF-5230-4B9237EABD4C}"/>
              </a:ext>
            </a:extLst>
          </p:cNvPr>
          <p:cNvSpPr/>
          <p:nvPr/>
        </p:nvSpPr>
        <p:spPr>
          <a:xfrm>
            <a:off x="6172200" y="3950280"/>
            <a:ext cx="5257440" cy="438480"/>
          </a:xfrm>
          <a:prstGeom prst="roundRect">
            <a:avLst>
              <a:gd name="adj" fmla="val 20833"/>
            </a:avLst>
          </a:prstGeom>
          <a:solidFill>
            <a:srgbClr val="23C0C9"/>
          </a:solidFill>
          <a:ln w="12700">
            <a:solidFill>
              <a:srgbClr val="23C0C9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5E917775-9507-D29C-E54A-B8219E716686}"/>
              </a:ext>
            </a:extLst>
          </p:cNvPr>
          <p:cNvSpPr/>
          <p:nvPr/>
        </p:nvSpPr>
        <p:spPr>
          <a:xfrm>
            <a:off x="6245280" y="4018680"/>
            <a:ext cx="5111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altLang="en-US" sz="1450" b="0" u="none" strike="noStrike" dirty="0">
                <a:solidFill>
                  <a:srgbClr val="FFFFFF"/>
                </a:solidFill>
                <a:effectLst/>
                <a:uFillTx/>
                <a:latin typeface="HGGGothicssi_Pro 60g"/>
                <a:ea typeface="HGGGothicssi_Pro 60g"/>
              </a:rPr>
              <a:t>결론</a:t>
            </a:r>
            <a:endParaRPr lang="en-US" sz="14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EE13AB69-FCE9-91F6-7ED6-52917B810D30}"/>
              </a:ext>
            </a:extLst>
          </p:cNvPr>
          <p:cNvSpPr/>
          <p:nvPr/>
        </p:nvSpPr>
        <p:spPr>
          <a:xfrm>
            <a:off x="6428160" y="4507920"/>
            <a:ext cx="47728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1210" b="1" u="none" strike="noStrike" dirty="0">
                <a:solidFill>
                  <a:srgbClr val="23C0C9"/>
                </a:solidFill>
                <a:effectLst/>
                <a:uFillTx/>
                <a:latin typeface="HGGGothicssi_Pro 40g"/>
                <a:ea typeface="HGGGothicssi_Pro 40g"/>
              </a:rPr>
              <a:t>• </a:t>
            </a:r>
            <a:r>
              <a:rPr lang="zh-CN" sz="121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폐업률과 건당평균이용금액의 상관계수는 </a:t>
            </a:r>
            <a:r>
              <a:rPr lang="en-US" sz="121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0.602</a:t>
            </a:r>
            <a:r>
              <a:rPr lang="zh-CN" sz="121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로 가장 높게 나타남</a:t>
            </a:r>
            <a:endParaRPr lang="en-US" sz="121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1210" b="1" u="none" strike="noStrike" dirty="0">
                <a:solidFill>
                  <a:srgbClr val="23C0C9"/>
                </a:solidFill>
                <a:effectLst/>
                <a:uFillTx/>
                <a:latin typeface="HGGGothicssi_Pro 40g"/>
                <a:ea typeface="HGGGothicssi_Pro 40g"/>
              </a:rPr>
              <a:t>• </a:t>
            </a:r>
            <a:r>
              <a:rPr lang="en-US" sz="121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30</a:t>
            </a:r>
            <a:r>
              <a:rPr lang="zh-CN" sz="121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일기준이용금액도 </a:t>
            </a:r>
            <a:r>
              <a:rPr lang="en-US" sz="121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0.575</a:t>
            </a:r>
            <a:r>
              <a:rPr lang="zh-CN" sz="121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로 양</a:t>
            </a:r>
            <a:r>
              <a:rPr lang="en-US" sz="121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(+)</a:t>
            </a:r>
            <a:r>
              <a:rPr lang="zh-CN" sz="121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의 상관을 보임</a:t>
            </a:r>
            <a:endParaRPr lang="en-US" sz="121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10" b="1" u="none" strike="noStrike" dirty="0">
                <a:solidFill>
                  <a:srgbClr val="23C0C9"/>
                </a:solidFill>
                <a:effectLst/>
                <a:uFillTx/>
                <a:latin typeface="HGGGothicssi_Pro 40g"/>
                <a:ea typeface="HGGGothicssi_Pro 40g"/>
              </a:rPr>
              <a:t>• </a:t>
            </a:r>
            <a:r>
              <a:rPr lang="zh-CN" sz="121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다만 소비 규모 외 지역별 특성</a:t>
            </a:r>
            <a:r>
              <a:rPr lang="en-US" sz="121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·</a:t>
            </a:r>
            <a:r>
              <a:rPr lang="zh-CN" sz="121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상권 구조가 함께 작용할 가능성이 큼</a:t>
            </a:r>
            <a:endParaRPr lang="en-US" sz="121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4">
            <a:extLst>
              <a:ext uri="{FF2B5EF4-FFF2-40B4-BE49-F238E27FC236}">
                <a16:creationId xmlns:a16="http://schemas.microsoft.com/office/drawing/2014/main" id="{AB757F66-0EBB-DDA5-A991-1483E96F86B3}"/>
              </a:ext>
            </a:extLst>
          </p:cNvPr>
          <p:cNvSpPr/>
          <p:nvPr/>
        </p:nvSpPr>
        <p:spPr>
          <a:xfrm>
            <a:off x="6446520" y="5403960"/>
            <a:ext cx="1508400" cy="502560"/>
          </a:xfrm>
          <a:prstGeom prst="roundRect">
            <a:avLst>
              <a:gd name="adj" fmla="val 21818"/>
            </a:avLst>
          </a:prstGeom>
          <a:solidFill>
            <a:srgbClr val="F7F9FC"/>
          </a:solidFill>
          <a:ln w="12700">
            <a:solidFill>
              <a:srgbClr val="DC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1EC541B7-1B10-6C40-48BD-8033235EE246}"/>
              </a:ext>
            </a:extLst>
          </p:cNvPr>
          <p:cNvSpPr/>
          <p:nvPr/>
        </p:nvSpPr>
        <p:spPr>
          <a:xfrm>
            <a:off x="6519600" y="5477040"/>
            <a:ext cx="1362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50" b="0" u="none" strike="noStrike">
                <a:solidFill>
                  <a:srgbClr val="6E7887"/>
                </a:solidFill>
                <a:effectLst/>
                <a:uFillTx/>
                <a:latin typeface="HGGGothicssi_Pro 20g"/>
                <a:ea typeface="HGGGothicssi_Pro 20g"/>
              </a:rPr>
              <a:t>건당평균이용금액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EE06AB46-A5E5-A38F-A6A4-03ABDB56568F}"/>
              </a:ext>
            </a:extLst>
          </p:cNvPr>
          <p:cNvSpPr/>
          <p:nvPr/>
        </p:nvSpPr>
        <p:spPr>
          <a:xfrm>
            <a:off x="6501240" y="5669280"/>
            <a:ext cx="13986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3C0C9"/>
                </a:solidFill>
                <a:effectLst/>
                <a:uFillTx/>
                <a:latin typeface="HGGGothicssi_Pro 60g"/>
                <a:ea typeface="HGGGothicssi_Pro 60g"/>
              </a:rPr>
              <a:t>r = 0.602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7">
            <a:extLst>
              <a:ext uri="{FF2B5EF4-FFF2-40B4-BE49-F238E27FC236}">
                <a16:creationId xmlns:a16="http://schemas.microsoft.com/office/drawing/2014/main" id="{D9FFFDA8-C3BF-0EB3-0D21-92D388F42E50}"/>
              </a:ext>
            </a:extLst>
          </p:cNvPr>
          <p:cNvSpPr/>
          <p:nvPr/>
        </p:nvSpPr>
        <p:spPr>
          <a:xfrm>
            <a:off x="8138160" y="5403960"/>
            <a:ext cx="1508400" cy="502560"/>
          </a:xfrm>
          <a:prstGeom prst="roundRect">
            <a:avLst>
              <a:gd name="adj" fmla="val 21818"/>
            </a:avLst>
          </a:prstGeom>
          <a:solidFill>
            <a:srgbClr val="F7F9FC"/>
          </a:solidFill>
          <a:ln w="12700">
            <a:solidFill>
              <a:srgbClr val="DC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8">
            <a:extLst>
              <a:ext uri="{FF2B5EF4-FFF2-40B4-BE49-F238E27FC236}">
                <a16:creationId xmlns:a16="http://schemas.microsoft.com/office/drawing/2014/main" id="{164D849B-EB8D-B7CC-34A8-24EEB812A86E}"/>
              </a:ext>
            </a:extLst>
          </p:cNvPr>
          <p:cNvSpPr/>
          <p:nvPr/>
        </p:nvSpPr>
        <p:spPr>
          <a:xfrm>
            <a:off x="8211240" y="5477040"/>
            <a:ext cx="1362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E7887"/>
                </a:solidFill>
                <a:effectLst/>
                <a:uFillTx/>
                <a:latin typeface="HGGGothicssi_Pro 20g"/>
                <a:ea typeface="HGGGothicssi_Pro 20g"/>
              </a:rPr>
              <a:t>30</a:t>
            </a:r>
            <a:r>
              <a:rPr lang="zh-CN" sz="950" b="0" u="none" strike="noStrike">
                <a:solidFill>
                  <a:srgbClr val="6E7887"/>
                </a:solidFill>
                <a:effectLst/>
                <a:uFillTx/>
                <a:latin typeface="HGGGothicssi_Pro 20g"/>
                <a:ea typeface="HGGGothicssi_Pro 20g"/>
              </a:rPr>
              <a:t>일기준이용금액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9">
            <a:extLst>
              <a:ext uri="{FF2B5EF4-FFF2-40B4-BE49-F238E27FC236}">
                <a16:creationId xmlns:a16="http://schemas.microsoft.com/office/drawing/2014/main" id="{B7672E1E-3B3D-6608-DE8A-F2289CCC01B9}"/>
              </a:ext>
            </a:extLst>
          </p:cNvPr>
          <p:cNvSpPr/>
          <p:nvPr/>
        </p:nvSpPr>
        <p:spPr>
          <a:xfrm>
            <a:off x="8192880" y="5669280"/>
            <a:ext cx="13986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6ED2"/>
                </a:solidFill>
                <a:effectLst/>
                <a:uFillTx/>
                <a:latin typeface="HGGGothicssi_Pro 60g"/>
                <a:ea typeface="HGGGothicssi_Pro 60g"/>
              </a:rPr>
              <a:t>r = 0.575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20">
            <a:extLst>
              <a:ext uri="{FF2B5EF4-FFF2-40B4-BE49-F238E27FC236}">
                <a16:creationId xmlns:a16="http://schemas.microsoft.com/office/drawing/2014/main" id="{1F05EA25-AEA1-FFFC-8062-CB6665C49921}"/>
              </a:ext>
            </a:extLst>
          </p:cNvPr>
          <p:cNvSpPr/>
          <p:nvPr/>
        </p:nvSpPr>
        <p:spPr>
          <a:xfrm>
            <a:off x="9829800" y="5403960"/>
            <a:ext cx="1188360" cy="502560"/>
          </a:xfrm>
          <a:prstGeom prst="roundRect">
            <a:avLst>
              <a:gd name="adj" fmla="val 21818"/>
            </a:avLst>
          </a:prstGeom>
          <a:solidFill>
            <a:srgbClr val="F7F9FC"/>
          </a:solidFill>
          <a:ln w="12700">
            <a:solidFill>
              <a:srgbClr val="DC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1">
            <a:extLst>
              <a:ext uri="{FF2B5EF4-FFF2-40B4-BE49-F238E27FC236}">
                <a16:creationId xmlns:a16="http://schemas.microsoft.com/office/drawing/2014/main" id="{AFDCC01A-957F-7DC9-A2ED-9FAFC0C7831C}"/>
              </a:ext>
            </a:extLst>
          </p:cNvPr>
          <p:cNvSpPr/>
          <p:nvPr/>
        </p:nvSpPr>
        <p:spPr>
          <a:xfrm>
            <a:off x="9902880" y="5477040"/>
            <a:ext cx="1042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E7887"/>
                </a:solidFill>
                <a:effectLst/>
                <a:uFillTx/>
                <a:latin typeface="HGGGothicssi_Pro 20g"/>
                <a:ea typeface="HGGGothicssi_Pro 20g"/>
              </a:rPr>
              <a:t>H1 </a:t>
            </a:r>
            <a:r>
              <a:rPr lang="zh-CN" sz="950" b="0" u="none" strike="noStrike">
                <a:solidFill>
                  <a:srgbClr val="6E7887"/>
                </a:solidFill>
                <a:effectLst/>
                <a:uFillTx/>
                <a:latin typeface="HGGGothicssi_Pro 20g"/>
                <a:ea typeface="HGGGothicssi_Pro 20g"/>
              </a:rPr>
              <a:t>판단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2">
            <a:extLst>
              <a:ext uri="{FF2B5EF4-FFF2-40B4-BE49-F238E27FC236}">
                <a16:creationId xmlns:a16="http://schemas.microsoft.com/office/drawing/2014/main" id="{D931A242-B0FF-C52A-AA29-A0B560DC1BC6}"/>
              </a:ext>
            </a:extLst>
          </p:cNvPr>
          <p:cNvSpPr/>
          <p:nvPr/>
        </p:nvSpPr>
        <p:spPr>
          <a:xfrm>
            <a:off x="9884520" y="5669280"/>
            <a:ext cx="10785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>
                <a:solidFill>
                  <a:srgbClr val="F28C40"/>
                </a:solidFill>
                <a:effectLst/>
                <a:uFillTx/>
                <a:latin typeface="HGGGothicssi_Pro 60g"/>
                <a:ea typeface="HGGGothicssi_Pro 60g"/>
              </a:rPr>
              <a:t>부분 지지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ounded Rectangle 17">
            <a:extLst>
              <a:ext uri="{FF2B5EF4-FFF2-40B4-BE49-F238E27FC236}">
                <a16:creationId xmlns:a16="http://schemas.microsoft.com/office/drawing/2014/main" id="{235640B5-66D9-3CD4-B9F4-13C25718C55D}"/>
              </a:ext>
            </a:extLst>
          </p:cNvPr>
          <p:cNvSpPr/>
          <p:nvPr/>
        </p:nvSpPr>
        <p:spPr>
          <a:xfrm>
            <a:off x="3602551" y="603504"/>
            <a:ext cx="858012" cy="310895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353E23C-7D04-7074-23E0-B2EC20C78211}"/>
              </a:ext>
            </a:extLst>
          </p:cNvPr>
          <p:cNvSpPr txBox="1"/>
          <p:nvPr/>
        </p:nvSpPr>
        <p:spPr>
          <a:xfrm>
            <a:off x="3613101" y="633532"/>
            <a:ext cx="836913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부분 지지</a:t>
            </a:r>
            <a:endParaRPr kumimoji="0" sz="115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HG꼬딕씨_Pro 20g"/>
              <a:ea typeface="HG꼬딕씨_Pro 20g"/>
              <a:cs typeface="HG꼬딕씨_Pro 20g"/>
            </a:endParaRPr>
          </a:p>
        </p:txBody>
      </p:sp>
    </p:spTree>
    <p:extLst>
      <p:ext uri="{BB962C8B-B14F-4D97-AF65-F5344CB8AC3E}">
        <p14:creationId xmlns:p14="http://schemas.microsoft.com/office/powerpoint/2010/main" val="7384363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72225-F3B0-CFF9-A354-21E77B915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78BAA9C-6466-F6E2-4107-57546C65CF36}"/>
              </a:ext>
            </a:extLst>
          </p:cNvPr>
          <p:cNvSpPr/>
          <p:nvPr/>
        </p:nvSpPr>
        <p:spPr>
          <a:xfrm>
            <a:off x="530352" y="246888"/>
            <a:ext cx="163658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0</a:t>
            </a: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3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.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H2 Result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97BDC74-BADA-4095-260D-854EF8E627EE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5DB9C4-4E65-715A-0CA0-28042F398605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80g"/>
                <a:ea typeface="HGGGothicssi_Pro 80g"/>
                <a:cs typeface="+mn-cs"/>
              </a:rPr>
              <a:t>H2. </a:t>
            </a:r>
            <a:r>
              <a:rPr kumimoji="0" lang="zh-CN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80g"/>
                <a:ea typeface="HGGGothicssi_Pro 80g"/>
                <a:cs typeface="+mn-cs"/>
              </a:rPr>
              <a:t>소비 변화와 폐업률 변화의 관계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4412925-B7C3-CBFA-A313-C6CB9503365A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2023~2025</a:t>
            </a:r>
            <a:r>
              <a:rPr kumimoji="0" lang="zh-CN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년 소비금액 변화와 폐업률 변화를 비교한 결과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, </a:t>
            </a:r>
            <a:r>
              <a:rPr kumimoji="0" lang="zh-CN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일부 동행 관계는 있으나 모든 지역에서 일관되지는 않음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16B027C-E36B-D509-98C9-625661C6018A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75" name="Rounded Rectangle 17">
            <a:extLst>
              <a:ext uri="{FF2B5EF4-FFF2-40B4-BE49-F238E27FC236}">
                <a16:creationId xmlns:a16="http://schemas.microsoft.com/office/drawing/2014/main" id="{7FEAD777-061E-2557-E306-AC19F4683541}"/>
              </a:ext>
            </a:extLst>
          </p:cNvPr>
          <p:cNvSpPr/>
          <p:nvPr/>
        </p:nvSpPr>
        <p:spPr>
          <a:xfrm>
            <a:off x="4180401" y="603504"/>
            <a:ext cx="858012" cy="310895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  <a:cs typeface="+mn-cs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52EF6B5-19E0-B709-63B0-449C70C72DB9}"/>
              </a:ext>
            </a:extLst>
          </p:cNvPr>
          <p:cNvSpPr txBox="1"/>
          <p:nvPr/>
        </p:nvSpPr>
        <p:spPr>
          <a:xfrm>
            <a:off x="4190951" y="633532"/>
            <a:ext cx="836913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부분 지지</a:t>
            </a:r>
            <a:endParaRPr kumimoji="0" sz="1150" b="1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HG꼬딕씨_Pro 20g"/>
              <a:ea typeface="HG꼬딕씨_Pro 20g"/>
              <a:cs typeface="HG꼬딕씨_Pro 20g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D1388940-0572-A5A2-8668-A4EE1D3366CA}"/>
              </a:ext>
            </a:extLst>
          </p:cNvPr>
          <p:cNvSpPr/>
          <p:nvPr/>
        </p:nvSpPr>
        <p:spPr>
          <a:xfrm>
            <a:off x="594360" y="1572839"/>
            <a:ext cx="5303160" cy="4525919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DCE2EA"/>
            </a:solidFill>
            <a:round/>
          </a:ln>
          <a:effectLst>
            <a:outerShdw blurRad="12600" dist="50402" dir="2700000" algn="bl" rotWithShape="0">
              <a:srgbClr val="D7DEE8">
                <a:alpha val="2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42155B4A-EFF3-3DB8-05FC-CC3A17FBD49B}"/>
              </a:ext>
            </a:extLst>
          </p:cNvPr>
          <p:cNvSpPr/>
          <p:nvPr/>
        </p:nvSpPr>
        <p:spPr>
          <a:xfrm>
            <a:off x="594360" y="1572840"/>
            <a:ext cx="5303160" cy="438480"/>
          </a:xfrm>
          <a:prstGeom prst="roundRect">
            <a:avLst>
              <a:gd name="adj" fmla="val 20833"/>
            </a:avLst>
          </a:prstGeom>
          <a:solidFill>
            <a:srgbClr val="23C0C9"/>
          </a:solidFill>
          <a:ln w="12700">
            <a:solidFill>
              <a:srgbClr val="23C0C9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535E6975-F97F-7A0B-F8CD-94A737EFFB5D}"/>
              </a:ext>
            </a:extLst>
          </p:cNvPr>
          <p:cNvSpPr/>
          <p:nvPr/>
        </p:nvSpPr>
        <p:spPr>
          <a:xfrm>
            <a:off x="667440" y="1641240"/>
            <a:ext cx="5157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실제 그래프 ① 변화량 상관관계</a:t>
            </a:r>
            <a:endParaRPr kumimoji="0" lang="en-US" sz="14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9" name="Image 0" descr="/mnt/data/인해_가설_trimmed/cell036_out0.png">
            <a:extLst>
              <a:ext uri="{FF2B5EF4-FFF2-40B4-BE49-F238E27FC236}">
                <a16:creationId xmlns:a16="http://schemas.microsoft.com/office/drawing/2014/main" id="{DAB3A9F9-BEF1-03C4-6E59-BC8F6A243E44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984298" y="2139840"/>
            <a:ext cx="4525433" cy="37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Shape 7">
            <a:extLst>
              <a:ext uri="{FF2B5EF4-FFF2-40B4-BE49-F238E27FC236}">
                <a16:creationId xmlns:a16="http://schemas.microsoft.com/office/drawing/2014/main" id="{68FF2FC3-737E-3A1B-0E87-50F8E621C4B0}"/>
              </a:ext>
            </a:extLst>
          </p:cNvPr>
          <p:cNvSpPr/>
          <p:nvPr/>
        </p:nvSpPr>
        <p:spPr>
          <a:xfrm>
            <a:off x="6172200" y="1572840"/>
            <a:ext cx="5257440" cy="23313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2EA"/>
            </a:solidFill>
            <a:round/>
          </a:ln>
          <a:effectLst>
            <a:outerShdw blurRad="12600" dist="50402" dir="2700000" algn="bl" rotWithShape="0">
              <a:srgbClr val="D7DEE8">
                <a:alpha val="2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A8BD52D2-9A44-3A82-CA70-B6A82603E0D2}"/>
              </a:ext>
            </a:extLst>
          </p:cNvPr>
          <p:cNvSpPr/>
          <p:nvPr/>
        </p:nvSpPr>
        <p:spPr>
          <a:xfrm>
            <a:off x="6172200" y="1572840"/>
            <a:ext cx="5257440" cy="438480"/>
          </a:xfrm>
          <a:prstGeom prst="roundRect">
            <a:avLst>
              <a:gd name="adj" fmla="val 20833"/>
            </a:avLst>
          </a:prstGeom>
          <a:solidFill>
            <a:srgbClr val="23C0C9"/>
          </a:solidFill>
          <a:ln w="12700">
            <a:solidFill>
              <a:srgbClr val="23C0C9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65FCAA85-E988-45A2-FC58-DB6FF7BD1A9F}"/>
              </a:ext>
            </a:extLst>
          </p:cNvPr>
          <p:cNvSpPr/>
          <p:nvPr/>
        </p:nvSpPr>
        <p:spPr>
          <a:xfrm>
            <a:off x="6245280" y="1641240"/>
            <a:ext cx="5111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실제 그래프 ② 소비 변화 ↔ 폐업률 변화</a:t>
            </a:r>
            <a:endParaRPr kumimoji="0" lang="en-US" sz="14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2" name="Image 1" descr="/mnt/data/인해_가설_trimmed/cell037_out0.png">
            <a:extLst>
              <a:ext uri="{FF2B5EF4-FFF2-40B4-BE49-F238E27FC236}">
                <a16:creationId xmlns:a16="http://schemas.microsoft.com/office/drawing/2014/main" id="{91362440-8C35-9E0A-1CF4-3CF60A85FDBD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880400" y="2075760"/>
            <a:ext cx="1841400" cy="146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Shape 10">
            <a:extLst>
              <a:ext uri="{FF2B5EF4-FFF2-40B4-BE49-F238E27FC236}">
                <a16:creationId xmlns:a16="http://schemas.microsoft.com/office/drawing/2014/main" id="{4ABFE1AC-36AF-D621-AE92-C3A83806BF20}"/>
              </a:ext>
            </a:extLst>
          </p:cNvPr>
          <p:cNvSpPr/>
          <p:nvPr/>
        </p:nvSpPr>
        <p:spPr>
          <a:xfrm>
            <a:off x="6172200" y="3950280"/>
            <a:ext cx="5257440" cy="21484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2EA"/>
            </a:solidFill>
            <a:round/>
          </a:ln>
          <a:effectLst>
            <a:outerShdw blurRad="12600" dist="50402" dir="2700000" algn="bl" rotWithShape="0">
              <a:srgbClr val="D7DEE8">
                <a:alpha val="2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3" name="Shape 11">
            <a:extLst>
              <a:ext uri="{FF2B5EF4-FFF2-40B4-BE49-F238E27FC236}">
                <a16:creationId xmlns:a16="http://schemas.microsoft.com/office/drawing/2014/main" id="{9A88C553-FB3C-6080-98C0-0E1B726DB2D1}"/>
              </a:ext>
            </a:extLst>
          </p:cNvPr>
          <p:cNvSpPr/>
          <p:nvPr/>
        </p:nvSpPr>
        <p:spPr>
          <a:xfrm>
            <a:off x="6172200" y="3950280"/>
            <a:ext cx="5257440" cy="438480"/>
          </a:xfrm>
          <a:prstGeom prst="roundRect">
            <a:avLst>
              <a:gd name="adj" fmla="val 20833"/>
            </a:avLst>
          </a:prstGeom>
          <a:solidFill>
            <a:srgbClr val="23C0C9"/>
          </a:solidFill>
          <a:ln w="12700">
            <a:solidFill>
              <a:srgbClr val="23C0C9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E6BA1D2E-146B-AE49-7369-B35F356FD332}"/>
              </a:ext>
            </a:extLst>
          </p:cNvPr>
          <p:cNvSpPr/>
          <p:nvPr/>
        </p:nvSpPr>
        <p:spPr>
          <a:xfrm>
            <a:off x="6245280" y="4018680"/>
            <a:ext cx="5111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ko-KR" alt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결론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" name="Text 13">
            <a:extLst>
              <a:ext uri="{FF2B5EF4-FFF2-40B4-BE49-F238E27FC236}">
                <a16:creationId xmlns:a16="http://schemas.microsoft.com/office/drawing/2014/main" id="{34173AF7-AFB4-9027-9FD7-ABF9D2AF56DE}"/>
              </a:ext>
            </a:extLst>
          </p:cNvPr>
          <p:cNvSpPr/>
          <p:nvPr/>
        </p:nvSpPr>
        <p:spPr>
          <a:xfrm>
            <a:off x="6428160" y="4507920"/>
            <a:ext cx="47728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lnSpcReduction="10000"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10" b="1" i="0" u="none" strike="noStrike" kern="1200" cap="none" spc="0" normalizeH="0" baseline="0" noProof="0" dirty="0">
                <a:ln>
                  <a:noFill/>
                </a:ln>
                <a:solidFill>
                  <a:srgbClr val="246ED2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• </a:t>
            </a:r>
            <a:r>
              <a:rPr kumimoji="0" lang="zh-CN" altLang="ko-KR" sz="121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평균이용금액 변화와 폐업률 변화의 상관은 </a:t>
            </a:r>
            <a:r>
              <a:rPr kumimoji="0" lang="en-US" altLang="ko-KR" sz="121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0.320</a:t>
            </a:r>
            <a:r>
              <a:rPr kumimoji="0" lang="zh-CN" altLang="ko-KR" sz="121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으로 가장 큼</a:t>
            </a:r>
            <a:endParaRPr kumimoji="0" lang="en-US" altLang="ko-KR" sz="121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10" b="1" i="0" u="none" strike="noStrike" kern="1200" cap="none" spc="0" normalizeH="0" baseline="0" noProof="0" dirty="0">
                <a:ln>
                  <a:noFill/>
                </a:ln>
                <a:solidFill>
                  <a:srgbClr val="246ED2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• </a:t>
            </a:r>
            <a:r>
              <a:rPr kumimoji="0" lang="en-US" altLang="ko-KR" sz="121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30</a:t>
            </a:r>
            <a:r>
              <a:rPr kumimoji="0" lang="zh-CN" altLang="ko-KR" sz="121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일기준이용금액</a:t>
            </a:r>
            <a:r>
              <a:rPr kumimoji="0" lang="en-US" altLang="zh-CN" sz="121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(</a:t>
            </a:r>
            <a:r>
              <a:rPr kumimoji="0" lang="ko-KR" altLang="en-US" sz="121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개인별</a:t>
            </a:r>
            <a:r>
              <a:rPr kumimoji="0" lang="en-US" altLang="ko-KR" sz="121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)</a:t>
            </a:r>
            <a:r>
              <a:rPr kumimoji="0" lang="zh-CN" altLang="ko-KR" sz="121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 변화는 </a:t>
            </a:r>
            <a:r>
              <a:rPr kumimoji="0" lang="en-US" altLang="ko-KR" sz="121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0.160, </a:t>
            </a:r>
            <a:r>
              <a:rPr kumimoji="0" lang="zh-CN" altLang="ko-KR" sz="121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평균이용건수 변화는 </a:t>
            </a:r>
            <a:r>
              <a:rPr kumimoji="0" lang="en-US" altLang="ko-KR" sz="121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-0.129</a:t>
            </a:r>
            <a:endParaRPr kumimoji="0" lang="en-US" altLang="ko-KR" sz="121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ko-KR" sz="1210" b="1" i="0" u="none" strike="noStrike" kern="1200" cap="none" spc="0" normalizeH="0" baseline="0" noProof="0" dirty="0">
                <a:ln>
                  <a:noFill/>
                </a:ln>
                <a:solidFill>
                  <a:srgbClr val="246ED2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• </a:t>
            </a:r>
            <a:r>
              <a:rPr kumimoji="0" lang="zh-CN" altLang="ko-KR" sz="121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소비 변화만으로 폐업률 변화 전체를 설명하기에는 부족</a:t>
            </a:r>
            <a:endParaRPr kumimoji="0" lang="en-US" altLang="ko-KR" sz="121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9" name="Shape 14">
            <a:extLst>
              <a:ext uri="{FF2B5EF4-FFF2-40B4-BE49-F238E27FC236}">
                <a16:creationId xmlns:a16="http://schemas.microsoft.com/office/drawing/2014/main" id="{9F67E4B5-8E5A-55E8-89A8-3E2F5C3FDA53}"/>
              </a:ext>
            </a:extLst>
          </p:cNvPr>
          <p:cNvSpPr/>
          <p:nvPr/>
        </p:nvSpPr>
        <p:spPr>
          <a:xfrm>
            <a:off x="6446520" y="5403960"/>
            <a:ext cx="1508400" cy="502560"/>
          </a:xfrm>
          <a:prstGeom prst="roundRect">
            <a:avLst>
              <a:gd name="adj" fmla="val 21818"/>
            </a:avLst>
          </a:prstGeom>
          <a:solidFill>
            <a:srgbClr val="F7F9FC"/>
          </a:solidFill>
          <a:ln w="12700">
            <a:solidFill>
              <a:srgbClr val="DC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1" name="Text 15">
            <a:extLst>
              <a:ext uri="{FF2B5EF4-FFF2-40B4-BE49-F238E27FC236}">
                <a16:creationId xmlns:a16="http://schemas.microsoft.com/office/drawing/2014/main" id="{E558A5B2-EDF9-0845-75BB-3FD952201541}"/>
              </a:ext>
            </a:extLst>
          </p:cNvPr>
          <p:cNvSpPr/>
          <p:nvPr/>
        </p:nvSpPr>
        <p:spPr>
          <a:xfrm>
            <a:off x="6519600" y="5477040"/>
            <a:ext cx="1362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95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평균이용금액 변화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3" name="Text 16">
            <a:extLst>
              <a:ext uri="{FF2B5EF4-FFF2-40B4-BE49-F238E27FC236}">
                <a16:creationId xmlns:a16="http://schemas.microsoft.com/office/drawing/2014/main" id="{7D167782-0850-1313-9C01-7BAD5663E860}"/>
              </a:ext>
            </a:extLst>
          </p:cNvPr>
          <p:cNvSpPr/>
          <p:nvPr/>
        </p:nvSpPr>
        <p:spPr>
          <a:xfrm>
            <a:off x="6501240" y="5669280"/>
            <a:ext cx="13986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3C0C9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r = 0.320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5" name="Shape 17">
            <a:extLst>
              <a:ext uri="{FF2B5EF4-FFF2-40B4-BE49-F238E27FC236}">
                <a16:creationId xmlns:a16="http://schemas.microsoft.com/office/drawing/2014/main" id="{E9985E8C-D3AA-CA94-2FAB-3CFCC7648DDB}"/>
              </a:ext>
            </a:extLst>
          </p:cNvPr>
          <p:cNvSpPr/>
          <p:nvPr/>
        </p:nvSpPr>
        <p:spPr>
          <a:xfrm>
            <a:off x="8138160" y="5403960"/>
            <a:ext cx="1508400" cy="502560"/>
          </a:xfrm>
          <a:prstGeom prst="roundRect">
            <a:avLst>
              <a:gd name="adj" fmla="val 21818"/>
            </a:avLst>
          </a:prstGeom>
          <a:solidFill>
            <a:srgbClr val="F7F9FC"/>
          </a:solidFill>
          <a:ln w="12700">
            <a:solidFill>
              <a:srgbClr val="DC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7" name="Text 18">
            <a:extLst>
              <a:ext uri="{FF2B5EF4-FFF2-40B4-BE49-F238E27FC236}">
                <a16:creationId xmlns:a16="http://schemas.microsoft.com/office/drawing/2014/main" id="{469CAEF1-A006-3235-3CD9-0B91AAC2DB7F}"/>
              </a:ext>
            </a:extLst>
          </p:cNvPr>
          <p:cNvSpPr/>
          <p:nvPr/>
        </p:nvSpPr>
        <p:spPr>
          <a:xfrm>
            <a:off x="8211240" y="5477040"/>
            <a:ext cx="1362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24→25 </a:t>
            </a:r>
            <a:r>
              <a:rPr kumimoji="0" lang="zh-CN" altLang="en-US" sz="95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단순회귀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9" name="Text 19">
            <a:extLst>
              <a:ext uri="{FF2B5EF4-FFF2-40B4-BE49-F238E27FC236}">
                <a16:creationId xmlns:a16="http://schemas.microsoft.com/office/drawing/2014/main" id="{7D2945C8-6674-570F-079D-6EA24619D90D}"/>
              </a:ext>
            </a:extLst>
          </p:cNvPr>
          <p:cNvSpPr/>
          <p:nvPr/>
        </p:nvSpPr>
        <p:spPr>
          <a:xfrm>
            <a:off x="8192880" y="5669280"/>
            <a:ext cx="13986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46ED2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R² = 0.134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1" name="Shape 20">
            <a:extLst>
              <a:ext uri="{FF2B5EF4-FFF2-40B4-BE49-F238E27FC236}">
                <a16:creationId xmlns:a16="http://schemas.microsoft.com/office/drawing/2014/main" id="{3DD9058D-112F-96CD-E443-BF4D7F9F3565}"/>
              </a:ext>
            </a:extLst>
          </p:cNvPr>
          <p:cNvSpPr/>
          <p:nvPr/>
        </p:nvSpPr>
        <p:spPr>
          <a:xfrm>
            <a:off x="9829800" y="5403960"/>
            <a:ext cx="1188360" cy="502560"/>
          </a:xfrm>
          <a:prstGeom prst="roundRect">
            <a:avLst>
              <a:gd name="adj" fmla="val 21818"/>
            </a:avLst>
          </a:prstGeom>
          <a:solidFill>
            <a:srgbClr val="F7F9FC"/>
          </a:solidFill>
          <a:ln w="12700">
            <a:solidFill>
              <a:srgbClr val="DC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3" name="Text 21">
            <a:extLst>
              <a:ext uri="{FF2B5EF4-FFF2-40B4-BE49-F238E27FC236}">
                <a16:creationId xmlns:a16="http://schemas.microsoft.com/office/drawing/2014/main" id="{F02EA2FE-C3DA-111C-3688-7B1D70BC0CF8}"/>
              </a:ext>
            </a:extLst>
          </p:cNvPr>
          <p:cNvSpPr/>
          <p:nvPr/>
        </p:nvSpPr>
        <p:spPr>
          <a:xfrm>
            <a:off x="9902880" y="5477040"/>
            <a:ext cx="1042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H2 </a:t>
            </a:r>
            <a:r>
              <a:rPr kumimoji="0" lang="zh-CN" altLang="en-US" sz="95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판단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5" name="Text 22">
            <a:extLst>
              <a:ext uri="{FF2B5EF4-FFF2-40B4-BE49-F238E27FC236}">
                <a16:creationId xmlns:a16="http://schemas.microsoft.com/office/drawing/2014/main" id="{9F95C996-E47B-7384-AED9-4C1D69990630}"/>
              </a:ext>
            </a:extLst>
          </p:cNvPr>
          <p:cNvSpPr/>
          <p:nvPr/>
        </p:nvSpPr>
        <p:spPr>
          <a:xfrm>
            <a:off x="9884520" y="5669280"/>
            <a:ext cx="10785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28C40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부분 지지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76512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BC1D1-E6B5-BFB4-87D0-C994045CF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5966D1F-9FB3-FA89-B2F2-C6851E90903B}"/>
              </a:ext>
            </a:extLst>
          </p:cNvPr>
          <p:cNvSpPr/>
          <p:nvPr/>
        </p:nvSpPr>
        <p:spPr>
          <a:xfrm>
            <a:off x="530352" y="246888"/>
            <a:ext cx="163658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0</a:t>
            </a: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4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.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H3·H4 Result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CF826E9-BF78-B40E-15C2-5D5787C31DBC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E5AE7DA-6467-7293-E85C-F27F82D2D34C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80g"/>
                <a:ea typeface="HGGGothicssi_Pro 80g"/>
                <a:cs typeface="+mn-cs"/>
              </a:rPr>
              <a:t>H3. </a:t>
            </a:r>
            <a:r>
              <a:rPr kumimoji="0" lang="zh-CN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80g"/>
                <a:ea typeface="HGGGothicssi_Pro 80g"/>
                <a:cs typeface="+mn-cs"/>
              </a:rPr>
              <a:t>소비 변동성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80g"/>
                <a:ea typeface="HGGGothicssi_Pro 80g"/>
                <a:cs typeface="+mn-cs"/>
              </a:rPr>
              <a:t>/ H4. </a:t>
            </a:r>
            <a:r>
              <a:rPr kumimoji="0" lang="zh-CN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80g"/>
                <a:ea typeface="HGGGothicssi_Pro 80g"/>
                <a:cs typeface="+mn-cs"/>
              </a:rPr>
              <a:t>종합 소비 요인 분석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E821DA7-1B3C-D885-6BD8-D93CFB4FDFCE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소비 변동성과 폐업률 사이에는 양의 상관이 확인되었고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, </a:t>
            </a:r>
            <a:r>
              <a:rPr kumimoji="0" lang="zh-CN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다중회귀 모델은 폐업률 변동의 약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46.2%</a:t>
            </a:r>
            <a:r>
              <a:rPr kumimoji="0" lang="zh-CN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를 설명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B2C7934-36AA-5C1F-9B1D-F4C736944754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75" name="Rounded Rectangle 17">
            <a:extLst>
              <a:ext uri="{FF2B5EF4-FFF2-40B4-BE49-F238E27FC236}">
                <a16:creationId xmlns:a16="http://schemas.microsoft.com/office/drawing/2014/main" id="{D27FC1EF-BF6B-1B51-9F2A-3961FA4E7FF0}"/>
              </a:ext>
            </a:extLst>
          </p:cNvPr>
          <p:cNvSpPr/>
          <p:nvPr/>
        </p:nvSpPr>
        <p:spPr>
          <a:xfrm>
            <a:off x="4736026" y="603504"/>
            <a:ext cx="858012" cy="310895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  <a:cs typeface="+mn-cs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98445EC-5BC9-7996-A4E8-89D3D0A999DA}"/>
              </a:ext>
            </a:extLst>
          </p:cNvPr>
          <p:cNvSpPr txBox="1"/>
          <p:nvPr/>
        </p:nvSpPr>
        <p:spPr>
          <a:xfrm>
            <a:off x="4746576" y="633532"/>
            <a:ext cx="836913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부분 지지</a:t>
            </a:r>
            <a:endParaRPr kumimoji="0" sz="1150" b="1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HG꼬딕씨_Pro 20g"/>
              <a:ea typeface="HG꼬딕씨_Pro 20g"/>
              <a:cs typeface="HG꼬딕씨_Pro 20g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C58BC0F0-79CA-E1FF-6F80-FDBC1D7188ED}"/>
              </a:ext>
            </a:extLst>
          </p:cNvPr>
          <p:cNvSpPr/>
          <p:nvPr/>
        </p:nvSpPr>
        <p:spPr>
          <a:xfrm>
            <a:off x="594360" y="1572839"/>
            <a:ext cx="5303160" cy="4809671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CE2EA"/>
            </a:solidFill>
            <a:round/>
          </a:ln>
          <a:effectLst>
            <a:outerShdw blurRad="12600" dist="50402" dir="2700000" algn="bl" rotWithShape="0">
              <a:srgbClr val="D7DEE8">
                <a:alpha val="2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F1721EA1-0501-4487-4AEF-42651009BEEF}"/>
              </a:ext>
            </a:extLst>
          </p:cNvPr>
          <p:cNvSpPr/>
          <p:nvPr/>
        </p:nvSpPr>
        <p:spPr>
          <a:xfrm>
            <a:off x="594360" y="1572840"/>
            <a:ext cx="5303160" cy="438480"/>
          </a:xfrm>
          <a:prstGeom prst="roundRect">
            <a:avLst>
              <a:gd name="adj" fmla="val 20833"/>
            </a:avLst>
          </a:prstGeom>
          <a:solidFill>
            <a:srgbClr val="23C0C9"/>
          </a:solidFill>
          <a:ln w="12700">
            <a:solidFill>
              <a:srgbClr val="23C0C9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817B312B-5598-B4D4-E255-08B953F34D8E}"/>
              </a:ext>
            </a:extLst>
          </p:cNvPr>
          <p:cNvSpPr/>
          <p:nvPr/>
        </p:nvSpPr>
        <p:spPr>
          <a:xfrm>
            <a:off x="667440" y="1641240"/>
            <a:ext cx="5157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실제 그래프 ① 소비 변동성 ↔ 폐업률</a:t>
            </a:r>
            <a:endParaRPr kumimoji="0" lang="en-US" sz="14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7" name="Image 0" descr="/mnt/data/인해_가설_trimmed/cell134_out3.png">
            <a:extLst>
              <a:ext uri="{FF2B5EF4-FFF2-40B4-BE49-F238E27FC236}">
                <a16:creationId xmlns:a16="http://schemas.microsoft.com/office/drawing/2014/main" id="{7856B5B6-286B-FB7C-09BF-1A1ECE18162A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926280" y="2148840"/>
            <a:ext cx="4639680" cy="32457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585DEEC1-836B-B579-FF59-01BE39624562}"/>
              </a:ext>
            </a:extLst>
          </p:cNvPr>
          <p:cNvGrpSpPr/>
          <p:nvPr/>
        </p:nvGrpSpPr>
        <p:grpSpPr>
          <a:xfrm>
            <a:off x="1325880" y="5600880"/>
            <a:ext cx="3840120" cy="502560"/>
            <a:chOff x="1005840" y="5349240"/>
            <a:chExt cx="3840120" cy="502560"/>
          </a:xfrm>
        </p:grpSpPr>
        <p:sp>
          <p:nvSpPr>
            <p:cNvPr id="20" name="Shape 7">
              <a:extLst>
                <a:ext uri="{FF2B5EF4-FFF2-40B4-BE49-F238E27FC236}">
                  <a16:creationId xmlns:a16="http://schemas.microsoft.com/office/drawing/2014/main" id="{3E35C0E9-866F-CB49-925C-0C57B0708699}"/>
                </a:ext>
              </a:extLst>
            </p:cNvPr>
            <p:cNvSpPr/>
            <p:nvPr/>
          </p:nvSpPr>
          <p:spPr>
            <a:xfrm>
              <a:off x="1005840" y="5349240"/>
              <a:ext cx="1828440" cy="502560"/>
            </a:xfrm>
            <a:prstGeom prst="roundRect">
              <a:avLst>
                <a:gd name="adj" fmla="val 21818"/>
              </a:avLst>
            </a:prstGeom>
            <a:solidFill>
              <a:srgbClr val="F7F9FC"/>
            </a:solidFill>
            <a:ln w="12700">
              <a:solidFill>
                <a:srgbClr val="DCE2E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Text 8">
              <a:extLst>
                <a:ext uri="{FF2B5EF4-FFF2-40B4-BE49-F238E27FC236}">
                  <a16:creationId xmlns:a16="http://schemas.microsoft.com/office/drawing/2014/main" id="{C9CD5CFA-1F40-7A70-7A4F-45E3F34400E6}"/>
                </a:ext>
              </a:extLst>
            </p:cNvPr>
            <p:cNvSpPr/>
            <p:nvPr/>
          </p:nvSpPr>
          <p:spPr>
            <a:xfrm>
              <a:off x="1078920" y="5422320"/>
              <a:ext cx="1682280" cy="16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0" tIns="360" rIns="360" bIns="360" anchor="t">
              <a:norm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sz="950" b="0" i="0" u="none" strike="noStrike" kern="1200" cap="none" spc="0" normalizeH="0" baseline="0" noProof="0">
                  <a:ln>
                    <a:noFill/>
                  </a:ln>
                  <a:solidFill>
                    <a:srgbClr val="6E7887"/>
                  </a:solidFill>
                  <a:effectLst/>
                  <a:uLnTx/>
                  <a:uFillTx/>
                  <a:latin typeface="HGGGothicssi_Pro 20g"/>
                  <a:ea typeface="HGGGothicssi_Pro 20g"/>
                  <a:cs typeface="+mn-cs"/>
                </a:rPr>
                <a:t>Pearson</a:t>
              </a:r>
              <a:endPara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5" name="Text 9">
              <a:extLst>
                <a:ext uri="{FF2B5EF4-FFF2-40B4-BE49-F238E27FC236}">
                  <a16:creationId xmlns:a16="http://schemas.microsoft.com/office/drawing/2014/main" id="{9124DD4A-E335-928E-465D-736802B64069}"/>
                </a:ext>
              </a:extLst>
            </p:cNvPr>
            <p:cNvSpPr/>
            <p:nvPr/>
          </p:nvSpPr>
          <p:spPr>
            <a:xfrm>
              <a:off x="1060560" y="5614560"/>
              <a:ext cx="171864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0" tIns="360" rIns="360" bIns="360" anchor="t">
              <a:norm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3C0C9"/>
                  </a:solidFill>
                  <a:effectLst/>
                  <a:uLnTx/>
                  <a:uFillTx/>
                  <a:latin typeface="HGGGothicssi_Pro 60g"/>
                  <a:ea typeface="HGGGothicssi_Pro 60g"/>
                  <a:cs typeface="+mn-cs"/>
                </a:rPr>
                <a:t>r=0.530 / p=0.0347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" name="Shape 10">
              <a:extLst>
                <a:ext uri="{FF2B5EF4-FFF2-40B4-BE49-F238E27FC236}">
                  <a16:creationId xmlns:a16="http://schemas.microsoft.com/office/drawing/2014/main" id="{C84251F7-50B7-045C-91B6-65BF0B8B5731}"/>
                </a:ext>
              </a:extLst>
            </p:cNvPr>
            <p:cNvSpPr/>
            <p:nvPr/>
          </p:nvSpPr>
          <p:spPr>
            <a:xfrm>
              <a:off x="3017520" y="5349240"/>
              <a:ext cx="1828440" cy="502560"/>
            </a:xfrm>
            <a:prstGeom prst="roundRect">
              <a:avLst>
                <a:gd name="adj" fmla="val 21818"/>
              </a:avLst>
            </a:prstGeom>
            <a:solidFill>
              <a:srgbClr val="F7F9FC"/>
            </a:solidFill>
            <a:ln w="12700">
              <a:solidFill>
                <a:srgbClr val="DCE2E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Text 11">
              <a:extLst>
                <a:ext uri="{FF2B5EF4-FFF2-40B4-BE49-F238E27FC236}">
                  <a16:creationId xmlns:a16="http://schemas.microsoft.com/office/drawing/2014/main" id="{0D0B47D1-2547-D14A-CC03-2F87C8077D26}"/>
                </a:ext>
              </a:extLst>
            </p:cNvPr>
            <p:cNvSpPr/>
            <p:nvPr/>
          </p:nvSpPr>
          <p:spPr>
            <a:xfrm>
              <a:off x="3090600" y="5422320"/>
              <a:ext cx="1682280" cy="16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0" tIns="360" rIns="360" bIns="360" anchor="t">
              <a:norm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sz="950" b="0" i="0" u="none" strike="noStrike" kern="1200" cap="none" spc="0" normalizeH="0" baseline="0" noProof="0">
                  <a:ln>
                    <a:noFill/>
                  </a:ln>
                  <a:solidFill>
                    <a:srgbClr val="6E7887"/>
                  </a:solidFill>
                  <a:effectLst/>
                  <a:uLnTx/>
                  <a:uFillTx/>
                  <a:latin typeface="HGGGothicssi_Pro 20g"/>
                  <a:ea typeface="HGGGothicssi_Pro 20g"/>
                  <a:cs typeface="+mn-cs"/>
                </a:rPr>
                <a:t>Spearman</a:t>
              </a:r>
              <a:endPara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4" name="Text 12">
              <a:extLst>
                <a:ext uri="{FF2B5EF4-FFF2-40B4-BE49-F238E27FC236}">
                  <a16:creationId xmlns:a16="http://schemas.microsoft.com/office/drawing/2014/main" id="{29B5CF26-49E7-4D41-819A-AF1D016FE407}"/>
                </a:ext>
              </a:extLst>
            </p:cNvPr>
            <p:cNvSpPr/>
            <p:nvPr/>
          </p:nvSpPr>
          <p:spPr>
            <a:xfrm>
              <a:off x="3072240" y="5614560"/>
              <a:ext cx="171864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0" tIns="360" rIns="360" bIns="360" anchor="t">
              <a:norm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28C40"/>
                  </a:solidFill>
                  <a:effectLst/>
                  <a:uLnTx/>
                  <a:uFillTx/>
                  <a:latin typeface="HGGGothicssi_Pro 60g"/>
                  <a:ea typeface="HGGGothicssi_Pro 60g"/>
                  <a:cs typeface="+mn-cs"/>
                </a:rPr>
                <a:t>r=0.215 / p=0.4246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36" name="Shape 13">
            <a:extLst>
              <a:ext uri="{FF2B5EF4-FFF2-40B4-BE49-F238E27FC236}">
                <a16:creationId xmlns:a16="http://schemas.microsoft.com/office/drawing/2014/main" id="{88D5B2E4-4CF6-7DBC-2524-824464EE5079}"/>
              </a:ext>
            </a:extLst>
          </p:cNvPr>
          <p:cNvSpPr/>
          <p:nvPr/>
        </p:nvSpPr>
        <p:spPr>
          <a:xfrm>
            <a:off x="6172200" y="1572839"/>
            <a:ext cx="5257440" cy="4809671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CE2EA"/>
            </a:solidFill>
            <a:round/>
          </a:ln>
          <a:effectLst>
            <a:outerShdw blurRad="12600" dist="50402" dir="2700000" algn="bl" rotWithShape="0">
              <a:srgbClr val="D7DEE8">
                <a:alpha val="2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8" name="Shape 14">
            <a:extLst>
              <a:ext uri="{FF2B5EF4-FFF2-40B4-BE49-F238E27FC236}">
                <a16:creationId xmlns:a16="http://schemas.microsoft.com/office/drawing/2014/main" id="{D2BC371C-B672-7C05-1990-5B26F54AD970}"/>
              </a:ext>
            </a:extLst>
          </p:cNvPr>
          <p:cNvSpPr/>
          <p:nvPr/>
        </p:nvSpPr>
        <p:spPr>
          <a:xfrm>
            <a:off x="6172200" y="1572840"/>
            <a:ext cx="5257440" cy="438480"/>
          </a:xfrm>
          <a:prstGeom prst="roundRect">
            <a:avLst>
              <a:gd name="adj" fmla="val 20833"/>
            </a:avLst>
          </a:prstGeom>
          <a:solidFill>
            <a:srgbClr val="23C0C9"/>
          </a:solidFill>
          <a:ln w="12700">
            <a:solidFill>
              <a:srgbClr val="23C0C9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DC61021C-F6D7-325F-378D-23C1EE055C6B}"/>
              </a:ext>
            </a:extLst>
          </p:cNvPr>
          <p:cNvSpPr/>
          <p:nvPr/>
        </p:nvSpPr>
        <p:spPr>
          <a:xfrm>
            <a:off x="6245280" y="1641240"/>
            <a:ext cx="5111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실제 분석값 ② 다중회귀 요약</a:t>
            </a:r>
            <a:endParaRPr kumimoji="0" lang="en-US" sz="14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58E2CF36-8121-9A2C-8C85-CC9356BA5647}"/>
              </a:ext>
            </a:extLst>
          </p:cNvPr>
          <p:cNvSpPr/>
          <p:nvPr/>
        </p:nvSpPr>
        <p:spPr>
          <a:xfrm>
            <a:off x="6446520" y="220668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모형 설명력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Shape 17">
            <a:extLst>
              <a:ext uri="{FF2B5EF4-FFF2-40B4-BE49-F238E27FC236}">
                <a16:creationId xmlns:a16="http://schemas.microsoft.com/office/drawing/2014/main" id="{0BBA186C-E2D4-4E9D-54F2-499415BF6F42}"/>
              </a:ext>
            </a:extLst>
          </p:cNvPr>
          <p:cNvSpPr/>
          <p:nvPr/>
        </p:nvSpPr>
        <p:spPr>
          <a:xfrm>
            <a:off x="7479720" y="2234220"/>
            <a:ext cx="2834280" cy="145800"/>
          </a:xfrm>
          <a:prstGeom prst="rect">
            <a:avLst/>
          </a:prstGeom>
          <a:solidFill>
            <a:srgbClr val="E8ECF1"/>
          </a:solidFill>
          <a:ln w="12700">
            <a:solidFill>
              <a:srgbClr val="E8EC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Shape 18">
            <a:extLst>
              <a:ext uri="{FF2B5EF4-FFF2-40B4-BE49-F238E27FC236}">
                <a16:creationId xmlns:a16="http://schemas.microsoft.com/office/drawing/2014/main" id="{49092217-A54C-1BD7-D76F-B8197F47C343}"/>
              </a:ext>
            </a:extLst>
          </p:cNvPr>
          <p:cNvSpPr/>
          <p:nvPr/>
        </p:nvSpPr>
        <p:spPr>
          <a:xfrm>
            <a:off x="7479720" y="2234220"/>
            <a:ext cx="2182320" cy="145800"/>
          </a:xfrm>
          <a:prstGeom prst="rect">
            <a:avLst/>
          </a:prstGeom>
          <a:solidFill>
            <a:srgbClr val="23C0C9"/>
          </a:solidFill>
          <a:ln w="12700">
            <a:solidFill>
              <a:srgbClr val="23C0C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Text 19">
            <a:extLst>
              <a:ext uri="{FF2B5EF4-FFF2-40B4-BE49-F238E27FC236}">
                <a16:creationId xmlns:a16="http://schemas.microsoft.com/office/drawing/2014/main" id="{CB8ED295-1375-4CE9-CFB5-6C2D7C716F02}"/>
              </a:ext>
            </a:extLst>
          </p:cNvPr>
          <p:cNvSpPr/>
          <p:nvPr/>
        </p:nvSpPr>
        <p:spPr>
          <a:xfrm>
            <a:off x="10378440" y="2193000"/>
            <a:ext cx="776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23C0C9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R² = 0.462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" name="Text 20">
            <a:extLst>
              <a:ext uri="{FF2B5EF4-FFF2-40B4-BE49-F238E27FC236}">
                <a16:creationId xmlns:a16="http://schemas.microsoft.com/office/drawing/2014/main" id="{9BB25A7A-A8BB-527A-DA0E-861B2D0E89BC}"/>
              </a:ext>
            </a:extLst>
          </p:cNvPr>
          <p:cNvSpPr/>
          <p:nvPr/>
        </p:nvSpPr>
        <p:spPr>
          <a:xfrm>
            <a:off x="6446520" y="2697480"/>
            <a:ext cx="2011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유의한 소비 변수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" name="Shape 21">
            <a:extLst>
              <a:ext uri="{FF2B5EF4-FFF2-40B4-BE49-F238E27FC236}">
                <a16:creationId xmlns:a16="http://schemas.microsoft.com/office/drawing/2014/main" id="{206AB93E-36C8-E9F8-F89D-C7153408E77D}"/>
              </a:ext>
            </a:extLst>
          </p:cNvPr>
          <p:cNvSpPr/>
          <p:nvPr/>
        </p:nvSpPr>
        <p:spPr>
          <a:xfrm>
            <a:off x="6446520" y="3035880"/>
            <a:ext cx="4663080" cy="383760"/>
          </a:xfrm>
          <a:prstGeom prst="roundRect">
            <a:avLst>
              <a:gd name="adj" fmla="val 28571"/>
            </a:avLst>
          </a:prstGeom>
          <a:solidFill>
            <a:srgbClr val="F7F9FC"/>
          </a:solidFill>
          <a:ln w="12700">
            <a:solidFill>
              <a:srgbClr val="DC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Text 22">
            <a:extLst>
              <a:ext uri="{FF2B5EF4-FFF2-40B4-BE49-F238E27FC236}">
                <a16:creationId xmlns:a16="http://schemas.microsoft.com/office/drawing/2014/main" id="{720BBB1F-6F3F-4958-4469-54EE2749D719}"/>
              </a:ext>
            </a:extLst>
          </p:cNvPr>
          <p:cNvSpPr/>
          <p:nvPr/>
        </p:nvSpPr>
        <p:spPr>
          <a:xfrm>
            <a:off x="6583680" y="3154860"/>
            <a:ext cx="1691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10000"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07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평균이용금액</a:t>
            </a:r>
            <a:endParaRPr kumimoji="0" lang="en-US" sz="107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6" name="Text 23">
            <a:extLst>
              <a:ext uri="{FF2B5EF4-FFF2-40B4-BE49-F238E27FC236}">
                <a16:creationId xmlns:a16="http://schemas.microsoft.com/office/drawing/2014/main" id="{0185116E-3E81-E1DB-280D-3D13F1C93D98}"/>
              </a:ext>
            </a:extLst>
          </p:cNvPr>
          <p:cNvSpPr/>
          <p:nvPr/>
        </p:nvSpPr>
        <p:spPr>
          <a:xfrm>
            <a:off x="8458200" y="3154860"/>
            <a:ext cx="9140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10000"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70" b="0" i="0" u="none" strike="noStrike" kern="1200" cap="none" spc="0" normalizeH="0" baseline="0" noProof="0" dirty="0">
                <a:ln>
                  <a:noFill/>
                </a:ln>
                <a:solidFill>
                  <a:srgbClr val="23C0C9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+0.0006</a:t>
            </a:r>
            <a:endParaRPr kumimoji="0" lang="en-US" sz="107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8" name="Text 24">
            <a:extLst>
              <a:ext uri="{FF2B5EF4-FFF2-40B4-BE49-F238E27FC236}">
                <a16:creationId xmlns:a16="http://schemas.microsoft.com/office/drawing/2014/main" id="{4DD80CE8-4ED2-4255-BD2B-9E2D769CC367}"/>
              </a:ext>
            </a:extLst>
          </p:cNvPr>
          <p:cNvSpPr/>
          <p:nvPr/>
        </p:nvSpPr>
        <p:spPr>
          <a:xfrm>
            <a:off x="9464040" y="3154860"/>
            <a:ext cx="11883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10000"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70" b="0" i="0" u="none" strike="noStrike" kern="1200" cap="none" spc="0" normalizeH="0" baseline="0" noProof="0" dirty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p=0.0166</a:t>
            </a:r>
            <a:endParaRPr kumimoji="0" lang="en-US" sz="107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0" name="Shape 25">
            <a:extLst>
              <a:ext uri="{FF2B5EF4-FFF2-40B4-BE49-F238E27FC236}">
                <a16:creationId xmlns:a16="http://schemas.microsoft.com/office/drawing/2014/main" id="{D1D379DD-E204-ED41-3232-67AF22B71F88}"/>
              </a:ext>
            </a:extLst>
          </p:cNvPr>
          <p:cNvSpPr/>
          <p:nvPr/>
        </p:nvSpPr>
        <p:spPr>
          <a:xfrm>
            <a:off x="6446520" y="3474720"/>
            <a:ext cx="4663080" cy="38376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DC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2" name="Text 26">
            <a:extLst>
              <a:ext uri="{FF2B5EF4-FFF2-40B4-BE49-F238E27FC236}">
                <a16:creationId xmlns:a16="http://schemas.microsoft.com/office/drawing/2014/main" id="{0F37BB6E-449D-47F0-CFDE-2162BE86B879}"/>
              </a:ext>
            </a:extLst>
          </p:cNvPr>
          <p:cNvSpPr/>
          <p:nvPr/>
        </p:nvSpPr>
        <p:spPr>
          <a:xfrm>
            <a:off x="6583680" y="3593700"/>
            <a:ext cx="1691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10000"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07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평균이용건수</a:t>
            </a:r>
            <a:endParaRPr kumimoji="0" lang="en-US" sz="107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4" name="Text 27">
            <a:extLst>
              <a:ext uri="{FF2B5EF4-FFF2-40B4-BE49-F238E27FC236}">
                <a16:creationId xmlns:a16="http://schemas.microsoft.com/office/drawing/2014/main" id="{8AD6A2C1-D989-7F13-2D6C-696895302BA9}"/>
              </a:ext>
            </a:extLst>
          </p:cNvPr>
          <p:cNvSpPr/>
          <p:nvPr/>
        </p:nvSpPr>
        <p:spPr>
          <a:xfrm>
            <a:off x="8458200" y="3593700"/>
            <a:ext cx="9140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10000"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70" b="0" i="0" u="none" strike="noStrike" kern="1200" cap="none" spc="0" normalizeH="0" baseline="0" noProof="0">
                <a:ln>
                  <a:noFill/>
                </a:ln>
                <a:solidFill>
                  <a:srgbClr val="F28C40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-0.0028</a:t>
            </a:r>
            <a:endParaRPr kumimoji="0" lang="en-US" sz="107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6" name="Text 28">
            <a:extLst>
              <a:ext uri="{FF2B5EF4-FFF2-40B4-BE49-F238E27FC236}">
                <a16:creationId xmlns:a16="http://schemas.microsoft.com/office/drawing/2014/main" id="{386DBB4A-26E4-DAA2-3F64-F5EF91DDC5D4}"/>
              </a:ext>
            </a:extLst>
          </p:cNvPr>
          <p:cNvSpPr/>
          <p:nvPr/>
        </p:nvSpPr>
        <p:spPr>
          <a:xfrm>
            <a:off x="9464040" y="3593700"/>
            <a:ext cx="11883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10000"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7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p=0.0095</a:t>
            </a:r>
            <a:endParaRPr kumimoji="0" lang="en-US" sz="107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8" name="Shape 29">
            <a:extLst>
              <a:ext uri="{FF2B5EF4-FFF2-40B4-BE49-F238E27FC236}">
                <a16:creationId xmlns:a16="http://schemas.microsoft.com/office/drawing/2014/main" id="{ECFBEB6D-A10C-9AB2-E59D-65FE4FFEAC23}"/>
              </a:ext>
            </a:extLst>
          </p:cNvPr>
          <p:cNvSpPr/>
          <p:nvPr/>
        </p:nvSpPr>
        <p:spPr>
          <a:xfrm>
            <a:off x="6446520" y="3913560"/>
            <a:ext cx="4663080" cy="383760"/>
          </a:xfrm>
          <a:prstGeom prst="roundRect">
            <a:avLst>
              <a:gd name="adj" fmla="val 28571"/>
            </a:avLst>
          </a:prstGeom>
          <a:solidFill>
            <a:srgbClr val="F7F9FC"/>
          </a:solidFill>
          <a:ln w="12700">
            <a:solidFill>
              <a:srgbClr val="DC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1" name="Text 30">
            <a:extLst>
              <a:ext uri="{FF2B5EF4-FFF2-40B4-BE49-F238E27FC236}">
                <a16:creationId xmlns:a16="http://schemas.microsoft.com/office/drawing/2014/main" id="{3100D6A9-DB64-123F-4747-A8B5C5A1EECA}"/>
              </a:ext>
            </a:extLst>
          </p:cNvPr>
          <p:cNvSpPr/>
          <p:nvPr/>
        </p:nvSpPr>
        <p:spPr>
          <a:xfrm>
            <a:off x="6583680" y="4032540"/>
            <a:ext cx="1691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10000"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07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건당평균이용금액</a:t>
            </a:r>
            <a:endParaRPr kumimoji="0" lang="en-US" sz="107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4" name="Text 31">
            <a:extLst>
              <a:ext uri="{FF2B5EF4-FFF2-40B4-BE49-F238E27FC236}">
                <a16:creationId xmlns:a16="http://schemas.microsoft.com/office/drawing/2014/main" id="{A241F069-876C-456D-C5F3-14B75E0DE119}"/>
              </a:ext>
            </a:extLst>
          </p:cNvPr>
          <p:cNvSpPr/>
          <p:nvPr/>
        </p:nvSpPr>
        <p:spPr>
          <a:xfrm>
            <a:off x="8458200" y="4032540"/>
            <a:ext cx="9140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10000"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70" b="0" i="0" u="none" strike="noStrike" kern="1200" cap="none" spc="0" normalizeH="0" baseline="0" noProof="0">
                <a:ln>
                  <a:noFill/>
                </a:ln>
                <a:solidFill>
                  <a:srgbClr val="23C0C9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+3.5358</a:t>
            </a:r>
            <a:endParaRPr kumimoji="0" lang="en-US" sz="107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69FB8D9E-200B-B460-22EA-93BCB114E51A}"/>
              </a:ext>
            </a:extLst>
          </p:cNvPr>
          <p:cNvSpPr/>
          <p:nvPr/>
        </p:nvSpPr>
        <p:spPr>
          <a:xfrm>
            <a:off x="9464040" y="4032540"/>
            <a:ext cx="11883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10000"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7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p=0.0288</a:t>
            </a:r>
            <a:endParaRPr kumimoji="0" lang="en-US" sz="107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" name="Shape 33">
            <a:extLst>
              <a:ext uri="{FF2B5EF4-FFF2-40B4-BE49-F238E27FC236}">
                <a16:creationId xmlns:a16="http://schemas.microsoft.com/office/drawing/2014/main" id="{9743FA33-34C1-8C91-0924-241AD1F349F0}"/>
              </a:ext>
            </a:extLst>
          </p:cNvPr>
          <p:cNvSpPr/>
          <p:nvPr/>
        </p:nvSpPr>
        <p:spPr>
          <a:xfrm>
            <a:off x="6446520" y="4352400"/>
            <a:ext cx="4663080" cy="38376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DC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4" name="Text 34">
            <a:extLst>
              <a:ext uri="{FF2B5EF4-FFF2-40B4-BE49-F238E27FC236}">
                <a16:creationId xmlns:a16="http://schemas.microsoft.com/office/drawing/2014/main" id="{2040C7F7-B7A3-317D-D7DC-CAF0817709EB}"/>
              </a:ext>
            </a:extLst>
          </p:cNvPr>
          <p:cNvSpPr/>
          <p:nvPr/>
        </p:nvSpPr>
        <p:spPr>
          <a:xfrm>
            <a:off x="6583680" y="4471380"/>
            <a:ext cx="1691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10000"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7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30</a:t>
            </a:r>
            <a:r>
              <a:rPr kumimoji="0" lang="zh-CN" altLang="en-US" sz="107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일기준이용금액</a:t>
            </a:r>
            <a:r>
              <a:rPr kumimoji="0" lang="en-US" altLang="zh-CN" sz="107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(</a:t>
            </a:r>
            <a:r>
              <a:rPr kumimoji="0" lang="ko-KR" altLang="en-US" sz="107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개인별</a:t>
            </a:r>
            <a:r>
              <a:rPr kumimoji="0" lang="en-US" altLang="ko-KR" sz="107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)</a:t>
            </a:r>
            <a:endParaRPr kumimoji="0" lang="en-US" sz="107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6" name="Text 35">
            <a:extLst>
              <a:ext uri="{FF2B5EF4-FFF2-40B4-BE49-F238E27FC236}">
                <a16:creationId xmlns:a16="http://schemas.microsoft.com/office/drawing/2014/main" id="{683A5B1E-1322-39D6-1E9D-479950C0DC07}"/>
              </a:ext>
            </a:extLst>
          </p:cNvPr>
          <p:cNvSpPr/>
          <p:nvPr/>
        </p:nvSpPr>
        <p:spPr>
          <a:xfrm>
            <a:off x="8458200" y="4471380"/>
            <a:ext cx="9140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10000"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7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-0.1038</a:t>
            </a:r>
            <a:endParaRPr kumimoji="0" lang="en-US" sz="107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8" name="Text 36">
            <a:extLst>
              <a:ext uri="{FF2B5EF4-FFF2-40B4-BE49-F238E27FC236}">
                <a16:creationId xmlns:a16="http://schemas.microsoft.com/office/drawing/2014/main" id="{0327EEBA-85DA-00E4-BE1A-43158C3842AD}"/>
              </a:ext>
            </a:extLst>
          </p:cNvPr>
          <p:cNvSpPr/>
          <p:nvPr/>
        </p:nvSpPr>
        <p:spPr>
          <a:xfrm>
            <a:off x="9464040" y="4471380"/>
            <a:ext cx="11883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10000"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7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p=0.1935</a:t>
            </a:r>
            <a:endParaRPr kumimoji="0" lang="en-US" sz="107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0" name="Text 37">
            <a:extLst>
              <a:ext uri="{FF2B5EF4-FFF2-40B4-BE49-F238E27FC236}">
                <a16:creationId xmlns:a16="http://schemas.microsoft.com/office/drawing/2014/main" id="{B8862A9A-3C74-4A75-D344-1E4095A8CC35}"/>
              </a:ext>
            </a:extLst>
          </p:cNvPr>
          <p:cNvSpPr/>
          <p:nvPr/>
        </p:nvSpPr>
        <p:spPr>
          <a:xfrm>
            <a:off x="6492240" y="4893685"/>
            <a:ext cx="46630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20000"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70" b="1" i="0" u="none" strike="noStrike" kern="1200" cap="none" spc="0" normalizeH="0" baseline="0" noProof="0" dirty="0">
                <a:ln>
                  <a:noFill/>
                </a:ln>
                <a:solidFill>
                  <a:srgbClr val="246ED2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• </a:t>
            </a:r>
            <a:r>
              <a:rPr kumimoji="0" lang="zh-CN" altLang="en-US" sz="117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소비 변동성은 </a:t>
            </a:r>
            <a:r>
              <a:rPr kumimoji="0" lang="en-US" sz="117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Pearson </a:t>
            </a:r>
            <a:r>
              <a:rPr kumimoji="0" lang="zh-CN" altLang="en-US" sz="117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기준 유의한 양</a:t>
            </a:r>
            <a:r>
              <a:rPr kumimoji="0" lang="en-US" sz="117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(+)</a:t>
            </a:r>
            <a:r>
              <a:rPr kumimoji="0" lang="zh-CN" altLang="en-US" sz="117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의 관계</a:t>
            </a:r>
            <a:endParaRPr kumimoji="0" lang="en-US" sz="117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70" b="1" i="0" u="none" strike="noStrike" kern="1200" cap="none" spc="0" normalizeH="0" baseline="0" noProof="0" dirty="0">
                <a:ln>
                  <a:noFill/>
                </a:ln>
                <a:solidFill>
                  <a:srgbClr val="246ED2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• </a:t>
            </a:r>
            <a:r>
              <a:rPr kumimoji="0" lang="zh-CN" altLang="en-US" sz="117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다중회귀에서는 일부 소비 변수만 유의</a:t>
            </a:r>
            <a:endParaRPr kumimoji="0" lang="en-US" sz="117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70" b="1" i="0" u="none" strike="noStrike" kern="1200" cap="none" spc="0" normalizeH="0" baseline="0" noProof="0" dirty="0">
                <a:ln>
                  <a:noFill/>
                </a:ln>
                <a:solidFill>
                  <a:srgbClr val="246ED2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• </a:t>
            </a:r>
            <a:r>
              <a:rPr kumimoji="0" lang="zh-CN" altLang="en-US" sz="117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변수 간 높은 다중공선성으로 개별 변수 인과 해석은 제한</a:t>
            </a:r>
            <a:endParaRPr kumimoji="0" lang="en-US" sz="117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2" name="Shape 38">
            <a:extLst>
              <a:ext uri="{FF2B5EF4-FFF2-40B4-BE49-F238E27FC236}">
                <a16:creationId xmlns:a16="http://schemas.microsoft.com/office/drawing/2014/main" id="{6893C235-E022-F44E-1043-EAC8158B179D}"/>
              </a:ext>
            </a:extLst>
          </p:cNvPr>
          <p:cNvSpPr/>
          <p:nvPr/>
        </p:nvSpPr>
        <p:spPr>
          <a:xfrm>
            <a:off x="8457840" y="5693593"/>
            <a:ext cx="1188360" cy="557640"/>
          </a:xfrm>
          <a:prstGeom prst="roundRect">
            <a:avLst>
              <a:gd name="adj" fmla="val 26667"/>
            </a:avLst>
          </a:prstGeom>
          <a:solidFill>
            <a:srgbClr val="F7F9FC"/>
          </a:solidFill>
          <a:ln w="12700">
            <a:solidFill>
              <a:srgbClr val="DC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4" name="Text 39">
            <a:extLst>
              <a:ext uri="{FF2B5EF4-FFF2-40B4-BE49-F238E27FC236}">
                <a16:creationId xmlns:a16="http://schemas.microsoft.com/office/drawing/2014/main" id="{7108AEAE-1F99-5803-33AC-92EFE21560E6}"/>
              </a:ext>
            </a:extLst>
          </p:cNvPr>
          <p:cNvSpPr/>
          <p:nvPr/>
        </p:nvSpPr>
        <p:spPr>
          <a:xfrm>
            <a:off x="8530920" y="5766673"/>
            <a:ext cx="1042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H3 </a:t>
            </a:r>
            <a:r>
              <a:rPr kumimoji="0" lang="zh-CN" altLang="en-US" sz="95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판단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6" name="Text 40">
            <a:extLst>
              <a:ext uri="{FF2B5EF4-FFF2-40B4-BE49-F238E27FC236}">
                <a16:creationId xmlns:a16="http://schemas.microsoft.com/office/drawing/2014/main" id="{ED4B7AA1-4DAC-6781-29EC-9F113E31CF59}"/>
              </a:ext>
            </a:extLst>
          </p:cNvPr>
          <p:cNvSpPr/>
          <p:nvPr/>
        </p:nvSpPr>
        <p:spPr>
          <a:xfrm>
            <a:off x="8512560" y="5958553"/>
            <a:ext cx="10785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28C40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부분 지지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8" name="Shape 41">
            <a:extLst>
              <a:ext uri="{FF2B5EF4-FFF2-40B4-BE49-F238E27FC236}">
                <a16:creationId xmlns:a16="http://schemas.microsoft.com/office/drawing/2014/main" id="{4B5FBC88-7EE5-6EFB-16F9-FE512BE50D9B}"/>
              </a:ext>
            </a:extLst>
          </p:cNvPr>
          <p:cNvSpPr/>
          <p:nvPr/>
        </p:nvSpPr>
        <p:spPr>
          <a:xfrm>
            <a:off x="9920880" y="5693593"/>
            <a:ext cx="1188360" cy="557640"/>
          </a:xfrm>
          <a:prstGeom prst="roundRect">
            <a:avLst>
              <a:gd name="adj" fmla="val 26667"/>
            </a:avLst>
          </a:prstGeom>
          <a:solidFill>
            <a:srgbClr val="F7F9FC"/>
          </a:solidFill>
          <a:ln w="12700">
            <a:solidFill>
              <a:srgbClr val="DC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2" name="Text 42">
            <a:extLst>
              <a:ext uri="{FF2B5EF4-FFF2-40B4-BE49-F238E27FC236}">
                <a16:creationId xmlns:a16="http://schemas.microsoft.com/office/drawing/2014/main" id="{9E2DB2E0-B7B8-4AA7-BD0A-ADDF9EFAA719}"/>
              </a:ext>
            </a:extLst>
          </p:cNvPr>
          <p:cNvSpPr/>
          <p:nvPr/>
        </p:nvSpPr>
        <p:spPr>
          <a:xfrm>
            <a:off x="9993960" y="5766673"/>
            <a:ext cx="1042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H4 </a:t>
            </a:r>
            <a:r>
              <a:rPr kumimoji="0" lang="zh-CN" altLang="en-US" sz="95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판단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6" name="Text 43">
            <a:extLst>
              <a:ext uri="{FF2B5EF4-FFF2-40B4-BE49-F238E27FC236}">
                <a16:creationId xmlns:a16="http://schemas.microsoft.com/office/drawing/2014/main" id="{513A9BEB-06C2-10B2-91E1-289A7B78B7FA}"/>
              </a:ext>
            </a:extLst>
          </p:cNvPr>
          <p:cNvSpPr/>
          <p:nvPr/>
        </p:nvSpPr>
        <p:spPr>
          <a:xfrm>
            <a:off x="9975600" y="5958553"/>
            <a:ext cx="10785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28C40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부분 지지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20623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44DB5-43A3-174F-FD58-EF08F8BB3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5560B5E-146C-C671-5531-371E818DBDD2}"/>
              </a:ext>
            </a:extLst>
          </p:cNvPr>
          <p:cNvSpPr/>
          <p:nvPr/>
        </p:nvSpPr>
        <p:spPr>
          <a:xfrm>
            <a:off x="530352" y="246888"/>
            <a:ext cx="163658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+mn-cs"/>
              </a:rPr>
              <a:t>0</a:t>
            </a: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+mn-cs"/>
              </a:rPr>
              <a:t>5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.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Integrated Conclusion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10693DE-5581-4B55-B521-4990D127F88F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3D8F60D-13E9-2A70-E5D4-B18010D87EB4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80g"/>
                <a:ea typeface="HGGGothicssi_Pro 80g"/>
                <a:cs typeface="+mn-cs"/>
              </a:rPr>
              <a:t>통합 결론 및 예측 해석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2923115-CDEC-DD01-0F6C-E15A4A478CE9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소비 지표는 폐업률과 일정한 관계를 보였지만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, </a:t>
            </a:r>
            <a:r>
              <a:rPr kumimoji="0" lang="zh-CN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강한 인과로 단정하기보다는 지역별 소비 구조와 변동성을 함께 해석해야 함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25F60A8-296E-6F2F-67D5-4CBC44D2D30C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97558937-81F9-6A0F-0E6D-2D2EF8F73111}"/>
              </a:ext>
            </a:extLst>
          </p:cNvPr>
          <p:cNvSpPr/>
          <p:nvPr/>
        </p:nvSpPr>
        <p:spPr>
          <a:xfrm>
            <a:off x="594360" y="1572840"/>
            <a:ext cx="5257440" cy="2605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2EA"/>
            </a:solidFill>
            <a:round/>
          </a:ln>
          <a:effectLst>
            <a:outerShdw blurRad="12600" dist="50402" dir="2700000" algn="bl" rotWithShape="0">
              <a:srgbClr val="D7DEE8">
                <a:alpha val="2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2D295049-DBDD-1E57-1157-0BC367CB2840}"/>
              </a:ext>
            </a:extLst>
          </p:cNvPr>
          <p:cNvSpPr/>
          <p:nvPr/>
        </p:nvSpPr>
        <p:spPr>
          <a:xfrm>
            <a:off x="594360" y="1572840"/>
            <a:ext cx="5257440" cy="438480"/>
          </a:xfrm>
          <a:prstGeom prst="roundRect">
            <a:avLst>
              <a:gd name="adj" fmla="val 20833"/>
            </a:avLst>
          </a:prstGeom>
          <a:solidFill>
            <a:srgbClr val="23C0C9"/>
          </a:solidFill>
          <a:ln w="12700">
            <a:solidFill>
              <a:srgbClr val="23C0C9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4F9AD50F-7C5E-5D5E-B816-1168F15B40E5}"/>
              </a:ext>
            </a:extLst>
          </p:cNvPr>
          <p:cNvSpPr/>
          <p:nvPr/>
        </p:nvSpPr>
        <p:spPr>
          <a:xfrm>
            <a:off x="667440" y="1677960"/>
            <a:ext cx="5111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그래프 ① 연도별 평균 폐업률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4" name="Image 0" descr="/mnt/data/인해_가설_trimmed/cell071_out0.png">
            <a:extLst>
              <a:ext uri="{FF2B5EF4-FFF2-40B4-BE49-F238E27FC236}">
                <a16:creationId xmlns:a16="http://schemas.microsoft.com/office/drawing/2014/main" id="{51CB9BD9-EF83-06C8-D574-DB97140F5F5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405065" y="2103120"/>
            <a:ext cx="3573335" cy="1949318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Shape 7">
            <a:extLst>
              <a:ext uri="{FF2B5EF4-FFF2-40B4-BE49-F238E27FC236}">
                <a16:creationId xmlns:a16="http://schemas.microsoft.com/office/drawing/2014/main" id="{7566854F-4B54-A459-6A91-0BAAB6B6A1B0}"/>
              </a:ext>
            </a:extLst>
          </p:cNvPr>
          <p:cNvSpPr/>
          <p:nvPr/>
        </p:nvSpPr>
        <p:spPr>
          <a:xfrm>
            <a:off x="6126480" y="1572840"/>
            <a:ext cx="5348880" cy="2605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2EA"/>
            </a:solidFill>
            <a:round/>
          </a:ln>
          <a:effectLst>
            <a:outerShdw blurRad="12600" dist="50402" dir="2700000" algn="bl" rotWithShape="0">
              <a:srgbClr val="D7DEE8">
                <a:alpha val="2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2A2804FF-49F9-CFD5-C680-057B9031F7F3}"/>
              </a:ext>
            </a:extLst>
          </p:cNvPr>
          <p:cNvSpPr/>
          <p:nvPr/>
        </p:nvSpPr>
        <p:spPr>
          <a:xfrm>
            <a:off x="6126480" y="1572840"/>
            <a:ext cx="5348880" cy="438480"/>
          </a:xfrm>
          <a:prstGeom prst="roundRect">
            <a:avLst>
              <a:gd name="adj" fmla="val 20833"/>
            </a:avLst>
          </a:prstGeom>
          <a:solidFill>
            <a:srgbClr val="23C0C9"/>
          </a:solidFill>
          <a:ln w="12700">
            <a:solidFill>
              <a:srgbClr val="23C0C9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7B99721C-6E45-8983-3CEB-4463F8C0A2E1}"/>
              </a:ext>
            </a:extLst>
          </p:cNvPr>
          <p:cNvSpPr/>
          <p:nvPr/>
        </p:nvSpPr>
        <p:spPr>
          <a:xfrm>
            <a:off x="6199560" y="1677960"/>
            <a:ext cx="5202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2026~2027 </a:t>
            </a:r>
            <a:r>
              <a:rPr kumimoji="0" lang="zh-CN" altLang="en-US" sz="14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예측 해석</a:t>
            </a:r>
            <a:endParaRPr kumimoji="0" lang="en-US" sz="14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E9A9E7AC-5F63-E8EF-32BF-1816743D7956}"/>
              </a:ext>
            </a:extLst>
          </p:cNvPr>
          <p:cNvSpPr/>
          <p:nvPr/>
        </p:nvSpPr>
        <p:spPr>
          <a:xfrm>
            <a:off x="6400800" y="2194560"/>
            <a:ext cx="480024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20" b="1" i="0" u="none" strike="noStrike" kern="1200" cap="none" spc="0" normalizeH="0" baseline="0" noProof="0">
                <a:ln>
                  <a:noFill/>
                </a:ln>
                <a:solidFill>
                  <a:srgbClr val="23C0C9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• </a:t>
            </a:r>
            <a:r>
              <a:rPr kumimoji="0" lang="zh-CN" altLang="en-US" sz="122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예측 결과는 가설 검증이 아니라 </a:t>
            </a:r>
            <a:r>
              <a:rPr kumimoji="0" lang="en-US" sz="122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2023~2025</a:t>
            </a:r>
            <a:r>
              <a:rPr kumimoji="0" lang="zh-CN" altLang="en-US" sz="122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년 폐업</a:t>
            </a:r>
            <a:r>
              <a:rPr kumimoji="0" lang="en-US" sz="122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·</a:t>
            </a:r>
            <a:r>
              <a:rPr kumimoji="0" lang="zh-CN" altLang="en-US" sz="122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소비 패턴 기반 전망</a:t>
            </a:r>
            <a:endParaRPr kumimoji="0" lang="en-US" sz="122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20" b="1" i="0" u="none" strike="noStrike" kern="1200" cap="none" spc="0" normalizeH="0" baseline="0" noProof="0">
                <a:ln>
                  <a:noFill/>
                </a:ln>
                <a:solidFill>
                  <a:srgbClr val="23C0C9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• </a:t>
            </a:r>
            <a:r>
              <a:rPr kumimoji="0" lang="en-US" sz="122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2026~2027</a:t>
            </a:r>
            <a:r>
              <a:rPr kumimoji="0" lang="zh-CN" altLang="en-US" sz="122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년 예측 폐업률 상위권은 기장군</a:t>
            </a:r>
            <a:r>
              <a:rPr kumimoji="0" lang="en-US" sz="122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·</a:t>
            </a:r>
            <a:r>
              <a:rPr kumimoji="0" lang="zh-CN" altLang="en-US" sz="122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강서구 중심으로 나타남</a:t>
            </a:r>
            <a:endParaRPr kumimoji="0" lang="en-US" sz="122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20" b="1" i="0" u="none" strike="noStrike" kern="1200" cap="none" spc="0" normalizeH="0" baseline="0" noProof="0">
                <a:ln>
                  <a:noFill/>
                </a:ln>
                <a:solidFill>
                  <a:srgbClr val="23C0C9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• </a:t>
            </a:r>
            <a:r>
              <a:rPr kumimoji="0" lang="zh-CN" altLang="en-US" sz="122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향후 대시보드에서는 지역별 소비 구조와 폐업 위험을 함께 제시 가능</a:t>
            </a:r>
            <a:endParaRPr kumimoji="0" lang="en-US" sz="122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Shape 11">
            <a:extLst>
              <a:ext uri="{FF2B5EF4-FFF2-40B4-BE49-F238E27FC236}">
                <a16:creationId xmlns:a16="http://schemas.microsoft.com/office/drawing/2014/main" id="{D0CEACB7-DD09-83BE-7803-E92B411DFA83}"/>
              </a:ext>
            </a:extLst>
          </p:cNvPr>
          <p:cNvSpPr/>
          <p:nvPr/>
        </p:nvSpPr>
        <p:spPr>
          <a:xfrm>
            <a:off x="6446520" y="3273480"/>
            <a:ext cx="1554120" cy="529920"/>
          </a:xfrm>
          <a:prstGeom prst="roundRect">
            <a:avLst>
              <a:gd name="adj" fmla="val 20690"/>
            </a:avLst>
          </a:prstGeom>
          <a:solidFill>
            <a:srgbClr val="F7F9FC"/>
          </a:solidFill>
          <a:ln w="12700">
            <a:solidFill>
              <a:srgbClr val="DC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19967747-E9AA-0679-D71B-48C5CF4EEEBF}"/>
              </a:ext>
            </a:extLst>
          </p:cNvPr>
          <p:cNvSpPr/>
          <p:nvPr/>
        </p:nvSpPr>
        <p:spPr>
          <a:xfrm>
            <a:off x="6519600" y="3346560"/>
            <a:ext cx="1407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2026 </a:t>
            </a:r>
            <a:r>
              <a:rPr kumimoji="0" lang="zh-CN" altLang="en-US" sz="95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예측 </a:t>
            </a: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TOP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278AC2F9-0069-6C87-1C8B-801A57BA5C39}"/>
              </a:ext>
            </a:extLst>
          </p:cNvPr>
          <p:cNvSpPr/>
          <p:nvPr/>
        </p:nvSpPr>
        <p:spPr>
          <a:xfrm>
            <a:off x="6501240" y="3538800"/>
            <a:ext cx="14443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23C0C9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기장군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3C0C9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34.42%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2669877D-08F8-F1B7-2A20-3E2BC40836D1}"/>
              </a:ext>
            </a:extLst>
          </p:cNvPr>
          <p:cNvSpPr/>
          <p:nvPr/>
        </p:nvSpPr>
        <p:spPr>
          <a:xfrm>
            <a:off x="8183880" y="3273480"/>
            <a:ext cx="1554120" cy="529920"/>
          </a:xfrm>
          <a:prstGeom prst="roundRect">
            <a:avLst>
              <a:gd name="adj" fmla="val 20690"/>
            </a:avLst>
          </a:prstGeom>
          <a:solidFill>
            <a:srgbClr val="F7F9FC"/>
          </a:solidFill>
          <a:ln w="12700">
            <a:solidFill>
              <a:srgbClr val="DC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AE498CBE-2A77-5442-E508-7709E4D4789F}"/>
              </a:ext>
            </a:extLst>
          </p:cNvPr>
          <p:cNvSpPr/>
          <p:nvPr/>
        </p:nvSpPr>
        <p:spPr>
          <a:xfrm>
            <a:off x="8256960" y="3346560"/>
            <a:ext cx="1407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2027 </a:t>
            </a:r>
            <a:r>
              <a:rPr kumimoji="0" lang="zh-CN" altLang="en-US" sz="95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예측 </a:t>
            </a: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TOP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" name="Text 16">
            <a:extLst>
              <a:ext uri="{FF2B5EF4-FFF2-40B4-BE49-F238E27FC236}">
                <a16:creationId xmlns:a16="http://schemas.microsoft.com/office/drawing/2014/main" id="{003B8CD0-BC0B-9756-EBF8-2211B9B103D3}"/>
              </a:ext>
            </a:extLst>
          </p:cNvPr>
          <p:cNvSpPr/>
          <p:nvPr/>
        </p:nvSpPr>
        <p:spPr>
          <a:xfrm>
            <a:off x="8238600" y="3538800"/>
            <a:ext cx="14443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246ED2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기장군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46ED2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34.42%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" name="Shape 17">
            <a:extLst>
              <a:ext uri="{FF2B5EF4-FFF2-40B4-BE49-F238E27FC236}">
                <a16:creationId xmlns:a16="http://schemas.microsoft.com/office/drawing/2014/main" id="{AEB34D5E-48A4-00D9-6533-40445E261B71}"/>
              </a:ext>
            </a:extLst>
          </p:cNvPr>
          <p:cNvSpPr/>
          <p:nvPr/>
        </p:nvSpPr>
        <p:spPr>
          <a:xfrm>
            <a:off x="9921240" y="3273480"/>
            <a:ext cx="1234080" cy="529920"/>
          </a:xfrm>
          <a:prstGeom prst="roundRect">
            <a:avLst>
              <a:gd name="adj" fmla="val 20690"/>
            </a:avLst>
          </a:prstGeom>
          <a:solidFill>
            <a:srgbClr val="F7F9FC"/>
          </a:solidFill>
          <a:ln w="12700">
            <a:solidFill>
              <a:srgbClr val="DC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8" name="Text 18">
            <a:extLst>
              <a:ext uri="{FF2B5EF4-FFF2-40B4-BE49-F238E27FC236}">
                <a16:creationId xmlns:a16="http://schemas.microsoft.com/office/drawing/2014/main" id="{257C728B-394E-974E-6E9C-9F861E9002CB}"/>
              </a:ext>
            </a:extLst>
          </p:cNvPr>
          <p:cNvSpPr/>
          <p:nvPr/>
        </p:nvSpPr>
        <p:spPr>
          <a:xfrm>
            <a:off x="9994320" y="3346560"/>
            <a:ext cx="10879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95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분석 성격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" name="Text 19">
            <a:extLst>
              <a:ext uri="{FF2B5EF4-FFF2-40B4-BE49-F238E27FC236}">
                <a16:creationId xmlns:a16="http://schemas.microsoft.com/office/drawing/2014/main" id="{3AF96CD8-11B8-B6F1-522F-A1E301B5D179}"/>
              </a:ext>
            </a:extLst>
          </p:cNvPr>
          <p:cNvSpPr/>
          <p:nvPr/>
        </p:nvSpPr>
        <p:spPr>
          <a:xfrm>
            <a:off x="9975960" y="3538800"/>
            <a:ext cx="11242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28C40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패턴 기반 전망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2" name="Shape 20">
            <a:extLst>
              <a:ext uri="{FF2B5EF4-FFF2-40B4-BE49-F238E27FC236}">
                <a16:creationId xmlns:a16="http://schemas.microsoft.com/office/drawing/2014/main" id="{EEF07BEF-D93D-3EB2-8677-6A07F5487902}"/>
              </a:ext>
            </a:extLst>
          </p:cNvPr>
          <p:cNvSpPr/>
          <p:nvPr/>
        </p:nvSpPr>
        <p:spPr>
          <a:xfrm>
            <a:off x="594360" y="4480560"/>
            <a:ext cx="10881000" cy="12798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2EA"/>
            </a:solidFill>
            <a:round/>
          </a:ln>
          <a:effectLst>
            <a:outerShdw blurRad="12600" dist="50402" dir="2700000" algn="bl" rotWithShape="0">
              <a:srgbClr val="D7DEE8">
                <a:alpha val="2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Shape 21">
            <a:extLst>
              <a:ext uri="{FF2B5EF4-FFF2-40B4-BE49-F238E27FC236}">
                <a16:creationId xmlns:a16="http://schemas.microsoft.com/office/drawing/2014/main" id="{1354B18B-C8E2-9826-F25E-61103C4E296F}"/>
              </a:ext>
            </a:extLst>
          </p:cNvPr>
          <p:cNvSpPr/>
          <p:nvPr/>
        </p:nvSpPr>
        <p:spPr>
          <a:xfrm>
            <a:off x="594360" y="4480560"/>
            <a:ext cx="10881000" cy="438480"/>
          </a:xfrm>
          <a:prstGeom prst="roundRect">
            <a:avLst>
              <a:gd name="adj" fmla="val 20833"/>
            </a:avLst>
          </a:prstGeom>
          <a:solidFill>
            <a:srgbClr val="23C0C9"/>
          </a:solidFill>
          <a:ln w="12700">
            <a:solidFill>
              <a:srgbClr val="23C0C9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0C27EE08-C1B2-AB9E-4999-7292B67BD9F1}"/>
              </a:ext>
            </a:extLst>
          </p:cNvPr>
          <p:cNvSpPr/>
          <p:nvPr/>
        </p:nvSpPr>
        <p:spPr>
          <a:xfrm>
            <a:off x="667440" y="4585680"/>
            <a:ext cx="1073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ko-KR" alt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통합 결론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GGGothicssi_Pro 60g"/>
              <a:ea typeface="HGGGothicssi_Pro 60g"/>
              <a:cs typeface="+mn-cs"/>
            </a:endParaRPr>
          </a:p>
        </p:txBody>
      </p:sp>
      <p:sp>
        <p:nvSpPr>
          <p:cNvPr id="48" name="Text 23">
            <a:extLst>
              <a:ext uri="{FF2B5EF4-FFF2-40B4-BE49-F238E27FC236}">
                <a16:creationId xmlns:a16="http://schemas.microsoft.com/office/drawing/2014/main" id="{793C7B01-4AC6-96D9-9C5A-E6631D2389B6}"/>
              </a:ext>
            </a:extLst>
          </p:cNvPr>
          <p:cNvSpPr/>
          <p:nvPr/>
        </p:nvSpPr>
        <p:spPr>
          <a:xfrm>
            <a:off x="868680" y="5029200"/>
            <a:ext cx="1037808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77500" lnSpcReduction="20000"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46ED2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•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소비 수준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·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변화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·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변동성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·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종합 소비 요인은 모두 폐업률과 일정한 관계를 보였으나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,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모든 가설은 부분 지지에 그쳤다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46ED2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•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특히 소비 변동성은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Pearson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기준 통계적으로 유의한 양의 상관을 보여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,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지역 상권 불안정성을 설명하는 핵심 신호로 활용 가능하다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46ED2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•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다만 다중공선성과 지역별 이질성이 존재하므로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,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소비 지표 단독보다 지역 특성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·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업종 구조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·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폐업 데이터의 결합 분석이 필요하다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" name="Shape 24">
            <a:extLst>
              <a:ext uri="{FF2B5EF4-FFF2-40B4-BE49-F238E27FC236}">
                <a16:creationId xmlns:a16="http://schemas.microsoft.com/office/drawing/2014/main" id="{A09ABE04-1E8A-6075-49FA-2786E7D96991}"/>
              </a:ext>
            </a:extLst>
          </p:cNvPr>
          <p:cNvSpPr/>
          <p:nvPr/>
        </p:nvSpPr>
        <p:spPr>
          <a:xfrm>
            <a:off x="1249860" y="5925240"/>
            <a:ext cx="1325520" cy="597480"/>
          </a:xfrm>
          <a:prstGeom prst="roundRect">
            <a:avLst>
              <a:gd name="adj" fmla="val 25000"/>
            </a:avLst>
          </a:prstGeom>
          <a:solidFill>
            <a:srgbClr val="F7F9FC"/>
          </a:solidFill>
          <a:ln w="12700">
            <a:solidFill>
              <a:srgbClr val="DC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" name="Text 25">
            <a:extLst>
              <a:ext uri="{FF2B5EF4-FFF2-40B4-BE49-F238E27FC236}">
                <a16:creationId xmlns:a16="http://schemas.microsoft.com/office/drawing/2014/main" id="{4B68653B-AC8A-CE7E-F4A3-26B48531F245}"/>
              </a:ext>
            </a:extLst>
          </p:cNvPr>
          <p:cNvSpPr/>
          <p:nvPr/>
        </p:nvSpPr>
        <p:spPr>
          <a:xfrm>
            <a:off x="1322940" y="5998320"/>
            <a:ext cx="11793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H1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Text 26">
            <a:extLst>
              <a:ext uri="{FF2B5EF4-FFF2-40B4-BE49-F238E27FC236}">
                <a16:creationId xmlns:a16="http://schemas.microsoft.com/office/drawing/2014/main" id="{9CC07FCB-FF72-2079-576C-FA34626A9A49}"/>
              </a:ext>
            </a:extLst>
          </p:cNvPr>
          <p:cNvSpPr/>
          <p:nvPr/>
        </p:nvSpPr>
        <p:spPr>
          <a:xfrm>
            <a:off x="1304580" y="6190560"/>
            <a:ext cx="12157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28C40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부분 지지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6" name="Shape 27">
            <a:extLst>
              <a:ext uri="{FF2B5EF4-FFF2-40B4-BE49-F238E27FC236}">
                <a16:creationId xmlns:a16="http://schemas.microsoft.com/office/drawing/2014/main" id="{A778DFDF-2953-2062-F854-B9808F5F2957}"/>
              </a:ext>
            </a:extLst>
          </p:cNvPr>
          <p:cNvSpPr/>
          <p:nvPr/>
        </p:nvSpPr>
        <p:spPr>
          <a:xfrm>
            <a:off x="2895780" y="5925240"/>
            <a:ext cx="1325520" cy="597480"/>
          </a:xfrm>
          <a:prstGeom prst="roundRect">
            <a:avLst>
              <a:gd name="adj" fmla="val 25000"/>
            </a:avLst>
          </a:prstGeom>
          <a:solidFill>
            <a:srgbClr val="F7F9FC"/>
          </a:solidFill>
          <a:ln w="12700">
            <a:solidFill>
              <a:srgbClr val="DC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8" name="Text 28">
            <a:extLst>
              <a:ext uri="{FF2B5EF4-FFF2-40B4-BE49-F238E27FC236}">
                <a16:creationId xmlns:a16="http://schemas.microsoft.com/office/drawing/2014/main" id="{AA2825C7-7700-BD06-0FCF-EF8C288B07F2}"/>
              </a:ext>
            </a:extLst>
          </p:cNvPr>
          <p:cNvSpPr/>
          <p:nvPr/>
        </p:nvSpPr>
        <p:spPr>
          <a:xfrm>
            <a:off x="2968860" y="5998320"/>
            <a:ext cx="11793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H2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0" name="Text 29">
            <a:extLst>
              <a:ext uri="{FF2B5EF4-FFF2-40B4-BE49-F238E27FC236}">
                <a16:creationId xmlns:a16="http://schemas.microsoft.com/office/drawing/2014/main" id="{238613FE-A5FF-58D2-B99A-41899278E5AC}"/>
              </a:ext>
            </a:extLst>
          </p:cNvPr>
          <p:cNvSpPr/>
          <p:nvPr/>
        </p:nvSpPr>
        <p:spPr>
          <a:xfrm>
            <a:off x="2950500" y="6190560"/>
            <a:ext cx="12157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28C40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부분 지지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2" name="Shape 30">
            <a:extLst>
              <a:ext uri="{FF2B5EF4-FFF2-40B4-BE49-F238E27FC236}">
                <a16:creationId xmlns:a16="http://schemas.microsoft.com/office/drawing/2014/main" id="{996E5C38-57FA-A2D0-2694-DC590BDA77E5}"/>
              </a:ext>
            </a:extLst>
          </p:cNvPr>
          <p:cNvSpPr/>
          <p:nvPr/>
        </p:nvSpPr>
        <p:spPr>
          <a:xfrm>
            <a:off x="4541700" y="5925240"/>
            <a:ext cx="1325520" cy="597480"/>
          </a:xfrm>
          <a:prstGeom prst="roundRect">
            <a:avLst>
              <a:gd name="adj" fmla="val 25000"/>
            </a:avLst>
          </a:prstGeom>
          <a:solidFill>
            <a:srgbClr val="F7F9FC"/>
          </a:solidFill>
          <a:ln w="12700">
            <a:solidFill>
              <a:srgbClr val="DC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4" name="Text 31">
            <a:extLst>
              <a:ext uri="{FF2B5EF4-FFF2-40B4-BE49-F238E27FC236}">
                <a16:creationId xmlns:a16="http://schemas.microsoft.com/office/drawing/2014/main" id="{71E0BCE7-F346-3703-D061-5F5272C7A6EF}"/>
              </a:ext>
            </a:extLst>
          </p:cNvPr>
          <p:cNvSpPr/>
          <p:nvPr/>
        </p:nvSpPr>
        <p:spPr>
          <a:xfrm>
            <a:off x="4614780" y="5998320"/>
            <a:ext cx="11793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H3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6" name="Text 32">
            <a:extLst>
              <a:ext uri="{FF2B5EF4-FFF2-40B4-BE49-F238E27FC236}">
                <a16:creationId xmlns:a16="http://schemas.microsoft.com/office/drawing/2014/main" id="{4CF49542-9A23-20CD-0F0D-94E30DCE0B6B}"/>
              </a:ext>
            </a:extLst>
          </p:cNvPr>
          <p:cNvSpPr/>
          <p:nvPr/>
        </p:nvSpPr>
        <p:spPr>
          <a:xfrm>
            <a:off x="4596420" y="6190560"/>
            <a:ext cx="12157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28C40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부분 지지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8" name="Shape 33">
            <a:extLst>
              <a:ext uri="{FF2B5EF4-FFF2-40B4-BE49-F238E27FC236}">
                <a16:creationId xmlns:a16="http://schemas.microsoft.com/office/drawing/2014/main" id="{73E01466-5CC1-A5E2-0EE7-4AF0C5BEDA5C}"/>
              </a:ext>
            </a:extLst>
          </p:cNvPr>
          <p:cNvSpPr/>
          <p:nvPr/>
        </p:nvSpPr>
        <p:spPr>
          <a:xfrm>
            <a:off x="6187620" y="5925240"/>
            <a:ext cx="1325520" cy="597480"/>
          </a:xfrm>
          <a:prstGeom prst="roundRect">
            <a:avLst>
              <a:gd name="adj" fmla="val 25000"/>
            </a:avLst>
          </a:prstGeom>
          <a:solidFill>
            <a:srgbClr val="F7F9FC"/>
          </a:solidFill>
          <a:ln w="12700">
            <a:solidFill>
              <a:srgbClr val="DC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0" name="Text 34">
            <a:extLst>
              <a:ext uri="{FF2B5EF4-FFF2-40B4-BE49-F238E27FC236}">
                <a16:creationId xmlns:a16="http://schemas.microsoft.com/office/drawing/2014/main" id="{0BADB78E-9989-48E1-1BDB-81E88AE72518}"/>
              </a:ext>
            </a:extLst>
          </p:cNvPr>
          <p:cNvSpPr/>
          <p:nvPr/>
        </p:nvSpPr>
        <p:spPr>
          <a:xfrm>
            <a:off x="6260700" y="5998320"/>
            <a:ext cx="11793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H4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2" name="Text 35">
            <a:extLst>
              <a:ext uri="{FF2B5EF4-FFF2-40B4-BE49-F238E27FC236}">
                <a16:creationId xmlns:a16="http://schemas.microsoft.com/office/drawing/2014/main" id="{B0223456-7785-B80A-C964-306853D71BF3}"/>
              </a:ext>
            </a:extLst>
          </p:cNvPr>
          <p:cNvSpPr/>
          <p:nvPr/>
        </p:nvSpPr>
        <p:spPr>
          <a:xfrm>
            <a:off x="6242340" y="6190560"/>
            <a:ext cx="12157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28C40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부분 지지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4" name="Shape 36">
            <a:extLst>
              <a:ext uri="{FF2B5EF4-FFF2-40B4-BE49-F238E27FC236}">
                <a16:creationId xmlns:a16="http://schemas.microsoft.com/office/drawing/2014/main" id="{B35130B8-212C-D58E-C581-FB59661068E3}"/>
              </a:ext>
            </a:extLst>
          </p:cNvPr>
          <p:cNvSpPr/>
          <p:nvPr/>
        </p:nvSpPr>
        <p:spPr>
          <a:xfrm>
            <a:off x="7833540" y="5925240"/>
            <a:ext cx="1462680" cy="597480"/>
          </a:xfrm>
          <a:prstGeom prst="roundRect">
            <a:avLst>
              <a:gd name="adj" fmla="val 25000"/>
            </a:avLst>
          </a:prstGeom>
          <a:solidFill>
            <a:srgbClr val="F7F9FC"/>
          </a:solidFill>
          <a:ln w="12700">
            <a:solidFill>
              <a:srgbClr val="DC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7" name="Text 37">
            <a:extLst>
              <a:ext uri="{FF2B5EF4-FFF2-40B4-BE49-F238E27FC236}">
                <a16:creationId xmlns:a16="http://schemas.microsoft.com/office/drawing/2014/main" id="{553E6FE5-A455-9896-5759-EFADE6C3342F}"/>
              </a:ext>
            </a:extLst>
          </p:cNvPr>
          <p:cNvSpPr/>
          <p:nvPr/>
        </p:nvSpPr>
        <p:spPr>
          <a:xfrm>
            <a:off x="7906620" y="5998320"/>
            <a:ext cx="1316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95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핵심 변수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0" name="Text 38">
            <a:extLst>
              <a:ext uri="{FF2B5EF4-FFF2-40B4-BE49-F238E27FC236}">
                <a16:creationId xmlns:a16="http://schemas.microsoft.com/office/drawing/2014/main" id="{F1EF0D3B-CE98-3FB0-78C6-BB15E4A2F0AB}"/>
              </a:ext>
            </a:extLst>
          </p:cNvPr>
          <p:cNvSpPr/>
          <p:nvPr/>
        </p:nvSpPr>
        <p:spPr>
          <a:xfrm>
            <a:off x="7888260" y="6190560"/>
            <a:ext cx="13528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23C0C9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소비 변동성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" name="Shape 39">
            <a:extLst>
              <a:ext uri="{FF2B5EF4-FFF2-40B4-BE49-F238E27FC236}">
                <a16:creationId xmlns:a16="http://schemas.microsoft.com/office/drawing/2014/main" id="{88E3E8C2-EEDD-5D58-37CA-D307795D3269}"/>
              </a:ext>
            </a:extLst>
          </p:cNvPr>
          <p:cNvSpPr/>
          <p:nvPr/>
        </p:nvSpPr>
        <p:spPr>
          <a:xfrm>
            <a:off x="9616620" y="5925240"/>
            <a:ext cx="1325520" cy="597480"/>
          </a:xfrm>
          <a:prstGeom prst="roundRect">
            <a:avLst>
              <a:gd name="adj" fmla="val 25000"/>
            </a:avLst>
          </a:prstGeom>
          <a:solidFill>
            <a:srgbClr val="F7F9FC"/>
          </a:solidFill>
          <a:ln w="12700">
            <a:solidFill>
              <a:srgbClr val="DC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4" name="Text 40">
            <a:extLst>
              <a:ext uri="{FF2B5EF4-FFF2-40B4-BE49-F238E27FC236}">
                <a16:creationId xmlns:a16="http://schemas.microsoft.com/office/drawing/2014/main" id="{26D3C6C8-89CD-AB22-BD38-744E34E39DBA}"/>
              </a:ext>
            </a:extLst>
          </p:cNvPr>
          <p:cNvSpPr/>
          <p:nvPr/>
        </p:nvSpPr>
        <p:spPr>
          <a:xfrm>
            <a:off x="9689700" y="5998320"/>
            <a:ext cx="11793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95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설명력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6" name="Text 41">
            <a:extLst>
              <a:ext uri="{FF2B5EF4-FFF2-40B4-BE49-F238E27FC236}">
                <a16:creationId xmlns:a16="http://schemas.microsoft.com/office/drawing/2014/main" id="{74F11910-9296-6706-C96C-50581E36A68B}"/>
              </a:ext>
            </a:extLst>
          </p:cNvPr>
          <p:cNvSpPr/>
          <p:nvPr/>
        </p:nvSpPr>
        <p:spPr>
          <a:xfrm>
            <a:off x="9671340" y="6190560"/>
            <a:ext cx="12157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46ED2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R² 0.462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94177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DFCB5-B066-1415-C36C-2F36B4EF9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3B2742-7F61-D27C-2413-46E36764A12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8"/>
          </a:solidFill>
          <a:ln>
            <a:solidFill>
              <a:srgbClr val="F7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7C631F-5302-2877-F62F-05C7868ECB84}"/>
              </a:ext>
            </a:extLst>
          </p:cNvPr>
          <p:cNvSpPr/>
          <p:nvPr/>
        </p:nvSpPr>
        <p:spPr>
          <a:xfrm>
            <a:off x="0" y="0"/>
            <a:ext cx="1965960" cy="6858000"/>
          </a:xfrm>
          <a:prstGeom prst="rect">
            <a:avLst/>
          </a:prstGeom>
          <a:solidFill>
            <a:srgbClr val="1FAAB5"/>
          </a:solidFill>
          <a:ln>
            <a:solidFill>
              <a:srgbClr val="1FA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74F93A6D-188A-88E1-F988-7FFE25EBF623}"/>
              </a:ext>
            </a:extLst>
          </p:cNvPr>
          <p:cNvGrpSpPr/>
          <p:nvPr/>
        </p:nvGrpSpPr>
        <p:grpSpPr>
          <a:xfrm>
            <a:off x="329184" y="530352"/>
            <a:ext cx="1388780" cy="861646"/>
            <a:chOff x="109728" y="217346"/>
            <a:chExt cx="1388780" cy="86164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B86A226-3D70-6982-7581-3626DD93C924}"/>
                </a:ext>
              </a:extLst>
            </p:cNvPr>
            <p:cNvSpPr txBox="1"/>
            <p:nvPr/>
          </p:nvSpPr>
          <p:spPr>
            <a:xfrm>
              <a:off x="109728" y="338918"/>
              <a:ext cx="1388780" cy="74007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0</a:t>
              </a: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3-3</a:t>
              </a:r>
              <a:endPara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6D496F9-3060-09B9-C031-FD3363AE7CEE}"/>
                </a:ext>
              </a:extLst>
            </p:cNvPr>
            <p:cNvSpPr txBox="1"/>
            <p:nvPr/>
          </p:nvSpPr>
          <p:spPr>
            <a:xfrm>
              <a:off x="109728" y="217346"/>
              <a:ext cx="877824" cy="24314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8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SECTION</a:t>
              </a:r>
            </a:p>
          </p:txBody>
        </p:sp>
      </p:grp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31148FA-5F49-CC32-9B09-1332722A7AA4}"/>
              </a:ext>
            </a:extLst>
          </p:cNvPr>
          <p:cNvSpPr/>
          <p:nvPr/>
        </p:nvSpPr>
        <p:spPr>
          <a:xfrm>
            <a:off x="329184" y="5559552"/>
            <a:ext cx="1051560" cy="100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B34375B-85A7-3773-03F2-35EE59AD9A40}"/>
              </a:ext>
            </a:extLst>
          </p:cNvPr>
          <p:cNvSpPr/>
          <p:nvPr/>
        </p:nvSpPr>
        <p:spPr>
          <a:xfrm>
            <a:off x="329184" y="5788152"/>
            <a:ext cx="658368" cy="100584"/>
          </a:xfrm>
          <a:prstGeom prst="roundRect">
            <a:avLst/>
          </a:prstGeom>
          <a:solidFill>
            <a:srgbClr val="DEF1F3"/>
          </a:solidFill>
          <a:ln w="12700">
            <a:solidFill>
              <a:srgbClr val="DE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E739CB-8917-C912-D5EA-FFA5BF713211}"/>
              </a:ext>
            </a:extLst>
          </p:cNvPr>
          <p:cNvSpPr txBox="1"/>
          <p:nvPr/>
        </p:nvSpPr>
        <p:spPr>
          <a:xfrm>
            <a:off x="2359152" y="530352"/>
            <a:ext cx="2011680" cy="27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EDA_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3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BFF2F985-4843-8C6E-4DB3-C459D16B1C3C}"/>
              </a:ext>
            </a:extLst>
          </p:cNvPr>
          <p:cNvCxnSpPr/>
          <p:nvPr/>
        </p:nvCxnSpPr>
        <p:spPr>
          <a:xfrm>
            <a:off x="2359152" y="868680"/>
            <a:ext cx="9006840" cy="0"/>
          </a:xfrm>
          <a:prstGeom prst="line">
            <a:avLst/>
          </a:prstGeom>
          <a:ln w="17780">
            <a:solidFill>
              <a:srgbClr val="DEF1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2785EDC-9D0A-E697-7E35-7885CE43E3DD}"/>
              </a:ext>
            </a:extLst>
          </p:cNvPr>
          <p:cNvSpPr txBox="1"/>
          <p:nvPr/>
        </p:nvSpPr>
        <p:spPr>
          <a:xfrm>
            <a:off x="2359152" y="1022120"/>
            <a:ext cx="6309360" cy="781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35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가설 별 탐색적 데이터 분석</a:t>
            </a:r>
            <a:endParaRPr kumimoji="0" lang="en-US" altLang="ko-KR" sz="2350" b="0" i="0" u="none" strike="noStrike" kern="1200" cap="none" spc="0" normalizeH="0" baseline="0" noProof="0" dirty="0">
              <a:ln>
                <a:noFill/>
              </a:ln>
              <a:solidFill>
                <a:srgbClr val="223035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   :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 업종 별 매출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·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상권 분석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이석원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223035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A34468B-3AF8-9F1D-918A-F4F141EC2B19}"/>
              </a:ext>
            </a:extLst>
          </p:cNvPr>
          <p:cNvSpPr/>
          <p:nvPr/>
        </p:nvSpPr>
        <p:spPr>
          <a:xfrm>
            <a:off x="5655444" y="4543294"/>
            <a:ext cx="2743200" cy="347472"/>
          </a:xfrm>
          <a:prstGeom prst="roundRect">
            <a:avLst/>
          </a:prstGeom>
          <a:solidFill>
            <a:srgbClr val="DEF1F3"/>
          </a:solidFill>
          <a:ln w="12700">
            <a:solidFill>
              <a:srgbClr val="DE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80" b="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주요 데이터</a:t>
            </a:r>
            <a:endParaRPr kumimoji="0" sz="1180" b="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886BE3D-1CA9-5D68-B6E0-09197FE1C8D8}"/>
              </a:ext>
            </a:extLst>
          </p:cNvPr>
          <p:cNvSpPr/>
          <p:nvPr/>
        </p:nvSpPr>
        <p:spPr>
          <a:xfrm>
            <a:off x="2522082" y="5191535"/>
            <a:ext cx="2078262" cy="781621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A8811F-6527-C31C-D140-56ED3518F180}"/>
              </a:ext>
            </a:extLst>
          </p:cNvPr>
          <p:cNvSpPr txBox="1"/>
          <p:nvPr/>
        </p:nvSpPr>
        <p:spPr>
          <a:xfrm>
            <a:off x="2707641" y="5304320"/>
            <a:ext cx="1707144" cy="5560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관광 관련 업종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rgbClr val="15747C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매출 비중 </a:t>
            </a:r>
            <a:r>
              <a:rPr lang="en-US" altLang="ko-KR" sz="1400" dirty="0">
                <a:solidFill>
                  <a:srgbClr val="15747C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· </a:t>
            </a:r>
            <a:r>
              <a:rPr lang="ko-KR" altLang="en-US" sz="1400" dirty="0">
                <a:solidFill>
                  <a:srgbClr val="15747C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증가율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9" name="Rounded Rectangle 15">
            <a:extLst>
              <a:ext uri="{FF2B5EF4-FFF2-40B4-BE49-F238E27FC236}">
                <a16:creationId xmlns:a16="http://schemas.microsoft.com/office/drawing/2014/main" id="{4C829F7D-BD23-C259-1A39-F1ECEA005982}"/>
              </a:ext>
            </a:extLst>
          </p:cNvPr>
          <p:cNvSpPr/>
          <p:nvPr/>
        </p:nvSpPr>
        <p:spPr>
          <a:xfrm>
            <a:off x="4856003" y="5191535"/>
            <a:ext cx="2078262" cy="781621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233D36-F614-DA32-4E13-7C5239961881}"/>
              </a:ext>
            </a:extLst>
          </p:cNvPr>
          <p:cNvSpPr txBox="1"/>
          <p:nvPr/>
        </p:nvSpPr>
        <p:spPr>
          <a:xfrm>
            <a:off x="5041562" y="5406624"/>
            <a:ext cx="1707144" cy="351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 err="1">
                <a:solidFill>
                  <a:srgbClr val="15747C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비관광</a:t>
            </a:r>
            <a:r>
              <a:rPr lang="ko-KR" altLang="en-US" sz="1600" dirty="0">
                <a:solidFill>
                  <a:srgbClr val="15747C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업종 변화</a:t>
            </a:r>
            <a:endParaRPr sz="1600" dirty="0">
              <a:solidFill>
                <a:srgbClr val="15747C"/>
              </a:solidFill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31" name="Rounded Rectangle 15">
            <a:extLst>
              <a:ext uri="{FF2B5EF4-FFF2-40B4-BE49-F238E27FC236}">
                <a16:creationId xmlns:a16="http://schemas.microsoft.com/office/drawing/2014/main" id="{7728395D-2FEB-EE41-6360-66D4D5596717}"/>
              </a:ext>
            </a:extLst>
          </p:cNvPr>
          <p:cNvSpPr/>
          <p:nvPr/>
        </p:nvSpPr>
        <p:spPr>
          <a:xfrm>
            <a:off x="7119824" y="5191535"/>
            <a:ext cx="2078262" cy="781621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AA0F04-0EF1-04B9-50B0-A9447259C918}"/>
              </a:ext>
            </a:extLst>
          </p:cNvPr>
          <p:cNvSpPr txBox="1"/>
          <p:nvPr/>
        </p:nvSpPr>
        <p:spPr>
          <a:xfrm>
            <a:off x="7305383" y="5406624"/>
            <a:ext cx="1707144" cy="351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rgbClr val="15747C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상권 집중도</a:t>
            </a:r>
            <a:endParaRPr sz="1600" dirty="0">
              <a:solidFill>
                <a:srgbClr val="15747C"/>
              </a:solidFill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33" name="Rounded Rectangle 15">
            <a:extLst>
              <a:ext uri="{FF2B5EF4-FFF2-40B4-BE49-F238E27FC236}">
                <a16:creationId xmlns:a16="http://schemas.microsoft.com/office/drawing/2014/main" id="{20B46CC0-A7B0-DD74-8C62-C1F5B5978784}"/>
              </a:ext>
            </a:extLst>
          </p:cNvPr>
          <p:cNvSpPr/>
          <p:nvPr/>
        </p:nvSpPr>
        <p:spPr>
          <a:xfrm>
            <a:off x="9453745" y="5191535"/>
            <a:ext cx="2078262" cy="781621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D78651C-0D5F-C3B5-A6C3-9DEB8C288A79}"/>
              </a:ext>
            </a:extLst>
          </p:cNvPr>
          <p:cNvSpPr txBox="1"/>
          <p:nvPr/>
        </p:nvSpPr>
        <p:spPr>
          <a:xfrm>
            <a:off x="9639304" y="5406624"/>
            <a:ext cx="1707144" cy="351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업종별 상권 구조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95445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890B8-39CD-569B-7D88-1EC59DF1B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260C24E-FF4B-8828-E22C-EAAB96565A62}"/>
              </a:ext>
            </a:extLst>
          </p:cNvPr>
          <p:cNvSpPr/>
          <p:nvPr/>
        </p:nvSpPr>
        <p:spPr>
          <a:xfrm>
            <a:off x="530352" y="310896"/>
            <a:ext cx="163658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altLang="ko-KR" sz="900" dirty="0">
                <a:solidFill>
                  <a:srgbClr val="5C6C76"/>
                </a:solidFill>
                <a:latin typeface="HG꼬딕씨_Pro 20g"/>
              </a:rPr>
              <a:t>01. Business Flow</a:t>
            </a:r>
          </a:p>
          <a:p>
            <a:endParaRPr lang="en-US" altLang="ko-KR" sz="900" dirty="0">
              <a:solidFill>
                <a:srgbClr val="5C6C76"/>
              </a:solidFill>
              <a:latin typeface="HG꼬딕씨_Pro 20g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B21519D-09C8-AD4A-9F52-7DD3D81BD10B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1FBEADF-7F8A-BC72-674F-6057E859FFAD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ko-KR" altLang="en-US" dirty="0">
                <a:solidFill>
                  <a:srgbClr val="26343B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부산 전체 신규</a:t>
            </a:r>
            <a:r>
              <a:rPr lang="en-US" altLang="ko-KR" dirty="0">
                <a:solidFill>
                  <a:srgbClr val="26343B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·</a:t>
            </a:r>
            <a:r>
              <a:rPr lang="ko-KR" altLang="en-US" dirty="0">
                <a:solidFill>
                  <a:srgbClr val="26343B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폐업 흐름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DF63A2D-24DA-E57A-71B5-0F0FDE0F5B3E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altLang="ko-KR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2023~2025</a:t>
            </a:r>
            <a:r>
              <a:rPr lang="ko-KR" altLang="en-US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년 부산 전체에서 신규사업자와 폐업사업자의 연도별 흐름을 먼저 확인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E11A816-61D2-F367-139B-015C3CB271FE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7" name="Rounded Rectangle 11">
            <a:extLst>
              <a:ext uri="{FF2B5EF4-FFF2-40B4-BE49-F238E27FC236}">
                <a16:creationId xmlns:a16="http://schemas.microsoft.com/office/drawing/2014/main" id="{598E8C9D-7060-AE46-2247-564D2221DE0F}"/>
              </a:ext>
            </a:extLst>
          </p:cNvPr>
          <p:cNvSpPr/>
          <p:nvPr/>
        </p:nvSpPr>
        <p:spPr>
          <a:xfrm>
            <a:off x="1462579" y="1792224"/>
            <a:ext cx="5989320" cy="3337560"/>
          </a:xfrm>
          <a:prstGeom prst="roundRect">
            <a:avLst>
              <a:gd name="adj" fmla="val 10025"/>
            </a:avLst>
          </a:prstGeom>
          <a:solidFill>
            <a:srgbClr val="FFFFFF"/>
          </a:solidFill>
          <a:ln w="9525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12" descr="seokwon_status_main-trend.png">
            <a:extLst>
              <a:ext uri="{FF2B5EF4-FFF2-40B4-BE49-F238E27FC236}">
                <a16:creationId xmlns:a16="http://schemas.microsoft.com/office/drawing/2014/main" id="{A859FF80-5058-4E3B-FEC0-55B1CB308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9229" y="2427817"/>
            <a:ext cx="4181739" cy="2627973"/>
          </a:xfrm>
          <a:prstGeom prst="rect">
            <a:avLst/>
          </a:prstGeom>
        </p:spPr>
      </p:pic>
      <p:sp>
        <p:nvSpPr>
          <p:cNvPr id="31" name="Rounded Rectangle 13">
            <a:extLst>
              <a:ext uri="{FF2B5EF4-FFF2-40B4-BE49-F238E27FC236}">
                <a16:creationId xmlns:a16="http://schemas.microsoft.com/office/drawing/2014/main" id="{F6DEAD0D-3EF3-7363-33D2-13776B9BDC0E}"/>
              </a:ext>
            </a:extLst>
          </p:cNvPr>
          <p:cNvSpPr/>
          <p:nvPr/>
        </p:nvSpPr>
        <p:spPr>
          <a:xfrm>
            <a:off x="7757621" y="1792224"/>
            <a:ext cx="4157288" cy="3684940"/>
          </a:xfrm>
          <a:prstGeom prst="roundRect">
            <a:avLst>
              <a:gd name="adj" fmla="val 8145"/>
            </a:avLst>
          </a:prstGeom>
          <a:solidFill>
            <a:srgbClr val="FFFFFF"/>
          </a:solidFill>
          <a:ln w="9525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14">
            <a:extLst>
              <a:ext uri="{FF2B5EF4-FFF2-40B4-BE49-F238E27FC236}">
                <a16:creationId xmlns:a16="http://schemas.microsoft.com/office/drawing/2014/main" id="{07D3E9ED-62C6-39EA-7113-D8DA55AC2C4B}"/>
              </a:ext>
            </a:extLst>
          </p:cNvPr>
          <p:cNvSpPr/>
          <p:nvPr/>
        </p:nvSpPr>
        <p:spPr>
          <a:xfrm>
            <a:off x="7757621" y="1792224"/>
            <a:ext cx="4157288" cy="438912"/>
          </a:xfrm>
          <a:prstGeom prst="roundRect">
            <a:avLst/>
          </a:prstGeom>
          <a:solidFill>
            <a:srgbClr val="F2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B947169-BA96-2C76-D431-040910AB6610}"/>
              </a:ext>
            </a:extLst>
          </p:cNvPr>
          <p:cNvSpPr txBox="1"/>
          <p:nvPr/>
        </p:nvSpPr>
        <p:spPr>
          <a:xfrm>
            <a:off x="8460093" y="1892808"/>
            <a:ext cx="2752344" cy="2400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lang="ko-KR" altLang="en-US" sz="1320" dirty="0">
                <a:solidFill>
                  <a:srgbClr val="0D7884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핵심 해석</a:t>
            </a:r>
            <a:endParaRPr sz="1320" dirty="0">
              <a:solidFill>
                <a:srgbClr val="0D7884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59F5D07-4726-08E5-E2BB-7045CF12EBD6}"/>
              </a:ext>
            </a:extLst>
          </p:cNvPr>
          <p:cNvSpPr txBox="1"/>
          <p:nvPr/>
        </p:nvSpPr>
        <p:spPr>
          <a:xfrm>
            <a:off x="7867349" y="2745947"/>
            <a:ext cx="3891683" cy="11634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200000"/>
              </a:lnSpc>
              <a:spcAft>
                <a:spcPts val="200"/>
              </a:spcAft>
            </a:pPr>
            <a:r>
              <a:rPr lang="en-US" altLang="ko-KR" sz="1220" dirty="0">
                <a:solidFill>
                  <a:srgbClr val="26343B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• 2023</a:t>
            </a:r>
            <a:r>
              <a:rPr lang="ko-KR" altLang="en-US" sz="1220" dirty="0">
                <a:solidFill>
                  <a:srgbClr val="26343B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년 이후 신규와 폐업 모두 감소 흐름</a:t>
            </a:r>
          </a:p>
          <a:p>
            <a:pPr>
              <a:lnSpc>
                <a:spcPct val="200000"/>
              </a:lnSpc>
              <a:spcAft>
                <a:spcPts val="200"/>
              </a:spcAft>
            </a:pPr>
            <a:r>
              <a:rPr lang="en-US" altLang="ko-KR" sz="1220" dirty="0">
                <a:solidFill>
                  <a:srgbClr val="26343B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• </a:t>
            </a:r>
            <a:r>
              <a:rPr lang="ko-KR" altLang="en-US" sz="1220" dirty="0">
                <a:solidFill>
                  <a:srgbClr val="26343B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신규사업자 수가 </a:t>
            </a:r>
            <a:r>
              <a:rPr lang="ko-KR" altLang="en-US" sz="1220" dirty="0" err="1">
                <a:solidFill>
                  <a:srgbClr val="26343B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폐업자</a:t>
            </a:r>
            <a:r>
              <a:rPr lang="ko-KR" altLang="en-US" sz="1220" dirty="0">
                <a:solidFill>
                  <a:srgbClr val="26343B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수보다 높아 전체 </a:t>
            </a:r>
            <a:r>
              <a:rPr lang="ko-KR" altLang="en-US" sz="1220" dirty="0" err="1">
                <a:solidFill>
                  <a:srgbClr val="26343B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보충력은</a:t>
            </a:r>
            <a:r>
              <a:rPr lang="ko-KR" altLang="en-US" sz="1220" dirty="0">
                <a:solidFill>
                  <a:srgbClr val="26343B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유지</a:t>
            </a:r>
          </a:p>
          <a:p>
            <a:pPr>
              <a:lnSpc>
                <a:spcPct val="200000"/>
              </a:lnSpc>
              <a:spcAft>
                <a:spcPts val="200"/>
              </a:spcAft>
            </a:pPr>
            <a:r>
              <a:rPr lang="en-US" altLang="ko-KR" sz="1220" dirty="0">
                <a:solidFill>
                  <a:srgbClr val="26343B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• </a:t>
            </a:r>
            <a:r>
              <a:rPr lang="ko-KR" altLang="en-US" sz="1220" dirty="0">
                <a:solidFill>
                  <a:srgbClr val="26343B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단</a:t>
            </a:r>
            <a:r>
              <a:rPr lang="en-US" altLang="ko-KR" sz="1220" dirty="0">
                <a:solidFill>
                  <a:srgbClr val="26343B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, </a:t>
            </a:r>
            <a:r>
              <a:rPr lang="ko-KR" altLang="en-US" sz="1220" dirty="0">
                <a:solidFill>
                  <a:srgbClr val="26343B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지역별로 신규 유입과 폐업 압력이 다르게 나타남</a:t>
            </a:r>
          </a:p>
        </p:txBody>
      </p:sp>
      <p:sp>
        <p:nvSpPr>
          <p:cNvPr id="39" name="Rounded Rectangle 17">
            <a:extLst>
              <a:ext uri="{FF2B5EF4-FFF2-40B4-BE49-F238E27FC236}">
                <a16:creationId xmlns:a16="http://schemas.microsoft.com/office/drawing/2014/main" id="{5071328F-35A3-5EC8-5FA5-8058EBD17E86}"/>
              </a:ext>
            </a:extLst>
          </p:cNvPr>
          <p:cNvSpPr/>
          <p:nvPr/>
        </p:nvSpPr>
        <p:spPr>
          <a:xfrm>
            <a:off x="1508299" y="5404103"/>
            <a:ext cx="1828800" cy="97840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0B9E80F-88D9-BFCD-3842-E963E9258D57}"/>
              </a:ext>
            </a:extLst>
          </p:cNvPr>
          <p:cNvSpPr txBox="1"/>
          <p:nvPr/>
        </p:nvSpPr>
        <p:spPr>
          <a:xfrm>
            <a:off x="1672891" y="5632704"/>
            <a:ext cx="149961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900" b="1">
                <a:solidFill>
                  <a:srgbClr val="1F5AA6"/>
                </a:solidFill>
                <a:latin typeface="HGGGothicssi_Pro 80g"/>
              </a:rPr>
              <a:t>신규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F940922-030D-B4AD-A45B-26ECDA4DD0D3}"/>
              </a:ext>
            </a:extLst>
          </p:cNvPr>
          <p:cNvSpPr txBox="1"/>
          <p:nvPr/>
        </p:nvSpPr>
        <p:spPr>
          <a:xfrm>
            <a:off x="1645459" y="5998464"/>
            <a:ext cx="15544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0">
                <a:solidFill>
                  <a:srgbClr val="76808A"/>
                </a:solidFill>
                <a:latin typeface="HGGGothicssi_Pro 20g"/>
              </a:rPr>
              <a:t>상권 보충력 지표</a:t>
            </a:r>
          </a:p>
        </p:txBody>
      </p:sp>
      <p:sp>
        <p:nvSpPr>
          <p:cNvPr id="45" name="Rounded Rectangle 20">
            <a:extLst>
              <a:ext uri="{FF2B5EF4-FFF2-40B4-BE49-F238E27FC236}">
                <a16:creationId xmlns:a16="http://schemas.microsoft.com/office/drawing/2014/main" id="{F6C60DE9-692D-1C87-F1E0-C95A1712D299}"/>
              </a:ext>
            </a:extLst>
          </p:cNvPr>
          <p:cNvSpPr/>
          <p:nvPr/>
        </p:nvSpPr>
        <p:spPr>
          <a:xfrm>
            <a:off x="3565699" y="5404103"/>
            <a:ext cx="1828800" cy="97840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156C9F1-D104-DA50-D434-1DC27D0147E8}"/>
              </a:ext>
            </a:extLst>
          </p:cNvPr>
          <p:cNvSpPr txBox="1"/>
          <p:nvPr/>
        </p:nvSpPr>
        <p:spPr>
          <a:xfrm>
            <a:off x="3730291" y="5632704"/>
            <a:ext cx="149961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900" b="1">
                <a:solidFill>
                  <a:srgbClr val="D95454"/>
                </a:solidFill>
                <a:latin typeface="HGGGothicssi_Pro 80g"/>
              </a:rPr>
              <a:t>폐업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B8411A2-BB67-35C1-8CA0-B0578566EAB6}"/>
              </a:ext>
            </a:extLst>
          </p:cNvPr>
          <p:cNvSpPr txBox="1"/>
          <p:nvPr/>
        </p:nvSpPr>
        <p:spPr>
          <a:xfrm>
            <a:off x="3702859" y="5998464"/>
            <a:ext cx="15544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0">
                <a:solidFill>
                  <a:srgbClr val="76808A"/>
                </a:solidFill>
                <a:latin typeface="HGGGothicssi_Pro 20g"/>
              </a:rPr>
              <a:t>상권 이탈 지표</a:t>
            </a:r>
          </a:p>
        </p:txBody>
      </p:sp>
      <p:sp>
        <p:nvSpPr>
          <p:cNvPr id="51" name="Rounded Rectangle 23">
            <a:extLst>
              <a:ext uri="{FF2B5EF4-FFF2-40B4-BE49-F238E27FC236}">
                <a16:creationId xmlns:a16="http://schemas.microsoft.com/office/drawing/2014/main" id="{42DB75F4-6D5C-D3BC-CD3E-CF58986F7C8E}"/>
              </a:ext>
            </a:extLst>
          </p:cNvPr>
          <p:cNvSpPr/>
          <p:nvPr/>
        </p:nvSpPr>
        <p:spPr>
          <a:xfrm>
            <a:off x="5623099" y="5404103"/>
            <a:ext cx="1828800" cy="97840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7EF51A0-6386-D987-FCFA-5FA6EEDF9F7F}"/>
              </a:ext>
            </a:extLst>
          </p:cNvPr>
          <p:cNvSpPr txBox="1"/>
          <p:nvPr/>
        </p:nvSpPr>
        <p:spPr>
          <a:xfrm>
            <a:off x="5787691" y="5632704"/>
            <a:ext cx="149961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900" b="1">
                <a:solidFill>
                  <a:srgbClr val="0D7884"/>
                </a:solidFill>
                <a:latin typeface="HGGGothicssi_Pro 80g"/>
              </a:rPr>
              <a:t>순증감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0BBB0EC-C8B3-320D-3500-5AA134A32902}"/>
              </a:ext>
            </a:extLst>
          </p:cNvPr>
          <p:cNvSpPr txBox="1"/>
          <p:nvPr/>
        </p:nvSpPr>
        <p:spPr>
          <a:xfrm>
            <a:off x="5760259" y="5998464"/>
            <a:ext cx="15544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0">
                <a:solidFill>
                  <a:srgbClr val="76808A"/>
                </a:solidFill>
                <a:latin typeface="HGGGothicssi_Pro 20g"/>
              </a:rPr>
              <a:t>신규−폐업</a:t>
            </a:r>
          </a:p>
        </p:txBody>
      </p:sp>
      <p:sp>
        <p:nvSpPr>
          <p:cNvPr id="59" name="Rounded Rectangle 7">
            <a:extLst>
              <a:ext uri="{FF2B5EF4-FFF2-40B4-BE49-F238E27FC236}">
                <a16:creationId xmlns:a16="http://schemas.microsoft.com/office/drawing/2014/main" id="{DA39DAFF-B7D7-6956-FFBA-4C6B1C12212E}"/>
              </a:ext>
            </a:extLst>
          </p:cNvPr>
          <p:cNvSpPr/>
          <p:nvPr/>
        </p:nvSpPr>
        <p:spPr>
          <a:xfrm>
            <a:off x="1462579" y="1746503"/>
            <a:ext cx="5989320" cy="548640"/>
          </a:xfrm>
          <a:prstGeom prst="roundRect">
            <a:avLst/>
          </a:prstGeom>
          <a:solidFill>
            <a:srgbClr val="23C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B751BCE-EECE-615E-D22C-D9AA86A38510}"/>
              </a:ext>
            </a:extLst>
          </p:cNvPr>
          <p:cNvSpPr txBox="1"/>
          <p:nvPr/>
        </p:nvSpPr>
        <p:spPr>
          <a:xfrm>
            <a:off x="1508299" y="1875534"/>
            <a:ext cx="6181344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300" b="0" dirty="0" err="1">
                <a:solidFill>
                  <a:srgbClr val="FFFFFF"/>
                </a:solidFill>
                <a:latin typeface="HG꼬딕씨_Pro 60g"/>
              </a:rPr>
              <a:t>그래프</a:t>
            </a:r>
            <a:r>
              <a:rPr sz="1300" b="0" dirty="0">
                <a:solidFill>
                  <a:srgbClr val="FFFFFF"/>
                </a:solidFill>
                <a:latin typeface="HG꼬딕씨_Pro 60g"/>
              </a:rPr>
              <a:t> ① </a:t>
            </a:r>
            <a:r>
              <a:rPr sz="1300" b="0" dirty="0" err="1">
                <a:solidFill>
                  <a:srgbClr val="FFFFFF"/>
                </a:solidFill>
                <a:latin typeface="HG꼬딕씨_Pro 60g"/>
              </a:rPr>
              <a:t>부산</a:t>
            </a:r>
            <a:r>
              <a:rPr sz="1300" b="0" dirty="0">
                <a:solidFill>
                  <a:srgbClr val="FFFFFF"/>
                </a:solidFill>
                <a:latin typeface="HG꼬딕씨_Pro 60g"/>
              </a:rPr>
              <a:t> </a:t>
            </a:r>
            <a:r>
              <a:rPr sz="1300" b="0" dirty="0" err="1">
                <a:solidFill>
                  <a:srgbClr val="FFFFFF"/>
                </a:solidFill>
                <a:latin typeface="HG꼬딕씨_Pro 60g"/>
              </a:rPr>
              <a:t>전체</a:t>
            </a:r>
            <a:r>
              <a:rPr sz="1300" b="0" dirty="0">
                <a:solidFill>
                  <a:srgbClr val="FFFFFF"/>
                </a:solidFill>
                <a:latin typeface="HG꼬딕씨_Pro 60g"/>
              </a:rPr>
              <a:t> </a:t>
            </a:r>
            <a:r>
              <a:rPr sz="1300" b="0" dirty="0" err="1">
                <a:solidFill>
                  <a:srgbClr val="FFFFFF"/>
                </a:solidFill>
                <a:latin typeface="HG꼬딕씨_Pro 60g"/>
              </a:rPr>
              <a:t>신규·폐업</a:t>
            </a:r>
            <a:r>
              <a:rPr sz="1300" b="0" dirty="0">
                <a:solidFill>
                  <a:srgbClr val="FFFFFF"/>
                </a:solidFill>
                <a:latin typeface="HG꼬딕씨_Pro 60g"/>
              </a:rPr>
              <a:t> </a:t>
            </a:r>
            <a:r>
              <a:rPr sz="1300" b="0" dirty="0" err="1">
                <a:solidFill>
                  <a:srgbClr val="FFFFFF"/>
                </a:solidFill>
                <a:latin typeface="HG꼬딕씨_Pro 60g"/>
              </a:rPr>
              <a:t>추이</a:t>
            </a:r>
            <a:endParaRPr sz="1300" b="0" dirty="0">
              <a:solidFill>
                <a:srgbClr val="FFFFFF"/>
              </a:solidFill>
              <a:latin typeface="HG꼬딕씨_Pro 60g"/>
            </a:endParaRPr>
          </a:p>
        </p:txBody>
      </p: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E0DDA7AC-3A11-73D1-BD14-AF227FAD68E4}"/>
              </a:ext>
            </a:extLst>
          </p:cNvPr>
          <p:cNvGrpSpPr/>
          <p:nvPr/>
        </p:nvGrpSpPr>
        <p:grpSpPr>
          <a:xfrm>
            <a:off x="7913497" y="4424218"/>
            <a:ext cx="3845536" cy="631572"/>
            <a:chOff x="7848600" y="4424218"/>
            <a:chExt cx="3845536" cy="631572"/>
          </a:xfrm>
        </p:grpSpPr>
        <p:sp>
          <p:nvSpPr>
            <p:cNvPr id="63" name="Rounded Rectangle 13">
              <a:extLst>
                <a:ext uri="{FF2B5EF4-FFF2-40B4-BE49-F238E27FC236}">
                  <a16:creationId xmlns:a16="http://schemas.microsoft.com/office/drawing/2014/main" id="{3CAB8D7F-E36D-6C3F-EBF0-1871B36C6683}"/>
                </a:ext>
              </a:extLst>
            </p:cNvPr>
            <p:cNvSpPr/>
            <p:nvPr/>
          </p:nvSpPr>
          <p:spPr>
            <a:xfrm>
              <a:off x="7848600" y="4424218"/>
              <a:ext cx="1221039" cy="631572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6E2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1A63DC0-D4F6-DEEB-2FE0-CEA124625C65}"/>
                </a:ext>
              </a:extLst>
            </p:cNvPr>
            <p:cNvSpPr txBox="1"/>
            <p:nvPr/>
          </p:nvSpPr>
          <p:spPr>
            <a:xfrm>
              <a:off x="7940040" y="4549042"/>
              <a:ext cx="1052619" cy="317010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ctr"/>
              <a:r>
                <a:rPr sz="1700" b="0">
                  <a:solidFill>
                    <a:srgbClr val="0A7682"/>
                  </a:solidFill>
                  <a:latin typeface="HG꼬딕씨_Pro 60g"/>
                </a:rPr>
                <a:t>593,221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4CAAFD74-F5C9-F811-74D7-4F09A57156A6}"/>
                </a:ext>
              </a:extLst>
            </p:cNvPr>
            <p:cNvSpPr txBox="1"/>
            <p:nvPr/>
          </p:nvSpPr>
          <p:spPr>
            <a:xfrm>
              <a:off x="7940040" y="4818302"/>
              <a:ext cx="1052615" cy="190821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ctr"/>
              <a:r>
                <a:rPr sz="880" b="0">
                  <a:solidFill>
                    <a:srgbClr val="5C6C76"/>
                  </a:solidFill>
                  <a:latin typeface="HG꼬딕씨_Pro 20g"/>
                </a:rPr>
                <a:t>2025 가동</a:t>
              </a:r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35C90D9C-081A-86D4-2D4D-56BEE0AE3E69}"/>
                </a:ext>
              </a:extLst>
            </p:cNvPr>
            <p:cNvGrpSpPr/>
            <p:nvPr/>
          </p:nvGrpSpPr>
          <p:grpSpPr>
            <a:xfrm>
              <a:off x="9160618" y="4424218"/>
              <a:ext cx="1221039" cy="631572"/>
              <a:chOff x="9357360" y="4424218"/>
              <a:chExt cx="1221039" cy="631572"/>
            </a:xfrm>
          </p:grpSpPr>
          <p:sp>
            <p:nvSpPr>
              <p:cNvPr id="69" name="Rounded Rectangle 16">
                <a:extLst>
                  <a:ext uri="{FF2B5EF4-FFF2-40B4-BE49-F238E27FC236}">
                    <a16:creationId xmlns:a16="http://schemas.microsoft.com/office/drawing/2014/main" id="{EC3DA84D-6B0D-BD08-9F91-E4D027D8C14D}"/>
                  </a:ext>
                </a:extLst>
              </p:cNvPr>
              <p:cNvSpPr/>
              <p:nvPr/>
            </p:nvSpPr>
            <p:spPr>
              <a:xfrm>
                <a:off x="9357360" y="4424218"/>
                <a:ext cx="1221039" cy="631572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D6E2E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EE0F2C6-3BB7-A846-B020-562561311DBD}"/>
                  </a:ext>
                </a:extLst>
              </p:cNvPr>
              <p:cNvSpPr txBox="1"/>
              <p:nvPr/>
            </p:nvSpPr>
            <p:spPr>
              <a:xfrm>
                <a:off x="9448800" y="4549042"/>
                <a:ext cx="1052619" cy="317010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 algn="ctr"/>
                <a:r>
                  <a:rPr sz="1700" b="0">
                    <a:solidFill>
                      <a:srgbClr val="0A7682"/>
                    </a:solidFill>
                    <a:latin typeface="HG꼬딕씨_Pro 60g"/>
                  </a:rPr>
                  <a:t>60,997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9367E2ED-D5FA-F7D8-FE78-81605344A26F}"/>
                  </a:ext>
                </a:extLst>
              </p:cNvPr>
              <p:cNvSpPr txBox="1"/>
              <p:nvPr/>
            </p:nvSpPr>
            <p:spPr>
              <a:xfrm>
                <a:off x="9448800" y="4818302"/>
                <a:ext cx="1052615" cy="190821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 algn="ctr"/>
                <a:r>
                  <a:rPr sz="880" b="0">
                    <a:solidFill>
                      <a:srgbClr val="5C6C76"/>
                    </a:solidFill>
                    <a:latin typeface="HG꼬딕씨_Pro 20g"/>
                  </a:rPr>
                  <a:t>2025 신규</a:t>
                </a:r>
              </a:p>
            </p:txBody>
          </p:sp>
        </p:grpSp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755B7B22-F69F-3AA4-CF83-8BE5F2772305}"/>
                </a:ext>
              </a:extLst>
            </p:cNvPr>
            <p:cNvGrpSpPr/>
            <p:nvPr/>
          </p:nvGrpSpPr>
          <p:grpSpPr>
            <a:xfrm>
              <a:off x="10473097" y="4424218"/>
              <a:ext cx="1221039" cy="631572"/>
              <a:chOff x="10866120" y="4424218"/>
              <a:chExt cx="1221039" cy="631572"/>
            </a:xfrm>
          </p:grpSpPr>
          <p:sp>
            <p:nvSpPr>
              <p:cNvPr id="76" name="Rounded Rectangle 19">
                <a:extLst>
                  <a:ext uri="{FF2B5EF4-FFF2-40B4-BE49-F238E27FC236}">
                    <a16:creationId xmlns:a16="http://schemas.microsoft.com/office/drawing/2014/main" id="{21D677FC-08A9-F8CF-4211-C3CCDC054E21}"/>
                  </a:ext>
                </a:extLst>
              </p:cNvPr>
              <p:cNvSpPr/>
              <p:nvPr/>
            </p:nvSpPr>
            <p:spPr>
              <a:xfrm>
                <a:off x="10866120" y="4424218"/>
                <a:ext cx="1221039" cy="631572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D6E2E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8B2E83A5-1A48-43A4-7B60-90EB7B3B45FE}"/>
                  </a:ext>
                </a:extLst>
              </p:cNvPr>
              <p:cNvSpPr txBox="1"/>
              <p:nvPr/>
            </p:nvSpPr>
            <p:spPr>
              <a:xfrm>
                <a:off x="10957559" y="4549042"/>
                <a:ext cx="1052619" cy="317010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 algn="ctr"/>
                <a:r>
                  <a:rPr sz="1700" b="0" dirty="0">
                    <a:solidFill>
                      <a:srgbClr val="0A7682"/>
                    </a:solidFill>
                    <a:latin typeface="HG꼬딕씨_Pro 60g"/>
                  </a:rPr>
                  <a:t>56,651</a:t>
                </a: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7613441D-159B-3E41-6600-F3D1A2D2F87F}"/>
                  </a:ext>
                </a:extLst>
              </p:cNvPr>
              <p:cNvSpPr txBox="1"/>
              <p:nvPr/>
            </p:nvSpPr>
            <p:spPr>
              <a:xfrm>
                <a:off x="10957559" y="4818302"/>
                <a:ext cx="1052615" cy="190821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 algn="ctr"/>
                <a:r>
                  <a:rPr sz="880" b="0">
                    <a:solidFill>
                      <a:srgbClr val="5C6C76"/>
                    </a:solidFill>
                    <a:latin typeface="HG꼬딕씨_Pro 20g"/>
                  </a:rPr>
                  <a:t>2025 폐업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316103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EC8AC-3C27-A64E-3630-9B8AB5D74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8AAB5A4-FC45-53C0-C393-3B7A15DFD397}"/>
              </a:ext>
            </a:extLst>
          </p:cNvPr>
          <p:cNvSpPr/>
          <p:nvPr/>
        </p:nvSpPr>
        <p:spPr>
          <a:xfrm>
            <a:off x="530352" y="246888"/>
            <a:ext cx="163658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altLang="ko-KR" sz="900" dirty="0">
                <a:solidFill>
                  <a:srgbClr val="6E7887"/>
                </a:solidFill>
                <a:latin typeface="HGGGothicssi_Pro 20g"/>
                <a:ea typeface="HGGGothicssi_Pro 20g"/>
              </a:rPr>
              <a:t>02. Business Status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B9C7976-BE48-1F43-4226-E5114F27D050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F15640E-0EE9-5FD1-7162-40311D44ED87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ko-KR" altLang="en-US" dirty="0">
                <a:solidFill>
                  <a:srgbClr val="141414"/>
                </a:solidFill>
                <a:latin typeface="HGGGothicssi_Pro 80g"/>
                <a:ea typeface="HGGGothicssi_Pro 80g"/>
              </a:rPr>
              <a:t>행정구별 신규 </a:t>
            </a:r>
            <a:r>
              <a:rPr lang="en-US" altLang="ko-KR" dirty="0">
                <a:solidFill>
                  <a:srgbClr val="141414"/>
                </a:solidFill>
                <a:latin typeface="HGGGothicssi_Pro 80g"/>
                <a:ea typeface="HGGGothicssi_Pro 80g"/>
              </a:rPr>
              <a:t>vs </a:t>
            </a:r>
            <a:r>
              <a:rPr lang="ko-KR" altLang="en-US" dirty="0">
                <a:solidFill>
                  <a:srgbClr val="141414"/>
                </a:solidFill>
                <a:latin typeface="HGGGothicssi_Pro 80g"/>
                <a:ea typeface="HGGGothicssi_Pro 80g"/>
              </a:rPr>
              <a:t>폐업 비교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ADEED72-E011-07F2-0389-7B8DC22AC990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altLang="ko-KR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2025</a:t>
            </a:r>
            <a:r>
              <a:rPr lang="ko-KR" altLang="en-US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년 기준 지역별 </a:t>
            </a:r>
            <a:r>
              <a:rPr lang="ko-KR" altLang="en-US" sz="800" dirty="0" err="1">
                <a:solidFill>
                  <a:srgbClr val="6E7887"/>
                </a:solidFill>
                <a:latin typeface="HGGGothicssi_Pro 20g"/>
                <a:ea typeface="HGGGothicssi_Pro 20g"/>
              </a:rPr>
              <a:t>보충력</a:t>
            </a:r>
            <a:r>
              <a:rPr lang="ko-KR" altLang="en-US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 차이를 실제 막대그래프로 확인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8630328-92DD-F046-5E1D-F900D03BCB54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9CF2C43D-8B20-793D-DBBB-31673945867A}"/>
              </a:ext>
            </a:extLst>
          </p:cNvPr>
          <p:cNvSpPr/>
          <p:nvPr/>
        </p:nvSpPr>
        <p:spPr>
          <a:xfrm>
            <a:off x="548640" y="2057400"/>
            <a:ext cx="6400800" cy="379476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>
            <a:solidFill>
              <a:srgbClr val="D6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D5AE1E84-1ECC-90D8-BC18-5CA9E7282160}"/>
              </a:ext>
            </a:extLst>
          </p:cNvPr>
          <p:cNvSpPr/>
          <p:nvPr/>
        </p:nvSpPr>
        <p:spPr>
          <a:xfrm>
            <a:off x="548640" y="2057400"/>
            <a:ext cx="6400800" cy="420624"/>
          </a:xfrm>
          <a:prstGeom prst="roundRect">
            <a:avLst/>
          </a:prstGeom>
          <a:solidFill>
            <a:srgbClr val="23C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4AE222-92A0-655E-510F-4EEF7DED521F}"/>
              </a:ext>
            </a:extLst>
          </p:cNvPr>
          <p:cNvSpPr txBox="1"/>
          <p:nvPr/>
        </p:nvSpPr>
        <p:spPr>
          <a:xfrm>
            <a:off x="2644121" y="2139696"/>
            <a:ext cx="2209837" cy="255455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300" b="0" dirty="0" err="1">
                <a:solidFill>
                  <a:srgbClr val="FFFFF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그래프</a:t>
            </a:r>
            <a:r>
              <a:rPr sz="1300" b="0" dirty="0">
                <a:solidFill>
                  <a:srgbClr val="FFFFF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</a:t>
            </a:r>
            <a:r>
              <a:rPr lang="ko-KR" altLang="en-US" sz="1300" b="0" dirty="0">
                <a:solidFill>
                  <a:srgbClr val="FFFFF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②</a:t>
            </a:r>
            <a:r>
              <a:rPr lang="ko-KR" altLang="en-US" sz="1300" dirty="0">
                <a:solidFill>
                  <a:srgbClr val="FFFFF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행정구별 신규 </a:t>
            </a:r>
            <a:r>
              <a:rPr lang="en-US" altLang="ko-KR" sz="1300" dirty="0">
                <a:solidFill>
                  <a:srgbClr val="FFFFF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vs </a:t>
            </a:r>
            <a:r>
              <a:rPr lang="ko-KR" altLang="en-US" sz="1300" dirty="0">
                <a:solidFill>
                  <a:srgbClr val="FFFFF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폐업</a:t>
            </a:r>
            <a:endParaRPr sz="1300" dirty="0">
              <a:solidFill>
                <a:srgbClr val="FFFFFF"/>
              </a:solidFill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20" name="Rounded Rectangle 10">
            <a:extLst>
              <a:ext uri="{FF2B5EF4-FFF2-40B4-BE49-F238E27FC236}">
                <a16:creationId xmlns:a16="http://schemas.microsoft.com/office/drawing/2014/main" id="{7B748F11-7911-2CE8-B44A-A84EF2D38E91}"/>
              </a:ext>
            </a:extLst>
          </p:cNvPr>
          <p:cNvSpPr/>
          <p:nvPr/>
        </p:nvSpPr>
        <p:spPr>
          <a:xfrm>
            <a:off x="7223760" y="3706253"/>
            <a:ext cx="43891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6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048864-7984-0545-F7E3-73AA9DF1A343}"/>
              </a:ext>
            </a:extLst>
          </p:cNvPr>
          <p:cNvSpPr txBox="1"/>
          <p:nvPr/>
        </p:nvSpPr>
        <p:spPr>
          <a:xfrm>
            <a:off x="7292340" y="4281584"/>
            <a:ext cx="4251960" cy="1218860"/>
          </a:xfrm>
          <a:prstGeom prst="rect">
            <a:avLst/>
          </a:prstGeom>
          <a:noFill/>
        </p:spPr>
        <p:txBody>
          <a:bodyPr wrap="square" lIns="27432" rIns="18288">
            <a:spAutoFit/>
          </a:bodyPr>
          <a:lstStyle/>
          <a:p>
            <a:pPr>
              <a:lnSpc>
                <a:spcPct val="200000"/>
              </a:lnSpc>
              <a:spcAft>
                <a:spcPts val="200"/>
              </a:spcAft>
            </a:pPr>
            <a:r>
              <a:rPr lang="en-US" altLang="ko-KR" sz="1220" dirty="0">
                <a:solidFill>
                  <a:srgbClr val="26343B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• </a:t>
            </a:r>
            <a:r>
              <a:rPr lang="ko-KR" altLang="en-US" sz="1220" dirty="0">
                <a:solidFill>
                  <a:srgbClr val="26343B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부산진구</a:t>
            </a:r>
            <a:r>
              <a:rPr lang="en-US" altLang="ko-KR" sz="1220" dirty="0">
                <a:solidFill>
                  <a:srgbClr val="26343B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·</a:t>
            </a:r>
            <a:r>
              <a:rPr lang="ko-KR" altLang="en-US" sz="1220" dirty="0">
                <a:solidFill>
                  <a:srgbClr val="26343B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해운대구는 신규</a:t>
            </a:r>
            <a:r>
              <a:rPr lang="en-US" altLang="ko-KR" sz="1220" dirty="0">
                <a:solidFill>
                  <a:srgbClr val="26343B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·</a:t>
            </a:r>
            <a:r>
              <a:rPr lang="ko-KR" altLang="en-US" sz="1220" dirty="0">
                <a:solidFill>
                  <a:srgbClr val="26343B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폐업 규모가 모두 크지만 신규가 더 큼</a:t>
            </a:r>
          </a:p>
          <a:p>
            <a:pPr>
              <a:lnSpc>
                <a:spcPct val="200000"/>
              </a:lnSpc>
              <a:spcAft>
                <a:spcPts val="200"/>
              </a:spcAft>
            </a:pPr>
            <a:r>
              <a:rPr lang="en-US" altLang="ko-KR" sz="1220" dirty="0">
                <a:solidFill>
                  <a:srgbClr val="26343B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• </a:t>
            </a:r>
            <a:r>
              <a:rPr lang="ko-KR" altLang="en-US" sz="1220" dirty="0">
                <a:solidFill>
                  <a:srgbClr val="26343B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수영구는 폐업보다 신규가 뚜렷하게 많아 </a:t>
            </a:r>
            <a:r>
              <a:rPr lang="ko-KR" altLang="en-US" sz="1220" dirty="0" err="1">
                <a:solidFill>
                  <a:srgbClr val="26343B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보충력이</a:t>
            </a:r>
            <a:r>
              <a:rPr lang="ko-KR" altLang="en-US" sz="1220" dirty="0">
                <a:solidFill>
                  <a:srgbClr val="26343B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강한 편</a:t>
            </a:r>
          </a:p>
          <a:p>
            <a:pPr>
              <a:lnSpc>
                <a:spcPct val="200000"/>
              </a:lnSpc>
              <a:spcAft>
                <a:spcPts val="200"/>
              </a:spcAft>
            </a:pPr>
            <a:r>
              <a:rPr lang="en-US" altLang="ko-KR" sz="1220" dirty="0">
                <a:solidFill>
                  <a:srgbClr val="26343B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• </a:t>
            </a:r>
            <a:r>
              <a:rPr lang="ko-KR" altLang="en-US" sz="1220" dirty="0">
                <a:solidFill>
                  <a:srgbClr val="26343B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사상구</a:t>
            </a:r>
            <a:r>
              <a:rPr lang="en-US" altLang="ko-KR" sz="1220" dirty="0">
                <a:solidFill>
                  <a:srgbClr val="26343B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·</a:t>
            </a:r>
            <a:r>
              <a:rPr lang="ko-KR" altLang="en-US" sz="1220" dirty="0">
                <a:solidFill>
                  <a:srgbClr val="26343B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중구</a:t>
            </a:r>
            <a:r>
              <a:rPr lang="en-US" altLang="ko-KR" sz="1220" dirty="0">
                <a:solidFill>
                  <a:srgbClr val="26343B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·</a:t>
            </a:r>
            <a:r>
              <a:rPr lang="ko-KR" altLang="en-US" sz="1220" dirty="0">
                <a:solidFill>
                  <a:srgbClr val="26343B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영도구는 폐업이 신규를 넘어 </a:t>
            </a:r>
            <a:r>
              <a:rPr lang="ko-KR" altLang="en-US" sz="1220" dirty="0" err="1">
                <a:solidFill>
                  <a:srgbClr val="26343B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순감소</a:t>
            </a:r>
            <a:r>
              <a:rPr lang="ko-KR" altLang="en-US" sz="1220" dirty="0">
                <a:solidFill>
                  <a:srgbClr val="26343B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신호</a:t>
            </a:r>
          </a:p>
        </p:txBody>
      </p:sp>
      <p:pic>
        <p:nvPicPr>
          <p:cNvPr id="51" name="Picture 12" descr="seokwon_district_main-bar.png">
            <a:extLst>
              <a:ext uri="{FF2B5EF4-FFF2-40B4-BE49-F238E27FC236}">
                <a16:creationId xmlns:a16="http://schemas.microsoft.com/office/drawing/2014/main" id="{F1E4A766-612D-3C94-0453-AFA6841CDB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80" y="3111556"/>
            <a:ext cx="6144768" cy="2049918"/>
          </a:xfrm>
          <a:prstGeom prst="rect">
            <a:avLst/>
          </a:prstGeom>
        </p:spPr>
      </p:pic>
      <p:sp>
        <p:nvSpPr>
          <p:cNvPr id="53" name="Rounded Rectangle 14">
            <a:extLst>
              <a:ext uri="{FF2B5EF4-FFF2-40B4-BE49-F238E27FC236}">
                <a16:creationId xmlns:a16="http://schemas.microsoft.com/office/drawing/2014/main" id="{52928520-EDD2-08BA-5B1D-8CA31D318CBC}"/>
              </a:ext>
            </a:extLst>
          </p:cNvPr>
          <p:cNvSpPr/>
          <p:nvPr/>
        </p:nvSpPr>
        <p:spPr>
          <a:xfrm>
            <a:off x="7223760" y="3615375"/>
            <a:ext cx="4389120" cy="438912"/>
          </a:xfrm>
          <a:prstGeom prst="roundRect">
            <a:avLst/>
          </a:prstGeom>
          <a:solidFill>
            <a:srgbClr val="F2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DA6883D-4B81-3089-BBBD-ACE8F83785E1}"/>
              </a:ext>
            </a:extLst>
          </p:cNvPr>
          <p:cNvSpPr txBox="1"/>
          <p:nvPr/>
        </p:nvSpPr>
        <p:spPr>
          <a:xfrm>
            <a:off x="7333488" y="3715958"/>
            <a:ext cx="4006070" cy="2400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20" b="1">
                <a:solidFill>
                  <a:srgbClr val="0D7884"/>
                </a:solidFill>
                <a:latin typeface="HGGGothicssi_Pro 40g"/>
              </a:rPr>
              <a:t>세부 해석</a:t>
            </a:r>
          </a:p>
        </p:txBody>
      </p:sp>
    </p:spTree>
    <p:extLst>
      <p:ext uri="{BB962C8B-B14F-4D97-AF65-F5344CB8AC3E}">
        <p14:creationId xmlns:p14="http://schemas.microsoft.com/office/powerpoint/2010/main" val="42705894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3E746-BFD6-C9CC-0DCC-A7DBE5A86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2989214-D54B-09E6-4E27-BC29F0E24562}"/>
              </a:ext>
            </a:extLst>
          </p:cNvPr>
          <p:cNvSpPr/>
          <p:nvPr/>
        </p:nvSpPr>
        <p:spPr>
          <a:xfrm>
            <a:off x="530352" y="304800"/>
            <a:ext cx="1636586" cy="14325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altLang="ko-KR" sz="900" dirty="0">
                <a:solidFill>
                  <a:srgbClr val="6E7887"/>
                </a:solidFill>
                <a:latin typeface="HGGGothicssi_Pro 20g"/>
                <a:ea typeface="HGGGothicssi_Pro 20g"/>
              </a:rPr>
              <a:t>03. Recovery EDA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B51CB84-9149-3E9E-4450-870D4AD79D3E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7C48BB9-C6E7-09D8-02BA-A1CF9DC5F2E3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ko-KR" altLang="en-US" dirty="0">
                <a:solidFill>
                  <a:srgbClr val="141414"/>
                </a:solidFill>
                <a:latin typeface="HGGGothicssi_Pro 80g"/>
                <a:ea typeface="HGGGothicssi_Pro 80g"/>
              </a:rPr>
              <a:t>폐업</a:t>
            </a:r>
            <a:r>
              <a:rPr lang="en-US" altLang="ko-KR" dirty="0">
                <a:solidFill>
                  <a:srgbClr val="141414"/>
                </a:solidFill>
                <a:latin typeface="HGGGothicssi_Pro 80g"/>
                <a:ea typeface="HGGGothicssi_Pro 80g"/>
              </a:rPr>
              <a:t>/</a:t>
            </a:r>
            <a:r>
              <a:rPr lang="ko-KR" altLang="en-US" dirty="0" err="1">
                <a:solidFill>
                  <a:srgbClr val="141414"/>
                </a:solidFill>
                <a:latin typeface="HGGGothicssi_Pro 80g"/>
                <a:ea typeface="HGGGothicssi_Pro 80g"/>
              </a:rPr>
              <a:t>신규율</a:t>
            </a:r>
            <a:r>
              <a:rPr lang="ko-KR" altLang="en-US" dirty="0">
                <a:solidFill>
                  <a:srgbClr val="141414"/>
                </a:solidFill>
                <a:latin typeface="HGGGothicssi_Pro 80g"/>
                <a:ea typeface="HGGGothicssi_Pro 80g"/>
              </a:rPr>
              <a:t> </a:t>
            </a:r>
            <a:r>
              <a:rPr lang="en-US" altLang="ko-KR" dirty="0">
                <a:solidFill>
                  <a:srgbClr val="141414"/>
                </a:solidFill>
                <a:latin typeface="HGGGothicssi_Pro 80g"/>
                <a:ea typeface="HGGGothicssi_Pro 80g"/>
              </a:rPr>
              <a:t>× </a:t>
            </a:r>
            <a:r>
              <a:rPr lang="ko-KR" altLang="en-US" dirty="0" err="1">
                <a:solidFill>
                  <a:srgbClr val="141414"/>
                </a:solidFill>
                <a:latin typeface="HGGGothicssi_Pro 80g"/>
                <a:ea typeface="HGGGothicssi_Pro 80g"/>
              </a:rPr>
              <a:t>가동증감률</a:t>
            </a:r>
            <a:endParaRPr lang="ko-KR" altLang="en-US" dirty="0">
              <a:solidFill>
                <a:srgbClr val="141414"/>
              </a:solidFill>
              <a:latin typeface="HGGGothicssi_Pro 80g"/>
              <a:ea typeface="HGGGothicssi_Pro 80g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BAEC460-EAA7-A1DB-3FC3-448038E077D0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ko-KR" altLang="en-US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폐업이 신규보다 </a:t>
            </a:r>
            <a:r>
              <a:rPr lang="ko-KR" altLang="en-US" sz="800" dirty="0" err="1">
                <a:solidFill>
                  <a:srgbClr val="6E7887"/>
                </a:solidFill>
                <a:latin typeface="HGGGothicssi_Pro 20g"/>
                <a:ea typeface="HGGGothicssi_Pro 20g"/>
              </a:rPr>
              <a:t>많은지와</a:t>
            </a:r>
            <a:r>
              <a:rPr lang="ko-KR" altLang="en-US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 실제 가동사업자가 늘었는지를 동시에 비교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AC7E328-8FFE-81A4-6C9A-5D7BD27D14D8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69" name="Rounded Rectangle 11">
            <a:extLst>
              <a:ext uri="{FF2B5EF4-FFF2-40B4-BE49-F238E27FC236}">
                <a16:creationId xmlns:a16="http://schemas.microsoft.com/office/drawing/2014/main" id="{C2D16673-203C-641E-9FA6-C2E8A0882946}"/>
              </a:ext>
            </a:extLst>
          </p:cNvPr>
          <p:cNvSpPr/>
          <p:nvPr/>
        </p:nvSpPr>
        <p:spPr>
          <a:xfrm>
            <a:off x="1524000" y="1673351"/>
            <a:ext cx="5943600" cy="3246120"/>
          </a:xfrm>
          <a:prstGeom prst="roundRect">
            <a:avLst>
              <a:gd name="adj" fmla="val 9269"/>
            </a:avLst>
          </a:prstGeom>
          <a:solidFill>
            <a:srgbClr val="FFFFFF"/>
          </a:solidFill>
          <a:ln w="9525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73" name="Picture 12" descr="seokwon_district_h-scatter.png">
            <a:extLst>
              <a:ext uri="{FF2B5EF4-FFF2-40B4-BE49-F238E27FC236}">
                <a16:creationId xmlns:a16="http://schemas.microsoft.com/office/drawing/2014/main" id="{499CC115-8CCC-17B8-9A95-5D45CAC69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184" y="2141509"/>
            <a:ext cx="3901232" cy="2713039"/>
          </a:xfrm>
          <a:prstGeom prst="rect">
            <a:avLst/>
          </a:prstGeom>
        </p:spPr>
      </p:pic>
      <p:sp>
        <p:nvSpPr>
          <p:cNvPr id="76" name="Rounded Rectangle 13">
            <a:extLst>
              <a:ext uri="{FF2B5EF4-FFF2-40B4-BE49-F238E27FC236}">
                <a16:creationId xmlns:a16="http://schemas.microsoft.com/office/drawing/2014/main" id="{8BE8746E-215A-3B5E-522B-5F49F84855A3}"/>
              </a:ext>
            </a:extLst>
          </p:cNvPr>
          <p:cNvSpPr/>
          <p:nvPr/>
        </p:nvSpPr>
        <p:spPr>
          <a:xfrm>
            <a:off x="7696200" y="1673351"/>
            <a:ext cx="2971800" cy="3246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14">
            <a:extLst>
              <a:ext uri="{FF2B5EF4-FFF2-40B4-BE49-F238E27FC236}">
                <a16:creationId xmlns:a16="http://schemas.microsoft.com/office/drawing/2014/main" id="{4D615637-2C9B-7295-FBCD-5A17F21BAD39}"/>
              </a:ext>
            </a:extLst>
          </p:cNvPr>
          <p:cNvSpPr/>
          <p:nvPr/>
        </p:nvSpPr>
        <p:spPr>
          <a:xfrm>
            <a:off x="7696200" y="1673351"/>
            <a:ext cx="2971800" cy="438912"/>
          </a:xfrm>
          <a:prstGeom prst="roundRect">
            <a:avLst/>
          </a:prstGeom>
          <a:solidFill>
            <a:srgbClr val="F2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43CB676-48A6-453E-D4B7-C9D2889292AD}"/>
              </a:ext>
            </a:extLst>
          </p:cNvPr>
          <p:cNvSpPr txBox="1"/>
          <p:nvPr/>
        </p:nvSpPr>
        <p:spPr>
          <a:xfrm>
            <a:off x="7805928" y="1773935"/>
            <a:ext cx="2752344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20" b="1">
                <a:solidFill>
                  <a:srgbClr val="0D7884"/>
                </a:solidFill>
                <a:latin typeface="HGGGothicssi_Pro 40g"/>
              </a:rPr>
              <a:t>사분면 해석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8688EAA-C7F5-4A9A-06EE-8611D6B5371D}"/>
              </a:ext>
            </a:extLst>
          </p:cNvPr>
          <p:cNvSpPr txBox="1"/>
          <p:nvPr/>
        </p:nvSpPr>
        <p:spPr>
          <a:xfrm>
            <a:off x="7924800" y="2359151"/>
            <a:ext cx="2514600" cy="190250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1" dirty="0">
                <a:solidFill>
                  <a:srgbClr val="0D7884"/>
                </a:solidFill>
                <a:latin typeface="HGGGothicssi_Pro 40g"/>
              </a:rPr>
              <a:t>• 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100%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미만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: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신규가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폐업보다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많아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보충력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우세</a:t>
            </a:r>
            <a:endParaRPr lang="en-US" sz="1250" dirty="0">
              <a:solidFill>
                <a:srgbClr val="46535F"/>
              </a:solidFill>
              <a:latin typeface="HGGGothicssi_Pro 20g"/>
            </a:endParaR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endParaRPr sz="1250" dirty="0">
              <a:solidFill>
                <a:srgbClr val="46535F"/>
              </a:solidFill>
              <a:latin typeface="HGGGothicssi_Pro 20g"/>
            </a:endParaR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1" dirty="0">
                <a:solidFill>
                  <a:srgbClr val="0D7884"/>
                </a:solidFill>
                <a:latin typeface="HGGGothicssi_Pro 40g"/>
              </a:rPr>
              <a:t>•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가동증감률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양수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: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실제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사업자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기반이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유지·성장</a:t>
            </a:r>
            <a:endParaRPr lang="en-US" sz="1250" dirty="0">
              <a:solidFill>
                <a:srgbClr val="46535F"/>
              </a:solidFill>
              <a:latin typeface="HGGGothicssi_Pro 20g"/>
            </a:endParaR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endParaRPr sz="1250" dirty="0">
              <a:solidFill>
                <a:srgbClr val="46535F"/>
              </a:solidFill>
              <a:latin typeface="HGGGothicssi_Pro 20g"/>
            </a:endParaR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1" dirty="0">
                <a:solidFill>
                  <a:srgbClr val="0D7884"/>
                </a:solidFill>
                <a:latin typeface="HGGGothicssi_Pro 40g"/>
              </a:rPr>
              <a:t>• 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점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크기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: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상권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수.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상권이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많아도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보충력이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약한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반례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존재</a:t>
            </a:r>
            <a:endParaRPr sz="1250" dirty="0">
              <a:solidFill>
                <a:srgbClr val="46535F"/>
              </a:solidFill>
              <a:latin typeface="HGGGothicssi_Pro 20g"/>
            </a:endParaRPr>
          </a:p>
        </p:txBody>
      </p:sp>
      <p:sp>
        <p:nvSpPr>
          <p:cNvPr id="89" name="Rounded Rectangle 17">
            <a:extLst>
              <a:ext uri="{FF2B5EF4-FFF2-40B4-BE49-F238E27FC236}">
                <a16:creationId xmlns:a16="http://schemas.microsoft.com/office/drawing/2014/main" id="{941CF40A-8339-AC9A-B9C4-4E592B414475}"/>
              </a:ext>
            </a:extLst>
          </p:cNvPr>
          <p:cNvSpPr/>
          <p:nvPr/>
        </p:nvSpPr>
        <p:spPr>
          <a:xfrm>
            <a:off x="1706880" y="5257798"/>
            <a:ext cx="1965960" cy="1295401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357D0FA-5987-A299-D490-C94E18305CD2}"/>
              </a:ext>
            </a:extLst>
          </p:cNvPr>
          <p:cNvSpPr txBox="1"/>
          <p:nvPr/>
        </p:nvSpPr>
        <p:spPr>
          <a:xfrm>
            <a:off x="1871472" y="5486399"/>
            <a:ext cx="163677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900" b="1">
                <a:solidFill>
                  <a:srgbClr val="2D8A61"/>
                </a:solidFill>
                <a:latin typeface="HGGGothicssi_Pro 80g"/>
              </a:rPr>
              <a:t>수영구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45E799B-8A9E-ACE2-410B-B1EBFADA46E3}"/>
              </a:ext>
            </a:extLst>
          </p:cNvPr>
          <p:cNvSpPr txBox="1"/>
          <p:nvPr/>
        </p:nvSpPr>
        <p:spPr>
          <a:xfrm>
            <a:off x="1844040" y="5852159"/>
            <a:ext cx="1691639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0">
                <a:solidFill>
                  <a:srgbClr val="76808A"/>
                </a:solidFill>
                <a:latin typeface="HGGGothicssi_Pro 20g"/>
              </a:rPr>
              <a:t>+888 / 79.83%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8AF27A8-26B3-B1BC-5674-D8C4038F7316}"/>
              </a:ext>
            </a:extLst>
          </p:cNvPr>
          <p:cNvSpPr txBox="1"/>
          <p:nvPr/>
        </p:nvSpPr>
        <p:spPr>
          <a:xfrm>
            <a:off x="1844040" y="6126479"/>
            <a:ext cx="1691639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0">
                <a:solidFill>
                  <a:srgbClr val="76808A"/>
                </a:solidFill>
                <a:latin typeface="HGGGothicssi_Pro 20g"/>
              </a:rPr>
              <a:t>2025 순증감·폐업/신규율</a:t>
            </a:r>
          </a:p>
        </p:txBody>
      </p:sp>
      <p:sp>
        <p:nvSpPr>
          <p:cNvPr id="97" name="Rounded Rectangle 21">
            <a:extLst>
              <a:ext uri="{FF2B5EF4-FFF2-40B4-BE49-F238E27FC236}">
                <a16:creationId xmlns:a16="http://schemas.microsoft.com/office/drawing/2014/main" id="{2800166C-D573-FBC9-D9F5-953868030B81}"/>
              </a:ext>
            </a:extLst>
          </p:cNvPr>
          <p:cNvSpPr/>
          <p:nvPr/>
        </p:nvSpPr>
        <p:spPr>
          <a:xfrm>
            <a:off x="3901440" y="5257798"/>
            <a:ext cx="1965960" cy="1295401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4549193-6313-5B3B-640D-CF30BED7A354}"/>
              </a:ext>
            </a:extLst>
          </p:cNvPr>
          <p:cNvSpPr txBox="1"/>
          <p:nvPr/>
        </p:nvSpPr>
        <p:spPr>
          <a:xfrm>
            <a:off x="4066032" y="5486399"/>
            <a:ext cx="163677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900" b="1">
                <a:solidFill>
                  <a:srgbClr val="D95454"/>
                </a:solidFill>
                <a:latin typeface="HGGGothicssi_Pro 80g"/>
              </a:rPr>
              <a:t>사상구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6508923-467D-5AD2-D33F-24839FFD5616}"/>
              </a:ext>
            </a:extLst>
          </p:cNvPr>
          <p:cNvSpPr txBox="1"/>
          <p:nvPr/>
        </p:nvSpPr>
        <p:spPr>
          <a:xfrm>
            <a:off x="4038600" y="5852159"/>
            <a:ext cx="1691639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0">
                <a:solidFill>
                  <a:srgbClr val="76808A"/>
                </a:solidFill>
                <a:latin typeface="HGGGothicssi_Pro 20g"/>
              </a:rPr>
              <a:t>-203 / 106.10%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B8D9597-F371-A016-0A15-DBEA4933C19A}"/>
              </a:ext>
            </a:extLst>
          </p:cNvPr>
          <p:cNvSpPr txBox="1"/>
          <p:nvPr/>
        </p:nvSpPr>
        <p:spPr>
          <a:xfrm>
            <a:off x="4038600" y="6126479"/>
            <a:ext cx="1691639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0">
                <a:solidFill>
                  <a:srgbClr val="76808A"/>
                </a:solidFill>
                <a:latin typeface="HGGGothicssi_Pro 20g"/>
              </a:rPr>
              <a:t>2025 순감소 사례</a:t>
            </a:r>
          </a:p>
        </p:txBody>
      </p:sp>
      <p:sp>
        <p:nvSpPr>
          <p:cNvPr id="105" name="Rounded Rectangle 25">
            <a:extLst>
              <a:ext uri="{FF2B5EF4-FFF2-40B4-BE49-F238E27FC236}">
                <a16:creationId xmlns:a16="http://schemas.microsoft.com/office/drawing/2014/main" id="{2C1D4C13-7897-2F8D-22D9-211C0AB15011}"/>
              </a:ext>
            </a:extLst>
          </p:cNvPr>
          <p:cNvSpPr/>
          <p:nvPr/>
        </p:nvSpPr>
        <p:spPr>
          <a:xfrm>
            <a:off x="6096000" y="5257798"/>
            <a:ext cx="1965960" cy="1295401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0CFCC40-7ABD-D506-BCB4-47720C610C34}"/>
              </a:ext>
            </a:extLst>
          </p:cNvPr>
          <p:cNvSpPr txBox="1"/>
          <p:nvPr/>
        </p:nvSpPr>
        <p:spPr>
          <a:xfrm>
            <a:off x="6260592" y="5486399"/>
            <a:ext cx="163677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900" b="1">
                <a:solidFill>
                  <a:srgbClr val="D95454"/>
                </a:solidFill>
                <a:latin typeface="HGGGothicssi_Pro 80g"/>
              </a:rPr>
              <a:t>중구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5DF0501-5567-C61A-6F35-10E1140ECCB1}"/>
              </a:ext>
            </a:extLst>
          </p:cNvPr>
          <p:cNvSpPr txBox="1"/>
          <p:nvPr/>
        </p:nvSpPr>
        <p:spPr>
          <a:xfrm>
            <a:off x="6233160" y="5852159"/>
            <a:ext cx="1691639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0">
                <a:solidFill>
                  <a:srgbClr val="76808A"/>
                </a:solidFill>
                <a:latin typeface="HGGGothicssi_Pro 20g"/>
              </a:rPr>
              <a:t>-62 / 103.68%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6D10A65-46F5-D835-CE6B-41223BC9BD7C}"/>
              </a:ext>
            </a:extLst>
          </p:cNvPr>
          <p:cNvSpPr txBox="1"/>
          <p:nvPr/>
        </p:nvSpPr>
        <p:spPr>
          <a:xfrm>
            <a:off x="6233160" y="6126479"/>
            <a:ext cx="1691639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0">
                <a:solidFill>
                  <a:srgbClr val="76808A"/>
                </a:solidFill>
                <a:latin typeface="HGGGothicssi_Pro 20g"/>
              </a:rPr>
              <a:t>상권수 높지만 반례</a:t>
            </a:r>
          </a:p>
        </p:txBody>
      </p:sp>
      <p:sp>
        <p:nvSpPr>
          <p:cNvPr id="113" name="Rounded Rectangle 11">
            <a:extLst>
              <a:ext uri="{FF2B5EF4-FFF2-40B4-BE49-F238E27FC236}">
                <a16:creationId xmlns:a16="http://schemas.microsoft.com/office/drawing/2014/main" id="{655071BC-D0F3-91A1-929E-2EB6FA7245A1}"/>
              </a:ext>
            </a:extLst>
          </p:cNvPr>
          <p:cNvSpPr/>
          <p:nvPr/>
        </p:nvSpPr>
        <p:spPr>
          <a:xfrm>
            <a:off x="1524000" y="1572768"/>
            <a:ext cx="5943600" cy="537276"/>
          </a:xfrm>
          <a:prstGeom prst="roundRect">
            <a:avLst/>
          </a:prstGeom>
          <a:solidFill>
            <a:srgbClr val="23A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A11D18A2-C932-CD74-90C8-756D14FD214E}"/>
              </a:ext>
            </a:extLst>
          </p:cNvPr>
          <p:cNvSpPr txBox="1"/>
          <p:nvPr/>
        </p:nvSpPr>
        <p:spPr>
          <a:xfrm>
            <a:off x="1633727" y="1713679"/>
            <a:ext cx="5695519" cy="2554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300" b="0" dirty="0" err="1">
                <a:solidFill>
                  <a:srgbClr val="FFFFFF"/>
                </a:solidFill>
                <a:latin typeface="HG꼬딕씨_Pro 60g"/>
              </a:rPr>
              <a:t>그래프</a:t>
            </a:r>
            <a:r>
              <a:rPr sz="1300" b="0" dirty="0">
                <a:solidFill>
                  <a:srgbClr val="FFFFFF"/>
                </a:solidFill>
                <a:latin typeface="HG꼬딕씨_Pro 60g"/>
              </a:rPr>
              <a:t> </a:t>
            </a:r>
            <a:r>
              <a:rPr lang="ko-KR" altLang="en-US" sz="1300" b="0" dirty="0">
                <a:solidFill>
                  <a:srgbClr val="FFFFFF"/>
                </a:solidFill>
                <a:latin typeface="HG꼬딕씨_Pro 60g"/>
              </a:rPr>
              <a:t>③</a:t>
            </a:r>
            <a:r>
              <a:rPr sz="1300" b="0" dirty="0">
                <a:solidFill>
                  <a:srgbClr val="FFFFFF"/>
                </a:solidFill>
                <a:latin typeface="HG꼬딕씨_Pro 60g"/>
              </a:rPr>
              <a:t> </a:t>
            </a:r>
            <a:r>
              <a:rPr sz="1300" b="0" dirty="0" err="1">
                <a:solidFill>
                  <a:srgbClr val="FFFFFF"/>
                </a:solidFill>
                <a:latin typeface="HG꼬딕씨_Pro 60g"/>
              </a:rPr>
              <a:t>폐업</a:t>
            </a:r>
            <a:r>
              <a:rPr sz="1300" b="0" dirty="0">
                <a:solidFill>
                  <a:srgbClr val="FFFFFF"/>
                </a:solidFill>
                <a:latin typeface="HG꼬딕씨_Pro 60g"/>
              </a:rPr>
              <a:t>/</a:t>
            </a:r>
            <a:r>
              <a:rPr sz="1300" b="0" dirty="0" err="1">
                <a:solidFill>
                  <a:srgbClr val="FFFFFF"/>
                </a:solidFill>
                <a:latin typeface="HG꼬딕씨_Pro 60g"/>
              </a:rPr>
              <a:t>신규율</a:t>
            </a:r>
            <a:r>
              <a:rPr sz="1300" b="0" dirty="0">
                <a:solidFill>
                  <a:srgbClr val="FFFFFF"/>
                </a:solidFill>
                <a:latin typeface="HG꼬딕씨_Pro 60g"/>
              </a:rPr>
              <a:t> × </a:t>
            </a:r>
            <a:r>
              <a:rPr sz="1300" b="0" dirty="0" err="1">
                <a:solidFill>
                  <a:srgbClr val="FFFFFF"/>
                </a:solidFill>
                <a:latin typeface="HG꼬딕씨_Pro 60g"/>
              </a:rPr>
              <a:t>가동증감률</a:t>
            </a:r>
            <a:endParaRPr sz="1300" b="0" dirty="0">
              <a:solidFill>
                <a:srgbClr val="FFFFFF"/>
              </a:solidFill>
              <a:latin typeface="HG꼬딕씨_Pro 60g"/>
            </a:endParaRPr>
          </a:p>
        </p:txBody>
      </p:sp>
    </p:spTree>
    <p:extLst>
      <p:ext uri="{BB962C8B-B14F-4D97-AF65-F5344CB8AC3E}">
        <p14:creationId xmlns:p14="http://schemas.microsoft.com/office/powerpoint/2010/main" val="1580135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05E39-0756-CCE1-3959-A2B7A0328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EEE4247-6527-CF08-26D8-2EACB061BDB1}"/>
              </a:ext>
            </a:extLst>
          </p:cNvPr>
          <p:cNvSpPr/>
          <p:nvPr/>
        </p:nvSpPr>
        <p:spPr>
          <a:xfrm>
            <a:off x="530352" y="246888"/>
            <a:ext cx="163658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altLang="ko-KR" sz="900" dirty="0">
                <a:solidFill>
                  <a:srgbClr val="5C6C76"/>
                </a:solidFill>
                <a:latin typeface="HG꼬딕씨_Pro 20g"/>
              </a:rPr>
              <a:t>04. Spatial EDA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37CC5C6-F52A-6EF8-0116-3362D06C292F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5389243-4B2B-4A1F-435C-1272CC74D448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ko-KR" altLang="en-US" dirty="0">
                <a:solidFill>
                  <a:srgbClr val="141414"/>
                </a:solidFill>
                <a:latin typeface="HGGGothicssi_Pro 80g"/>
                <a:ea typeface="HGGGothicssi_Pro 80g"/>
              </a:rPr>
              <a:t>상권 구조와 대표 사례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B8A75F8-0DEC-1E6B-31BA-1FEF5719CFFE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ko-KR" altLang="en-US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상권 수 분포와 가설 판정 화면을 함께 보며 </a:t>
            </a:r>
            <a:r>
              <a:rPr lang="ko-KR" altLang="en-US" sz="800" dirty="0" err="1">
                <a:solidFill>
                  <a:srgbClr val="6E7887"/>
                </a:solidFill>
                <a:latin typeface="HGGGothicssi_Pro 20g"/>
                <a:ea typeface="HGGGothicssi_Pro 20g"/>
              </a:rPr>
              <a:t>보충력이</a:t>
            </a:r>
            <a:r>
              <a:rPr lang="ko-KR" altLang="en-US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 강한 지역과 반례를 구분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C2A5CA0-DFE9-F87D-DEAD-974A07FB133D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B56B32B0-4A10-ABC3-6240-42DBB2A51840}"/>
              </a:ext>
            </a:extLst>
          </p:cNvPr>
          <p:cNvGrpSpPr/>
          <p:nvPr/>
        </p:nvGrpSpPr>
        <p:grpSpPr>
          <a:xfrm>
            <a:off x="759576" y="1719071"/>
            <a:ext cx="10672849" cy="3807901"/>
            <a:chOff x="1546860" y="2185416"/>
            <a:chExt cx="9098280" cy="3246120"/>
          </a:xfrm>
        </p:grpSpPr>
        <p:sp>
          <p:nvSpPr>
            <p:cNvPr id="41" name="Rounded Rectangle 11">
              <a:extLst>
                <a:ext uri="{FF2B5EF4-FFF2-40B4-BE49-F238E27FC236}">
                  <a16:creationId xmlns:a16="http://schemas.microsoft.com/office/drawing/2014/main" id="{BB3741F6-6632-EACD-3D5C-4351FFDEE3D8}"/>
                </a:ext>
              </a:extLst>
            </p:cNvPr>
            <p:cNvSpPr/>
            <p:nvPr/>
          </p:nvSpPr>
          <p:spPr>
            <a:xfrm>
              <a:off x="1546860" y="2185416"/>
              <a:ext cx="4343400" cy="324612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CE5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43" name="Picture 12" descr="seokwon_spatial_market-count-chart.png">
              <a:extLst>
                <a:ext uri="{FF2B5EF4-FFF2-40B4-BE49-F238E27FC236}">
                  <a16:creationId xmlns:a16="http://schemas.microsoft.com/office/drawing/2014/main" id="{00D1E87B-FC2E-2A1C-B171-5B8098690D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33728" y="3256807"/>
              <a:ext cx="4169663" cy="1103336"/>
            </a:xfrm>
            <a:prstGeom prst="rect">
              <a:avLst/>
            </a:prstGeom>
          </p:spPr>
        </p:pic>
        <p:sp>
          <p:nvSpPr>
            <p:cNvPr id="45" name="Rounded Rectangle 13">
              <a:extLst>
                <a:ext uri="{FF2B5EF4-FFF2-40B4-BE49-F238E27FC236}">
                  <a16:creationId xmlns:a16="http://schemas.microsoft.com/office/drawing/2014/main" id="{5C81CD85-2F91-D7B4-9BB6-F31F1EA93622}"/>
                </a:ext>
              </a:extLst>
            </p:cNvPr>
            <p:cNvSpPr/>
            <p:nvPr/>
          </p:nvSpPr>
          <p:spPr>
            <a:xfrm>
              <a:off x="6118860" y="2185416"/>
              <a:ext cx="4526280" cy="324612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CE5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47" name="Picture 14" descr="seokwon_conclusion_od-subpage_data-ownerseokwon_data-subpageconclusion.png">
              <a:extLst>
                <a:ext uri="{FF2B5EF4-FFF2-40B4-BE49-F238E27FC236}">
                  <a16:creationId xmlns:a16="http://schemas.microsoft.com/office/drawing/2014/main" id="{EA66D99D-E13D-0DD3-26F9-773DE594E8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09385" y="2957813"/>
              <a:ext cx="4345228" cy="1701324"/>
            </a:xfrm>
            <a:prstGeom prst="rect">
              <a:avLst/>
            </a:prstGeom>
          </p:spPr>
        </p:pic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491D047B-2E69-BED3-6046-7E5BB6C28ED7}"/>
              </a:ext>
            </a:extLst>
          </p:cNvPr>
          <p:cNvSpPr txBox="1"/>
          <p:nvPr/>
        </p:nvSpPr>
        <p:spPr>
          <a:xfrm>
            <a:off x="1729740" y="5751576"/>
            <a:ext cx="8686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50" b="0" dirty="0" err="1">
                <a:solidFill>
                  <a:srgbClr val="46535F"/>
                </a:solidFill>
                <a:latin typeface="HGGGothicssi_Pro 20g"/>
              </a:rPr>
              <a:t>주의</a:t>
            </a:r>
            <a:r>
              <a:rPr sz="1250" b="0" dirty="0">
                <a:solidFill>
                  <a:srgbClr val="46535F"/>
                </a:solidFill>
                <a:latin typeface="HGGGothicssi_Pro 20g"/>
              </a:rPr>
              <a:t>: </a:t>
            </a:r>
            <a:r>
              <a:rPr sz="1250" b="0" dirty="0" err="1">
                <a:solidFill>
                  <a:srgbClr val="46535F"/>
                </a:solidFill>
                <a:latin typeface="HGGGothicssi_Pro 20g"/>
              </a:rPr>
              <a:t>상권</a:t>
            </a:r>
            <a:r>
              <a:rPr sz="1250" b="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b="0" dirty="0" err="1">
                <a:solidFill>
                  <a:srgbClr val="46535F"/>
                </a:solidFill>
                <a:latin typeface="HGGGothicssi_Pro 20g"/>
              </a:rPr>
              <a:t>수가</a:t>
            </a:r>
            <a:r>
              <a:rPr sz="1250" b="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b="0" dirty="0" err="1">
                <a:solidFill>
                  <a:srgbClr val="46535F"/>
                </a:solidFill>
                <a:latin typeface="HGGGothicssi_Pro 20g"/>
              </a:rPr>
              <a:t>많아도</a:t>
            </a:r>
            <a:r>
              <a:rPr sz="1250" b="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b="0" dirty="0" err="1">
                <a:solidFill>
                  <a:srgbClr val="46535F"/>
                </a:solidFill>
                <a:latin typeface="HGGGothicssi_Pro 20g"/>
              </a:rPr>
              <a:t>무조건</a:t>
            </a:r>
            <a:r>
              <a:rPr sz="1250" b="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b="0" dirty="0" err="1">
                <a:solidFill>
                  <a:srgbClr val="46535F"/>
                </a:solidFill>
                <a:latin typeface="HGGGothicssi_Pro 20g"/>
              </a:rPr>
              <a:t>성장하지</a:t>
            </a:r>
            <a:r>
              <a:rPr sz="1250" b="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b="0" dirty="0" err="1">
                <a:solidFill>
                  <a:srgbClr val="46535F"/>
                </a:solidFill>
                <a:latin typeface="HGGGothicssi_Pro 20g"/>
              </a:rPr>
              <a:t>않는다</a:t>
            </a:r>
            <a:r>
              <a:rPr sz="1250" b="0" dirty="0">
                <a:solidFill>
                  <a:srgbClr val="46535F"/>
                </a:solidFill>
                <a:latin typeface="HGGGothicssi_Pro 20g"/>
              </a:rPr>
              <a:t>. </a:t>
            </a:r>
            <a:r>
              <a:rPr sz="1250" b="0" dirty="0" err="1">
                <a:solidFill>
                  <a:srgbClr val="46535F"/>
                </a:solidFill>
                <a:latin typeface="HGGGothicssi_Pro 20g"/>
              </a:rPr>
              <a:t>수영구·부산진구·해운대구처럼</a:t>
            </a:r>
            <a:r>
              <a:rPr sz="1250" b="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b="0" dirty="0" err="1">
                <a:solidFill>
                  <a:srgbClr val="46535F"/>
                </a:solidFill>
                <a:latin typeface="HGGGothicssi_Pro 20g"/>
              </a:rPr>
              <a:t>신규</a:t>
            </a:r>
            <a:r>
              <a:rPr sz="1250" b="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b="0" dirty="0" err="1">
                <a:solidFill>
                  <a:srgbClr val="46535F"/>
                </a:solidFill>
                <a:latin typeface="HGGGothicssi_Pro 20g"/>
              </a:rPr>
              <a:t>보충력이</a:t>
            </a:r>
            <a:r>
              <a:rPr sz="1250" b="0" dirty="0">
                <a:solidFill>
                  <a:srgbClr val="46535F"/>
                </a:solidFill>
                <a:latin typeface="HGGGothicssi_Pro 20g"/>
              </a:rPr>
              <a:t> 큰 </a:t>
            </a:r>
            <a:r>
              <a:rPr sz="1250" b="0" dirty="0" err="1">
                <a:solidFill>
                  <a:srgbClr val="46535F"/>
                </a:solidFill>
                <a:latin typeface="HGGGothicssi_Pro 20g"/>
              </a:rPr>
              <a:t>지역과</a:t>
            </a:r>
            <a:r>
              <a:rPr sz="1250" b="0" dirty="0">
                <a:solidFill>
                  <a:srgbClr val="46535F"/>
                </a:solidFill>
                <a:latin typeface="HGGGothicssi_Pro 20g"/>
              </a:rPr>
              <a:t>, </a:t>
            </a:r>
            <a:r>
              <a:rPr sz="1250" b="0" dirty="0" err="1">
                <a:solidFill>
                  <a:srgbClr val="46535F"/>
                </a:solidFill>
                <a:latin typeface="HGGGothicssi_Pro 20g"/>
              </a:rPr>
              <a:t>사상구·중구처럼</a:t>
            </a:r>
            <a:r>
              <a:rPr sz="1250" b="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b="0" dirty="0" err="1">
                <a:solidFill>
                  <a:srgbClr val="46535F"/>
                </a:solidFill>
                <a:latin typeface="HGGGothicssi_Pro 20g"/>
              </a:rPr>
              <a:t>상권</a:t>
            </a:r>
            <a:r>
              <a:rPr sz="1250" b="0" dirty="0">
                <a:solidFill>
                  <a:srgbClr val="46535F"/>
                </a:solidFill>
                <a:latin typeface="HGGGothicssi_Pro 20g"/>
              </a:rPr>
              <a:t> 수 </a:t>
            </a:r>
            <a:r>
              <a:rPr sz="1250" b="0" dirty="0" err="1">
                <a:solidFill>
                  <a:srgbClr val="46535F"/>
                </a:solidFill>
                <a:latin typeface="HGGGothicssi_Pro 20g"/>
              </a:rPr>
              <a:t>대비</a:t>
            </a:r>
            <a:r>
              <a:rPr sz="1250" b="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b="0" dirty="0" err="1">
                <a:solidFill>
                  <a:srgbClr val="46535F"/>
                </a:solidFill>
                <a:latin typeface="HGGGothicssi_Pro 20g"/>
              </a:rPr>
              <a:t>순감소가</a:t>
            </a:r>
            <a:r>
              <a:rPr sz="1250" b="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b="0" dirty="0" err="1">
                <a:solidFill>
                  <a:srgbClr val="46535F"/>
                </a:solidFill>
                <a:latin typeface="HGGGothicssi_Pro 20g"/>
              </a:rPr>
              <a:t>나타나는</a:t>
            </a:r>
            <a:r>
              <a:rPr sz="1250" b="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b="0" dirty="0" err="1">
                <a:solidFill>
                  <a:srgbClr val="46535F"/>
                </a:solidFill>
                <a:latin typeface="HGGGothicssi_Pro 20g"/>
              </a:rPr>
              <a:t>반례를</a:t>
            </a:r>
            <a:r>
              <a:rPr sz="1250" b="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b="0" dirty="0" err="1">
                <a:solidFill>
                  <a:srgbClr val="46535F"/>
                </a:solidFill>
                <a:latin typeface="HGGGothicssi_Pro 20g"/>
              </a:rPr>
              <a:t>함께</a:t>
            </a:r>
            <a:r>
              <a:rPr sz="1250" b="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b="0" dirty="0" err="1">
                <a:solidFill>
                  <a:srgbClr val="46535F"/>
                </a:solidFill>
                <a:latin typeface="HGGGothicssi_Pro 20g"/>
              </a:rPr>
              <a:t>해석해야</a:t>
            </a:r>
            <a:r>
              <a:rPr sz="1250" b="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b="0" dirty="0" err="1">
                <a:solidFill>
                  <a:srgbClr val="46535F"/>
                </a:solidFill>
                <a:latin typeface="HGGGothicssi_Pro 20g"/>
              </a:rPr>
              <a:t>한다</a:t>
            </a:r>
            <a:r>
              <a:rPr sz="1250" b="0" dirty="0">
                <a:solidFill>
                  <a:srgbClr val="46535F"/>
                </a:solidFill>
                <a:latin typeface="HGGGothicssi_Pro 20g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819458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AEDAE-55BD-B526-ADE8-0E7FD1004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4BCB682-1C4B-6C00-D753-00611DD82FC4}"/>
              </a:ext>
            </a:extLst>
          </p:cNvPr>
          <p:cNvSpPr/>
          <p:nvPr/>
        </p:nvSpPr>
        <p:spPr>
          <a:xfrm>
            <a:off x="530352" y="246888"/>
            <a:ext cx="163658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5C6C76"/>
                </a:solidFill>
                <a:effectLst/>
                <a:uLnTx/>
                <a:uFillTx/>
                <a:latin typeface="HG꼬딕씨_Pro 20g"/>
                <a:ea typeface="맑은 고딕" panose="020B0503020000020004" pitchFamily="50" charset="-127"/>
                <a:cs typeface="+mn-cs"/>
              </a:rPr>
              <a:t>05. </a:t>
            </a:r>
            <a:r>
              <a:rPr kumimoji="0" lang="en-US" altLang="ko-K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5C6C76"/>
                </a:solidFill>
                <a:effectLst/>
                <a:uLnTx/>
                <a:uFillTx/>
                <a:latin typeface="HG꼬딕씨_Pro 20g"/>
                <a:ea typeface="맑은 고딕" panose="020B0503020000020004" pitchFamily="50" charset="-127"/>
                <a:cs typeface="+mn-cs"/>
              </a:rPr>
              <a:t>EDAConclusion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5C6C76"/>
              </a:solidFill>
              <a:effectLst/>
              <a:uLnTx/>
              <a:uFillTx/>
              <a:latin typeface="HG꼬딕씨_Pro 20g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380AF6C-8C5B-D506-D5AF-D68FD5A8AC66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79A84E0-08BB-DF91-3664-E74B937A427F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ko-KR" altLang="en-US" dirty="0">
                <a:solidFill>
                  <a:srgbClr val="141414"/>
                </a:solidFill>
                <a:latin typeface="HGGGothicssi_Pro 80g"/>
                <a:ea typeface="HGGGothicssi_Pro 80g"/>
              </a:rPr>
              <a:t>상권 집중</a:t>
            </a:r>
            <a:r>
              <a:rPr lang="en-US" altLang="ko-KR" dirty="0">
                <a:solidFill>
                  <a:srgbClr val="141414"/>
                </a:solidFill>
                <a:latin typeface="HGGGothicssi_Pro 80g"/>
                <a:ea typeface="HGGGothicssi_Pro 80g"/>
              </a:rPr>
              <a:t>·</a:t>
            </a:r>
            <a:r>
              <a:rPr lang="ko-KR" altLang="en-US" dirty="0">
                <a:solidFill>
                  <a:srgbClr val="141414"/>
                </a:solidFill>
                <a:latin typeface="HGGGothicssi_Pro 80g"/>
                <a:ea typeface="HGGGothicssi_Pro 80g"/>
              </a:rPr>
              <a:t>재편 </a:t>
            </a:r>
            <a:r>
              <a:rPr lang="en-US" altLang="ko-KR" dirty="0">
                <a:solidFill>
                  <a:srgbClr val="141414"/>
                </a:solidFill>
                <a:latin typeface="HGGGothicssi_Pro 80g"/>
                <a:ea typeface="HGGGothicssi_Pro 80g"/>
              </a:rPr>
              <a:t>EDA </a:t>
            </a:r>
            <a:r>
              <a:rPr lang="ko-KR" altLang="en-US" dirty="0">
                <a:solidFill>
                  <a:srgbClr val="141414"/>
                </a:solidFill>
                <a:latin typeface="HGGGothicssi_Pro 80g"/>
                <a:ea typeface="HGGGothicssi_Pro 80g"/>
              </a:rPr>
              <a:t>결론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03F8A5A-F07D-F4BD-E958-B605F29AE4A8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ko-KR" altLang="en-US" sz="800" dirty="0">
                <a:solidFill>
                  <a:srgbClr val="46535F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주요 상권 중심의 보충</a:t>
            </a:r>
            <a:r>
              <a:rPr lang="en-US" altLang="ko-KR" sz="800" dirty="0">
                <a:solidFill>
                  <a:srgbClr val="46535F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·</a:t>
            </a:r>
            <a:r>
              <a:rPr lang="ko-KR" altLang="en-US" sz="800" dirty="0">
                <a:solidFill>
                  <a:srgbClr val="46535F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유지 패턴은 확인되지만 직접 인과로 단정하기는 어려움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4F03090-86A9-D071-17EF-EEEAD0BA68FB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9" name="Rounded Rectangle 11">
            <a:extLst>
              <a:ext uri="{FF2B5EF4-FFF2-40B4-BE49-F238E27FC236}">
                <a16:creationId xmlns:a16="http://schemas.microsoft.com/office/drawing/2014/main" id="{C5F5FE8A-C00F-63C9-91CA-90373A196D3F}"/>
              </a:ext>
            </a:extLst>
          </p:cNvPr>
          <p:cNvSpPr/>
          <p:nvPr/>
        </p:nvSpPr>
        <p:spPr>
          <a:xfrm>
            <a:off x="1729740" y="1947671"/>
            <a:ext cx="2788920" cy="2057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618D153-4122-0AD1-0C71-D0BE9483D4B5}"/>
              </a:ext>
            </a:extLst>
          </p:cNvPr>
          <p:cNvSpPr/>
          <p:nvPr/>
        </p:nvSpPr>
        <p:spPr>
          <a:xfrm>
            <a:off x="1729740" y="1947671"/>
            <a:ext cx="2788920" cy="438912"/>
          </a:xfrm>
          <a:prstGeom prst="roundRect">
            <a:avLst/>
          </a:prstGeom>
          <a:solidFill>
            <a:srgbClr val="F2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25F4BF-F82D-948E-38A3-5D6FEE7510A0}"/>
              </a:ext>
            </a:extLst>
          </p:cNvPr>
          <p:cNvSpPr txBox="1"/>
          <p:nvPr/>
        </p:nvSpPr>
        <p:spPr>
          <a:xfrm>
            <a:off x="1839468" y="2048255"/>
            <a:ext cx="2569463" cy="2400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20">
                <a:solidFill>
                  <a:srgbClr val="0D7884"/>
                </a:solidFill>
                <a:latin typeface="HGGGothicssi_Pro 40g"/>
              </a:rPr>
              <a:t>증거 ① 순증감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3EE90A-34C5-59C3-8D78-6DB71F63295C}"/>
              </a:ext>
            </a:extLst>
          </p:cNvPr>
          <p:cNvSpPr txBox="1"/>
          <p:nvPr/>
        </p:nvSpPr>
        <p:spPr>
          <a:xfrm>
            <a:off x="1958340" y="2633471"/>
            <a:ext cx="2331720" cy="7643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D7884"/>
                </a:solidFill>
                <a:latin typeface="HGGGothicssi_Pro 40g"/>
              </a:rPr>
              <a:t>• </a:t>
            </a:r>
            <a:r>
              <a:rPr sz="1250">
                <a:solidFill>
                  <a:srgbClr val="46535F"/>
                </a:solidFill>
                <a:latin typeface="HGGGothicssi_Pro 20g"/>
              </a:rPr>
              <a:t>골목상권 수 ↔ 순증감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D7884"/>
                </a:solidFill>
                <a:latin typeface="HGGGothicssi_Pro 40g"/>
              </a:rPr>
              <a:t>• </a:t>
            </a:r>
            <a:r>
              <a:rPr sz="1250">
                <a:solidFill>
                  <a:srgbClr val="46535F"/>
                </a:solidFill>
                <a:latin typeface="HGGGothicssi_Pro 20g"/>
              </a:rPr>
              <a:t>ρ 0.708 → 0.737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D7884"/>
                </a:solidFill>
                <a:latin typeface="HGGGothicssi_Pro 40g"/>
              </a:rPr>
              <a:t>• </a:t>
            </a:r>
            <a:r>
              <a:rPr sz="1250">
                <a:solidFill>
                  <a:srgbClr val="46535F"/>
                </a:solidFill>
                <a:latin typeface="HGGGothicssi_Pro 20g"/>
              </a:rPr>
              <a:t>2024 p=0.002 / 2025 p=0.001</a:t>
            </a:r>
          </a:p>
        </p:txBody>
      </p:sp>
      <p:sp>
        <p:nvSpPr>
          <p:cNvPr id="25" name="Rounded Rectangle 15">
            <a:extLst>
              <a:ext uri="{FF2B5EF4-FFF2-40B4-BE49-F238E27FC236}">
                <a16:creationId xmlns:a16="http://schemas.microsoft.com/office/drawing/2014/main" id="{204C6ED2-2B16-92E2-E752-54CCEF82F43D}"/>
              </a:ext>
            </a:extLst>
          </p:cNvPr>
          <p:cNvSpPr/>
          <p:nvPr/>
        </p:nvSpPr>
        <p:spPr>
          <a:xfrm>
            <a:off x="4701540" y="1947671"/>
            <a:ext cx="2788920" cy="2057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16">
            <a:extLst>
              <a:ext uri="{FF2B5EF4-FFF2-40B4-BE49-F238E27FC236}">
                <a16:creationId xmlns:a16="http://schemas.microsoft.com/office/drawing/2014/main" id="{F59AF31B-EEC8-7A1A-9A3D-E99FDCDCBB89}"/>
              </a:ext>
            </a:extLst>
          </p:cNvPr>
          <p:cNvSpPr/>
          <p:nvPr/>
        </p:nvSpPr>
        <p:spPr>
          <a:xfrm>
            <a:off x="4701540" y="1947671"/>
            <a:ext cx="2788920" cy="438912"/>
          </a:xfrm>
          <a:prstGeom prst="roundRect">
            <a:avLst/>
          </a:prstGeom>
          <a:solidFill>
            <a:srgbClr val="F2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2A2F57-8DEB-3199-47CF-87337E03A955}"/>
              </a:ext>
            </a:extLst>
          </p:cNvPr>
          <p:cNvSpPr txBox="1"/>
          <p:nvPr/>
        </p:nvSpPr>
        <p:spPr>
          <a:xfrm>
            <a:off x="4811268" y="2048255"/>
            <a:ext cx="2569463" cy="2400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20">
                <a:solidFill>
                  <a:srgbClr val="0D7884"/>
                </a:solidFill>
                <a:latin typeface="HGGGothicssi_Pro 40g"/>
              </a:rPr>
              <a:t>증거 ② 폐업/신규율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7869739-E47B-E3B4-196A-7FFC20C47FC6}"/>
              </a:ext>
            </a:extLst>
          </p:cNvPr>
          <p:cNvSpPr txBox="1"/>
          <p:nvPr/>
        </p:nvSpPr>
        <p:spPr>
          <a:xfrm>
            <a:off x="4930140" y="2633471"/>
            <a:ext cx="2331720" cy="7643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D7884"/>
                </a:solidFill>
                <a:latin typeface="HGGGothicssi_Pro 40g"/>
              </a:rPr>
              <a:t>• </a:t>
            </a:r>
            <a:r>
              <a:rPr sz="1250">
                <a:solidFill>
                  <a:srgbClr val="46535F"/>
                </a:solidFill>
                <a:latin typeface="HGGGothicssi_Pro 20g"/>
              </a:rPr>
              <a:t>골목상권 수 ↔ 폐업/신규율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D7884"/>
                </a:solidFill>
                <a:latin typeface="HGGGothicssi_Pro 40g"/>
              </a:rPr>
              <a:t>• </a:t>
            </a:r>
            <a:r>
              <a:rPr sz="1250">
                <a:solidFill>
                  <a:srgbClr val="46535F"/>
                </a:solidFill>
                <a:latin typeface="HGGGothicssi_Pro 20g"/>
              </a:rPr>
              <a:t>ρ -0.556 → -0.568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D7884"/>
                </a:solidFill>
                <a:latin typeface="HGGGothicssi_Pro 40g"/>
              </a:rPr>
              <a:t>• </a:t>
            </a:r>
            <a:r>
              <a:rPr sz="1250">
                <a:solidFill>
                  <a:srgbClr val="46535F"/>
                </a:solidFill>
                <a:latin typeface="HGGGothicssi_Pro 20g"/>
              </a:rPr>
              <a:t>상권이 많을수록 보충력 우세</a:t>
            </a:r>
          </a:p>
        </p:txBody>
      </p:sp>
      <p:sp>
        <p:nvSpPr>
          <p:cNvPr id="40" name="Rounded Rectangle 19">
            <a:extLst>
              <a:ext uri="{FF2B5EF4-FFF2-40B4-BE49-F238E27FC236}">
                <a16:creationId xmlns:a16="http://schemas.microsoft.com/office/drawing/2014/main" id="{4D52C0C6-9BD1-15B4-01EF-92FE374633C1}"/>
              </a:ext>
            </a:extLst>
          </p:cNvPr>
          <p:cNvSpPr/>
          <p:nvPr/>
        </p:nvSpPr>
        <p:spPr>
          <a:xfrm>
            <a:off x="7673340" y="1947671"/>
            <a:ext cx="2788920" cy="2057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20">
            <a:extLst>
              <a:ext uri="{FF2B5EF4-FFF2-40B4-BE49-F238E27FC236}">
                <a16:creationId xmlns:a16="http://schemas.microsoft.com/office/drawing/2014/main" id="{01714003-CBE0-A3E8-E0FB-FC5F0B4DB474}"/>
              </a:ext>
            </a:extLst>
          </p:cNvPr>
          <p:cNvSpPr/>
          <p:nvPr/>
        </p:nvSpPr>
        <p:spPr>
          <a:xfrm>
            <a:off x="7673340" y="1947671"/>
            <a:ext cx="2788920" cy="438912"/>
          </a:xfrm>
          <a:prstGeom prst="roundRect">
            <a:avLst/>
          </a:prstGeom>
          <a:solidFill>
            <a:srgbClr val="F2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945612-AF1B-54AF-E71F-30ACDBCA35B6}"/>
              </a:ext>
            </a:extLst>
          </p:cNvPr>
          <p:cNvSpPr txBox="1"/>
          <p:nvPr/>
        </p:nvSpPr>
        <p:spPr>
          <a:xfrm>
            <a:off x="7783067" y="2048255"/>
            <a:ext cx="2569463" cy="2400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20">
                <a:solidFill>
                  <a:srgbClr val="0D7884"/>
                </a:solidFill>
                <a:latin typeface="HGGGothicssi_Pro 40g"/>
              </a:rPr>
              <a:t>증거 ③ 가동증감률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A185F04-C322-4034-2539-3FF7E7E3A598}"/>
              </a:ext>
            </a:extLst>
          </p:cNvPr>
          <p:cNvSpPr txBox="1"/>
          <p:nvPr/>
        </p:nvSpPr>
        <p:spPr>
          <a:xfrm>
            <a:off x="7901940" y="2633471"/>
            <a:ext cx="2331720" cy="7643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D7884"/>
                </a:solidFill>
                <a:latin typeface="HGGGothicssi_Pro 40g"/>
              </a:rPr>
              <a:t>• </a:t>
            </a:r>
            <a:r>
              <a:rPr sz="1250">
                <a:solidFill>
                  <a:srgbClr val="46535F"/>
                </a:solidFill>
                <a:latin typeface="HGGGothicssi_Pro 20g"/>
              </a:rPr>
              <a:t>골목상권 수 ↔ 가동증감률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D7884"/>
                </a:solidFill>
                <a:latin typeface="HGGGothicssi_Pro 40g"/>
              </a:rPr>
              <a:t>• </a:t>
            </a:r>
            <a:r>
              <a:rPr sz="1250">
                <a:solidFill>
                  <a:srgbClr val="46535F"/>
                </a:solidFill>
                <a:latin typeface="HGGGothicssi_Pro 20g"/>
              </a:rPr>
              <a:t>ρ 0.552 → 0.566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D7884"/>
                </a:solidFill>
                <a:latin typeface="HGGGothicssi_Pro 40g"/>
              </a:rPr>
              <a:t>• </a:t>
            </a:r>
            <a:r>
              <a:rPr sz="1250">
                <a:solidFill>
                  <a:srgbClr val="46535F"/>
                </a:solidFill>
                <a:latin typeface="HGGGothicssi_Pro 20g"/>
              </a:rPr>
              <a:t>가동사업자 유지와 같은 방향</a:t>
            </a:r>
          </a:p>
        </p:txBody>
      </p:sp>
      <p:sp>
        <p:nvSpPr>
          <p:cNvPr id="48" name="Rounded Rectangle 23">
            <a:extLst>
              <a:ext uri="{FF2B5EF4-FFF2-40B4-BE49-F238E27FC236}">
                <a16:creationId xmlns:a16="http://schemas.microsoft.com/office/drawing/2014/main" id="{4A8FD1BB-7B6A-8695-8E81-EDAEC7B749DB}"/>
              </a:ext>
            </a:extLst>
          </p:cNvPr>
          <p:cNvSpPr/>
          <p:nvPr/>
        </p:nvSpPr>
        <p:spPr>
          <a:xfrm>
            <a:off x="1729740" y="4462271"/>
            <a:ext cx="8732520" cy="1005840"/>
          </a:xfrm>
          <a:prstGeom prst="roundRect">
            <a:avLst/>
          </a:prstGeom>
          <a:solidFill>
            <a:srgbClr val="F8FBFC"/>
          </a:solidFill>
          <a:ln w="9525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CA0DDE9-3EDE-F731-2336-2918431D4360}"/>
              </a:ext>
            </a:extLst>
          </p:cNvPr>
          <p:cNvSpPr txBox="1"/>
          <p:nvPr/>
        </p:nvSpPr>
        <p:spPr>
          <a:xfrm>
            <a:off x="2004060" y="4690871"/>
            <a:ext cx="8183879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2000">
                <a:solidFill>
                  <a:srgbClr val="0D7884"/>
                </a:solidFill>
                <a:latin typeface="HGGGothicssi_Pro 80g"/>
              </a:rPr>
              <a:t>최종 판단: 부분 지지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E0D2BFB-2D3D-F9CB-6C90-E75ED6AE101B}"/>
              </a:ext>
            </a:extLst>
          </p:cNvPr>
          <p:cNvSpPr txBox="1"/>
          <p:nvPr/>
        </p:nvSpPr>
        <p:spPr>
          <a:xfrm>
            <a:off x="2095500" y="5120639"/>
            <a:ext cx="80010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50">
                <a:solidFill>
                  <a:srgbClr val="46535F"/>
                </a:solidFill>
                <a:latin typeface="HGGGothicssi_Pro 20g"/>
              </a:rPr>
              <a:t>상권 개수보다 상권 유형·구조와 신규사업자 보충력을 함께 봐야 성장/쇠퇴 지역을 구분할 수 있다.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B9AE119-6545-0D00-1961-29952F8AECE3}"/>
              </a:ext>
            </a:extLst>
          </p:cNvPr>
          <p:cNvSpPr txBox="1"/>
          <p:nvPr/>
        </p:nvSpPr>
        <p:spPr>
          <a:xfrm>
            <a:off x="2049780" y="5696711"/>
            <a:ext cx="8092440" cy="23217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250" dirty="0">
                <a:solidFill>
                  <a:srgbClr val="D95454"/>
                </a:solidFill>
                <a:latin typeface="HGGGothicssi_Pro 40g"/>
              </a:rPr>
              <a:t>•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한계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: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현재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결론은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행정구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단위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간접검증이며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,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상권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내부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vs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비상권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내부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직접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비교는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추가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데이터가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필요</a:t>
            </a:r>
            <a:endParaRPr sz="1250" dirty="0">
              <a:solidFill>
                <a:srgbClr val="46535F"/>
              </a:solidFill>
              <a:latin typeface="HGGGothicssi_Pro 20g"/>
            </a:endParaRPr>
          </a:p>
        </p:txBody>
      </p:sp>
    </p:spTree>
    <p:extLst>
      <p:ext uri="{BB962C8B-B14F-4D97-AF65-F5344CB8AC3E}">
        <p14:creationId xmlns:p14="http://schemas.microsoft.com/office/powerpoint/2010/main" val="25546644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4D191-C56F-6AD9-97AA-5DCE87B53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EDAABC-04BF-B713-0809-2C9EDD82496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8"/>
          </a:solidFill>
          <a:ln>
            <a:solidFill>
              <a:srgbClr val="F7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4A4571-A1D0-1D0F-AD8E-208341CD43FB}"/>
              </a:ext>
            </a:extLst>
          </p:cNvPr>
          <p:cNvSpPr/>
          <p:nvPr/>
        </p:nvSpPr>
        <p:spPr>
          <a:xfrm>
            <a:off x="0" y="0"/>
            <a:ext cx="1965960" cy="6858000"/>
          </a:xfrm>
          <a:prstGeom prst="rect">
            <a:avLst/>
          </a:prstGeom>
          <a:solidFill>
            <a:srgbClr val="1FAAB5"/>
          </a:solidFill>
          <a:ln>
            <a:solidFill>
              <a:srgbClr val="1FA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41EADA76-D4CC-D606-2E4B-ABB2F83ECD50}"/>
              </a:ext>
            </a:extLst>
          </p:cNvPr>
          <p:cNvGrpSpPr/>
          <p:nvPr/>
        </p:nvGrpSpPr>
        <p:grpSpPr>
          <a:xfrm>
            <a:off x="329184" y="530352"/>
            <a:ext cx="1388780" cy="861646"/>
            <a:chOff x="109728" y="217346"/>
            <a:chExt cx="1388780" cy="86164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7EAF4B0-4913-55B5-C171-30D0CBE5DCD2}"/>
                </a:ext>
              </a:extLst>
            </p:cNvPr>
            <p:cNvSpPr txBox="1"/>
            <p:nvPr/>
          </p:nvSpPr>
          <p:spPr>
            <a:xfrm>
              <a:off x="109728" y="338918"/>
              <a:ext cx="1388780" cy="74007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0</a:t>
              </a: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3-4</a:t>
              </a:r>
              <a:endPara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19CFCDC-79A8-D066-84A7-2A84AA3817D8}"/>
                </a:ext>
              </a:extLst>
            </p:cNvPr>
            <p:cNvSpPr txBox="1"/>
            <p:nvPr/>
          </p:nvSpPr>
          <p:spPr>
            <a:xfrm>
              <a:off x="109728" y="217346"/>
              <a:ext cx="877824" cy="24314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8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SECTION</a:t>
              </a:r>
            </a:p>
          </p:txBody>
        </p:sp>
      </p:grp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FC9106D-A6FE-53D3-1EA3-F6F8D1435415}"/>
              </a:ext>
            </a:extLst>
          </p:cNvPr>
          <p:cNvSpPr/>
          <p:nvPr/>
        </p:nvSpPr>
        <p:spPr>
          <a:xfrm>
            <a:off x="329184" y="5559552"/>
            <a:ext cx="1051560" cy="100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211AD06-B737-73B0-E9B2-661E36EEAFDD}"/>
              </a:ext>
            </a:extLst>
          </p:cNvPr>
          <p:cNvSpPr/>
          <p:nvPr/>
        </p:nvSpPr>
        <p:spPr>
          <a:xfrm>
            <a:off x="329184" y="5788152"/>
            <a:ext cx="658368" cy="100584"/>
          </a:xfrm>
          <a:prstGeom prst="roundRect">
            <a:avLst/>
          </a:prstGeom>
          <a:solidFill>
            <a:srgbClr val="DEF1F3"/>
          </a:solidFill>
          <a:ln w="12700">
            <a:solidFill>
              <a:srgbClr val="DE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59FE0A-8482-90B3-CC8E-814AE63B7D6D}"/>
              </a:ext>
            </a:extLst>
          </p:cNvPr>
          <p:cNvSpPr txBox="1"/>
          <p:nvPr/>
        </p:nvSpPr>
        <p:spPr>
          <a:xfrm>
            <a:off x="2359152" y="530352"/>
            <a:ext cx="2011680" cy="27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EDA_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4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53233981-5D1D-8786-881B-63AFE63E28F8}"/>
              </a:ext>
            </a:extLst>
          </p:cNvPr>
          <p:cNvCxnSpPr/>
          <p:nvPr/>
        </p:nvCxnSpPr>
        <p:spPr>
          <a:xfrm>
            <a:off x="2359152" y="868680"/>
            <a:ext cx="9006840" cy="0"/>
          </a:xfrm>
          <a:prstGeom prst="line">
            <a:avLst/>
          </a:prstGeom>
          <a:ln w="17780">
            <a:solidFill>
              <a:srgbClr val="DEF1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9DCC256-DE8A-6859-460C-53C95CCF372E}"/>
              </a:ext>
            </a:extLst>
          </p:cNvPr>
          <p:cNvSpPr txBox="1"/>
          <p:nvPr/>
        </p:nvSpPr>
        <p:spPr>
          <a:xfrm>
            <a:off x="2359152" y="1022120"/>
            <a:ext cx="6309360" cy="781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35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가설 별 탐색적 데이터 분석</a:t>
            </a:r>
            <a:endParaRPr kumimoji="0" lang="en-US" altLang="ko-KR" sz="2350" b="0" i="0" u="none" strike="noStrike" kern="1200" cap="none" spc="0" normalizeH="0" baseline="0" noProof="0" dirty="0">
              <a:ln>
                <a:noFill/>
              </a:ln>
              <a:solidFill>
                <a:srgbClr val="223035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   :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 지역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별 매출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·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소비 분석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김성우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223035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2027074-823F-CDCF-E961-E7E32032FB10}"/>
              </a:ext>
            </a:extLst>
          </p:cNvPr>
          <p:cNvSpPr/>
          <p:nvPr/>
        </p:nvSpPr>
        <p:spPr>
          <a:xfrm>
            <a:off x="5655444" y="4543294"/>
            <a:ext cx="2743200" cy="347472"/>
          </a:xfrm>
          <a:prstGeom prst="roundRect">
            <a:avLst/>
          </a:prstGeom>
          <a:solidFill>
            <a:srgbClr val="DEF1F3"/>
          </a:solidFill>
          <a:ln w="12700">
            <a:solidFill>
              <a:srgbClr val="DE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80" b="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주요 데이터</a:t>
            </a:r>
            <a:endParaRPr kumimoji="0" sz="1180" b="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254EC63-D144-E41A-924C-4E43A41952FD}"/>
              </a:ext>
            </a:extLst>
          </p:cNvPr>
          <p:cNvSpPr/>
          <p:nvPr/>
        </p:nvSpPr>
        <p:spPr>
          <a:xfrm>
            <a:off x="2522082" y="5191535"/>
            <a:ext cx="2078262" cy="781621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54AB86-34E0-DCF8-BF6C-2F18137637EC}"/>
              </a:ext>
            </a:extLst>
          </p:cNvPr>
          <p:cNvSpPr txBox="1"/>
          <p:nvPr/>
        </p:nvSpPr>
        <p:spPr>
          <a:xfrm>
            <a:off x="2707641" y="5406624"/>
            <a:ext cx="1707144" cy="351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폐업률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9" name="Rounded Rectangle 15">
            <a:extLst>
              <a:ext uri="{FF2B5EF4-FFF2-40B4-BE49-F238E27FC236}">
                <a16:creationId xmlns:a16="http://schemas.microsoft.com/office/drawing/2014/main" id="{F43B0640-A2B3-9945-D619-579C971B0B63}"/>
              </a:ext>
            </a:extLst>
          </p:cNvPr>
          <p:cNvSpPr/>
          <p:nvPr/>
        </p:nvSpPr>
        <p:spPr>
          <a:xfrm>
            <a:off x="4856003" y="5191535"/>
            <a:ext cx="2078262" cy="781621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879655-EE8C-8D93-C30A-41E3EFB24BF1}"/>
              </a:ext>
            </a:extLst>
          </p:cNvPr>
          <p:cNvSpPr txBox="1"/>
          <p:nvPr/>
        </p:nvSpPr>
        <p:spPr>
          <a:xfrm>
            <a:off x="5041562" y="5406624"/>
            <a:ext cx="1707144" cy="351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점포교체율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1" name="Rounded Rectangle 15">
            <a:extLst>
              <a:ext uri="{FF2B5EF4-FFF2-40B4-BE49-F238E27FC236}">
                <a16:creationId xmlns:a16="http://schemas.microsoft.com/office/drawing/2014/main" id="{89F31056-B3FE-77EE-8A68-1B597A7C9044}"/>
              </a:ext>
            </a:extLst>
          </p:cNvPr>
          <p:cNvSpPr/>
          <p:nvPr/>
        </p:nvSpPr>
        <p:spPr>
          <a:xfrm>
            <a:off x="7119824" y="5191535"/>
            <a:ext cx="2078262" cy="781621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BBAFC00-B7C5-3806-E495-03AF12920703}"/>
              </a:ext>
            </a:extLst>
          </p:cNvPr>
          <p:cNvSpPr txBox="1"/>
          <p:nvPr/>
        </p:nvSpPr>
        <p:spPr>
          <a:xfrm>
            <a:off x="7305383" y="5406624"/>
            <a:ext cx="1707144" cy="351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관광업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폐업률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3" name="Rounded Rectangle 15">
            <a:extLst>
              <a:ext uri="{FF2B5EF4-FFF2-40B4-BE49-F238E27FC236}">
                <a16:creationId xmlns:a16="http://schemas.microsoft.com/office/drawing/2014/main" id="{74BF82D2-415D-F295-02E3-0969F655BC72}"/>
              </a:ext>
            </a:extLst>
          </p:cNvPr>
          <p:cNvSpPr/>
          <p:nvPr/>
        </p:nvSpPr>
        <p:spPr>
          <a:xfrm>
            <a:off x="9453745" y="5191535"/>
            <a:ext cx="2078262" cy="781621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DF1BC0-AADA-2F1A-3621-08C251E6FFA0}"/>
              </a:ext>
            </a:extLst>
          </p:cNvPr>
          <p:cNvSpPr txBox="1"/>
          <p:nvPr/>
        </p:nvSpPr>
        <p:spPr>
          <a:xfrm>
            <a:off x="9639304" y="5304320"/>
            <a:ext cx="1707144" cy="5560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rgbClr val="15747C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점포 증가율 및</a:t>
            </a:r>
            <a:endParaRPr lang="en-US" altLang="ko-KR" sz="1400" dirty="0">
              <a:solidFill>
                <a:srgbClr val="15747C"/>
              </a:solidFill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rgbClr val="15747C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점포당 매출</a:t>
            </a:r>
            <a:endParaRPr lang="en-US" altLang="ko-KR" sz="1400" dirty="0">
              <a:solidFill>
                <a:srgbClr val="15747C"/>
              </a:solidFill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70214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7FE89-C56B-66A4-6BFA-43F12625F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5829D65-C304-13B4-E29C-915D6DE965BE}"/>
              </a:ext>
            </a:extLst>
          </p:cNvPr>
          <p:cNvSpPr/>
          <p:nvPr/>
        </p:nvSpPr>
        <p:spPr>
          <a:xfrm>
            <a:off x="530352" y="246888"/>
            <a:ext cx="163658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altLang="ko-KR" sz="900" dirty="0">
                <a:solidFill>
                  <a:srgbClr val="5C6C76"/>
                </a:solidFill>
                <a:latin typeface="HG꼬딕씨_Pro 20g"/>
                <a:ea typeface="맑은 고딕" panose="020B0503020000020004" pitchFamily="50" charset="-127"/>
              </a:rPr>
              <a:t>01. Regional EDA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4FEE81E-CF2B-87B8-5060-530540B53E2C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87512D0-0AD0-D442-E1C0-984CAEC93AAE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ko-KR" altLang="en-US" b="1" dirty="0">
                <a:solidFill>
                  <a:srgbClr val="212D37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지역 </a:t>
            </a:r>
            <a:r>
              <a:rPr lang="en-US" altLang="ko-KR" b="1" dirty="0">
                <a:solidFill>
                  <a:srgbClr val="212D37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× </a:t>
            </a:r>
            <a:r>
              <a:rPr lang="ko-KR" altLang="en-US" b="1" dirty="0">
                <a:solidFill>
                  <a:srgbClr val="212D37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연도 사업자 증감 </a:t>
            </a:r>
            <a:r>
              <a:rPr lang="en-US" altLang="ko-KR" b="1" dirty="0">
                <a:solidFill>
                  <a:srgbClr val="212D37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Heatmap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5F34693-636C-B2C9-B0E6-CB8BF1C0D3BC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ko-KR" altLang="en-US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각 연도의 마지막 </a:t>
            </a:r>
            <a:r>
              <a:rPr lang="ko-KR" altLang="en-US" sz="800" dirty="0" err="1">
                <a:solidFill>
                  <a:srgbClr val="6E7887"/>
                </a:solidFill>
                <a:latin typeface="HGGGothicssi_Pro 20g"/>
                <a:ea typeface="HGGGothicssi_Pro 20g"/>
              </a:rPr>
              <a:t>관측월</a:t>
            </a:r>
            <a:r>
              <a:rPr lang="ko-KR" altLang="en-US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 기준으로 </a:t>
            </a:r>
            <a:r>
              <a:rPr lang="en-US" altLang="ko-KR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16</a:t>
            </a:r>
            <a:r>
              <a:rPr lang="ko-KR" altLang="en-US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개 구</a:t>
            </a:r>
            <a:r>
              <a:rPr lang="en-US" altLang="ko-KR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·</a:t>
            </a:r>
            <a:r>
              <a:rPr lang="ko-KR" altLang="en-US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군의 </a:t>
            </a:r>
            <a:r>
              <a:rPr lang="en-US" altLang="ko-KR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YoY </a:t>
            </a:r>
            <a:r>
              <a:rPr lang="ko-KR" altLang="en-US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흐름을 비교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FE2519B-42EF-092E-4FE3-9DB2018F0380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50B3F9BB-78BA-FA0A-2A6E-CB42C73A742E}"/>
              </a:ext>
            </a:extLst>
          </p:cNvPr>
          <p:cNvGrpSpPr/>
          <p:nvPr/>
        </p:nvGrpSpPr>
        <p:grpSpPr>
          <a:xfrm>
            <a:off x="1569720" y="1719071"/>
            <a:ext cx="9052560" cy="4440150"/>
            <a:chOff x="1435793" y="1719071"/>
            <a:chExt cx="9052560" cy="4440150"/>
          </a:xfrm>
        </p:grpSpPr>
        <p:sp>
          <p:nvSpPr>
            <p:cNvPr id="56" name="Rounded Rectangle 11">
              <a:extLst>
                <a:ext uri="{FF2B5EF4-FFF2-40B4-BE49-F238E27FC236}">
                  <a16:creationId xmlns:a16="http://schemas.microsoft.com/office/drawing/2014/main" id="{9593FC23-F327-C9D1-4B91-3E9FCF5A4FD6}"/>
                </a:ext>
              </a:extLst>
            </p:cNvPr>
            <p:cNvSpPr/>
            <p:nvPr/>
          </p:nvSpPr>
          <p:spPr>
            <a:xfrm>
              <a:off x="1435793" y="1719071"/>
              <a:ext cx="6400800" cy="411480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CE5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58" name="Picture 12" descr="seongwoo_heatmap_heatmap.png">
              <a:extLst>
                <a:ext uri="{FF2B5EF4-FFF2-40B4-BE49-F238E27FC236}">
                  <a16:creationId xmlns:a16="http://schemas.microsoft.com/office/drawing/2014/main" id="{AC544CC6-A161-A864-37B5-AE2C28A79D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3809" y="2279480"/>
              <a:ext cx="6144768" cy="2993981"/>
            </a:xfrm>
            <a:prstGeom prst="rect">
              <a:avLst/>
            </a:prstGeom>
          </p:spPr>
        </p:pic>
        <p:sp>
          <p:nvSpPr>
            <p:cNvPr id="60" name="Rounded Rectangle 13">
              <a:extLst>
                <a:ext uri="{FF2B5EF4-FFF2-40B4-BE49-F238E27FC236}">
                  <a16:creationId xmlns:a16="http://schemas.microsoft.com/office/drawing/2014/main" id="{BFDC31D0-26B1-3033-2538-F1C39C9F7C8B}"/>
                </a:ext>
              </a:extLst>
            </p:cNvPr>
            <p:cNvSpPr/>
            <p:nvPr/>
          </p:nvSpPr>
          <p:spPr>
            <a:xfrm>
              <a:off x="8065193" y="1719071"/>
              <a:ext cx="2423160" cy="411480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CE5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Rounded Rectangle 14">
              <a:extLst>
                <a:ext uri="{FF2B5EF4-FFF2-40B4-BE49-F238E27FC236}">
                  <a16:creationId xmlns:a16="http://schemas.microsoft.com/office/drawing/2014/main" id="{E4D86B52-B04A-070E-4C1E-50540E8EF591}"/>
                </a:ext>
              </a:extLst>
            </p:cNvPr>
            <p:cNvSpPr/>
            <p:nvPr/>
          </p:nvSpPr>
          <p:spPr>
            <a:xfrm>
              <a:off x="8065193" y="1719071"/>
              <a:ext cx="2423160" cy="438912"/>
            </a:xfrm>
            <a:prstGeom prst="roundRect">
              <a:avLst/>
            </a:prstGeom>
            <a:solidFill>
              <a:srgbClr val="F2F8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745E2DC-22A3-0E4B-7DB7-EC59C9555151}"/>
                </a:ext>
              </a:extLst>
            </p:cNvPr>
            <p:cNvSpPr txBox="1"/>
            <p:nvPr/>
          </p:nvSpPr>
          <p:spPr>
            <a:xfrm>
              <a:off x="8174921" y="1819655"/>
              <a:ext cx="2203704" cy="240066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1320">
                  <a:solidFill>
                    <a:srgbClr val="0D7884"/>
                  </a:solidFill>
                  <a:latin typeface="HGGGothicssi_Pro 40g"/>
                </a:rPr>
                <a:t>세부 해석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BC06844-09A7-A94B-3B66-385E9BE6E84E}"/>
                </a:ext>
              </a:extLst>
            </p:cNvPr>
            <p:cNvSpPr txBox="1"/>
            <p:nvPr/>
          </p:nvSpPr>
          <p:spPr>
            <a:xfrm>
              <a:off x="8293793" y="2404871"/>
              <a:ext cx="1965960" cy="1838388"/>
            </a:xfrm>
            <a:prstGeom prst="rect">
              <a:avLst/>
            </a:prstGeom>
            <a:noFill/>
          </p:spPr>
          <p:txBody>
            <a:bodyPr wrap="square" lIns="18288" tIns="18288" r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>
                  <a:solidFill>
                    <a:srgbClr val="46535F"/>
                  </a:solidFill>
                  <a:latin typeface="HGGGothicssi_Pro 20g"/>
                </a:rPr>
                <a:t>2022년은 대부분 지역에서 강한 증가율이 나타남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>
                  <a:solidFill>
                    <a:srgbClr val="46535F"/>
                  </a:solidFill>
                  <a:latin typeface="HGGGothicssi_Pro 20g"/>
                </a:rPr>
                <a:t>2024~2026년으로 갈수록 둔화·음수 전환 지역이 늘어남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>
                  <a:solidFill>
                    <a:srgbClr val="46535F"/>
                  </a:solidFill>
                  <a:latin typeface="HGGGothicssi_Pro 20g"/>
                </a:rPr>
                <a:t>강서구는 여러 해에서 상대적으로 강한 성장 신호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>
                  <a:solidFill>
                    <a:srgbClr val="46535F"/>
                  </a:solidFill>
                  <a:latin typeface="HGGGothicssi_Pro 20g"/>
                </a:rPr>
                <a:t>중구·영도구·사상구 등은 약세 구간이 반복됨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F6E7D818-4C1B-A6B1-C171-549A4513481C}"/>
                </a:ext>
              </a:extLst>
            </p:cNvPr>
            <p:cNvSpPr txBox="1"/>
            <p:nvPr/>
          </p:nvSpPr>
          <p:spPr>
            <a:xfrm>
              <a:off x="1572953" y="5925311"/>
              <a:ext cx="8686800" cy="233910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1280" dirty="0" err="1">
                  <a:solidFill>
                    <a:srgbClr val="212D37"/>
                  </a:solidFill>
                  <a:latin typeface="HGGGothicssi_Pro 40g"/>
                </a:rPr>
                <a:t>핵심</a:t>
              </a:r>
              <a:r>
                <a:rPr sz="1280" dirty="0">
                  <a:solidFill>
                    <a:srgbClr val="212D37"/>
                  </a:solidFill>
                  <a:latin typeface="HGGGothicssi_Pro 40g"/>
                </a:rPr>
                <a:t>: </a:t>
              </a:r>
              <a:r>
                <a:rPr sz="1280" dirty="0" err="1">
                  <a:solidFill>
                    <a:srgbClr val="212D37"/>
                  </a:solidFill>
                  <a:latin typeface="HGGGothicssi_Pro 40g"/>
                </a:rPr>
                <a:t>부산</a:t>
              </a:r>
              <a:r>
                <a:rPr sz="1280" dirty="0">
                  <a:solidFill>
                    <a:srgbClr val="212D37"/>
                  </a:solidFill>
                  <a:latin typeface="HGGGothicssi_Pro 40g"/>
                </a:rPr>
                <a:t> </a:t>
              </a:r>
              <a:r>
                <a:rPr sz="1280" dirty="0" err="1">
                  <a:solidFill>
                    <a:srgbClr val="212D37"/>
                  </a:solidFill>
                  <a:latin typeface="HGGGothicssi_Pro 40g"/>
                </a:rPr>
                <a:t>전체</a:t>
              </a:r>
              <a:r>
                <a:rPr sz="1280" dirty="0">
                  <a:solidFill>
                    <a:srgbClr val="212D37"/>
                  </a:solidFill>
                  <a:latin typeface="HGGGothicssi_Pro 40g"/>
                </a:rPr>
                <a:t> </a:t>
              </a:r>
              <a:r>
                <a:rPr sz="1280" dirty="0" err="1">
                  <a:solidFill>
                    <a:srgbClr val="212D37"/>
                  </a:solidFill>
                  <a:latin typeface="HGGGothicssi_Pro 40g"/>
                </a:rPr>
                <a:t>평균보다</a:t>
              </a:r>
              <a:r>
                <a:rPr sz="1280" dirty="0">
                  <a:solidFill>
                    <a:srgbClr val="212D37"/>
                  </a:solidFill>
                  <a:latin typeface="HGGGothicssi_Pro 40g"/>
                </a:rPr>
                <a:t> </a:t>
              </a:r>
              <a:r>
                <a:rPr sz="1280" dirty="0" err="1">
                  <a:solidFill>
                    <a:srgbClr val="212D37"/>
                  </a:solidFill>
                  <a:latin typeface="HGGGothicssi_Pro 40g"/>
                </a:rPr>
                <a:t>행정구별</a:t>
              </a:r>
              <a:r>
                <a:rPr sz="1280" dirty="0">
                  <a:solidFill>
                    <a:srgbClr val="212D37"/>
                  </a:solidFill>
                  <a:latin typeface="HGGGothicssi_Pro 40g"/>
                </a:rPr>
                <a:t> </a:t>
              </a:r>
              <a:r>
                <a:rPr sz="1280" dirty="0" err="1">
                  <a:solidFill>
                    <a:srgbClr val="212D37"/>
                  </a:solidFill>
                  <a:latin typeface="HGGGothicssi_Pro 40g"/>
                </a:rPr>
                <a:t>장기</a:t>
              </a:r>
              <a:r>
                <a:rPr sz="1280" dirty="0">
                  <a:solidFill>
                    <a:srgbClr val="212D37"/>
                  </a:solidFill>
                  <a:latin typeface="HGGGothicssi_Pro 40g"/>
                </a:rPr>
                <a:t> </a:t>
              </a:r>
              <a:r>
                <a:rPr sz="1280" dirty="0" err="1">
                  <a:solidFill>
                    <a:srgbClr val="212D37"/>
                  </a:solidFill>
                  <a:latin typeface="HGGGothicssi_Pro 40g"/>
                </a:rPr>
                <a:t>흐름을</a:t>
              </a:r>
              <a:r>
                <a:rPr sz="1280" dirty="0">
                  <a:solidFill>
                    <a:srgbClr val="212D37"/>
                  </a:solidFill>
                  <a:latin typeface="HGGGothicssi_Pro 40g"/>
                </a:rPr>
                <a:t> </a:t>
              </a:r>
              <a:r>
                <a:rPr sz="1280" dirty="0" err="1">
                  <a:solidFill>
                    <a:srgbClr val="212D37"/>
                  </a:solidFill>
                  <a:latin typeface="HGGGothicssi_Pro 40g"/>
                </a:rPr>
                <a:t>나눠</a:t>
              </a:r>
              <a:r>
                <a:rPr sz="1280" dirty="0">
                  <a:solidFill>
                    <a:srgbClr val="212D37"/>
                  </a:solidFill>
                  <a:latin typeface="HGGGothicssi_Pro 40g"/>
                </a:rPr>
                <a:t> </a:t>
              </a:r>
              <a:r>
                <a:rPr sz="1280" dirty="0" err="1">
                  <a:solidFill>
                    <a:srgbClr val="212D37"/>
                  </a:solidFill>
                  <a:latin typeface="HGGGothicssi_Pro 40g"/>
                </a:rPr>
                <a:t>봐야</a:t>
              </a:r>
              <a:r>
                <a:rPr sz="1280" dirty="0">
                  <a:solidFill>
                    <a:srgbClr val="212D37"/>
                  </a:solidFill>
                  <a:latin typeface="HGGGothicssi_Pro 40g"/>
                </a:rPr>
                <a:t> </a:t>
              </a:r>
              <a:r>
                <a:rPr sz="1280" dirty="0" err="1">
                  <a:solidFill>
                    <a:srgbClr val="212D37"/>
                  </a:solidFill>
                  <a:latin typeface="HGGGothicssi_Pro 40g"/>
                </a:rPr>
                <a:t>성장·둔화·감소</a:t>
              </a:r>
              <a:r>
                <a:rPr sz="1280" dirty="0">
                  <a:solidFill>
                    <a:srgbClr val="212D37"/>
                  </a:solidFill>
                  <a:latin typeface="HGGGothicssi_Pro 40g"/>
                </a:rPr>
                <a:t> </a:t>
              </a:r>
              <a:r>
                <a:rPr sz="1280" dirty="0" err="1">
                  <a:solidFill>
                    <a:srgbClr val="212D37"/>
                  </a:solidFill>
                  <a:latin typeface="HGGGothicssi_Pro 40g"/>
                </a:rPr>
                <a:t>지역이</a:t>
              </a:r>
              <a:r>
                <a:rPr sz="1280" dirty="0">
                  <a:solidFill>
                    <a:srgbClr val="212D37"/>
                  </a:solidFill>
                  <a:latin typeface="HGGGothicssi_Pro 40g"/>
                </a:rPr>
                <a:t> </a:t>
              </a:r>
              <a:r>
                <a:rPr sz="1280" dirty="0" err="1">
                  <a:solidFill>
                    <a:srgbClr val="212D37"/>
                  </a:solidFill>
                  <a:latin typeface="HGGGothicssi_Pro 40g"/>
                </a:rPr>
                <a:t>구분된다</a:t>
              </a:r>
              <a:r>
                <a:rPr sz="1280" dirty="0">
                  <a:solidFill>
                    <a:srgbClr val="212D37"/>
                  </a:solidFill>
                  <a:latin typeface="HGGGothicssi_Pro 40g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966140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E6099-8F61-19D3-553E-51F447F15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825817D-D846-09A0-DD94-0DE71747978A}"/>
              </a:ext>
            </a:extLst>
          </p:cNvPr>
          <p:cNvSpPr/>
          <p:nvPr/>
        </p:nvSpPr>
        <p:spPr>
          <a:xfrm>
            <a:off x="530352" y="246888"/>
            <a:ext cx="163658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altLang="ko-KR" sz="900" dirty="0">
                <a:solidFill>
                  <a:srgbClr val="5C6C76"/>
                </a:solidFill>
                <a:latin typeface="HG꼬딕씨_Pro 20g"/>
              </a:rPr>
              <a:t>02. Industry EDA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1744B8E-B7CE-0ADC-089F-3D94AC432AAF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0D5AD68-3F79-C954-5FAD-4EB2355EC52E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ko-KR" altLang="en-US" dirty="0">
                <a:solidFill>
                  <a:srgbClr val="141414"/>
                </a:solidFill>
                <a:latin typeface="HGGGothicssi_Pro 80g"/>
                <a:ea typeface="HGGGothicssi_Pro 80g"/>
              </a:rPr>
              <a:t>업종별 장기 사업자 수 지수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B336428-9EB3-60F7-5137-C00D7F881E9A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ko-KR" altLang="en-US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해운대구 사례로 같은 지역 안에서도 업종별 장기 추세가 다르게 움직이는지 확인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D33CCCB-07A5-0FE4-56A6-E341697044FC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1" name="Rounded Rectangle 11">
            <a:extLst>
              <a:ext uri="{FF2B5EF4-FFF2-40B4-BE49-F238E27FC236}">
                <a16:creationId xmlns:a16="http://schemas.microsoft.com/office/drawing/2014/main" id="{75270640-B0B1-6968-F217-DCE5E17CE317}"/>
              </a:ext>
            </a:extLst>
          </p:cNvPr>
          <p:cNvSpPr/>
          <p:nvPr/>
        </p:nvSpPr>
        <p:spPr>
          <a:xfrm>
            <a:off x="1569720" y="1947671"/>
            <a:ext cx="6400800" cy="3703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12" descr="seongwoo_trend_lineChart.png">
            <a:extLst>
              <a:ext uri="{FF2B5EF4-FFF2-40B4-BE49-F238E27FC236}">
                <a16:creationId xmlns:a16="http://schemas.microsoft.com/office/drawing/2014/main" id="{79B6538C-3C4C-D3E4-48EC-2626CE558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7736" y="2400342"/>
            <a:ext cx="6144768" cy="2797976"/>
          </a:xfrm>
          <a:prstGeom prst="rect">
            <a:avLst/>
          </a:prstGeom>
        </p:spPr>
      </p:pic>
      <p:sp>
        <p:nvSpPr>
          <p:cNvPr id="45" name="Rounded Rectangle 13">
            <a:extLst>
              <a:ext uri="{FF2B5EF4-FFF2-40B4-BE49-F238E27FC236}">
                <a16:creationId xmlns:a16="http://schemas.microsoft.com/office/drawing/2014/main" id="{137129D9-B8FF-D1C7-D5A6-3CC474E00C65}"/>
              </a:ext>
            </a:extLst>
          </p:cNvPr>
          <p:cNvSpPr/>
          <p:nvPr/>
        </p:nvSpPr>
        <p:spPr>
          <a:xfrm>
            <a:off x="8199119" y="1947671"/>
            <a:ext cx="2939935" cy="3703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14">
            <a:extLst>
              <a:ext uri="{FF2B5EF4-FFF2-40B4-BE49-F238E27FC236}">
                <a16:creationId xmlns:a16="http://schemas.microsoft.com/office/drawing/2014/main" id="{FC56928B-20B5-31DC-666D-8D9BB8EAD814}"/>
              </a:ext>
            </a:extLst>
          </p:cNvPr>
          <p:cNvSpPr/>
          <p:nvPr/>
        </p:nvSpPr>
        <p:spPr>
          <a:xfrm>
            <a:off x="8199119" y="1947671"/>
            <a:ext cx="2939935" cy="438912"/>
          </a:xfrm>
          <a:prstGeom prst="roundRect">
            <a:avLst/>
          </a:prstGeom>
          <a:solidFill>
            <a:srgbClr val="F2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2CE4081-523C-9C9F-B8FA-CB7C6BADD3D5}"/>
              </a:ext>
            </a:extLst>
          </p:cNvPr>
          <p:cNvSpPr txBox="1"/>
          <p:nvPr/>
        </p:nvSpPr>
        <p:spPr>
          <a:xfrm>
            <a:off x="8308847" y="2048255"/>
            <a:ext cx="2673677" cy="2400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20" b="1">
                <a:solidFill>
                  <a:srgbClr val="0D7884"/>
                </a:solidFill>
                <a:latin typeface="HGGGothicssi_Pro 40g"/>
              </a:rPr>
              <a:t>세부 해석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5098530-B0EA-FC77-72E9-4AEADA36971A}"/>
              </a:ext>
            </a:extLst>
          </p:cNvPr>
          <p:cNvSpPr txBox="1"/>
          <p:nvPr/>
        </p:nvSpPr>
        <p:spPr>
          <a:xfrm>
            <a:off x="8427720" y="3001551"/>
            <a:ext cx="2385230" cy="190250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1" dirty="0">
                <a:solidFill>
                  <a:srgbClr val="0D7884"/>
                </a:solidFill>
                <a:latin typeface="HGGGothicssi_Pro 40g"/>
              </a:rPr>
              <a:t>•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여행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/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숙박업은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2023년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이후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br>
              <a:rPr lang="en-US" sz="1250" dirty="0">
                <a:solidFill>
                  <a:srgbClr val="46535F"/>
                </a:solidFill>
                <a:latin typeface="HGGGothicssi_Pro 20g"/>
              </a:rPr>
            </a:br>
            <a:r>
              <a:rPr lang="en-US" sz="1250" dirty="0">
                <a:solidFill>
                  <a:srgbClr val="46535F"/>
                </a:solidFill>
                <a:latin typeface="HGGGothicssi_Pro 20g"/>
              </a:rPr>
              <a:t>    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급격히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상승해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타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업종과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분리</a:t>
            </a:r>
            <a:endParaRPr lang="en-US" sz="1250" dirty="0">
              <a:solidFill>
                <a:srgbClr val="46535F"/>
              </a:solidFill>
              <a:latin typeface="HGGGothicssi_Pro 20g"/>
            </a:endParaR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endParaRPr sz="1250" dirty="0">
              <a:solidFill>
                <a:srgbClr val="46535F"/>
              </a:solidFill>
              <a:latin typeface="HGGGothicssi_Pro 20g"/>
            </a:endParaR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1" dirty="0">
                <a:solidFill>
                  <a:srgbClr val="0D7884"/>
                </a:solidFill>
                <a:latin typeface="HGGGothicssi_Pro 40g"/>
              </a:rPr>
              <a:t>•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쇼핑업은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완만한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상승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, </a:t>
            </a:r>
            <a:br>
              <a:rPr lang="en-US" sz="1250" dirty="0">
                <a:solidFill>
                  <a:srgbClr val="46535F"/>
                </a:solidFill>
                <a:latin typeface="HGGGothicssi_Pro 20g"/>
              </a:rPr>
            </a:br>
            <a:r>
              <a:rPr lang="en-US" sz="1250" dirty="0">
                <a:solidFill>
                  <a:srgbClr val="46535F"/>
                </a:solidFill>
                <a:latin typeface="HGGGothicssi_Pro 20g"/>
              </a:rPr>
              <a:t>    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식음료업은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상대적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약세</a:t>
            </a:r>
            <a:endParaRPr lang="en-US" sz="1250" dirty="0">
              <a:solidFill>
                <a:srgbClr val="46535F"/>
              </a:solidFill>
              <a:latin typeface="HGGGothicssi_Pro 20g"/>
            </a:endParaR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endParaRPr sz="1250" dirty="0">
              <a:solidFill>
                <a:srgbClr val="46535F"/>
              </a:solidFill>
              <a:latin typeface="HGGGothicssi_Pro 20g"/>
            </a:endParaR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1" dirty="0">
                <a:solidFill>
                  <a:srgbClr val="0D7884"/>
                </a:solidFill>
                <a:latin typeface="HGGGothicssi_Pro 40g"/>
              </a:rPr>
              <a:t>•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전체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사업자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수만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보면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업종별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br>
              <a:rPr lang="en-US" sz="1250" dirty="0">
                <a:solidFill>
                  <a:srgbClr val="46535F"/>
                </a:solidFill>
                <a:latin typeface="HGGGothicssi_Pro 20g"/>
              </a:rPr>
            </a:br>
            <a:r>
              <a:rPr lang="en-US" sz="1250" dirty="0">
                <a:solidFill>
                  <a:srgbClr val="46535F"/>
                </a:solidFill>
                <a:latin typeface="HGGGothicssi_Pro 20g"/>
              </a:rPr>
              <a:t>    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상반된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변화를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놓칠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수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있음</a:t>
            </a:r>
            <a:endParaRPr sz="1250" dirty="0">
              <a:solidFill>
                <a:srgbClr val="46535F"/>
              </a:solidFill>
              <a:latin typeface="HGGGothicssi_Pro 20g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B1DD319-8CFD-1304-D450-2A7CBD5EEA8A}"/>
              </a:ext>
            </a:extLst>
          </p:cNvPr>
          <p:cNvSpPr txBox="1"/>
          <p:nvPr/>
        </p:nvSpPr>
        <p:spPr>
          <a:xfrm>
            <a:off x="1798320" y="5869008"/>
            <a:ext cx="8229600" cy="2400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20">
                <a:solidFill>
                  <a:srgbClr val="212D37"/>
                </a:solidFill>
                <a:latin typeface="HGGGothicssi_Pro 40g"/>
              </a:rPr>
              <a:t>핵심: 같은 지역이라도 업종별 성장 방향이 다르므로, 지역×업종 교차분석이 필요하다.</a:t>
            </a:r>
          </a:p>
        </p:txBody>
      </p:sp>
    </p:spTree>
    <p:extLst>
      <p:ext uri="{BB962C8B-B14F-4D97-AF65-F5344CB8AC3E}">
        <p14:creationId xmlns:p14="http://schemas.microsoft.com/office/powerpoint/2010/main" val="29518628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4955D-9C5C-065E-9744-908BA3029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E735EDB-BA99-C459-7853-79502F88405E}"/>
              </a:ext>
            </a:extLst>
          </p:cNvPr>
          <p:cNvSpPr/>
          <p:nvPr/>
        </p:nvSpPr>
        <p:spPr>
          <a:xfrm>
            <a:off x="530352" y="246888"/>
            <a:ext cx="163658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altLang="ko-KR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03. Time EDA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1B3BD9C-73BE-8A27-1800-8EE8005FA6D1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903800E-C76D-80EB-1326-8D4D5C619B3F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ko-KR" altLang="en-US" dirty="0">
                <a:solidFill>
                  <a:srgbClr val="141414"/>
                </a:solidFill>
                <a:latin typeface="HGGGothicssi_Pro 80g"/>
                <a:ea typeface="HGGGothicssi_Pro 80g"/>
              </a:rPr>
              <a:t>단기 반등과 장기 성장의 괴리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28AE495-26B2-9799-813E-2E25A570C98E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ko-KR" altLang="en-US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전월 증감률</a:t>
            </a:r>
            <a:r>
              <a:rPr lang="en-US" altLang="ko-KR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(MoM)</a:t>
            </a:r>
            <a:r>
              <a:rPr lang="ko-KR" altLang="en-US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이 누적성장률과 같은 방향을 의미하는지 검토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53C6410-6B63-670F-9867-CC324A800618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F8EBD326-090A-F69A-0BA8-EAC0728AD844}"/>
              </a:ext>
            </a:extLst>
          </p:cNvPr>
          <p:cNvGrpSpPr/>
          <p:nvPr/>
        </p:nvGrpSpPr>
        <p:grpSpPr>
          <a:xfrm>
            <a:off x="1237673" y="1950467"/>
            <a:ext cx="9716654" cy="3917186"/>
            <a:chOff x="2468880" y="2148840"/>
            <a:chExt cx="8732520" cy="3520440"/>
          </a:xfrm>
        </p:grpSpPr>
        <p:sp>
          <p:nvSpPr>
            <p:cNvPr id="8" name="Rounded Rectangle 11">
              <a:extLst>
                <a:ext uri="{FF2B5EF4-FFF2-40B4-BE49-F238E27FC236}">
                  <a16:creationId xmlns:a16="http://schemas.microsoft.com/office/drawing/2014/main" id="{5C7A8248-2D07-90A3-84A0-6C9DA00FA994}"/>
                </a:ext>
              </a:extLst>
            </p:cNvPr>
            <p:cNvSpPr/>
            <p:nvPr/>
          </p:nvSpPr>
          <p:spPr>
            <a:xfrm>
              <a:off x="2468880" y="2148840"/>
              <a:ext cx="2788920" cy="205740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CE5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ed Rectangle 12">
              <a:extLst>
                <a:ext uri="{FF2B5EF4-FFF2-40B4-BE49-F238E27FC236}">
                  <a16:creationId xmlns:a16="http://schemas.microsoft.com/office/drawing/2014/main" id="{9E6EA13D-FC5B-DEF6-DB3B-39C02C2B293F}"/>
                </a:ext>
              </a:extLst>
            </p:cNvPr>
            <p:cNvSpPr/>
            <p:nvPr/>
          </p:nvSpPr>
          <p:spPr>
            <a:xfrm>
              <a:off x="2468880" y="2148840"/>
              <a:ext cx="2788920" cy="438912"/>
            </a:xfrm>
            <a:prstGeom prst="roundRect">
              <a:avLst/>
            </a:prstGeom>
            <a:solidFill>
              <a:srgbClr val="F2F8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E7993E8-889D-6BFB-8CCF-FAB8DE697C37}"/>
                </a:ext>
              </a:extLst>
            </p:cNvPr>
            <p:cNvSpPr txBox="1"/>
            <p:nvPr/>
          </p:nvSpPr>
          <p:spPr>
            <a:xfrm>
              <a:off x="2578608" y="2249424"/>
              <a:ext cx="2569463" cy="182880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1320" b="1">
                  <a:solidFill>
                    <a:srgbClr val="0D7884"/>
                  </a:solidFill>
                  <a:latin typeface="HGGGothicssi_Pro 40g"/>
                </a:rPr>
                <a:t>단기 변화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327255B-974B-D6AC-4556-421061BA5882}"/>
                </a:ext>
              </a:extLst>
            </p:cNvPr>
            <p:cNvSpPr txBox="1"/>
            <p:nvPr/>
          </p:nvSpPr>
          <p:spPr>
            <a:xfrm>
              <a:off x="2697480" y="2834640"/>
              <a:ext cx="2331720" cy="1234440"/>
            </a:xfrm>
            <a:prstGeom prst="rect">
              <a:avLst/>
            </a:prstGeom>
            <a:noFill/>
          </p:spPr>
          <p:txBody>
            <a:bodyPr wrap="square" lIns="18288" tIns="18288" r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 b="1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>
                  <a:solidFill>
                    <a:srgbClr val="46535F"/>
                  </a:solidFill>
                  <a:latin typeface="HGGGothicssi_Pro 20g"/>
                </a:rPr>
                <a:t>전월성장률(MoM)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 b="1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>
                  <a:solidFill>
                    <a:srgbClr val="46535F"/>
                  </a:solidFill>
                  <a:latin typeface="HGGGothicssi_Pro 20g"/>
                </a:rPr>
                <a:t>월별 이슈와 계절성에 민감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 b="1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>
                  <a:solidFill>
                    <a:srgbClr val="46535F"/>
                  </a:solidFill>
                  <a:latin typeface="HGGGothicssi_Pro 20g"/>
                </a:rPr>
                <a:t>일시적 반등·하락을 빠르게 포착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0B454267-D679-D596-04BC-DD4934323301}"/>
                </a:ext>
              </a:extLst>
            </p:cNvPr>
            <p:cNvSpPr/>
            <p:nvPr/>
          </p:nvSpPr>
          <p:spPr>
            <a:xfrm>
              <a:off x="5440680" y="2148840"/>
              <a:ext cx="2788920" cy="205740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CE5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ounded Rectangle 16">
              <a:extLst>
                <a:ext uri="{FF2B5EF4-FFF2-40B4-BE49-F238E27FC236}">
                  <a16:creationId xmlns:a16="http://schemas.microsoft.com/office/drawing/2014/main" id="{BDB99D18-B127-050C-1B01-8BD4AAA6F38D}"/>
                </a:ext>
              </a:extLst>
            </p:cNvPr>
            <p:cNvSpPr/>
            <p:nvPr/>
          </p:nvSpPr>
          <p:spPr>
            <a:xfrm>
              <a:off x="5440680" y="2148840"/>
              <a:ext cx="2788920" cy="438912"/>
            </a:xfrm>
            <a:prstGeom prst="roundRect">
              <a:avLst/>
            </a:prstGeom>
            <a:solidFill>
              <a:srgbClr val="F2F8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92E32B9-967C-53AE-AC6E-1CAE08667DB7}"/>
                </a:ext>
              </a:extLst>
            </p:cNvPr>
            <p:cNvSpPr txBox="1"/>
            <p:nvPr/>
          </p:nvSpPr>
          <p:spPr>
            <a:xfrm>
              <a:off x="5550408" y="2249424"/>
              <a:ext cx="2569463" cy="182880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1320" b="1">
                  <a:solidFill>
                    <a:srgbClr val="0D7884"/>
                  </a:solidFill>
                  <a:latin typeface="HGGGothicssi_Pro 40g"/>
                </a:rPr>
                <a:t>장기 변화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67B54EF-94E5-62C4-8960-05B991CC30C5}"/>
                </a:ext>
              </a:extLst>
            </p:cNvPr>
            <p:cNvSpPr txBox="1"/>
            <p:nvPr/>
          </p:nvSpPr>
          <p:spPr>
            <a:xfrm>
              <a:off x="5669280" y="2834640"/>
              <a:ext cx="2331720" cy="1234440"/>
            </a:xfrm>
            <a:prstGeom prst="rect">
              <a:avLst/>
            </a:prstGeom>
            <a:noFill/>
          </p:spPr>
          <p:txBody>
            <a:bodyPr wrap="square" lIns="18288" tIns="18288" r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 b="1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>
                  <a:solidFill>
                    <a:srgbClr val="46535F"/>
                  </a:solidFill>
                  <a:latin typeface="HGGGothicssi_Pro 20g"/>
                </a:rPr>
                <a:t>누적성장률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 b="1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>
                  <a:solidFill>
                    <a:srgbClr val="46535F"/>
                  </a:solidFill>
                  <a:latin typeface="HGGGothicssi_Pro 20g"/>
                </a:rPr>
                <a:t>2022-01 대비 장기 추세 확인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 b="1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>
                  <a:solidFill>
                    <a:srgbClr val="46535F"/>
                  </a:solidFill>
                  <a:latin typeface="HGGGothicssi_Pro 20g"/>
                </a:rPr>
                <a:t>사업자 기반이 실제로 커졌는지 판단</a:t>
              </a:r>
            </a:p>
          </p:txBody>
        </p:sp>
        <p:sp>
          <p:nvSpPr>
            <p:cNvPr id="24" name="Rounded Rectangle 19">
              <a:extLst>
                <a:ext uri="{FF2B5EF4-FFF2-40B4-BE49-F238E27FC236}">
                  <a16:creationId xmlns:a16="http://schemas.microsoft.com/office/drawing/2014/main" id="{3B48FF99-24CE-DF2C-0AB7-C0201016F176}"/>
                </a:ext>
              </a:extLst>
            </p:cNvPr>
            <p:cNvSpPr/>
            <p:nvPr/>
          </p:nvSpPr>
          <p:spPr>
            <a:xfrm>
              <a:off x="8412480" y="2148840"/>
              <a:ext cx="2788920" cy="205740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CE5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ounded Rectangle 20">
              <a:extLst>
                <a:ext uri="{FF2B5EF4-FFF2-40B4-BE49-F238E27FC236}">
                  <a16:creationId xmlns:a16="http://schemas.microsoft.com/office/drawing/2014/main" id="{F4984A75-BF1D-EF25-B088-87D3ADD694F9}"/>
                </a:ext>
              </a:extLst>
            </p:cNvPr>
            <p:cNvSpPr/>
            <p:nvPr/>
          </p:nvSpPr>
          <p:spPr>
            <a:xfrm>
              <a:off x="8412480" y="2148840"/>
              <a:ext cx="2788920" cy="438912"/>
            </a:xfrm>
            <a:prstGeom prst="roundRect">
              <a:avLst/>
            </a:prstGeom>
            <a:solidFill>
              <a:srgbClr val="F2F8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4CE3DA2-96AC-ECD0-8369-70DA3E7A43CB}"/>
                </a:ext>
              </a:extLst>
            </p:cNvPr>
            <p:cNvSpPr txBox="1"/>
            <p:nvPr/>
          </p:nvSpPr>
          <p:spPr>
            <a:xfrm>
              <a:off x="8522207" y="2249424"/>
              <a:ext cx="2569463" cy="182880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1320" b="1">
                  <a:solidFill>
                    <a:srgbClr val="0D7884"/>
                  </a:solidFill>
                  <a:latin typeface="HGGGothicssi_Pro 40g"/>
                </a:rPr>
                <a:t>검증 결과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D154429-FF60-1C62-4561-6EFA1BF21429}"/>
                </a:ext>
              </a:extLst>
            </p:cNvPr>
            <p:cNvSpPr txBox="1"/>
            <p:nvPr/>
          </p:nvSpPr>
          <p:spPr>
            <a:xfrm>
              <a:off x="8641080" y="2834640"/>
              <a:ext cx="2331720" cy="1234440"/>
            </a:xfrm>
            <a:prstGeom prst="rect">
              <a:avLst/>
            </a:prstGeom>
            <a:noFill/>
          </p:spPr>
          <p:txBody>
            <a:bodyPr wrap="square" lIns="18288" tIns="18288" r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 b="1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>
                  <a:solidFill>
                    <a:srgbClr val="46535F"/>
                  </a:solidFill>
                  <a:latin typeface="HGGGothicssi_Pro 20g"/>
                </a:rPr>
                <a:t>Spearman ρ = 0.039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 b="1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>
                  <a:solidFill>
                    <a:srgbClr val="46535F"/>
                  </a:solidFill>
                  <a:latin typeface="HGGGothicssi_Pro 20g"/>
                </a:rPr>
                <a:t>p = 0.251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 b="1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>
                  <a:solidFill>
                    <a:srgbClr val="46535F"/>
                  </a:solidFill>
                  <a:latin typeface="HGGGothicssi_Pro 20g"/>
                </a:rPr>
                <a:t>방향 불일치 32.3%</a:t>
              </a:r>
            </a:p>
          </p:txBody>
        </p:sp>
        <p:sp>
          <p:nvSpPr>
            <p:cNvPr id="32" name="Rounded Rectangle 23">
              <a:extLst>
                <a:ext uri="{FF2B5EF4-FFF2-40B4-BE49-F238E27FC236}">
                  <a16:creationId xmlns:a16="http://schemas.microsoft.com/office/drawing/2014/main" id="{30E1779E-57E3-142F-D67E-92D02762FE23}"/>
                </a:ext>
              </a:extLst>
            </p:cNvPr>
            <p:cNvSpPr/>
            <p:nvPr/>
          </p:nvSpPr>
          <p:spPr>
            <a:xfrm>
              <a:off x="2468880" y="4663440"/>
              <a:ext cx="8732520" cy="1005840"/>
            </a:xfrm>
            <a:prstGeom prst="roundRect">
              <a:avLst/>
            </a:prstGeom>
            <a:solidFill>
              <a:srgbClr val="F8FBFC"/>
            </a:solidFill>
            <a:ln w="9525">
              <a:solidFill>
                <a:srgbClr val="DCE5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C300F9C-9714-DE80-69C9-DBFB04EF5B86}"/>
                </a:ext>
              </a:extLst>
            </p:cNvPr>
            <p:cNvSpPr txBox="1"/>
            <p:nvPr/>
          </p:nvSpPr>
          <p:spPr>
            <a:xfrm>
              <a:off x="2743200" y="4892040"/>
              <a:ext cx="8183879" cy="268306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1700" dirty="0" err="1">
                  <a:solidFill>
                    <a:srgbClr val="0D7884"/>
                  </a:solidFill>
                  <a:latin typeface="HGGGothicssi_Pro 80g"/>
                </a:rPr>
                <a:t>해석</a:t>
              </a:r>
              <a:r>
                <a:rPr sz="1700" dirty="0">
                  <a:solidFill>
                    <a:srgbClr val="0D7884"/>
                  </a:solidFill>
                  <a:latin typeface="HGGGothicssi_Pro 80g"/>
                </a:rPr>
                <a:t>: 한 달 </a:t>
              </a:r>
              <a:r>
                <a:rPr sz="1700" dirty="0" err="1">
                  <a:solidFill>
                    <a:srgbClr val="0D7884"/>
                  </a:solidFill>
                  <a:latin typeface="HGGGothicssi_Pro 80g"/>
                </a:rPr>
                <a:t>단기</a:t>
              </a:r>
              <a:r>
                <a:rPr sz="1700" dirty="0">
                  <a:solidFill>
                    <a:srgbClr val="0D7884"/>
                  </a:solidFill>
                  <a:latin typeface="HGGGothicssi_Pro 80g"/>
                </a:rPr>
                <a:t> </a:t>
              </a:r>
              <a:r>
                <a:rPr sz="1700" dirty="0" err="1">
                  <a:solidFill>
                    <a:srgbClr val="0D7884"/>
                  </a:solidFill>
                  <a:latin typeface="HGGGothicssi_Pro 80g"/>
                </a:rPr>
                <a:t>반등은</a:t>
              </a:r>
              <a:r>
                <a:rPr sz="1700" dirty="0">
                  <a:solidFill>
                    <a:srgbClr val="0D7884"/>
                  </a:solidFill>
                  <a:latin typeface="HGGGothicssi_Pro 80g"/>
                </a:rPr>
                <a:t> </a:t>
              </a:r>
              <a:r>
                <a:rPr sz="1700" dirty="0" err="1">
                  <a:solidFill>
                    <a:srgbClr val="0D7884"/>
                  </a:solidFill>
                  <a:latin typeface="HGGGothicssi_Pro 80g"/>
                </a:rPr>
                <a:t>장기</a:t>
              </a:r>
              <a:r>
                <a:rPr sz="1700" dirty="0">
                  <a:solidFill>
                    <a:srgbClr val="0D7884"/>
                  </a:solidFill>
                  <a:latin typeface="HGGGothicssi_Pro 80g"/>
                </a:rPr>
                <a:t> </a:t>
              </a:r>
              <a:r>
                <a:rPr sz="1700" dirty="0" err="1">
                  <a:solidFill>
                    <a:srgbClr val="0D7884"/>
                  </a:solidFill>
                  <a:latin typeface="HGGGothicssi_Pro 80g"/>
                </a:rPr>
                <a:t>성장의</a:t>
              </a:r>
              <a:r>
                <a:rPr sz="1700" dirty="0">
                  <a:solidFill>
                    <a:srgbClr val="0D7884"/>
                  </a:solidFill>
                  <a:latin typeface="HGGGothicssi_Pro 80g"/>
                </a:rPr>
                <a:t> </a:t>
              </a:r>
              <a:r>
                <a:rPr sz="1700" dirty="0" err="1">
                  <a:solidFill>
                    <a:srgbClr val="0D7884"/>
                  </a:solidFill>
                  <a:latin typeface="HGGGothicssi_Pro 80g"/>
                </a:rPr>
                <a:t>충분조건이</a:t>
              </a:r>
              <a:r>
                <a:rPr sz="1700" dirty="0">
                  <a:solidFill>
                    <a:srgbClr val="0D7884"/>
                  </a:solidFill>
                  <a:latin typeface="HGGGothicssi_Pro 80g"/>
                </a:rPr>
                <a:t> </a:t>
              </a:r>
              <a:r>
                <a:rPr sz="1700" dirty="0" err="1">
                  <a:solidFill>
                    <a:srgbClr val="0D7884"/>
                  </a:solidFill>
                  <a:latin typeface="HGGGothicssi_Pro 80g"/>
                </a:rPr>
                <a:t>아니다</a:t>
              </a:r>
              <a:r>
                <a:rPr sz="1700" dirty="0">
                  <a:solidFill>
                    <a:srgbClr val="0D7884"/>
                  </a:solidFill>
                  <a:latin typeface="HGGGothicssi_Pro 80g"/>
                </a:rPr>
                <a:t>.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410181B-BF3E-A80B-CFD1-A4335A9E9FDF}"/>
                </a:ext>
              </a:extLst>
            </p:cNvPr>
            <p:cNvSpPr txBox="1"/>
            <p:nvPr/>
          </p:nvSpPr>
          <p:spPr>
            <a:xfrm>
              <a:off x="2834640" y="5321808"/>
              <a:ext cx="8001000" cy="228600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1250" b="0">
                  <a:solidFill>
                    <a:srgbClr val="46535F"/>
                  </a:solidFill>
                  <a:latin typeface="HGGGothicssi_Pro 20g"/>
                </a:rPr>
                <a:t>따라서 월별 증감률은 “위험 신호”로 보고, 최종 판단은 누적성장률·YoY·업종별 추세와 함께 해야 한다.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94728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1BEA6-6F66-82AF-6B1E-14AF5014F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0EEF88B-AE66-6C39-ECCB-AA26763EA509}"/>
              </a:ext>
            </a:extLst>
          </p:cNvPr>
          <p:cNvSpPr/>
          <p:nvPr/>
        </p:nvSpPr>
        <p:spPr>
          <a:xfrm>
            <a:off x="530352" y="246888"/>
            <a:ext cx="163658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5C6C76"/>
                </a:solidFill>
                <a:effectLst/>
                <a:uLnTx/>
                <a:uFillTx/>
                <a:latin typeface="HG꼬딕씨_Pro 20g"/>
                <a:ea typeface="맑은 고딕" panose="020B0503020000020004" pitchFamily="50" charset="-127"/>
                <a:cs typeface="+mn-cs"/>
              </a:rPr>
              <a:t>04.</a:t>
            </a:r>
            <a:r>
              <a:rPr lang="en-US" altLang="ko-KR" sz="900" dirty="0">
                <a:solidFill>
                  <a:srgbClr val="5C6C76"/>
                </a:solidFill>
                <a:latin typeface="HG꼬딕씨_Pro 20g"/>
                <a:ea typeface="맑은 고딕" panose="020B0503020000020004" pitchFamily="50" charset="-127"/>
              </a:rPr>
              <a:t> Hypothesis Test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D989D8F-453B-DDFF-AF5B-31F9A4B6361E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63A325C-D708-0082-8358-6C27D5EB5573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ko-KR" altLang="en-US" dirty="0">
                <a:solidFill>
                  <a:srgbClr val="141414"/>
                </a:solidFill>
                <a:latin typeface="HGGGothicssi_Pro 80g"/>
                <a:ea typeface="HGGGothicssi_Pro 80g"/>
              </a:rPr>
              <a:t>사업자 성장 가설 검증 결과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C131A8F-C8C5-B0BF-93E9-6799B8F5027B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altLang="ko-KR" sz="800" dirty="0" err="1">
                <a:solidFill>
                  <a:srgbClr val="6E7887"/>
                </a:solidFill>
                <a:latin typeface="HGGGothicssi_Pro 20g"/>
                <a:ea typeface="HGGGothicssi_Pro 20g"/>
              </a:rPr>
              <a:t>Friedman·Spearman</a:t>
            </a:r>
            <a:r>
              <a:rPr lang="ko-KR" altLang="en-US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 검정으로 </a:t>
            </a:r>
            <a:r>
              <a:rPr lang="en-US" altLang="ko-KR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EDA </a:t>
            </a:r>
            <a:r>
              <a:rPr lang="ko-KR" altLang="en-US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패턴이 통계적으로 유의한지 확인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895FC11-9A5F-CD63-B118-815485F0F081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B0B703BF-4B9C-EBFA-2781-555221992583}"/>
              </a:ext>
            </a:extLst>
          </p:cNvPr>
          <p:cNvGrpSpPr/>
          <p:nvPr/>
        </p:nvGrpSpPr>
        <p:grpSpPr>
          <a:xfrm>
            <a:off x="1025236" y="1693937"/>
            <a:ext cx="10141528" cy="4430246"/>
            <a:chOff x="2468880" y="2011680"/>
            <a:chExt cx="8686800" cy="3794760"/>
          </a:xfrm>
        </p:grpSpPr>
        <p:sp>
          <p:nvSpPr>
            <p:cNvPr id="8" name="Rounded Rectangle 11">
              <a:extLst>
                <a:ext uri="{FF2B5EF4-FFF2-40B4-BE49-F238E27FC236}">
                  <a16:creationId xmlns:a16="http://schemas.microsoft.com/office/drawing/2014/main" id="{94D0F77E-7188-321C-4B38-B9CC302A0C05}"/>
                </a:ext>
              </a:extLst>
            </p:cNvPr>
            <p:cNvSpPr/>
            <p:nvPr/>
          </p:nvSpPr>
          <p:spPr>
            <a:xfrm>
              <a:off x="2468880" y="2011680"/>
              <a:ext cx="2743200" cy="228600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CE5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ed Rectangle 12">
              <a:extLst>
                <a:ext uri="{FF2B5EF4-FFF2-40B4-BE49-F238E27FC236}">
                  <a16:creationId xmlns:a16="http://schemas.microsoft.com/office/drawing/2014/main" id="{A5A20B7C-1531-8280-20F8-ACA1E08610DB}"/>
                </a:ext>
              </a:extLst>
            </p:cNvPr>
            <p:cNvSpPr/>
            <p:nvPr/>
          </p:nvSpPr>
          <p:spPr>
            <a:xfrm>
              <a:off x="2468880" y="2011680"/>
              <a:ext cx="2743200" cy="438912"/>
            </a:xfrm>
            <a:prstGeom prst="roundRect">
              <a:avLst/>
            </a:prstGeom>
            <a:solidFill>
              <a:srgbClr val="F2F8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A159FF7-C2E7-F5A3-CAFD-F3929B322A8E}"/>
                </a:ext>
              </a:extLst>
            </p:cNvPr>
            <p:cNvSpPr txBox="1"/>
            <p:nvPr/>
          </p:nvSpPr>
          <p:spPr>
            <a:xfrm>
              <a:off x="2578608" y="2112264"/>
              <a:ext cx="2523744" cy="205630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1320">
                  <a:solidFill>
                    <a:srgbClr val="0D7884"/>
                  </a:solidFill>
                  <a:latin typeface="HGGGothicssi_Pro 40g"/>
                </a:rPr>
                <a:t>H1 지역별 차이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FE2E095-11B9-5C2C-9ADD-7D48CD151CF8}"/>
                </a:ext>
              </a:extLst>
            </p:cNvPr>
            <p:cNvSpPr txBox="1"/>
            <p:nvPr/>
          </p:nvSpPr>
          <p:spPr>
            <a:xfrm>
              <a:off x="2697480" y="2697480"/>
              <a:ext cx="2286000" cy="882661"/>
            </a:xfrm>
            <a:prstGeom prst="rect">
              <a:avLst/>
            </a:prstGeom>
            <a:noFill/>
          </p:spPr>
          <p:txBody>
            <a:bodyPr wrap="square" lIns="18288" tIns="18288" r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>
                  <a:solidFill>
                    <a:srgbClr val="46535F"/>
                  </a:solidFill>
                  <a:latin typeface="HGGGothicssi_Pro 20g"/>
                </a:rPr>
                <a:t>Friedman χ² = 582.00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>
                  <a:solidFill>
                    <a:srgbClr val="46535F"/>
                  </a:solidFill>
                  <a:latin typeface="HGGGothicssi_Pro 20g"/>
                </a:rPr>
                <a:t>p &lt; 0.001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>
                  <a:solidFill>
                    <a:srgbClr val="46535F"/>
                  </a:solidFill>
                  <a:latin typeface="HGGGothicssi_Pro 20g"/>
                </a:rPr>
                <a:t>16개 구·군 흐름이 동일하지 않음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>
                  <a:solidFill>
                    <a:srgbClr val="46535F"/>
                  </a:solidFill>
                  <a:latin typeface="HGGGothicssi_Pro 20g"/>
                </a:rPr>
                <a:t>판정: 지지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D0BB2247-F4C9-A6F4-E539-5CAD715D11C7}"/>
                </a:ext>
              </a:extLst>
            </p:cNvPr>
            <p:cNvSpPr/>
            <p:nvPr/>
          </p:nvSpPr>
          <p:spPr>
            <a:xfrm>
              <a:off x="5440680" y="2011680"/>
              <a:ext cx="2743200" cy="228600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CE5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ounded Rectangle 16">
              <a:extLst>
                <a:ext uri="{FF2B5EF4-FFF2-40B4-BE49-F238E27FC236}">
                  <a16:creationId xmlns:a16="http://schemas.microsoft.com/office/drawing/2014/main" id="{60717115-CFDE-CA99-1156-2356857C4B92}"/>
                </a:ext>
              </a:extLst>
            </p:cNvPr>
            <p:cNvSpPr/>
            <p:nvPr/>
          </p:nvSpPr>
          <p:spPr>
            <a:xfrm>
              <a:off x="5440680" y="2011680"/>
              <a:ext cx="2743200" cy="438912"/>
            </a:xfrm>
            <a:prstGeom prst="roundRect">
              <a:avLst/>
            </a:prstGeom>
            <a:solidFill>
              <a:srgbClr val="F2F8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4DA55BF-E1FF-07C9-FF9F-5A09882726DD}"/>
                </a:ext>
              </a:extLst>
            </p:cNvPr>
            <p:cNvSpPr txBox="1"/>
            <p:nvPr/>
          </p:nvSpPr>
          <p:spPr>
            <a:xfrm>
              <a:off x="5550408" y="2112264"/>
              <a:ext cx="2523744" cy="205630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1320">
                  <a:solidFill>
                    <a:srgbClr val="0D7884"/>
                  </a:solidFill>
                  <a:latin typeface="HGGGothicssi_Pro 40g"/>
                </a:rPr>
                <a:t>H2 업종별 차이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3F4A623-B91B-BE28-43F8-8860CBE8BCD7}"/>
                </a:ext>
              </a:extLst>
            </p:cNvPr>
            <p:cNvSpPr txBox="1"/>
            <p:nvPr/>
          </p:nvSpPr>
          <p:spPr>
            <a:xfrm>
              <a:off x="5669280" y="2697480"/>
              <a:ext cx="2286000" cy="1055667"/>
            </a:xfrm>
            <a:prstGeom prst="rect">
              <a:avLst/>
            </a:prstGeom>
            <a:noFill/>
          </p:spPr>
          <p:txBody>
            <a:bodyPr wrap="square" lIns="18288" tIns="18288" r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 dirty="0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Friedman χ² = 1003.50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 dirty="0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p &lt; 0.001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 dirty="0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같은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지역·시점에서도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br>
                <a:rPr lang="en-US" sz="1250" dirty="0">
                  <a:solidFill>
                    <a:srgbClr val="46535F"/>
                  </a:solidFill>
                  <a:latin typeface="HGGGothicssi_Pro 20g"/>
                </a:rPr>
              </a:br>
              <a:r>
                <a:rPr lang="en-US" sz="1250" dirty="0">
                  <a:solidFill>
                    <a:srgbClr val="46535F"/>
                  </a:solidFill>
                  <a:latin typeface="HGGGothicssi_Pro 20g"/>
                </a:rPr>
                <a:t>    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업종별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패턴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차이</a:t>
              </a:r>
              <a:endParaRPr sz="1250" dirty="0">
                <a:solidFill>
                  <a:srgbClr val="46535F"/>
                </a:solidFill>
                <a:latin typeface="HGGGothicssi_Pro 20g"/>
              </a:endParaRP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 dirty="0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판정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: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지지</a:t>
              </a:r>
              <a:endParaRPr sz="1250" dirty="0">
                <a:solidFill>
                  <a:srgbClr val="46535F"/>
                </a:solidFill>
                <a:latin typeface="HGGGothicssi_Pro 20g"/>
              </a:endParaRPr>
            </a:p>
          </p:txBody>
        </p:sp>
        <p:sp>
          <p:nvSpPr>
            <p:cNvPr id="24" name="Rounded Rectangle 19">
              <a:extLst>
                <a:ext uri="{FF2B5EF4-FFF2-40B4-BE49-F238E27FC236}">
                  <a16:creationId xmlns:a16="http://schemas.microsoft.com/office/drawing/2014/main" id="{5CAA4B75-ABC4-8CFE-123C-34528B9A3092}"/>
                </a:ext>
              </a:extLst>
            </p:cNvPr>
            <p:cNvSpPr/>
            <p:nvPr/>
          </p:nvSpPr>
          <p:spPr>
            <a:xfrm>
              <a:off x="8412480" y="2011680"/>
              <a:ext cx="2743200" cy="228600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CE5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ounded Rectangle 20">
              <a:extLst>
                <a:ext uri="{FF2B5EF4-FFF2-40B4-BE49-F238E27FC236}">
                  <a16:creationId xmlns:a16="http://schemas.microsoft.com/office/drawing/2014/main" id="{DF967C95-4FE5-DD9B-272F-66C89BF51B73}"/>
                </a:ext>
              </a:extLst>
            </p:cNvPr>
            <p:cNvSpPr/>
            <p:nvPr/>
          </p:nvSpPr>
          <p:spPr>
            <a:xfrm>
              <a:off x="8412480" y="2011680"/>
              <a:ext cx="2743200" cy="438912"/>
            </a:xfrm>
            <a:prstGeom prst="roundRect">
              <a:avLst/>
            </a:prstGeom>
            <a:solidFill>
              <a:srgbClr val="F2F8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BD39338-32A1-069E-1E6F-E49E72B40800}"/>
                </a:ext>
              </a:extLst>
            </p:cNvPr>
            <p:cNvSpPr txBox="1"/>
            <p:nvPr/>
          </p:nvSpPr>
          <p:spPr>
            <a:xfrm>
              <a:off x="8522207" y="2112264"/>
              <a:ext cx="2523744" cy="205630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1320">
                  <a:solidFill>
                    <a:srgbClr val="0D7884"/>
                  </a:solidFill>
                  <a:latin typeface="HGGGothicssi_Pro 40g"/>
                </a:rPr>
                <a:t>H3 단기 vs 장기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C1ACAE3-C050-BA8D-B381-6C6C05B00B95}"/>
                </a:ext>
              </a:extLst>
            </p:cNvPr>
            <p:cNvSpPr txBox="1"/>
            <p:nvPr/>
          </p:nvSpPr>
          <p:spPr>
            <a:xfrm>
              <a:off x="8641080" y="2697480"/>
              <a:ext cx="2286000" cy="882661"/>
            </a:xfrm>
            <a:prstGeom prst="rect">
              <a:avLst/>
            </a:prstGeom>
            <a:noFill/>
          </p:spPr>
          <p:txBody>
            <a:bodyPr wrap="square" lIns="18288" tIns="18288" r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>
                  <a:solidFill>
                    <a:srgbClr val="46535F"/>
                  </a:solidFill>
                  <a:latin typeface="HGGGothicssi_Pro 20g"/>
                </a:rPr>
                <a:t>Spearman ρ = 0.039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>
                  <a:solidFill>
                    <a:srgbClr val="46535F"/>
                  </a:solidFill>
                  <a:latin typeface="HGGGothicssi_Pro 20g"/>
                </a:rPr>
                <a:t>p = 0.251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>
                  <a:solidFill>
                    <a:srgbClr val="46535F"/>
                  </a:solidFill>
                  <a:latin typeface="HGGGothicssi_Pro 20g"/>
                </a:rPr>
                <a:t>방향 불일치 32.3%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>
                  <a:solidFill>
                    <a:srgbClr val="46535F"/>
                  </a:solidFill>
                  <a:latin typeface="HGGGothicssi_Pro 20g"/>
                </a:rPr>
                <a:t>판정: 탐색적 확인</a:t>
              </a:r>
            </a:p>
          </p:txBody>
        </p:sp>
        <p:sp>
          <p:nvSpPr>
            <p:cNvPr id="32" name="Rounded Rectangle 23">
              <a:extLst>
                <a:ext uri="{FF2B5EF4-FFF2-40B4-BE49-F238E27FC236}">
                  <a16:creationId xmlns:a16="http://schemas.microsoft.com/office/drawing/2014/main" id="{2E19BEE7-A55F-722E-718A-1BE01CBB5C02}"/>
                </a:ext>
              </a:extLst>
            </p:cNvPr>
            <p:cNvSpPr/>
            <p:nvPr/>
          </p:nvSpPr>
          <p:spPr>
            <a:xfrm>
              <a:off x="2468880" y="4754880"/>
              <a:ext cx="8686800" cy="1051560"/>
            </a:xfrm>
            <a:prstGeom prst="roundRect">
              <a:avLst/>
            </a:prstGeom>
            <a:solidFill>
              <a:srgbClr val="F8FBFC"/>
            </a:solidFill>
            <a:ln w="9525">
              <a:solidFill>
                <a:srgbClr val="DCE5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1066D0B-1537-D0A3-4ACF-378EE35F78AD}"/>
                </a:ext>
              </a:extLst>
            </p:cNvPr>
            <p:cNvSpPr txBox="1"/>
            <p:nvPr/>
          </p:nvSpPr>
          <p:spPr>
            <a:xfrm>
              <a:off x="2697480" y="5010912"/>
              <a:ext cx="8229600" cy="235947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1550" dirty="0" err="1">
                  <a:solidFill>
                    <a:srgbClr val="212D37"/>
                  </a:solidFill>
                  <a:latin typeface="HGGGothicssi_Pro 40g"/>
                </a:rPr>
                <a:t>검정</a:t>
              </a:r>
              <a:r>
                <a:rPr sz="1550" dirty="0">
                  <a:solidFill>
                    <a:srgbClr val="212D37"/>
                  </a:solidFill>
                  <a:latin typeface="HGGGothicssi_Pro 40g"/>
                </a:rPr>
                <a:t> </a:t>
              </a:r>
              <a:r>
                <a:rPr sz="1550" dirty="0" err="1">
                  <a:solidFill>
                    <a:srgbClr val="212D37"/>
                  </a:solidFill>
                  <a:latin typeface="HGGGothicssi_Pro 40g"/>
                </a:rPr>
                <a:t>결과</a:t>
              </a:r>
              <a:r>
                <a:rPr sz="1550" dirty="0">
                  <a:solidFill>
                    <a:srgbClr val="212D37"/>
                  </a:solidFill>
                  <a:latin typeface="HGGGothicssi_Pro 40g"/>
                </a:rPr>
                <a:t>: </a:t>
              </a:r>
              <a:r>
                <a:rPr sz="1550" dirty="0" err="1">
                  <a:solidFill>
                    <a:srgbClr val="212D37"/>
                  </a:solidFill>
                  <a:latin typeface="HGGGothicssi_Pro 40g"/>
                </a:rPr>
                <a:t>지역과</a:t>
              </a:r>
              <a:r>
                <a:rPr sz="1550" dirty="0">
                  <a:solidFill>
                    <a:srgbClr val="212D37"/>
                  </a:solidFill>
                  <a:latin typeface="HGGGothicssi_Pro 40g"/>
                </a:rPr>
                <a:t> </a:t>
              </a:r>
              <a:r>
                <a:rPr sz="1550" dirty="0" err="1">
                  <a:solidFill>
                    <a:srgbClr val="212D37"/>
                  </a:solidFill>
                  <a:latin typeface="HGGGothicssi_Pro 40g"/>
                </a:rPr>
                <a:t>업종</a:t>
              </a:r>
              <a:r>
                <a:rPr sz="1550" dirty="0">
                  <a:solidFill>
                    <a:srgbClr val="212D37"/>
                  </a:solidFill>
                  <a:latin typeface="HGGGothicssi_Pro 40g"/>
                </a:rPr>
                <a:t> </a:t>
              </a:r>
              <a:r>
                <a:rPr sz="1550" dirty="0" err="1">
                  <a:solidFill>
                    <a:srgbClr val="212D37"/>
                  </a:solidFill>
                  <a:latin typeface="HGGGothicssi_Pro 40g"/>
                </a:rPr>
                <a:t>차이는</a:t>
              </a:r>
              <a:r>
                <a:rPr sz="1550" dirty="0">
                  <a:solidFill>
                    <a:srgbClr val="212D37"/>
                  </a:solidFill>
                  <a:latin typeface="HGGGothicssi_Pro 40g"/>
                </a:rPr>
                <a:t> </a:t>
              </a:r>
              <a:r>
                <a:rPr sz="1550" dirty="0" err="1">
                  <a:solidFill>
                    <a:srgbClr val="212D37"/>
                  </a:solidFill>
                  <a:latin typeface="HGGGothicssi_Pro 40g"/>
                </a:rPr>
                <a:t>뚜렷하지만</a:t>
              </a:r>
              <a:r>
                <a:rPr sz="1550" dirty="0">
                  <a:solidFill>
                    <a:srgbClr val="212D37"/>
                  </a:solidFill>
                  <a:latin typeface="HGGGothicssi_Pro 40g"/>
                </a:rPr>
                <a:t>, </a:t>
              </a:r>
              <a:r>
                <a:rPr sz="1550" dirty="0" err="1">
                  <a:solidFill>
                    <a:srgbClr val="212D37"/>
                  </a:solidFill>
                  <a:latin typeface="HGGGothicssi_Pro 40g"/>
                </a:rPr>
                <a:t>전월</a:t>
              </a:r>
              <a:r>
                <a:rPr sz="1550" dirty="0">
                  <a:solidFill>
                    <a:srgbClr val="212D37"/>
                  </a:solidFill>
                  <a:latin typeface="HGGGothicssi_Pro 40g"/>
                </a:rPr>
                <a:t> </a:t>
              </a:r>
              <a:r>
                <a:rPr sz="1550" dirty="0" err="1">
                  <a:solidFill>
                    <a:srgbClr val="212D37"/>
                  </a:solidFill>
                  <a:latin typeface="HGGGothicssi_Pro 40g"/>
                </a:rPr>
                <a:t>증가가</a:t>
              </a:r>
              <a:r>
                <a:rPr sz="1550" dirty="0">
                  <a:solidFill>
                    <a:srgbClr val="212D37"/>
                  </a:solidFill>
                  <a:latin typeface="HGGGothicssi_Pro 40g"/>
                </a:rPr>
                <a:t> </a:t>
              </a:r>
              <a:r>
                <a:rPr sz="1550" dirty="0" err="1">
                  <a:solidFill>
                    <a:srgbClr val="212D37"/>
                  </a:solidFill>
                  <a:latin typeface="HGGGothicssi_Pro 40g"/>
                </a:rPr>
                <a:t>장기</a:t>
              </a:r>
              <a:r>
                <a:rPr sz="1550" dirty="0">
                  <a:solidFill>
                    <a:srgbClr val="212D37"/>
                  </a:solidFill>
                  <a:latin typeface="HGGGothicssi_Pro 40g"/>
                </a:rPr>
                <a:t> </a:t>
              </a:r>
              <a:r>
                <a:rPr sz="1550" dirty="0" err="1">
                  <a:solidFill>
                    <a:srgbClr val="212D37"/>
                  </a:solidFill>
                  <a:latin typeface="HGGGothicssi_Pro 40g"/>
                </a:rPr>
                <a:t>성장으로</a:t>
              </a:r>
              <a:r>
                <a:rPr sz="1550" dirty="0">
                  <a:solidFill>
                    <a:srgbClr val="212D37"/>
                  </a:solidFill>
                  <a:latin typeface="HGGGothicssi_Pro 40g"/>
                </a:rPr>
                <a:t> </a:t>
              </a:r>
              <a:r>
                <a:rPr sz="1550" dirty="0" err="1">
                  <a:solidFill>
                    <a:srgbClr val="212D37"/>
                  </a:solidFill>
                  <a:latin typeface="HGGGothicssi_Pro 40g"/>
                </a:rPr>
                <a:t>곧장</a:t>
              </a:r>
              <a:r>
                <a:rPr sz="1550" dirty="0">
                  <a:solidFill>
                    <a:srgbClr val="212D37"/>
                  </a:solidFill>
                  <a:latin typeface="HGGGothicssi_Pro 40g"/>
                </a:rPr>
                <a:t> </a:t>
              </a:r>
              <a:r>
                <a:rPr sz="1550" dirty="0" err="1">
                  <a:solidFill>
                    <a:srgbClr val="212D37"/>
                  </a:solidFill>
                  <a:latin typeface="HGGGothicssi_Pro 40g"/>
                </a:rPr>
                <a:t>이어진다고</a:t>
              </a:r>
              <a:r>
                <a:rPr sz="1550" dirty="0">
                  <a:solidFill>
                    <a:srgbClr val="212D37"/>
                  </a:solidFill>
                  <a:latin typeface="HGGGothicssi_Pro 40g"/>
                </a:rPr>
                <a:t> </a:t>
              </a:r>
              <a:r>
                <a:rPr sz="1550" dirty="0" err="1">
                  <a:solidFill>
                    <a:srgbClr val="212D37"/>
                  </a:solidFill>
                  <a:latin typeface="HGGGothicssi_Pro 40g"/>
                </a:rPr>
                <a:t>보기는</a:t>
              </a:r>
              <a:r>
                <a:rPr sz="1550" dirty="0">
                  <a:solidFill>
                    <a:srgbClr val="212D37"/>
                  </a:solidFill>
                  <a:latin typeface="HGGGothicssi_Pro 40g"/>
                </a:rPr>
                <a:t> </a:t>
              </a:r>
              <a:r>
                <a:rPr sz="1550" dirty="0" err="1">
                  <a:solidFill>
                    <a:srgbClr val="212D37"/>
                  </a:solidFill>
                  <a:latin typeface="HGGGothicssi_Pro 40g"/>
                </a:rPr>
                <a:t>어렵다</a:t>
              </a:r>
              <a:r>
                <a:rPr sz="1550" dirty="0">
                  <a:solidFill>
                    <a:srgbClr val="212D37"/>
                  </a:solidFill>
                  <a:latin typeface="HGGGothicssi_Pro 40g"/>
                </a:rPr>
                <a:t>.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00B82E8-EED8-7DE9-25C7-B7FC1CF09240}"/>
                </a:ext>
              </a:extLst>
            </p:cNvPr>
            <p:cNvSpPr txBox="1"/>
            <p:nvPr/>
          </p:nvSpPr>
          <p:spPr>
            <a:xfrm>
              <a:off x="2697480" y="5440680"/>
              <a:ext cx="8229600" cy="196403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1250">
                  <a:solidFill>
                    <a:srgbClr val="46535F"/>
                  </a:solidFill>
                  <a:latin typeface="HGGGothicssi_Pro 20g"/>
                </a:rPr>
                <a:t>따라서 단기 반등은 장기 성장 판단의 보조 신호로만 사용해야 한다.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500132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378EA-1C6B-2D4C-C4FB-FF2E27176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142E326-107E-026F-DE80-87DDF71F8D59}"/>
              </a:ext>
            </a:extLst>
          </p:cNvPr>
          <p:cNvSpPr/>
          <p:nvPr/>
        </p:nvSpPr>
        <p:spPr>
          <a:xfrm>
            <a:off x="530352" y="246888"/>
            <a:ext cx="163658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altLang="ko-KR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05. EDA Conclusion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9C27664-D048-04EE-4D61-BFD5C3D2B113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DBD30AD-D78B-FD22-A68E-2706C816EA84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ko-KR" altLang="en-US" dirty="0">
                <a:solidFill>
                  <a:srgbClr val="141414"/>
                </a:solidFill>
                <a:latin typeface="HGGGothicssi_Pro 80g"/>
                <a:ea typeface="HGGGothicssi_Pro 80g"/>
              </a:rPr>
              <a:t>사업자 성장 </a:t>
            </a:r>
            <a:r>
              <a:rPr lang="en-US" altLang="ko-KR" dirty="0">
                <a:solidFill>
                  <a:srgbClr val="141414"/>
                </a:solidFill>
                <a:latin typeface="HGGGothicssi_Pro 80g"/>
                <a:ea typeface="HGGGothicssi_Pro 80g"/>
              </a:rPr>
              <a:t>EDA </a:t>
            </a:r>
            <a:r>
              <a:rPr lang="ko-KR" altLang="en-US" dirty="0">
                <a:solidFill>
                  <a:srgbClr val="141414"/>
                </a:solidFill>
                <a:latin typeface="HGGGothicssi_Pro 80g"/>
                <a:ea typeface="HGGGothicssi_Pro 80g"/>
              </a:rPr>
              <a:t>결론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C575C06-DD2B-C2DE-18C6-E2A62BA3EDB7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ko-KR" altLang="en-US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부산 사업자 변화는 지역</a:t>
            </a:r>
            <a:r>
              <a:rPr lang="en-US" altLang="ko-KR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·</a:t>
            </a:r>
            <a:r>
              <a:rPr lang="ko-KR" altLang="en-US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업종</a:t>
            </a:r>
            <a:r>
              <a:rPr lang="en-US" altLang="ko-KR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·</a:t>
            </a:r>
            <a:r>
              <a:rPr lang="ko-KR" altLang="en-US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기간을 나눠 봐야 실제 패턴이 드러남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40CD193-9CCC-ABB8-CE2F-51CD8658D430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6858E9E3-5B26-D3AD-0C28-35C83CA67EB3}"/>
              </a:ext>
            </a:extLst>
          </p:cNvPr>
          <p:cNvGrpSpPr/>
          <p:nvPr/>
        </p:nvGrpSpPr>
        <p:grpSpPr>
          <a:xfrm>
            <a:off x="997527" y="1596460"/>
            <a:ext cx="10196946" cy="4556538"/>
            <a:chOff x="2468880" y="2148840"/>
            <a:chExt cx="8732520" cy="3902155"/>
          </a:xfrm>
        </p:grpSpPr>
        <p:sp>
          <p:nvSpPr>
            <p:cNvPr id="8" name="Rounded Rectangle 11">
              <a:extLst>
                <a:ext uri="{FF2B5EF4-FFF2-40B4-BE49-F238E27FC236}">
                  <a16:creationId xmlns:a16="http://schemas.microsoft.com/office/drawing/2014/main" id="{0CDDD6C2-ADB5-E1DA-00D3-9015D6A71625}"/>
                </a:ext>
              </a:extLst>
            </p:cNvPr>
            <p:cNvSpPr/>
            <p:nvPr/>
          </p:nvSpPr>
          <p:spPr>
            <a:xfrm>
              <a:off x="2468880" y="2148840"/>
              <a:ext cx="2788920" cy="205740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CE5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ed Rectangle 12">
              <a:extLst>
                <a:ext uri="{FF2B5EF4-FFF2-40B4-BE49-F238E27FC236}">
                  <a16:creationId xmlns:a16="http://schemas.microsoft.com/office/drawing/2014/main" id="{D353AF8A-CD74-C196-6091-D588256CAF54}"/>
                </a:ext>
              </a:extLst>
            </p:cNvPr>
            <p:cNvSpPr/>
            <p:nvPr/>
          </p:nvSpPr>
          <p:spPr>
            <a:xfrm>
              <a:off x="2468880" y="2148840"/>
              <a:ext cx="2788920" cy="438912"/>
            </a:xfrm>
            <a:prstGeom prst="roundRect">
              <a:avLst/>
            </a:prstGeom>
            <a:solidFill>
              <a:srgbClr val="F2F8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99EEB90-9610-B4CD-E990-199E2A5566D9}"/>
                </a:ext>
              </a:extLst>
            </p:cNvPr>
            <p:cNvSpPr txBox="1"/>
            <p:nvPr/>
          </p:nvSpPr>
          <p:spPr>
            <a:xfrm>
              <a:off x="2578608" y="2249424"/>
              <a:ext cx="2569463" cy="182880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1320" b="1">
                  <a:solidFill>
                    <a:srgbClr val="0D7884"/>
                  </a:solidFill>
                  <a:latin typeface="HGGGothicssi_Pro 40g"/>
                </a:rPr>
                <a:t>지역 관점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9CC9EF5-BE3A-8722-AA36-1AF1AB3BD28C}"/>
                </a:ext>
              </a:extLst>
            </p:cNvPr>
            <p:cNvSpPr txBox="1"/>
            <p:nvPr/>
          </p:nvSpPr>
          <p:spPr>
            <a:xfrm>
              <a:off x="2697480" y="2834640"/>
              <a:ext cx="2331720" cy="1000544"/>
            </a:xfrm>
            <a:prstGeom prst="rect">
              <a:avLst/>
            </a:prstGeom>
            <a:noFill/>
          </p:spPr>
          <p:txBody>
            <a:bodyPr wrap="square" lIns="18288" tIns="18288" r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 b="1" dirty="0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부산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평균으로는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br>
                <a:rPr lang="en-US" sz="1250" dirty="0">
                  <a:solidFill>
                    <a:srgbClr val="46535F"/>
                  </a:solidFill>
                  <a:latin typeface="HGGGothicssi_Pro 20g"/>
                </a:rPr>
              </a:br>
              <a:r>
                <a:rPr lang="en-US" sz="1250" dirty="0">
                  <a:solidFill>
                    <a:srgbClr val="46535F"/>
                  </a:solidFill>
                  <a:latin typeface="HGGGothicssi_Pro 20g"/>
                </a:rPr>
                <a:t>    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16개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구·군의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성장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/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둔화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차이가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가려짐</a:t>
              </a:r>
              <a:endParaRPr lang="en-US" sz="1250" dirty="0">
                <a:solidFill>
                  <a:srgbClr val="46535F"/>
                </a:solidFill>
                <a:latin typeface="HGGGothicssi_Pro 20g"/>
              </a:endParaRP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endParaRPr sz="1250" dirty="0">
                <a:solidFill>
                  <a:srgbClr val="46535F"/>
                </a:solidFill>
                <a:latin typeface="HGGGothicssi_Pro 20g"/>
              </a:endParaRP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 b="1" dirty="0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성장지도와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Heatmap으로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br>
                <a:rPr lang="en-US" sz="1250" dirty="0">
                  <a:solidFill>
                    <a:srgbClr val="46535F"/>
                  </a:solidFill>
                  <a:latin typeface="HGGGothicssi_Pro 20g"/>
                </a:rPr>
              </a:br>
              <a:r>
                <a:rPr lang="en-US" sz="1250" dirty="0">
                  <a:solidFill>
                    <a:srgbClr val="46535F"/>
                  </a:solidFill>
                  <a:latin typeface="HGGGothicssi_Pro 20g"/>
                </a:rPr>
                <a:t>    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지역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차이가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반복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확인</a:t>
              </a:r>
              <a:endParaRPr sz="1250" dirty="0">
                <a:solidFill>
                  <a:srgbClr val="46535F"/>
                </a:solidFill>
                <a:latin typeface="HGGGothicssi_Pro 20g"/>
              </a:endParaRP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0886A452-23B3-3840-7898-81D3CCA15875}"/>
                </a:ext>
              </a:extLst>
            </p:cNvPr>
            <p:cNvSpPr/>
            <p:nvPr/>
          </p:nvSpPr>
          <p:spPr>
            <a:xfrm>
              <a:off x="5440680" y="2148840"/>
              <a:ext cx="2788920" cy="205740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CE5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ounded Rectangle 16">
              <a:extLst>
                <a:ext uri="{FF2B5EF4-FFF2-40B4-BE49-F238E27FC236}">
                  <a16:creationId xmlns:a16="http://schemas.microsoft.com/office/drawing/2014/main" id="{C11434D6-EC66-F5D4-6DA6-7E2AE334B61D}"/>
                </a:ext>
              </a:extLst>
            </p:cNvPr>
            <p:cNvSpPr/>
            <p:nvPr/>
          </p:nvSpPr>
          <p:spPr>
            <a:xfrm>
              <a:off x="5440680" y="2148840"/>
              <a:ext cx="2788920" cy="438912"/>
            </a:xfrm>
            <a:prstGeom prst="roundRect">
              <a:avLst/>
            </a:prstGeom>
            <a:solidFill>
              <a:srgbClr val="F2F8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F916B6B-4B1A-49F1-9DE2-9DFD9719B1E3}"/>
                </a:ext>
              </a:extLst>
            </p:cNvPr>
            <p:cNvSpPr txBox="1"/>
            <p:nvPr/>
          </p:nvSpPr>
          <p:spPr>
            <a:xfrm>
              <a:off x="5550408" y="2249424"/>
              <a:ext cx="2569463" cy="182880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1320" b="1">
                  <a:solidFill>
                    <a:srgbClr val="0D7884"/>
                  </a:solidFill>
                  <a:latin typeface="HGGGothicssi_Pro 40g"/>
                </a:rPr>
                <a:t>업종 관점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04AB5C4-0B6C-F5D6-0FAF-6C7158B4D068}"/>
                </a:ext>
              </a:extLst>
            </p:cNvPr>
            <p:cNvSpPr txBox="1"/>
            <p:nvPr/>
          </p:nvSpPr>
          <p:spPr>
            <a:xfrm>
              <a:off x="5669280" y="2834640"/>
              <a:ext cx="2331720" cy="827573"/>
            </a:xfrm>
            <a:prstGeom prst="rect">
              <a:avLst/>
            </a:prstGeom>
            <a:noFill/>
          </p:spPr>
          <p:txBody>
            <a:bodyPr wrap="square" lIns="18288" tIns="18288" r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 b="1" dirty="0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6개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업종의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성장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방향과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속도가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다름</a:t>
              </a:r>
              <a:endParaRPr lang="en-US" sz="1250" dirty="0">
                <a:solidFill>
                  <a:srgbClr val="46535F"/>
                </a:solidFill>
                <a:latin typeface="HGGGothicssi_Pro 20g"/>
              </a:endParaRP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endParaRPr sz="1250" dirty="0">
                <a:solidFill>
                  <a:srgbClr val="46535F"/>
                </a:solidFill>
                <a:latin typeface="HGGGothicssi_Pro 20g"/>
              </a:endParaRP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 b="1" dirty="0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특정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업종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급증이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br>
                <a:rPr lang="en-US" sz="1250" dirty="0">
                  <a:solidFill>
                    <a:srgbClr val="46535F"/>
                  </a:solidFill>
                  <a:latin typeface="HGGGothicssi_Pro 20g"/>
                </a:rPr>
              </a:br>
              <a:r>
                <a:rPr lang="en-US" sz="1250" dirty="0">
                  <a:solidFill>
                    <a:srgbClr val="46535F"/>
                  </a:solidFill>
                  <a:latin typeface="HGGGothicssi_Pro 20g"/>
                </a:rPr>
                <a:t>    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전체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사업자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지표를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왜곡할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수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있음</a:t>
              </a:r>
              <a:endParaRPr sz="1250" dirty="0">
                <a:solidFill>
                  <a:srgbClr val="46535F"/>
                </a:solidFill>
                <a:latin typeface="HGGGothicssi_Pro 20g"/>
              </a:endParaRPr>
            </a:p>
          </p:txBody>
        </p:sp>
        <p:sp>
          <p:nvSpPr>
            <p:cNvPr id="24" name="Rounded Rectangle 19">
              <a:extLst>
                <a:ext uri="{FF2B5EF4-FFF2-40B4-BE49-F238E27FC236}">
                  <a16:creationId xmlns:a16="http://schemas.microsoft.com/office/drawing/2014/main" id="{2240035F-76B0-A61C-E7E2-62828161B343}"/>
                </a:ext>
              </a:extLst>
            </p:cNvPr>
            <p:cNvSpPr/>
            <p:nvPr/>
          </p:nvSpPr>
          <p:spPr>
            <a:xfrm>
              <a:off x="8412480" y="2148840"/>
              <a:ext cx="2788920" cy="205740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CE5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ounded Rectangle 20">
              <a:extLst>
                <a:ext uri="{FF2B5EF4-FFF2-40B4-BE49-F238E27FC236}">
                  <a16:creationId xmlns:a16="http://schemas.microsoft.com/office/drawing/2014/main" id="{DABAD9ED-06F8-AA4B-BFE9-2DE5262C963E}"/>
                </a:ext>
              </a:extLst>
            </p:cNvPr>
            <p:cNvSpPr/>
            <p:nvPr/>
          </p:nvSpPr>
          <p:spPr>
            <a:xfrm>
              <a:off x="8412480" y="2148840"/>
              <a:ext cx="2788920" cy="438912"/>
            </a:xfrm>
            <a:prstGeom prst="roundRect">
              <a:avLst/>
            </a:prstGeom>
            <a:solidFill>
              <a:srgbClr val="F2F8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3BBC8E4-A3D3-F970-64C3-248FA0531252}"/>
                </a:ext>
              </a:extLst>
            </p:cNvPr>
            <p:cNvSpPr txBox="1"/>
            <p:nvPr/>
          </p:nvSpPr>
          <p:spPr>
            <a:xfrm>
              <a:off x="8522207" y="2249424"/>
              <a:ext cx="2569463" cy="182880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1320" b="1">
                  <a:solidFill>
                    <a:srgbClr val="0D7884"/>
                  </a:solidFill>
                  <a:latin typeface="HGGGothicssi_Pro 40g"/>
                </a:rPr>
                <a:t>시간 관점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713475D-1015-A180-8C2F-76C0778BDBE6}"/>
                </a:ext>
              </a:extLst>
            </p:cNvPr>
            <p:cNvSpPr txBox="1"/>
            <p:nvPr/>
          </p:nvSpPr>
          <p:spPr>
            <a:xfrm>
              <a:off x="8641080" y="2834640"/>
              <a:ext cx="2331720" cy="1000544"/>
            </a:xfrm>
            <a:prstGeom prst="rect">
              <a:avLst/>
            </a:prstGeom>
            <a:noFill/>
          </p:spPr>
          <p:txBody>
            <a:bodyPr wrap="square" lIns="18288" tIns="18288" r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 b="1" dirty="0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단기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MoM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반등과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br>
                <a:rPr lang="en-US" sz="1250" dirty="0">
                  <a:solidFill>
                    <a:srgbClr val="46535F"/>
                  </a:solidFill>
                  <a:latin typeface="HGGGothicssi_Pro 20g"/>
                </a:rPr>
              </a:br>
              <a:r>
                <a:rPr lang="en-US" sz="1250" dirty="0">
                  <a:solidFill>
                    <a:srgbClr val="46535F"/>
                  </a:solidFill>
                  <a:latin typeface="HGGGothicssi_Pro 20g"/>
                </a:rPr>
                <a:t>    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장기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누적성장률은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거의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독립적</a:t>
              </a:r>
              <a:endParaRPr lang="en-US" sz="1250" dirty="0">
                <a:solidFill>
                  <a:srgbClr val="46535F"/>
                </a:solidFill>
                <a:latin typeface="HGGGothicssi_Pro 20g"/>
              </a:endParaRP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endParaRPr sz="1250" dirty="0">
                <a:solidFill>
                  <a:srgbClr val="46535F"/>
                </a:solidFill>
                <a:latin typeface="HGGGothicssi_Pro 20g"/>
              </a:endParaRP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 b="1" dirty="0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월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단위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등락보다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br>
                <a:rPr lang="en-US" sz="1250" dirty="0">
                  <a:solidFill>
                    <a:srgbClr val="46535F"/>
                  </a:solidFill>
                  <a:latin typeface="HGGGothicssi_Pro 20g"/>
                </a:rPr>
              </a:br>
              <a:r>
                <a:rPr lang="en-US" sz="1250" dirty="0">
                  <a:solidFill>
                    <a:srgbClr val="46535F"/>
                  </a:solidFill>
                  <a:latin typeface="HGGGothicssi_Pro 20g"/>
                </a:rPr>
                <a:t>    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누적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추세를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함께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봐야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함</a:t>
              </a:r>
            </a:p>
          </p:txBody>
        </p:sp>
        <p:sp>
          <p:nvSpPr>
            <p:cNvPr id="32" name="Rounded Rectangle 23">
              <a:extLst>
                <a:ext uri="{FF2B5EF4-FFF2-40B4-BE49-F238E27FC236}">
                  <a16:creationId xmlns:a16="http://schemas.microsoft.com/office/drawing/2014/main" id="{16F96F1F-96F1-0449-54B2-A9C888B8C035}"/>
                </a:ext>
              </a:extLst>
            </p:cNvPr>
            <p:cNvSpPr/>
            <p:nvPr/>
          </p:nvSpPr>
          <p:spPr>
            <a:xfrm>
              <a:off x="2468880" y="4617720"/>
              <a:ext cx="8732520" cy="1097280"/>
            </a:xfrm>
            <a:prstGeom prst="roundRect">
              <a:avLst/>
            </a:prstGeom>
            <a:solidFill>
              <a:srgbClr val="F8FBFC"/>
            </a:solidFill>
            <a:ln w="9525">
              <a:solidFill>
                <a:srgbClr val="DCE5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D6D9FE7-FDCC-5864-0091-BB2A86E50BA2}"/>
                </a:ext>
              </a:extLst>
            </p:cNvPr>
            <p:cNvSpPr txBox="1"/>
            <p:nvPr/>
          </p:nvSpPr>
          <p:spPr>
            <a:xfrm>
              <a:off x="2743200" y="4828032"/>
              <a:ext cx="8183879" cy="274320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1800" b="1">
                  <a:solidFill>
                    <a:srgbClr val="0D7884"/>
                  </a:solidFill>
                  <a:latin typeface="HGGGothicssi_Pro 80g"/>
                </a:rPr>
                <a:t>최종 메시지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4EE57EF-1AB9-D06B-F49E-9ECB5261625D}"/>
                </a:ext>
              </a:extLst>
            </p:cNvPr>
            <p:cNvSpPr txBox="1"/>
            <p:nvPr/>
          </p:nvSpPr>
          <p:spPr>
            <a:xfrm>
              <a:off x="2834640" y="5230368"/>
              <a:ext cx="8001000" cy="200317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1280" b="0" dirty="0" err="1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사업자</a:t>
              </a:r>
              <a:r>
                <a:rPr sz="1280" b="0" dirty="0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sz="1280" b="0" dirty="0" err="1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성장</a:t>
              </a:r>
              <a:r>
                <a:rPr sz="1280" b="0" dirty="0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sz="1280" b="0" dirty="0" err="1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분석은</a:t>
              </a:r>
              <a:r>
                <a:rPr sz="1280" b="0" dirty="0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“</a:t>
              </a:r>
              <a:r>
                <a:rPr sz="1280" b="0" dirty="0" err="1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어느</a:t>
              </a:r>
              <a:r>
                <a:rPr sz="1280" b="0" dirty="0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sz="1280" b="0" dirty="0" err="1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지역이</a:t>
              </a:r>
              <a:r>
                <a:rPr sz="1280" b="0" dirty="0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sz="1280" b="0" dirty="0" err="1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늘었는가”에서</a:t>
              </a:r>
              <a:r>
                <a:rPr sz="1280" b="0" dirty="0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sz="1280" b="0" dirty="0" err="1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끝나지</a:t>
              </a:r>
              <a:r>
                <a:rPr sz="1280" b="0" dirty="0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sz="1280" b="0" dirty="0" err="1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않고</a:t>
              </a:r>
              <a:r>
                <a:rPr sz="1280" b="0" dirty="0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, “</a:t>
              </a:r>
              <a:r>
                <a:rPr sz="1280" b="0" dirty="0" err="1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어떤</a:t>
              </a:r>
              <a:r>
                <a:rPr sz="1280" b="0" dirty="0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sz="1280" b="0" dirty="0" err="1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업종이</a:t>
              </a:r>
              <a:r>
                <a:rPr sz="1280" b="0" dirty="0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sz="1280" b="0" dirty="0" err="1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어떤</a:t>
              </a:r>
              <a:r>
                <a:rPr sz="1280" b="0" dirty="0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sz="1280" b="0" dirty="0" err="1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기간에</a:t>
              </a:r>
              <a:r>
                <a:rPr sz="1280" b="0" dirty="0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sz="1280" b="0" dirty="0" err="1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다르게</a:t>
              </a:r>
              <a:r>
                <a:rPr sz="1280" b="0" dirty="0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sz="1280" b="0" dirty="0" err="1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움직였는가”까지</a:t>
              </a:r>
              <a:r>
                <a:rPr sz="1280" b="0" dirty="0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sz="1280" b="0" dirty="0" err="1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분해해야</a:t>
              </a:r>
              <a:r>
                <a:rPr sz="1280" b="0" dirty="0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sz="1280" b="0" dirty="0" err="1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한다</a:t>
              </a:r>
              <a:r>
                <a:rPr sz="1280" b="0" dirty="0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.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0E02D08-6514-9EDA-993E-922A0EA9DD76}"/>
                </a:ext>
              </a:extLst>
            </p:cNvPr>
            <p:cNvSpPr txBox="1"/>
            <p:nvPr/>
          </p:nvSpPr>
          <p:spPr>
            <a:xfrm>
              <a:off x="2788920" y="5852160"/>
              <a:ext cx="8092440" cy="198835"/>
            </a:xfrm>
            <a:prstGeom prst="rect">
              <a:avLst/>
            </a:prstGeom>
            <a:noFill/>
          </p:spPr>
          <p:txBody>
            <a:bodyPr wrap="square" lIns="18288" tIns="18288" rIns="18288" bIns="18288">
              <a:spAutoFit/>
            </a:bodyPr>
            <a:lstStyle/>
            <a:p>
              <a:pPr algn="ctr">
                <a:lnSpc>
                  <a:spcPct val="105000"/>
                </a:lnSpc>
                <a:spcAft>
                  <a:spcPts val="500"/>
                </a:spcAft>
              </a:pPr>
              <a:r>
                <a:rPr sz="1250" b="1" dirty="0">
                  <a:solidFill>
                    <a:srgbClr val="D95454"/>
                  </a:solidFill>
                  <a:latin typeface="HGGGothicssi_Pro 40g"/>
                </a:rPr>
                <a:t>•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제외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범위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: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LightGBM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모델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, AI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시뮬레이션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,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미래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예측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설명은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본 EDA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파트에서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제외</a:t>
              </a:r>
              <a:endParaRPr sz="1250" dirty="0">
                <a:solidFill>
                  <a:srgbClr val="46535F"/>
                </a:solidFill>
                <a:latin typeface="HGGGothicssi_Pro 20g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282706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8"/>
          </a:solidFill>
          <a:ln>
            <a:solidFill>
              <a:srgbClr val="F7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965960" cy="6858000"/>
          </a:xfrm>
          <a:prstGeom prst="rect">
            <a:avLst/>
          </a:prstGeom>
          <a:solidFill>
            <a:srgbClr val="1FAAB5"/>
          </a:solidFill>
          <a:ln>
            <a:solidFill>
              <a:srgbClr val="1FA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F50863D1-D9E3-72F5-9C5B-090EBD52C397}"/>
              </a:ext>
            </a:extLst>
          </p:cNvPr>
          <p:cNvGrpSpPr/>
          <p:nvPr/>
        </p:nvGrpSpPr>
        <p:grpSpPr>
          <a:xfrm>
            <a:off x="329184" y="530352"/>
            <a:ext cx="914400" cy="861646"/>
            <a:chOff x="109728" y="217346"/>
            <a:chExt cx="914400" cy="861646"/>
          </a:xfrm>
        </p:grpSpPr>
        <p:sp>
          <p:nvSpPr>
            <p:cNvPr id="6" name="TextBox 5"/>
            <p:cNvSpPr txBox="1"/>
            <p:nvPr/>
          </p:nvSpPr>
          <p:spPr>
            <a:xfrm>
              <a:off x="109728" y="338918"/>
              <a:ext cx="914400" cy="74007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0</a:t>
              </a: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4</a:t>
              </a:r>
              <a:endPara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9728" y="217346"/>
              <a:ext cx="877824" cy="24314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8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SECTION</a:t>
              </a:r>
            </a:p>
          </p:txBody>
        </p:sp>
      </p:grpSp>
      <p:sp>
        <p:nvSpPr>
          <p:cNvPr id="8" name="Rounded Rectangle 7"/>
          <p:cNvSpPr/>
          <p:nvPr/>
        </p:nvSpPr>
        <p:spPr>
          <a:xfrm>
            <a:off x="329184" y="5559552"/>
            <a:ext cx="1051560" cy="100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29184" y="5788152"/>
            <a:ext cx="658368" cy="100584"/>
          </a:xfrm>
          <a:prstGeom prst="roundRect">
            <a:avLst/>
          </a:prstGeom>
          <a:solidFill>
            <a:srgbClr val="DEF1F3"/>
          </a:solidFill>
          <a:ln w="12700">
            <a:solidFill>
              <a:srgbClr val="DE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59152" y="530352"/>
            <a:ext cx="2011680" cy="27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Model Comparison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59152" y="868680"/>
            <a:ext cx="9006840" cy="0"/>
          </a:xfrm>
          <a:prstGeom prst="line">
            <a:avLst/>
          </a:prstGeom>
          <a:ln w="17780">
            <a:solidFill>
              <a:srgbClr val="DEF1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359152" y="1078992"/>
            <a:ext cx="6309360" cy="8670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350" dirty="0" err="1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부산</a:t>
            </a:r>
            <a:r>
              <a:rPr sz="2350" dirty="0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sz="2350" dirty="0" err="1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폐업</a:t>
            </a:r>
            <a:r>
              <a:rPr sz="2350" dirty="0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sz="2350" dirty="0" err="1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예측</a:t>
            </a:r>
            <a:r>
              <a:rPr sz="2350" dirty="0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sz="2350" dirty="0" err="1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모델</a:t>
            </a:r>
            <a:endParaRPr sz="2350" dirty="0">
              <a:solidFill>
                <a:srgbClr val="223035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350" dirty="0" err="1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비교·선정</a:t>
            </a:r>
            <a:r>
              <a:rPr sz="2350" dirty="0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sz="2350" dirty="0" err="1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결과</a:t>
            </a:r>
            <a:endParaRPr sz="2350" dirty="0">
              <a:solidFill>
                <a:srgbClr val="223035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59152" y="1920240"/>
            <a:ext cx="6858000" cy="2763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0" b="0" i="0" u="none" strike="noStrike" kern="1200" cap="none" spc="0" normalizeH="0" baseline="0" noProof="0" dirty="0" err="1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관광</a:t>
            </a:r>
            <a:r>
              <a:rPr kumimoji="0" sz="112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 </a:t>
            </a:r>
            <a:r>
              <a:rPr kumimoji="0" sz="1120" b="0" i="0" u="none" strike="noStrike" kern="1200" cap="none" spc="0" normalizeH="0" baseline="0" noProof="0" dirty="0" err="1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성장·소비·사업자</a:t>
            </a:r>
            <a:r>
              <a:rPr kumimoji="0" sz="112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 </a:t>
            </a:r>
            <a:r>
              <a:rPr kumimoji="0" sz="1120" b="0" i="0" u="none" strike="noStrike" kern="1200" cap="none" spc="0" normalizeH="0" baseline="0" noProof="0" dirty="0" err="1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변화와</a:t>
            </a:r>
            <a:r>
              <a:rPr kumimoji="0" sz="112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 </a:t>
            </a:r>
            <a:r>
              <a:rPr kumimoji="0" sz="1120" b="0" i="0" u="none" strike="noStrike" kern="1200" cap="none" spc="0" normalizeH="0" baseline="0" noProof="0" dirty="0" err="1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폐업</a:t>
            </a:r>
            <a:r>
              <a:rPr kumimoji="0" sz="112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 </a:t>
            </a:r>
            <a:r>
              <a:rPr kumimoji="0" sz="1120" b="0" i="0" u="none" strike="noStrike" kern="1200" cap="none" spc="0" normalizeH="0" baseline="0" noProof="0" dirty="0" err="1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취약성</a:t>
            </a:r>
            <a:r>
              <a:rPr kumimoji="0" sz="112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 </a:t>
            </a:r>
            <a:r>
              <a:rPr kumimoji="0" sz="1120" b="0" i="0" u="none" strike="noStrike" kern="1200" cap="none" spc="0" normalizeH="0" baseline="0" noProof="0" dirty="0" err="1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분석</a:t>
            </a:r>
            <a:endParaRPr kumimoji="0" sz="1120" b="0" i="0" u="none" strike="noStrike" kern="1200" cap="none" spc="0" normalizeH="0" baseline="0" noProof="0" dirty="0">
              <a:ln>
                <a:noFill/>
              </a:ln>
              <a:solidFill>
                <a:srgbClr val="5C6A70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359152" y="2615184"/>
            <a:ext cx="2734056" cy="347472"/>
          </a:xfrm>
          <a:prstGeom prst="roundRect">
            <a:avLst/>
          </a:prstGeom>
          <a:solidFill>
            <a:srgbClr val="DEF1F3"/>
          </a:solidFill>
          <a:ln w="12700">
            <a:solidFill>
              <a:srgbClr val="DE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80" dirty="0">
                <a:solidFill>
                  <a:srgbClr val="15747C"/>
                </a:solidFill>
                <a:latin typeface="HG꼬딕씨_Pro 60g" panose="02020603020101020101" pitchFamily="18" charset="-127"/>
              </a:rPr>
              <a:t>M1 : </a:t>
            </a:r>
            <a:r>
              <a:rPr lang="ko-KR" altLang="en-US" sz="1180" dirty="0">
                <a:solidFill>
                  <a:srgbClr val="15747C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폐업 위험도 산출 </a:t>
            </a:r>
            <a:endParaRPr sz="1180" dirty="0">
              <a:solidFill>
                <a:srgbClr val="15747C"/>
              </a:solidFill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221224" y="2615184"/>
            <a:ext cx="2743200" cy="347472"/>
          </a:xfrm>
          <a:prstGeom prst="roundRect">
            <a:avLst/>
          </a:prstGeom>
          <a:solidFill>
            <a:srgbClr val="DEF1F3"/>
          </a:solidFill>
          <a:ln w="12700">
            <a:solidFill>
              <a:srgbClr val="DE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8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M2</a:t>
            </a:r>
            <a:r>
              <a:rPr kumimoji="0" lang="en-US" sz="118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 :</a:t>
            </a:r>
            <a:r>
              <a:rPr kumimoji="0" sz="118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 </a:t>
            </a:r>
            <a:r>
              <a:rPr kumimoji="0" sz="1180" i="0" u="none" strike="noStrike" kern="1200" cap="none" spc="0" normalizeH="0" baseline="0" noProof="0" dirty="0" err="1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구조적</a:t>
            </a:r>
            <a:r>
              <a:rPr kumimoji="0" sz="118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 </a:t>
            </a:r>
            <a:r>
              <a:rPr kumimoji="0" sz="1180" i="0" u="none" strike="noStrike" kern="1200" cap="none" spc="0" normalizeH="0" baseline="0" noProof="0" dirty="0" err="1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폐업</a:t>
            </a:r>
            <a:r>
              <a:rPr kumimoji="0" sz="118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 </a:t>
            </a:r>
            <a:r>
              <a:rPr kumimoji="0" sz="1180" i="0" u="none" strike="noStrike" kern="1200" cap="none" spc="0" normalizeH="0" baseline="0" noProof="0" dirty="0" err="1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취약지역</a:t>
            </a:r>
            <a:r>
              <a:rPr kumimoji="0" sz="118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 </a:t>
            </a:r>
            <a:r>
              <a:rPr kumimoji="0" sz="1180" i="0" u="none" strike="noStrike" kern="1200" cap="none" spc="0" normalizeH="0" baseline="0" noProof="0" dirty="0" err="1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탐색</a:t>
            </a:r>
            <a:endParaRPr kumimoji="0" sz="118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359152" y="4965192"/>
            <a:ext cx="1536192" cy="101498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78608" y="5183808"/>
            <a:ext cx="1097280" cy="375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0.1652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8608" y="5522136"/>
            <a:ext cx="1097280" cy="238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Final Test MAE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59936" y="4965192"/>
            <a:ext cx="1536192" cy="101498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279392" y="5183808"/>
            <a:ext cx="1097280" cy="375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38.72%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9392" y="5522136"/>
            <a:ext cx="1097280" cy="238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Dummy </a:t>
            </a:r>
            <a:r>
              <a:rPr kumimoji="0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대비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 </a:t>
            </a:r>
            <a:r>
              <a:rPr kumimoji="0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개선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5C6A70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760720" y="4965192"/>
            <a:ext cx="1536192" cy="101498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980176" y="5183808"/>
            <a:ext cx="1097280" cy="375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61.11%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0176" y="5522136"/>
            <a:ext cx="1097280" cy="238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M2 Top3 </a:t>
            </a:r>
            <a:r>
              <a:rPr kumimoji="0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적중률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5C6A70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01. </a:t>
            </a:r>
            <a:r>
              <a:rPr kumimoji="0" lang="ko-KR" alt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데이터 구조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2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Noto Sans CJK KR" pitchFamily="34" charset="-120"/>
              </a:rPr>
              <a:t>데이터 구조와 문제 정의</a:t>
            </a:r>
            <a:endParaRPr kumimoji="0" lang="en-US" sz="172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관측단위는 행정구×연월, 목표는 “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다음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 달 폐업강도” 예측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58368" y="2779776"/>
            <a:ext cx="1325880" cy="429768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13232" y="2820924"/>
            <a:ext cx="1216152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9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항목</a:t>
            </a:r>
            <a:endParaRPr kumimoji="0" lang="en-US" sz="79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984248" y="2779776"/>
            <a:ext cx="3703320" cy="429768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039112" y="2820924"/>
            <a:ext cx="3593592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9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내용</a:t>
            </a:r>
            <a:endParaRPr kumimoji="0" lang="en-US" sz="79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58368" y="3209544"/>
            <a:ext cx="1325880" cy="429768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13232" y="3250692"/>
            <a:ext cx="1216152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모델링 Ready 파일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984248" y="3209544"/>
            <a:ext cx="3703320" cy="429768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039112" y="3250692"/>
            <a:ext cx="3593592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240행 × 71열 / 16개 구·군 × 15개 feature-month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58368" y="3639312"/>
            <a:ext cx="13258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13232" y="3680460"/>
            <a:ext cx="1216152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M1 Target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984248" y="3639312"/>
            <a:ext cx="37033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039112" y="3680460"/>
            <a:ext cx="3593592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다음달 폐업수 ÷ 전월 사업자수 × 100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58368" y="4069080"/>
            <a:ext cx="1325880" cy="429768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13232" y="4110228"/>
            <a:ext cx="1216152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분할 원칙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984248" y="4069080"/>
            <a:ext cx="3703320" cy="429768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039112" y="4110228"/>
            <a:ext cx="3593592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랜덤 split 금지. 연월 기준 Train/Validation/Test 분리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58368" y="4498848"/>
            <a:ext cx="13258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13232" y="4539996"/>
            <a:ext cx="1216152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Test 보류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984248" y="4498848"/>
            <a:ext cx="37033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039112" y="4539996"/>
            <a:ext cx="3593592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2026년 feature-month 64행은 최종 평가 전까지 미사용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51" name="Shape 26">
            <a:extLst>
              <a:ext uri="{FF2B5EF4-FFF2-40B4-BE49-F238E27FC236}">
                <a16:creationId xmlns:a16="http://schemas.microsoft.com/office/drawing/2014/main" id="{26DC7EAB-8B70-CA16-96CA-718DD21865A4}"/>
              </a:ext>
            </a:extLst>
          </p:cNvPr>
          <p:cNvSpPr/>
          <p:nvPr/>
        </p:nvSpPr>
        <p:spPr>
          <a:xfrm>
            <a:off x="6400800" y="1755648"/>
            <a:ext cx="1097280" cy="274320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D0DFE081-354C-6706-B074-639CE518CF76}"/>
              </a:ext>
            </a:extLst>
          </p:cNvPr>
          <p:cNvSpPr/>
          <p:nvPr/>
        </p:nvSpPr>
        <p:spPr>
          <a:xfrm>
            <a:off x="6400800" y="1773936"/>
            <a:ext cx="10972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 err="1">
                <a:solidFill>
                  <a:srgbClr val="FFFFF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시간</a:t>
            </a:r>
            <a:r>
              <a:rPr lang="en-US" sz="800" dirty="0">
                <a:solidFill>
                  <a:srgbClr val="FFFFF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</a:t>
            </a:r>
            <a:r>
              <a:rPr lang="ko-KR" altLang="en-US" sz="800" dirty="0">
                <a:solidFill>
                  <a:srgbClr val="FFFFF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별</a:t>
            </a:r>
            <a:r>
              <a:rPr lang="en-US" sz="800" dirty="0">
                <a:solidFill>
                  <a:srgbClr val="FFFFF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</a:t>
            </a:r>
            <a:r>
              <a:rPr lang="ko-KR" altLang="en-US" sz="800" dirty="0">
                <a:solidFill>
                  <a:srgbClr val="FFFFF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학습 </a:t>
            </a:r>
            <a:r>
              <a:rPr lang="en-US" sz="800" dirty="0" err="1">
                <a:solidFill>
                  <a:srgbClr val="FFFFF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분할</a:t>
            </a:r>
            <a:endParaRPr lang="en-US" sz="800" dirty="0">
              <a:solidFill>
                <a:srgbClr val="FFFFFF"/>
              </a:solidFill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53" name="Shape 28">
            <a:extLst>
              <a:ext uri="{FF2B5EF4-FFF2-40B4-BE49-F238E27FC236}">
                <a16:creationId xmlns:a16="http://schemas.microsoft.com/office/drawing/2014/main" id="{013662EC-B851-BFE8-7E85-79BCCDF1AD45}"/>
              </a:ext>
            </a:extLst>
          </p:cNvPr>
          <p:cNvSpPr/>
          <p:nvPr/>
        </p:nvSpPr>
        <p:spPr>
          <a:xfrm>
            <a:off x="6400800" y="2249424"/>
            <a:ext cx="1325880" cy="713232"/>
          </a:xfrm>
          <a:prstGeom prst="rect">
            <a:avLst/>
          </a:prstGeom>
          <a:solidFill>
            <a:srgbClr val="2863B5"/>
          </a:solidFill>
          <a:ln w="12700">
            <a:solidFill>
              <a:srgbClr val="2863B5"/>
            </a:solidFill>
            <a:prstDash val="solid"/>
          </a:ln>
        </p:spPr>
        <p:txBody>
          <a:bodyPr/>
          <a:lstStyle/>
          <a:p>
            <a:endParaRPr lang="ko-KR" altLang="en-US" sz="2000"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54" name="Text 29">
            <a:extLst>
              <a:ext uri="{FF2B5EF4-FFF2-40B4-BE49-F238E27FC236}">
                <a16:creationId xmlns:a16="http://schemas.microsoft.com/office/drawing/2014/main" id="{E106AC4E-824D-E605-BDF1-CB7B6F647AEF}"/>
              </a:ext>
            </a:extLst>
          </p:cNvPr>
          <p:cNvSpPr/>
          <p:nvPr/>
        </p:nvSpPr>
        <p:spPr>
          <a:xfrm>
            <a:off x="6400800" y="2359152"/>
            <a:ext cx="1325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Train</a:t>
            </a:r>
            <a:endParaRPr lang="en-US" sz="1000" dirty="0"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68A615FE-91F0-FFB4-7E14-58C739C8D328}"/>
              </a:ext>
            </a:extLst>
          </p:cNvPr>
          <p:cNvSpPr/>
          <p:nvPr/>
        </p:nvSpPr>
        <p:spPr>
          <a:xfrm>
            <a:off x="6400800" y="2615184"/>
            <a:ext cx="13258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202410~202504</a:t>
            </a:r>
            <a:endParaRPr lang="en-US" sz="800" dirty="0"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56" name="Shape 31">
            <a:extLst>
              <a:ext uri="{FF2B5EF4-FFF2-40B4-BE49-F238E27FC236}">
                <a16:creationId xmlns:a16="http://schemas.microsoft.com/office/drawing/2014/main" id="{95032E99-C95D-96D1-530D-D5DD150CDAF7}"/>
              </a:ext>
            </a:extLst>
          </p:cNvPr>
          <p:cNvSpPr/>
          <p:nvPr/>
        </p:nvSpPr>
        <p:spPr>
          <a:xfrm rot="5400000">
            <a:off x="7845552" y="2487168"/>
            <a:ext cx="164592" cy="164592"/>
          </a:xfrm>
          <a:prstGeom prst="triangle">
            <a:avLst/>
          </a:prstGeom>
          <a:solidFill>
            <a:srgbClr val="D9DEE6"/>
          </a:solidFill>
          <a:ln w="12700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ko-KR" altLang="en-US" sz="2000"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57" name="Shape 32">
            <a:extLst>
              <a:ext uri="{FF2B5EF4-FFF2-40B4-BE49-F238E27FC236}">
                <a16:creationId xmlns:a16="http://schemas.microsoft.com/office/drawing/2014/main" id="{EDC998AE-A19F-71A1-2F94-335502F07CDA}"/>
              </a:ext>
            </a:extLst>
          </p:cNvPr>
          <p:cNvSpPr/>
          <p:nvPr/>
        </p:nvSpPr>
        <p:spPr>
          <a:xfrm>
            <a:off x="8046720" y="2249424"/>
            <a:ext cx="1325880" cy="713232"/>
          </a:xfrm>
          <a:prstGeom prst="rect">
            <a:avLst/>
          </a:prstGeom>
          <a:solidFill>
            <a:srgbClr val="FF916D"/>
          </a:solidFill>
          <a:ln w="12700">
            <a:solidFill>
              <a:srgbClr val="FF916D"/>
            </a:solidFill>
            <a:prstDash val="solid"/>
          </a:ln>
        </p:spPr>
        <p:txBody>
          <a:bodyPr/>
          <a:lstStyle/>
          <a:p>
            <a:endParaRPr lang="ko-KR" altLang="en-US" sz="2000"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58" name="Text 33">
            <a:extLst>
              <a:ext uri="{FF2B5EF4-FFF2-40B4-BE49-F238E27FC236}">
                <a16:creationId xmlns:a16="http://schemas.microsoft.com/office/drawing/2014/main" id="{C3A92CCF-B27B-E1C7-AD6B-74064CD13F65}"/>
              </a:ext>
            </a:extLst>
          </p:cNvPr>
          <p:cNvSpPr/>
          <p:nvPr/>
        </p:nvSpPr>
        <p:spPr>
          <a:xfrm>
            <a:off x="8046720" y="2359152"/>
            <a:ext cx="1325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Validation</a:t>
            </a:r>
            <a:endParaRPr lang="en-US" sz="1000" dirty="0"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59" name="Text 34">
            <a:extLst>
              <a:ext uri="{FF2B5EF4-FFF2-40B4-BE49-F238E27FC236}">
                <a16:creationId xmlns:a16="http://schemas.microsoft.com/office/drawing/2014/main" id="{4C3212CF-22E2-2680-398E-A4B0978C24F0}"/>
              </a:ext>
            </a:extLst>
          </p:cNvPr>
          <p:cNvSpPr/>
          <p:nvPr/>
        </p:nvSpPr>
        <p:spPr>
          <a:xfrm>
            <a:off x="8046720" y="2615184"/>
            <a:ext cx="13258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202509~202512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( 202506 ~ 08 X )</a:t>
            </a:r>
            <a:endParaRPr lang="en-US" sz="800" dirty="0"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0" name="Shape 35">
            <a:extLst>
              <a:ext uri="{FF2B5EF4-FFF2-40B4-BE49-F238E27FC236}">
                <a16:creationId xmlns:a16="http://schemas.microsoft.com/office/drawing/2014/main" id="{45DD22C4-1BD4-490D-CD0C-BB4A5F1F51FC}"/>
              </a:ext>
            </a:extLst>
          </p:cNvPr>
          <p:cNvSpPr/>
          <p:nvPr/>
        </p:nvSpPr>
        <p:spPr>
          <a:xfrm rot="5400000">
            <a:off x="9491472" y="2487168"/>
            <a:ext cx="164592" cy="164592"/>
          </a:xfrm>
          <a:prstGeom prst="triangle">
            <a:avLst/>
          </a:prstGeom>
          <a:solidFill>
            <a:srgbClr val="D9DEE6"/>
          </a:solidFill>
          <a:ln w="12700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ko-KR" altLang="en-US" sz="2000"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61" name="Shape 36">
            <a:extLst>
              <a:ext uri="{FF2B5EF4-FFF2-40B4-BE49-F238E27FC236}">
                <a16:creationId xmlns:a16="http://schemas.microsoft.com/office/drawing/2014/main" id="{7A6E1A99-3A91-AE3B-1318-C6AE74C05175}"/>
              </a:ext>
            </a:extLst>
          </p:cNvPr>
          <p:cNvSpPr/>
          <p:nvPr/>
        </p:nvSpPr>
        <p:spPr>
          <a:xfrm>
            <a:off x="9692640" y="2249424"/>
            <a:ext cx="1325880" cy="713232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endParaRPr lang="ko-KR" altLang="en-US" sz="2000"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62" name="Text 37">
            <a:extLst>
              <a:ext uri="{FF2B5EF4-FFF2-40B4-BE49-F238E27FC236}">
                <a16:creationId xmlns:a16="http://schemas.microsoft.com/office/drawing/2014/main" id="{AE1FBDCB-4B83-E279-581A-ACB9B582E8BA}"/>
              </a:ext>
            </a:extLst>
          </p:cNvPr>
          <p:cNvSpPr/>
          <p:nvPr/>
        </p:nvSpPr>
        <p:spPr>
          <a:xfrm>
            <a:off x="9692640" y="2359152"/>
            <a:ext cx="1325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Final Test</a:t>
            </a:r>
            <a:endParaRPr lang="en-US" sz="1000" dirty="0"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63" name="Text 38">
            <a:extLst>
              <a:ext uri="{FF2B5EF4-FFF2-40B4-BE49-F238E27FC236}">
                <a16:creationId xmlns:a16="http://schemas.microsoft.com/office/drawing/2014/main" id="{77F2C006-D206-0E12-3F61-99F595FAA19B}"/>
              </a:ext>
            </a:extLst>
          </p:cNvPr>
          <p:cNvSpPr/>
          <p:nvPr/>
        </p:nvSpPr>
        <p:spPr>
          <a:xfrm>
            <a:off x="9692640" y="2615184"/>
            <a:ext cx="13258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202601~202604</a:t>
            </a:r>
            <a:endParaRPr lang="en-US" sz="800" dirty="0"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4" name="Shape 39">
            <a:extLst>
              <a:ext uri="{FF2B5EF4-FFF2-40B4-BE49-F238E27FC236}">
                <a16:creationId xmlns:a16="http://schemas.microsoft.com/office/drawing/2014/main" id="{B12943BE-07E9-5092-E4A0-A66F3AFCD18A}"/>
              </a:ext>
            </a:extLst>
          </p:cNvPr>
          <p:cNvSpPr/>
          <p:nvPr/>
        </p:nvSpPr>
        <p:spPr>
          <a:xfrm>
            <a:off x="6400800" y="3392424"/>
            <a:ext cx="4389120" cy="841248"/>
          </a:xfrm>
          <a:prstGeom prst="rect">
            <a:avLst/>
          </a:prstGeom>
          <a:solidFill>
            <a:srgbClr val="F1F7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 sz="2000"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65" name="Text 40">
            <a:extLst>
              <a:ext uri="{FF2B5EF4-FFF2-40B4-BE49-F238E27FC236}">
                <a16:creationId xmlns:a16="http://schemas.microsoft.com/office/drawing/2014/main" id="{EFC53A48-D90D-1651-D8E5-CA7EBACCD238}"/>
              </a:ext>
            </a:extLst>
          </p:cNvPr>
          <p:cNvSpPr/>
          <p:nvPr/>
        </p:nvSpPr>
        <p:spPr>
          <a:xfrm>
            <a:off x="6547104" y="3502152"/>
            <a:ext cx="4197096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핵심 누수 방지: </a:t>
            </a:r>
          </a:p>
          <a:p>
            <a:pPr marL="0" indent="0">
              <a:buNone/>
            </a:pPr>
            <a:r>
              <a:rPr lang="en-US" sz="10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다음달</a:t>
            </a:r>
            <a:r>
              <a:rPr lang="en-US" sz="10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target 관련 컬럼과 현재월 실제 폐업 Y는 </a:t>
            </a:r>
            <a:r>
              <a:rPr lang="en-US" sz="10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X에서</a:t>
            </a:r>
            <a:r>
              <a:rPr lang="en-US" sz="10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lang="en-US" sz="10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제외</a:t>
            </a:r>
            <a:r>
              <a:rPr lang="en-US" sz="10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.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2025-06~08 결측 구간도 다음달 </a:t>
            </a:r>
            <a:r>
              <a:rPr lang="en-US" sz="10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target으로</a:t>
            </a:r>
            <a:r>
              <a:rPr lang="en-US" sz="10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lang="en-US" sz="10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연결</a:t>
            </a:r>
            <a:r>
              <a:rPr lang="ko-KR" altLang="en-US" sz="10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하지 않음</a:t>
            </a:r>
            <a:endParaRPr lang="en-US" sz="1000" dirty="0"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625C50B6-9B10-6DC8-CF3E-27A9E29C137D}"/>
              </a:ext>
            </a:extLst>
          </p:cNvPr>
          <p:cNvGrpSpPr/>
          <p:nvPr/>
        </p:nvGrpSpPr>
        <p:grpSpPr>
          <a:xfrm>
            <a:off x="6400800" y="4663440"/>
            <a:ext cx="4343400" cy="960120"/>
            <a:chOff x="7315200" y="4754880"/>
            <a:chExt cx="4343400" cy="960120"/>
          </a:xfrm>
        </p:grpSpPr>
        <p:sp>
          <p:nvSpPr>
            <p:cNvPr id="67" name="Shape 41">
              <a:extLst>
                <a:ext uri="{FF2B5EF4-FFF2-40B4-BE49-F238E27FC236}">
                  <a16:creationId xmlns:a16="http://schemas.microsoft.com/office/drawing/2014/main" id="{04B2650A-0BA5-4421-A792-E32E6B943BE2}"/>
                </a:ext>
              </a:extLst>
            </p:cNvPr>
            <p:cNvSpPr/>
            <p:nvPr/>
          </p:nvSpPr>
          <p:spPr>
            <a:xfrm>
              <a:off x="7315200" y="4754880"/>
              <a:ext cx="960120" cy="960120"/>
            </a:xfrm>
            <a:prstGeom prst="ellipse">
              <a:avLst/>
            </a:prstGeom>
            <a:solidFill>
              <a:srgbClr val="E8F6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 sz="2800"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</p:txBody>
        </p:sp>
        <p:sp>
          <p:nvSpPr>
            <p:cNvPr id="68" name="Text 42">
              <a:extLst>
                <a:ext uri="{FF2B5EF4-FFF2-40B4-BE49-F238E27FC236}">
                  <a16:creationId xmlns:a16="http://schemas.microsoft.com/office/drawing/2014/main" id="{7712293B-1393-3FF6-7E3C-F9A08DBB8653}"/>
                </a:ext>
              </a:extLst>
            </p:cNvPr>
            <p:cNvSpPr/>
            <p:nvPr/>
          </p:nvSpPr>
          <p:spPr>
            <a:xfrm>
              <a:off x="7406640" y="5056632"/>
              <a:ext cx="777240" cy="310896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222222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X</a:t>
              </a:r>
              <a:endParaRPr lang="en-US" sz="1000" dirty="0"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  <a:p>
              <a:pPr marL="0" indent="0" algn="ctr">
                <a:buNone/>
              </a:pPr>
              <a:r>
                <a:rPr lang="en-US" sz="800" dirty="0" err="1">
                  <a:solidFill>
                    <a:srgbClr val="222222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관광·소비·사업자</a:t>
              </a:r>
              <a:endParaRPr lang="en-US" sz="800" dirty="0"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</p:txBody>
        </p:sp>
        <p:sp>
          <p:nvSpPr>
            <p:cNvPr id="69" name="Shape 43">
              <a:extLst>
                <a:ext uri="{FF2B5EF4-FFF2-40B4-BE49-F238E27FC236}">
                  <a16:creationId xmlns:a16="http://schemas.microsoft.com/office/drawing/2014/main" id="{5EB3B61B-8C88-4282-9B3E-17217BD6C4DC}"/>
                </a:ext>
              </a:extLst>
            </p:cNvPr>
            <p:cNvSpPr/>
            <p:nvPr/>
          </p:nvSpPr>
          <p:spPr>
            <a:xfrm>
              <a:off x="8275320" y="5230368"/>
              <a:ext cx="731520" cy="0"/>
            </a:xfrm>
            <a:prstGeom prst="line">
              <a:avLst/>
            </a:prstGeom>
            <a:noFill/>
            <a:ln w="13970">
              <a:solidFill>
                <a:srgbClr val="D9DEE6"/>
              </a:solidFill>
              <a:prstDash val="solid"/>
            </a:ln>
          </p:spPr>
          <p:txBody>
            <a:bodyPr/>
            <a:lstStyle/>
            <a:p>
              <a:endParaRPr lang="ko-KR" altLang="en-US" sz="2800"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</p:txBody>
        </p:sp>
        <p:sp>
          <p:nvSpPr>
            <p:cNvPr id="70" name="Shape 44">
              <a:extLst>
                <a:ext uri="{FF2B5EF4-FFF2-40B4-BE49-F238E27FC236}">
                  <a16:creationId xmlns:a16="http://schemas.microsoft.com/office/drawing/2014/main" id="{3C557EDD-A15A-838C-9067-1C5E95DC9AFF}"/>
                </a:ext>
              </a:extLst>
            </p:cNvPr>
            <p:cNvSpPr/>
            <p:nvPr/>
          </p:nvSpPr>
          <p:spPr>
            <a:xfrm>
              <a:off x="9006840" y="4754880"/>
              <a:ext cx="960120" cy="960120"/>
            </a:xfrm>
            <a:prstGeom prst="ellipse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 sz="2800"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</p:txBody>
        </p:sp>
        <p:sp>
          <p:nvSpPr>
            <p:cNvPr id="71" name="Text 45">
              <a:extLst>
                <a:ext uri="{FF2B5EF4-FFF2-40B4-BE49-F238E27FC236}">
                  <a16:creationId xmlns:a16="http://schemas.microsoft.com/office/drawing/2014/main" id="{A82B2C21-A79E-1CEC-C905-FFFC72375E08}"/>
                </a:ext>
              </a:extLst>
            </p:cNvPr>
            <p:cNvSpPr/>
            <p:nvPr/>
          </p:nvSpPr>
          <p:spPr>
            <a:xfrm>
              <a:off x="9098280" y="5056632"/>
              <a:ext cx="777240" cy="310896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222222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t → t+1</a:t>
              </a:r>
              <a:endParaRPr lang="en-US" sz="1000" dirty="0"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  <a:p>
              <a:pPr marL="0" indent="0" algn="ctr">
                <a:buNone/>
              </a:pPr>
              <a:r>
                <a:rPr lang="en-US" sz="800" dirty="0">
                  <a:solidFill>
                    <a:srgbClr val="222222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검증 완료</a:t>
              </a:r>
              <a:endParaRPr lang="en-US" sz="800" dirty="0"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</p:txBody>
        </p:sp>
        <p:sp>
          <p:nvSpPr>
            <p:cNvPr id="72" name="Shape 46">
              <a:extLst>
                <a:ext uri="{FF2B5EF4-FFF2-40B4-BE49-F238E27FC236}">
                  <a16:creationId xmlns:a16="http://schemas.microsoft.com/office/drawing/2014/main" id="{F88FF801-5A29-B119-7D0A-2C0C0539A622}"/>
                </a:ext>
              </a:extLst>
            </p:cNvPr>
            <p:cNvSpPr/>
            <p:nvPr/>
          </p:nvSpPr>
          <p:spPr>
            <a:xfrm>
              <a:off x="9966960" y="5230368"/>
              <a:ext cx="731520" cy="0"/>
            </a:xfrm>
            <a:prstGeom prst="line">
              <a:avLst/>
            </a:prstGeom>
            <a:noFill/>
            <a:ln w="13970">
              <a:solidFill>
                <a:srgbClr val="D9DEE6"/>
              </a:solidFill>
              <a:prstDash val="solid"/>
            </a:ln>
          </p:spPr>
          <p:txBody>
            <a:bodyPr/>
            <a:lstStyle/>
            <a:p>
              <a:endParaRPr lang="ko-KR" altLang="en-US" sz="2800"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</p:txBody>
        </p:sp>
        <p:sp>
          <p:nvSpPr>
            <p:cNvPr id="73" name="Shape 47">
              <a:extLst>
                <a:ext uri="{FF2B5EF4-FFF2-40B4-BE49-F238E27FC236}">
                  <a16:creationId xmlns:a16="http://schemas.microsoft.com/office/drawing/2014/main" id="{6FAC5315-BACF-D275-4184-D6365369767D}"/>
                </a:ext>
              </a:extLst>
            </p:cNvPr>
            <p:cNvSpPr/>
            <p:nvPr/>
          </p:nvSpPr>
          <p:spPr>
            <a:xfrm>
              <a:off x="10698480" y="4754880"/>
              <a:ext cx="960120" cy="960120"/>
            </a:xfrm>
            <a:prstGeom prst="ellipse">
              <a:avLst/>
            </a:prstGeom>
            <a:solidFill>
              <a:srgbClr val="FFF1E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 sz="2800"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</p:txBody>
        </p:sp>
        <p:sp>
          <p:nvSpPr>
            <p:cNvPr id="74" name="Text 48">
              <a:extLst>
                <a:ext uri="{FF2B5EF4-FFF2-40B4-BE49-F238E27FC236}">
                  <a16:creationId xmlns:a16="http://schemas.microsoft.com/office/drawing/2014/main" id="{C41FF83C-6F35-F68C-43E6-7D6F3F142C4D}"/>
                </a:ext>
              </a:extLst>
            </p:cNvPr>
            <p:cNvSpPr/>
            <p:nvPr/>
          </p:nvSpPr>
          <p:spPr>
            <a:xfrm>
              <a:off x="10789920" y="5056632"/>
              <a:ext cx="777240" cy="310896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222222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Y</a:t>
              </a:r>
              <a:endParaRPr lang="en-US" sz="1000" dirty="0"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  <a:p>
              <a:pPr marL="0" indent="0" algn="ctr">
                <a:buNone/>
              </a:pPr>
              <a:r>
                <a:rPr lang="en-US" sz="800" dirty="0" err="1">
                  <a:solidFill>
                    <a:srgbClr val="222222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다음</a:t>
              </a:r>
              <a:r>
                <a:rPr lang="en-US" sz="800" dirty="0">
                  <a:solidFill>
                    <a:srgbClr val="222222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 달 폐업강도</a:t>
              </a:r>
              <a:endParaRPr lang="en-US" sz="800" dirty="0"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atinLnBrk="0"/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02. Target</a:t>
            </a:r>
          </a:p>
        </p:txBody>
      </p:sp>
      <p:sp>
        <p:nvSpPr>
          <p:cNvPr id="3" name="Shape 1"/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atinLnBrk="0"/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Target 특성: 12월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효과와</a:t>
            </a: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월별</a:t>
            </a: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공통변동</a:t>
            </a:r>
            <a:endParaRPr lang="en-US" sz="1720" dirty="0">
              <a:solidFill>
                <a:srgbClr val="111111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폐업강도 변동의 대부분은 지역 간 차이보다 월별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공통변동에서</a:t>
            </a: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발생</a:t>
            </a:r>
            <a:endParaRPr lang="en-US" sz="80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86384" y="2119579"/>
            <a:ext cx="2011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Y 변동 </a:t>
            </a:r>
            <a:r>
              <a:rPr lang="en-US" sz="14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분해</a:t>
            </a:r>
            <a:r>
              <a:rPr lang="en-US" sz="14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(%)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3196055"/>
            <a:ext cx="1463040" cy="190881"/>
          </a:xfrm>
          <a:prstGeom prst="rect">
            <a:avLst/>
          </a:prstGeom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월 간 </a:t>
            </a:r>
            <a:r>
              <a:rPr lang="en-US" sz="9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공통변동</a:t>
            </a:r>
            <a:endParaRPr lang="en-US" sz="900" dirty="0">
              <a:solidFill>
                <a:srgbClr val="222222"/>
              </a:solidFill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377440" y="3214343"/>
            <a:ext cx="2029968" cy="154305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377440" y="3214343"/>
            <a:ext cx="1666807" cy="154305"/>
          </a:xfrm>
          <a:prstGeom prst="rect">
            <a:avLst/>
          </a:prstGeom>
          <a:solidFill>
            <a:srgbClr val="2863B5"/>
          </a:solidFill>
          <a:ln w="12700">
            <a:solidFill>
              <a:srgbClr val="2863B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49808" y="3727550"/>
            <a:ext cx="1463040" cy="190881"/>
          </a:xfrm>
          <a:prstGeom prst="rect">
            <a:avLst/>
          </a:prstGeom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월 내 </a:t>
            </a:r>
            <a:r>
              <a:rPr lang="en-US" sz="9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지역차이</a:t>
            </a:r>
            <a:endParaRPr lang="en-US" sz="900" dirty="0">
              <a:solidFill>
                <a:srgbClr val="222222"/>
              </a:solidFill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377440" y="3745838"/>
            <a:ext cx="2029968" cy="154305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77440" y="3745838"/>
            <a:ext cx="363161" cy="154305"/>
          </a:xfrm>
          <a:prstGeom prst="rect">
            <a:avLst/>
          </a:prstGeom>
          <a:solidFill>
            <a:srgbClr val="2863B5"/>
          </a:solidFill>
          <a:ln w="12700">
            <a:solidFill>
              <a:srgbClr val="2863B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9808" y="4992623"/>
            <a:ext cx="4114800" cy="859533"/>
          </a:xfrm>
          <a:prstGeom prst="rect">
            <a:avLst/>
          </a:prstGeom>
          <a:solidFill>
            <a:srgbClr val="F1F7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96112" y="5102352"/>
            <a:ext cx="3822192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M1 모델의 높은 R²는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“어느 달에 부산 전체 폐업 수준이 높아지는가”를 맞힌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효과가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lang="ko-KR" altLang="en-US" sz="10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큼</a:t>
            </a:r>
            <a:r>
              <a:rPr lang="en-US" altLang="ko-KR" sz="10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.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지역별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순위 예측은 별도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문제로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분리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필요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669280" y="2234793"/>
            <a:ext cx="1143000" cy="44257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724144" y="2275941"/>
            <a:ext cx="1033272" cy="3694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Target월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812280" y="2234793"/>
            <a:ext cx="1143000" cy="44257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867144" y="2275941"/>
            <a:ext cx="1033272" cy="3694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평균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955280" y="2234793"/>
            <a:ext cx="1417320" cy="44257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010144" y="2275941"/>
            <a:ext cx="1307592" cy="3694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지역 표준편차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372600" y="2234793"/>
            <a:ext cx="1581912" cy="44257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427464" y="2275941"/>
            <a:ext cx="1472184" cy="3694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특징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669280" y="2677363"/>
            <a:ext cx="1143000" cy="44257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724144" y="2718511"/>
            <a:ext cx="1033272" cy="3694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202512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812280" y="2677363"/>
            <a:ext cx="1143000" cy="44257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867144" y="2718511"/>
            <a:ext cx="1033272" cy="3694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3.1389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955280" y="2677363"/>
            <a:ext cx="1417320" cy="44257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010144" y="2718511"/>
            <a:ext cx="1307592" cy="3694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0.4142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9372600" y="2677363"/>
            <a:ext cx="1581912" cy="44257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427464" y="2718511"/>
            <a:ext cx="1472184" cy="3694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연말 폐업 급등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669280" y="3119932"/>
            <a:ext cx="1143000" cy="44257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724144" y="3161080"/>
            <a:ext cx="1033272" cy="3694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202601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812280" y="3119932"/>
            <a:ext cx="1143000" cy="44257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867144" y="3161080"/>
            <a:ext cx="1033272" cy="3694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2.3896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955280" y="3119932"/>
            <a:ext cx="1417320" cy="44257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010144" y="3161080"/>
            <a:ext cx="1307592" cy="3694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0.2709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9372600" y="3119932"/>
            <a:ext cx="1581912" cy="44257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427464" y="3161080"/>
            <a:ext cx="1472184" cy="3694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연초 높은 수준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669280" y="3562502"/>
            <a:ext cx="1143000" cy="44257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724144" y="3603650"/>
            <a:ext cx="1033272" cy="3694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202510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812280" y="3562502"/>
            <a:ext cx="1143000" cy="44257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867144" y="3603650"/>
            <a:ext cx="1033272" cy="3694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1.5301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7955280" y="3562502"/>
            <a:ext cx="1417320" cy="44257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8010144" y="3603650"/>
            <a:ext cx="1307592" cy="3694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0.2117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9372600" y="3562502"/>
            <a:ext cx="1581912" cy="44257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9427464" y="3603650"/>
            <a:ext cx="1472184" cy="3694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가장 낮은 월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5669280" y="4005071"/>
            <a:ext cx="1143000" cy="44257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5724144" y="4046219"/>
            <a:ext cx="1033272" cy="3694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202604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6812280" y="4005071"/>
            <a:ext cx="1143000" cy="44257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867144" y="4046219"/>
            <a:ext cx="1033272" cy="3694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1.9647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7955280" y="4005071"/>
            <a:ext cx="1417320" cy="44257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8010144" y="4046219"/>
            <a:ext cx="1307592" cy="3694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0.1966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9372600" y="4005071"/>
            <a:ext cx="1581912" cy="44257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9427464" y="4046219"/>
            <a:ext cx="1472184" cy="3694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평균대 범위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5669280" y="4992624"/>
            <a:ext cx="5285232" cy="859536"/>
          </a:xfrm>
          <a:prstGeom prst="rect">
            <a:avLst/>
          </a:prstGeom>
          <a:solidFill>
            <a:srgbClr val="FFF1E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5815584" y="5102352"/>
            <a:ext cx="4992624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IQR 이상치 20개 중 대부분은 2024·2025년 12월에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집중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이는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이상치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로 판단하여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제거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하기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보다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계절 효과로 해석하는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것이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타당</a:t>
            </a:r>
            <a:r>
              <a:rPr lang="ko-KR" altLang="en-US" sz="10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하다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( 월/계절 변수를 통제하지 않으면 관광 변수 효과가 과장될 수 있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음</a:t>
            </a:r>
            <a:r>
              <a:rPr lang="en-US" altLang="ko-KR" sz="10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atinLnBrk="0"/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03. Feature Set</a:t>
            </a:r>
          </a:p>
        </p:txBody>
      </p:sp>
      <p:sp>
        <p:nvSpPr>
          <p:cNvPr id="3" name="Shape 1"/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atinLnBrk="0"/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중복 변수 제거와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누수</a:t>
            </a: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차단</a:t>
            </a:r>
            <a:endParaRPr lang="en-US" sz="1720" dirty="0">
              <a:solidFill>
                <a:srgbClr val="111111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11개 수치 변수 + 지역 + 월로 시작해 해석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가능성을</a:t>
            </a: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확보</a:t>
            </a:r>
            <a:endParaRPr lang="en-US" sz="80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3C091616-8568-7C35-E580-24DCD369B703}"/>
              </a:ext>
            </a:extLst>
          </p:cNvPr>
          <p:cNvGrpSpPr/>
          <p:nvPr/>
        </p:nvGrpSpPr>
        <p:grpSpPr>
          <a:xfrm>
            <a:off x="658368" y="1673352"/>
            <a:ext cx="10771632" cy="2971800"/>
            <a:chOff x="658368" y="1371600"/>
            <a:chExt cx="10771632" cy="2971800"/>
          </a:xfrm>
        </p:grpSpPr>
        <p:sp>
          <p:nvSpPr>
            <p:cNvPr id="8" name="Shape 6"/>
            <p:cNvSpPr/>
            <p:nvPr/>
          </p:nvSpPr>
          <p:spPr>
            <a:xfrm>
              <a:off x="658368" y="1371600"/>
              <a:ext cx="2240280" cy="495300"/>
            </a:xfrm>
            <a:prstGeom prst="rect">
              <a:avLst/>
            </a:prstGeom>
            <a:solidFill>
              <a:srgbClr val="21AEB8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713232" y="1412748"/>
              <a:ext cx="213055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포함한 주요 변수</a:t>
              </a:r>
              <a:endPara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2898648" y="1371600"/>
              <a:ext cx="3337560" cy="495300"/>
            </a:xfrm>
            <a:prstGeom prst="rect">
              <a:avLst/>
            </a:prstGeom>
            <a:solidFill>
              <a:srgbClr val="21AEB8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2953512" y="1412748"/>
              <a:ext cx="322783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이유</a:t>
              </a:r>
              <a:endPara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658368" y="1866900"/>
              <a:ext cx="2240280" cy="49530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713232" y="1908048"/>
              <a:ext cx="213055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외부방문자 YoY, 현지인방문자 YoY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2898648" y="1866900"/>
              <a:ext cx="3337560" cy="49530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2953512" y="1908048"/>
              <a:ext cx="322783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관광 유입과 지역 내 방문 움직임 분리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16" name="Shape 14"/>
            <p:cNvSpPr/>
            <p:nvPr/>
          </p:nvSpPr>
          <p:spPr>
            <a:xfrm>
              <a:off x="658368" y="2362200"/>
              <a:ext cx="2240280" cy="4953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713232" y="2403348"/>
              <a:ext cx="213055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관광객집중도, 외부방문비중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18" name="Shape 16"/>
            <p:cNvSpPr/>
            <p:nvPr/>
          </p:nvSpPr>
          <p:spPr>
            <a:xfrm>
              <a:off x="2898648" y="2362200"/>
              <a:ext cx="3337560" cy="4953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2953512" y="2403348"/>
              <a:ext cx="322783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과밀·관광 의존도 가설 반영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658368" y="2857500"/>
              <a:ext cx="2240280" cy="49530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713232" y="2898648"/>
              <a:ext cx="213055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현지인소비 YoY, 관광소비비중, 1인당 관광소비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22" name="Shape 20"/>
            <p:cNvSpPr/>
            <p:nvPr/>
          </p:nvSpPr>
          <p:spPr>
            <a:xfrm>
              <a:off x="2898648" y="2857500"/>
              <a:ext cx="3337560" cy="49530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2953512" y="2898648"/>
              <a:ext cx="322783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내수 감소·소비 전환 실패 가설 반영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24" name="Shape 22"/>
            <p:cNvSpPr/>
            <p:nvPr/>
          </p:nvSpPr>
          <p:spPr>
            <a:xfrm>
              <a:off x="658368" y="3352800"/>
              <a:ext cx="2240280" cy="4953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713232" y="3393948"/>
              <a:ext cx="213055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관광소비 CV 3m, 전체사업자 YoY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26" name="Shape 24"/>
            <p:cNvSpPr/>
            <p:nvPr/>
          </p:nvSpPr>
          <p:spPr>
            <a:xfrm>
              <a:off x="2898648" y="3352800"/>
              <a:ext cx="3337560" cy="4953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2953512" y="3393948"/>
              <a:ext cx="322783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소비 변동성과 공급 변화 반영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28" name="Shape 26"/>
            <p:cNvSpPr/>
            <p:nvPr/>
          </p:nvSpPr>
          <p:spPr>
            <a:xfrm>
              <a:off x="658368" y="3848100"/>
              <a:ext cx="2240280" cy="49530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713232" y="3889248"/>
              <a:ext cx="213055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행정구, 월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30" name="Shape 28"/>
            <p:cNvSpPr/>
            <p:nvPr/>
          </p:nvSpPr>
          <p:spPr>
            <a:xfrm>
              <a:off x="2898648" y="3848100"/>
              <a:ext cx="3337560" cy="49530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31" name="Text 29"/>
            <p:cNvSpPr/>
            <p:nvPr/>
          </p:nvSpPr>
          <p:spPr>
            <a:xfrm>
              <a:off x="2953512" y="3889248"/>
              <a:ext cx="322783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지역 고정효과와 12월 계절효과 통제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32" name="Shape 30"/>
            <p:cNvSpPr/>
            <p:nvPr/>
          </p:nvSpPr>
          <p:spPr>
            <a:xfrm>
              <a:off x="6583680" y="1371600"/>
              <a:ext cx="1965960" cy="495300"/>
            </a:xfrm>
            <a:prstGeom prst="rect">
              <a:avLst/>
            </a:prstGeom>
            <a:solidFill>
              <a:srgbClr val="F08D71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33" name="Text 31"/>
            <p:cNvSpPr/>
            <p:nvPr/>
          </p:nvSpPr>
          <p:spPr>
            <a:xfrm>
              <a:off x="6638544" y="1412748"/>
              <a:ext cx="185623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제외/보류 변수</a:t>
              </a:r>
              <a:endPara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</p:txBody>
        </p:sp>
        <p:sp>
          <p:nvSpPr>
            <p:cNvPr id="34" name="Shape 32"/>
            <p:cNvSpPr/>
            <p:nvPr/>
          </p:nvSpPr>
          <p:spPr>
            <a:xfrm>
              <a:off x="8549640" y="1371600"/>
              <a:ext cx="2880360" cy="495300"/>
            </a:xfrm>
            <a:prstGeom prst="rect">
              <a:avLst/>
            </a:prstGeom>
            <a:solidFill>
              <a:srgbClr val="F08D71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35" name="Text 33"/>
            <p:cNvSpPr/>
            <p:nvPr/>
          </p:nvSpPr>
          <p:spPr>
            <a:xfrm>
              <a:off x="8604504" y="1412748"/>
              <a:ext cx="277063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판단</a:t>
              </a:r>
              <a:endPara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</p:txBody>
        </p:sp>
        <p:sp>
          <p:nvSpPr>
            <p:cNvPr id="36" name="Shape 34"/>
            <p:cNvSpPr/>
            <p:nvPr/>
          </p:nvSpPr>
          <p:spPr>
            <a:xfrm>
              <a:off x="6583680" y="1866900"/>
              <a:ext cx="1965960" cy="49530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37" name="Text 35"/>
            <p:cNvSpPr/>
            <p:nvPr/>
          </p:nvSpPr>
          <p:spPr>
            <a:xfrm>
              <a:off x="6638544" y="1908048"/>
              <a:ext cx="185623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다음달 target 관련 컬럼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38" name="Shape 36"/>
            <p:cNvSpPr/>
            <p:nvPr/>
          </p:nvSpPr>
          <p:spPr>
            <a:xfrm>
              <a:off x="8549640" y="1866900"/>
              <a:ext cx="2880360" cy="49530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39" name="Text 37"/>
            <p:cNvSpPr/>
            <p:nvPr/>
          </p:nvSpPr>
          <p:spPr>
            <a:xfrm>
              <a:off x="8604504" y="1908048"/>
              <a:ext cx="277063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Y이므로 X에서 제외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40" name="Shape 38"/>
            <p:cNvSpPr/>
            <p:nvPr/>
          </p:nvSpPr>
          <p:spPr>
            <a:xfrm>
              <a:off x="6583680" y="2362200"/>
              <a:ext cx="1965960" cy="4953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41" name="Text 39"/>
            <p:cNvSpPr/>
            <p:nvPr/>
          </p:nvSpPr>
          <p:spPr>
            <a:xfrm>
              <a:off x="6638544" y="2403348"/>
              <a:ext cx="185623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현재월 폐업 Y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42" name="Shape 40"/>
            <p:cNvSpPr/>
            <p:nvPr/>
          </p:nvSpPr>
          <p:spPr>
            <a:xfrm>
              <a:off x="8549640" y="2362200"/>
              <a:ext cx="2880360" cy="4953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43" name="Text 41"/>
            <p:cNvSpPr/>
            <p:nvPr/>
          </p:nvSpPr>
          <p:spPr>
            <a:xfrm>
              <a:off x="8604504" y="2403348"/>
              <a:ext cx="277063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안전한 첫 모델에서는 제외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44" name="Shape 42"/>
            <p:cNvSpPr/>
            <p:nvPr/>
          </p:nvSpPr>
          <p:spPr>
            <a:xfrm>
              <a:off x="6583680" y="2857500"/>
              <a:ext cx="1965960" cy="49530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45" name="Text 43"/>
            <p:cNvSpPr/>
            <p:nvPr/>
          </p:nvSpPr>
          <p:spPr>
            <a:xfrm>
              <a:off x="6638544" y="2898648"/>
              <a:ext cx="185623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총소비 YoY ↔ 관광소비 YoY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46" name="Shape 44"/>
            <p:cNvSpPr/>
            <p:nvPr/>
          </p:nvSpPr>
          <p:spPr>
            <a:xfrm>
              <a:off x="8549640" y="2857500"/>
              <a:ext cx="2880360" cy="49530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47" name="Text 45"/>
            <p:cNvSpPr/>
            <p:nvPr/>
          </p:nvSpPr>
          <p:spPr>
            <a:xfrm>
              <a:off x="8604504" y="2898648"/>
              <a:ext cx="277063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r=0.9982로 사실상 중복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48" name="Shape 46"/>
            <p:cNvSpPr/>
            <p:nvPr/>
          </p:nvSpPr>
          <p:spPr>
            <a:xfrm>
              <a:off x="6583680" y="3352800"/>
              <a:ext cx="1965960" cy="4953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49" name="Text 47"/>
            <p:cNvSpPr/>
            <p:nvPr/>
          </p:nvSpPr>
          <p:spPr>
            <a:xfrm>
              <a:off x="6638544" y="3393948"/>
              <a:ext cx="185623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총소비 CV ↔ 관광소비 CV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50" name="Shape 48"/>
            <p:cNvSpPr/>
            <p:nvPr/>
          </p:nvSpPr>
          <p:spPr>
            <a:xfrm>
              <a:off x="8549640" y="3352800"/>
              <a:ext cx="2880360" cy="4953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51" name="Text 49"/>
            <p:cNvSpPr/>
            <p:nvPr/>
          </p:nvSpPr>
          <p:spPr>
            <a:xfrm>
              <a:off x="8604504" y="3393948"/>
              <a:ext cx="277063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r≈0.99로 중복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52" name="Shape 50"/>
            <p:cNvSpPr/>
            <p:nvPr/>
          </p:nvSpPr>
          <p:spPr>
            <a:xfrm>
              <a:off x="6583680" y="3848100"/>
              <a:ext cx="1965960" cy="49530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53" name="Text 51"/>
            <p:cNvSpPr/>
            <p:nvPr/>
          </p:nvSpPr>
          <p:spPr>
            <a:xfrm>
              <a:off x="6638544" y="3889248"/>
              <a:ext cx="185623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전월 폐업 lag1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54" name="Shape 52"/>
            <p:cNvSpPr/>
            <p:nvPr/>
          </p:nvSpPr>
          <p:spPr>
            <a:xfrm>
              <a:off x="8549640" y="3848100"/>
              <a:ext cx="2880360" cy="49530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55" name="Text 53"/>
            <p:cNvSpPr/>
            <p:nvPr/>
          </p:nvSpPr>
          <p:spPr>
            <a:xfrm>
              <a:off x="8604504" y="3889248"/>
              <a:ext cx="277063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32개 결측. 별도 실험용 보류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</p:grpSp>
      <p:sp>
        <p:nvSpPr>
          <p:cNvPr id="56" name="Shape 54"/>
          <p:cNvSpPr/>
          <p:nvPr/>
        </p:nvSpPr>
        <p:spPr>
          <a:xfrm>
            <a:off x="1005840" y="5257800"/>
            <a:ext cx="10058400" cy="548640"/>
          </a:xfrm>
          <a:prstGeom prst="rect">
            <a:avLst/>
          </a:prstGeom>
          <a:solidFill>
            <a:srgbClr val="F1F7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1152144" y="5367528"/>
            <a:ext cx="976579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복잡한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변수를 많이 넣기보다, 가설을 대표하는 변수만 남겨 모델 비교의 해석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가능성을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확보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atinLnBrk="0"/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04. Baseline</a:t>
            </a:r>
          </a:p>
        </p:txBody>
      </p:sp>
      <p:sp>
        <p:nvSpPr>
          <p:cNvPr id="3" name="Shape 1"/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</p:spPr>
        <p:txBody>
          <a:bodyPr wrap="square" lIns="508" tIns="508" rIns="508" bIns="508" rtlCol="0" anchor="ctr">
            <a:normAutofit/>
          </a:bodyPr>
          <a:lstStyle/>
          <a:p>
            <a:pPr latinLnBrk="0"/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Baseline: Ridge가 단순 평균보다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확실히</a:t>
            </a: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개선</a:t>
            </a:r>
            <a:endParaRPr lang="en-US" sz="1720" dirty="0">
              <a:solidFill>
                <a:srgbClr val="111111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선형계열 중 Ridge가 Linear Regression보다 일반화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성능이</a:t>
            </a: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ko-KR" alt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좋았다</a:t>
            </a:r>
            <a:endParaRPr lang="en-US" sz="80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3962" y="2216953"/>
            <a:ext cx="2291159" cy="21002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Validation MAE 비교</a:t>
            </a: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96230" y="2933879"/>
            <a:ext cx="1479707" cy="24820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Ridge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347774" y="2952972"/>
            <a:ext cx="2405717" cy="210023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347774" y="2952972"/>
            <a:ext cx="1528723" cy="210023"/>
          </a:xfrm>
          <a:prstGeom prst="rect">
            <a:avLst/>
          </a:prstGeom>
          <a:solidFill>
            <a:srgbClr val="2863B5"/>
          </a:solidFill>
          <a:ln w="12700">
            <a:solidFill>
              <a:srgbClr val="2863B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96230" y="3544855"/>
            <a:ext cx="1479707" cy="24820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Linear Regression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347774" y="3563948"/>
            <a:ext cx="2405717" cy="210023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47774" y="3563948"/>
            <a:ext cx="1718120" cy="210023"/>
          </a:xfrm>
          <a:prstGeom prst="rect">
            <a:avLst/>
          </a:prstGeom>
          <a:solidFill>
            <a:srgbClr val="2863B5"/>
          </a:solidFill>
          <a:ln w="12700">
            <a:solidFill>
              <a:srgbClr val="2863B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96230" y="4155831"/>
            <a:ext cx="1479707" cy="24820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Dummy Mean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347774" y="4174924"/>
            <a:ext cx="2405717" cy="210023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347774" y="4174924"/>
            <a:ext cx="2392595" cy="210023"/>
          </a:xfrm>
          <a:prstGeom prst="rect">
            <a:avLst/>
          </a:prstGeom>
          <a:solidFill>
            <a:srgbClr val="2863B5"/>
          </a:solidFill>
          <a:ln w="12700">
            <a:solidFill>
              <a:srgbClr val="2863B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994535" y="1800233"/>
            <a:ext cx="1193312" cy="465392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051814" y="1843192"/>
            <a:ext cx="1078754" cy="3890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모델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187847" y="1800233"/>
            <a:ext cx="1193312" cy="465392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245126" y="1843192"/>
            <a:ext cx="1078754" cy="3890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Valid MAE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381159" y="1800233"/>
            <a:ext cx="1145579" cy="465392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438438" y="1843192"/>
            <a:ext cx="1031022" cy="3890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Valid R²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526738" y="1800233"/>
            <a:ext cx="1766102" cy="465392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584017" y="1843192"/>
            <a:ext cx="1651544" cy="3890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해석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994535" y="2265625"/>
            <a:ext cx="1193312" cy="465392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051814" y="2308584"/>
            <a:ext cx="1078754" cy="3890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Ridge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187847" y="2265625"/>
            <a:ext cx="1193312" cy="465392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245126" y="2308584"/>
            <a:ext cx="1078754" cy="3890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0.3495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381159" y="2265625"/>
            <a:ext cx="1145579" cy="465392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438438" y="2308584"/>
            <a:ext cx="1031022" cy="3890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0.5986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526738" y="2265625"/>
            <a:ext cx="1766102" cy="465392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584017" y="2308584"/>
            <a:ext cx="1651544" cy="3890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Dummy 대비 36.10% 개선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994535" y="2731016"/>
            <a:ext cx="1193312" cy="4653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051814" y="2773976"/>
            <a:ext cx="1078754" cy="3890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Linear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187847" y="2731016"/>
            <a:ext cx="1193312" cy="4653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245126" y="2773976"/>
            <a:ext cx="1078754" cy="3890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0.3928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381159" y="2731016"/>
            <a:ext cx="1145579" cy="4653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438438" y="2773976"/>
            <a:ext cx="1031022" cy="3890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0.5305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9526738" y="2731016"/>
            <a:ext cx="1766102" cy="4653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9584017" y="2773976"/>
            <a:ext cx="1651544" cy="3890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Train 적합은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좋지만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과적합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더 큼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994535" y="3196408"/>
            <a:ext cx="1193312" cy="465392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051814" y="3239367"/>
            <a:ext cx="1078754" cy="3890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Dummy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187847" y="3196408"/>
            <a:ext cx="1193312" cy="465392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245126" y="3239367"/>
            <a:ext cx="1078754" cy="3890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0.5470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8381159" y="3196408"/>
            <a:ext cx="1145579" cy="465392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438438" y="3239367"/>
            <a:ext cx="1031022" cy="3890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-0.0243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9526738" y="3196408"/>
            <a:ext cx="1766102" cy="465392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9584017" y="3239367"/>
            <a:ext cx="1651544" cy="3890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평균만 예측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7130568" y="4186857"/>
            <a:ext cx="3007146" cy="2004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7464695" y="5857494"/>
            <a:ext cx="2434356" cy="0"/>
          </a:xfrm>
          <a:prstGeom prst="line">
            <a:avLst/>
          </a:prstGeom>
          <a:noFill/>
          <a:ln w="635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7464695" y="4377787"/>
            <a:ext cx="0" cy="1479707"/>
          </a:xfrm>
          <a:prstGeom prst="line">
            <a:avLst/>
          </a:prstGeom>
          <a:noFill/>
          <a:ln w="635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7624415" y="5473724"/>
            <a:ext cx="47732" cy="47732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7808002" y="5281084"/>
            <a:ext cx="47732" cy="47732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7991588" y="5398358"/>
            <a:ext cx="47732" cy="47732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8175175" y="5435771"/>
            <a:ext cx="47732" cy="47732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8358762" y="5183849"/>
            <a:ext cx="47732" cy="47732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8542348" y="5086346"/>
            <a:ext cx="47732" cy="47732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8725934" y="5238386"/>
            <a:ext cx="47732" cy="47732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8909520" y="5171702"/>
            <a:ext cx="47732" cy="47732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9093107" y="4911838"/>
            <a:ext cx="47732" cy="47732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9276694" y="4920479"/>
            <a:ext cx="47732" cy="47732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9460280" y="5053108"/>
            <a:ext cx="47732" cy="47732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9643867" y="4885283"/>
            <a:ext cx="47732" cy="47732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743962" y="5303797"/>
            <a:ext cx="4391388" cy="782813"/>
          </a:xfrm>
          <a:prstGeom prst="rect">
            <a:avLst/>
          </a:prstGeom>
          <a:solidFill>
            <a:srgbClr val="F1F7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896706" y="5418355"/>
            <a:ext cx="4085900" cy="57279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Ridge는 저위험/고위험 구분은 잡지만,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극단적으로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높은 폐업강도는 평균 쪽으로 눌러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예측하는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경향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atinLnBrk="0"/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05. Screening</a:t>
            </a:r>
          </a:p>
        </p:txBody>
      </p:sp>
      <p:sp>
        <p:nvSpPr>
          <p:cNvPr id="3" name="Shape 1"/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atinLnBrk="0"/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4개 후보 Screening: LightGBM이 Validation 1위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단일 Validation에서는 LightGBM이 MAE·R² 모두 </a:t>
            </a:r>
            <a:r>
              <a:rPr lang="en-US" sz="9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가장</a:t>
            </a:r>
            <a:r>
              <a:rPr lang="en-US" sz="9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en-US" sz="9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우세</a:t>
            </a:r>
            <a:endParaRPr lang="en-US" sz="90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2108454"/>
            <a:ext cx="2011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Validation MAE</a:t>
            </a:r>
          </a:p>
        </p:txBody>
      </p:sp>
      <p:sp>
        <p:nvSpPr>
          <p:cNvPr id="9" name="Text 7"/>
          <p:cNvSpPr/>
          <p:nvPr/>
        </p:nvSpPr>
        <p:spPr>
          <a:xfrm>
            <a:off x="731520" y="2841688"/>
            <a:ext cx="1371600" cy="18573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LightGBM</a:t>
            </a:r>
            <a:endParaRPr lang="en-US" sz="900" dirty="0">
              <a:solidFill>
                <a:srgbClr val="222222"/>
              </a:solidFill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267712" y="2859976"/>
            <a:ext cx="2395728" cy="149162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267712" y="2859976"/>
            <a:ext cx="2152828" cy="149162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3233927"/>
            <a:ext cx="1371600" cy="18573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RandomForest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267712" y="3252215"/>
            <a:ext cx="2395728" cy="149162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267712" y="3252215"/>
            <a:ext cx="2251319" cy="149162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" y="3626167"/>
            <a:ext cx="1371600" cy="18573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XGBoost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267712" y="3644455"/>
            <a:ext cx="2395728" cy="149162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267712" y="3644455"/>
            <a:ext cx="2296571" cy="149162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1520" y="4018407"/>
            <a:ext cx="1371600" cy="18573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Ridge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267712" y="4036695"/>
            <a:ext cx="2395728" cy="149162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267712" y="4036695"/>
            <a:ext cx="2325853" cy="149162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577840" y="2108454"/>
            <a:ext cx="1234440" cy="466344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632704" y="2149602"/>
            <a:ext cx="112471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모델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812280" y="2108454"/>
            <a:ext cx="1143000" cy="466344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867144" y="2149602"/>
            <a:ext cx="103327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Valid MAE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955280" y="2108454"/>
            <a:ext cx="1051560" cy="466344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010144" y="2149602"/>
            <a:ext cx="94183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Valid R²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006840" y="2108454"/>
            <a:ext cx="2011680" cy="466344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061704" y="2149602"/>
            <a:ext cx="190195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판단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577840" y="2574798"/>
            <a:ext cx="1234440" cy="466344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632704" y="2615946"/>
            <a:ext cx="112471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LightGBM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812280" y="2574798"/>
            <a:ext cx="1143000" cy="466344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867144" y="2615946"/>
            <a:ext cx="103327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0.3235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955280" y="2574798"/>
            <a:ext cx="1051560" cy="466344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010144" y="2615946"/>
            <a:ext cx="94183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0.6320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006840" y="2574798"/>
            <a:ext cx="2011680" cy="466344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061704" y="2615946"/>
            <a:ext cx="190195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성능 1위. 과적합 신호 존재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577840" y="3041142"/>
            <a:ext cx="123444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632704" y="3082290"/>
            <a:ext cx="112471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Random Forest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812280" y="3041142"/>
            <a:ext cx="114300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867144" y="3082290"/>
            <a:ext cx="103327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0.3383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955280" y="3041142"/>
            <a:ext cx="105156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010144" y="3082290"/>
            <a:ext cx="94183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0.6180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9006840" y="3041142"/>
            <a:ext cx="201168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9061704" y="3082290"/>
            <a:ext cx="190195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균형 우수. MAE Gap 작음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5577840" y="3507486"/>
            <a:ext cx="1234440" cy="466344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5632704" y="3548634"/>
            <a:ext cx="112471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XGBoost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812280" y="3507486"/>
            <a:ext cx="1143000" cy="466344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867144" y="3548634"/>
            <a:ext cx="103327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0.3451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7955280" y="3507486"/>
            <a:ext cx="1051560" cy="466344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8010144" y="3548634"/>
            <a:ext cx="94183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0.6250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9006840" y="3507486"/>
            <a:ext cx="2011680" cy="466344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9061704" y="3548634"/>
            <a:ext cx="190195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RMSE/R² 우수. Train 과적합 강함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5577840" y="3973830"/>
            <a:ext cx="123444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5632704" y="4014978"/>
            <a:ext cx="112471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Ridge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6812280" y="3973830"/>
            <a:ext cx="114300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6867144" y="4014978"/>
            <a:ext cx="103327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0.3495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7955280" y="3973830"/>
            <a:ext cx="105156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8010144" y="4014978"/>
            <a:ext cx="94183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0.5986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9006840" y="3973830"/>
            <a:ext cx="201168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9061704" y="4014978"/>
            <a:ext cx="190195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단순하고 안정적인 기준 모델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822960" y="5074919"/>
            <a:ext cx="4572000" cy="777237"/>
          </a:xfrm>
          <a:prstGeom prst="rect">
            <a:avLst/>
          </a:prstGeom>
          <a:solidFill>
            <a:srgbClr val="F1F7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969264" y="5184648"/>
            <a:ext cx="427939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latinLnBrk="0"/>
            <a:r>
              <a:rPr lang="en-US" sz="11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복잡한</a:t>
            </a:r>
            <a:r>
              <a:rPr lang="en-US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트리 모델이 Ridge를 이기긴 했지만 </a:t>
            </a:r>
            <a:r>
              <a:rPr lang="en-US" sz="11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격차는</a:t>
            </a:r>
            <a:r>
              <a:rPr lang="en-US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</a:t>
            </a:r>
            <a:r>
              <a:rPr lang="ko-KR" altLang="en-US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약소</a:t>
            </a:r>
            <a:r>
              <a:rPr lang="en-US" altLang="ko-KR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,</a:t>
            </a:r>
            <a:r>
              <a:rPr lang="en-US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</a:t>
            </a:r>
          </a:p>
          <a:p>
            <a:pPr algn="ctr" latinLnBrk="0"/>
            <a:r>
              <a:rPr lang="en-US" sz="11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단일</a:t>
            </a:r>
            <a:r>
              <a:rPr lang="en-US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Validation만으로 최종 선정하지 </a:t>
            </a:r>
            <a:r>
              <a:rPr lang="en-US" sz="11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않고</a:t>
            </a:r>
            <a:r>
              <a:rPr lang="en-US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</a:t>
            </a:r>
          </a:p>
          <a:p>
            <a:pPr algn="ctr" latinLnBrk="0"/>
            <a:r>
              <a:rPr lang="en-US" sz="11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시간</a:t>
            </a:r>
            <a:r>
              <a:rPr lang="en-US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기반 OOF </a:t>
            </a:r>
            <a:r>
              <a:rPr lang="en-US" sz="11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검증으로</a:t>
            </a:r>
            <a:r>
              <a:rPr lang="en-US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</a:t>
            </a:r>
            <a:r>
              <a:rPr lang="ko-KR" altLang="en-US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추가 진행</a:t>
            </a:r>
            <a:endParaRPr lang="en-US" sz="1100" dirty="0">
              <a:solidFill>
                <a:srgbClr val="222222"/>
              </a:solidFill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5577840" y="5074920"/>
            <a:ext cx="5440680" cy="777240"/>
          </a:xfrm>
          <a:prstGeom prst="rect">
            <a:avLst/>
          </a:prstGeom>
          <a:solidFill>
            <a:srgbClr val="FFF1E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5724144" y="5184648"/>
            <a:ext cx="5148072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latinLnBrk="0"/>
            <a:r>
              <a:rPr lang="en-US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&lt; DNN/LSTM</a:t>
            </a:r>
            <a:r>
              <a:rPr lang="ko-KR" altLang="en-US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을 제외한 이유 </a:t>
            </a:r>
            <a:r>
              <a:rPr lang="en-US" altLang="ko-KR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&gt;</a:t>
            </a:r>
          </a:p>
          <a:p>
            <a:pPr algn="ctr" latinLnBrk="0"/>
            <a:r>
              <a:rPr lang="en-US" sz="11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표본</a:t>
            </a:r>
            <a:r>
              <a:rPr lang="en-US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240행, 지역당 15개월이라 신경망·시계열 딥러닝은 </a:t>
            </a:r>
            <a:r>
              <a:rPr lang="en-US" sz="11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과적합</a:t>
            </a:r>
            <a:r>
              <a:rPr lang="en-US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</a:t>
            </a:r>
            <a:r>
              <a:rPr lang="en-US" sz="11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위험이</a:t>
            </a:r>
            <a:r>
              <a:rPr lang="en-US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</a:t>
            </a:r>
            <a:r>
              <a:rPr lang="ko-KR" altLang="en-US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큼으로</a:t>
            </a:r>
            <a:r>
              <a:rPr lang="en-US" altLang="ko-KR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,</a:t>
            </a:r>
          </a:p>
          <a:p>
            <a:pPr algn="ctr" latinLnBrk="0"/>
            <a:r>
              <a:rPr lang="en-US" sz="11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정형</a:t>
            </a:r>
            <a:r>
              <a:rPr lang="en-US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데이터에서는 Ridge·Tree 계열이 더 </a:t>
            </a:r>
            <a:r>
              <a:rPr lang="en-US" sz="11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해석</a:t>
            </a:r>
            <a:r>
              <a:rPr lang="en-US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</a:t>
            </a:r>
            <a:r>
              <a:rPr lang="en-US" sz="11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가능하고</a:t>
            </a:r>
            <a:r>
              <a:rPr lang="en-US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</a:t>
            </a:r>
            <a:r>
              <a:rPr lang="en-US" sz="11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안정적</a:t>
            </a:r>
            <a:r>
              <a:rPr lang="ko-KR" altLang="en-US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이라 판단</a:t>
            </a:r>
            <a:endParaRPr lang="en-US" sz="1100" dirty="0">
              <a:solidFill>
                <a:srgbClr val="222222"/>
              </a:solidFill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atinLnBrk="0"/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06. </a:t>
            </a:r>
            <a:r>
              <a:rPr lang="en-US" sz="85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시간</a:t>
            </a:r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en-US" sz="85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검증</a:t>
            </a:r>
            <a:endParaRPr lang="en-US" sz="85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atinLnBrk="0"/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시간 기반 OOF 검증: LightGBM 우세,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그러나</a:t>
            </a: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lang="ko-KR" alt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격차는 다소 약소</a:t>
            </a:r>
            <a:endParaRPr lang="en-US" sz="1720" dirty="0">
              <a:solidFill>
                <a:srgbClr val="111111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미래월을 한 달씩 검증해 단일 Validation </a:t>
            </a:r>
            <a:r>
              <a:rPr lang="en-US" sz="9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우연성을</a:t>
            </a:r>
            <a:r>
              <a:rPr lang="en-US" sz="9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en-US" sz="9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줄임</a:t>
            </a:r>
            <a:endParaRPr lang="en-US" sz="90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12801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latinLnBrk="0"/>
            <a:r>
              <a:rPr lang="en-US" sz="14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검증</a:t>
            </a:r>
            <a:r>
              <a:rPr lang="en-US" sz="14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</a:t>
            </a:r>
            <a:r>
              <a:rPr lang="en-US" sz="14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구조</a:t>
            </a:r>
            <a:endParaRPr lang="en-US" sz="1400" dirty="0">
              <a:solidFill>
                <a:srgbClr val="222222"/>
              </a:solidFill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2843784"/>
            <a:ext cx="1207008" cy="1005840"/>
          </a:xfrm>
          <a:prstGeom prst="rect">
            <a:avLst/>
          </a:prstGeom>
          <a:solidFill>
            <a:srgbClr val="F1F7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96112" y="3108960"/>
            <a:ext cx="106070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Noto Sans CJK KR" pitchFamily="34" charset="-120"/>
              </a:rPr>
              <a:t>과거</a:t>
            </a:r>
            <a:r>
              <a:rPr kumimoji="0" lang="en-US" sz="105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Noto Sans CJK KR" pitchFamily="34" charset="-120"/>
              </a:rPr>
              <a:t> </a:t>
            </a:r>
            <a:r>
              <a:rPr lang="en-US" sz="1050" dirty="0">
                <a:solidFill>
                  <a:srgbClr val="222222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  <a:cs typeface="Noto Sans CJK KR" pitchFamily="34" charset="-120"/>
              </a:rPr>
              <a:t>’</a:t>
            </a:r>
            <a:r>
              <a:rPr kumimoji="0" lang="en-US" sz="105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Noto Sans CJK KR" pitchFamily="34" charset="-120"/>
              </a:rPr>
              <a:t>월’ 학습</a:t>
            </a:r>
            <a:endParaRPr kumimoji="0" lang="en-US" sz="105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96112" y="3364992"/>
            <a:ext cx="10607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누적 학습 데이터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331720" y="2843784"/>
            <a:ext cx="1207008" cy="1005840"/>
          </a:xfrm>
          <a:prstGeom prst="rect">
            <a:avLst/>
          </a:prstGeom>
          <a:solidFill>
            <a:srgbClr val="E8F6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404872" y="3108960"/>
            <a:ext cx="106070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Noto Sans CJK KR" pitchFamily="34" charset="-120"/>
              </a:rPr>
              <a:t>미래</a:t>
            </a:r>
            <a:r>
              <a:rPr kumimoji="0" lang="en-US" sz="105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Noto Sans CJK KR" pitchFamily="34" charset="-120"/>
              </a:rPr>
              <a:t> ‘월’ 검증</a:t>
            </a:r>
            <a:endParaRPr kumimoji="0" lang="en-US" sz="105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404872" y="3364992"/>
            <a:ext cx="10607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한 달씩 검증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840480" y="2843784"/>
            <a:ext cx="1207008" cy="1005840"/>
          </a:xfrm>
          <a:prstGeom prst="rect">
            <a:avLst/>
          </a:prstGeom>
          <a:solidFill>
            <a:srgbClr val="FFF1E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913632" y="3108960"/>
            <a:ext cx="106070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Noto Sans CJK KR" pitchFamily="34" charset="-120"/>
              </a:rPr>
              <a:t>평균 MAE</a:t>
            </a:r>
            <a:endParaRPr kumimoji="0" lang="en-US" sz="105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913632" y="3364992"/>
            <a:ext cx="10607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우연성 축소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22960" y="4206240"/>
            <a:ext cx="4206240" cy="731520"/>
          </a:xfrm>
          <a:prstGeom prst="rect">
            <a:avLst/>
          </a:prstGeom>
          <a:solidFill>
            <a:srgbClr val="F1F7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69264" y="4315968"/>
            <a:ext cx="391363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단일 Validation 결과가 우연히 좋게 나온 것인지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확인하기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위해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‘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미래월’을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순차적으로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검증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852160" y="2286000"/>
            <a:ext cx="1417320" cy="448056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907024" y="2327148"/>
            <a:ext cx="130759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모델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269480" y="2286000"/>
            <a:ext cx="1234440" cy="448056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324344" y="2327148"/>
            <a:ext cx="112471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평균 MAE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503920" y="2286000"/>
            <a:ext cx="1234440" cy="448056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558784" y="2327148"/>
            <a:ext cx="112471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최악 MAE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738360" y="2286000"/>
            <a:ext cx="1325880" cy="448056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793224" y="2327148"/>
            <a:ext cx="121615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1위 횟수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852160" y="2734056"/>
            <a:ext cx="1417320" cy="448056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907024" y="2775204"/>
            <a:ext cx="130759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LightGBM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269480" y="2734056"/>
            <a:ext cx="1234440" cy="448056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324344" y="2775204"/>
            <a:ext cx="112471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0.2698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503920" y="2734056"/>
            <a:ext cx="1234440" cy="448056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558784" y="2775204"/>
            <a:ext cx="112471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0.4600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9738360" y="2734056"/>
            <a:ext cx="1325880" cy="448056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793224" y="2775204"/>
            <a:ext cx="121615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2회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852160" y="3182112"/>
            <a:ext cx="14173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907024" y="3223260"/>
            <a:ext cx="130759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XGBoost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269480" y="3182112"/>
            <a:ext cx="12344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324344" y="3223260"/>
            <a:ext cx="112471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0.2775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503920" y="3182112"/>
            <a:ext cx="12344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558784" y="3223260"/>
            <a:ext cx="112471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0.4547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9738360" y="3182112"/>
            <a:ext cx="132588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9793224" y="3223260"/>
            <a:ext cx="121615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2회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852160" y="3630168"/>
            <a:ext cx="1417320" cy="448056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907024" y="3671316"/>
            <a:ext cx="130759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Ridge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269480" y="3630168"/>
            <a:ext cx="1234440" cy="448056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324344" y="3671316"/>
            <a:ext cx="112471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0.2804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8503920" y="3630168"/>
            <a:ext cx="1234440" cy="448056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8558784" y="3671316"/>
            <a:ext cx="112471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0.4448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9738360" y="3630168"/>
            <a:ext cx="1325880" cy="448056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9793224" y="3671316"/>
            <a:ext cx="121615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1회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5852160" y="4078224"/>
            <a:ext cx="14173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907024" y="4119372"/>
            <a:ext cx="130759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RandomForest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7269480" y="4078224"/>
            <a:ext cx="12344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7324344" y="4119372"/>
            <a:ext cx="112471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0.2872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8503920" y="4078224"/>
            <a:ext cx="12344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8558784" y="4119372"/>
            <a:ext cx="112471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0.4882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9738360" y="4078224"/>
            <a:ext cx="132588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9793224" y="4119372"/>
            <a:ext cx="121615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1회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5852160" y="4937760"/>
            <a:ext cx="5212080" cy="914400"/>
          </a:xfrm>
          <a:prstGeom prst="rect">
            <a:avLst/>
          </a:prstGeom>
          <a:solidFill>
            <a:srgbClr val="F1F7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5998464" y="5047488"/>
            <a:ext cx="4919472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LightGBM은 평균 MAE가 가장 낮아 M1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후보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1.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다만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Ridge는 변동성이 작아 안정성 기준에서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강점이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있</a:t>
            </a: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었다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Noto Sans CJK KR" pitchFamily="34" charset="-12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atinLnBrk="0"/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07. Final Test</a:t>
            </a:r>
          </a:p>
        </p:txBody>
      </p:sp>
      <p:sp>
        <p:nvSpPr>
          <p:cNvPr id="3" name="Shape 1"/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atinLnBrk="0"/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Final Test: LightGBM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성능</a:t>
            </a: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검증</a:t>
            </a:r>
            <a:endParaRPr lang="en-US" sz="1720" dirty="0">
              <a:solidFill>
                <a:srgbClr val="111111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2026년 feature-month 64행은 최종 모델 선정 후 한 </a:t>
            </a:r>
            <a:r>
              <a:rPr lang="en-US" sz="9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번만</a:t>
            </a:r>
            <a:r>
              <a:rPr lang="en-US" sz="9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en-US" sz="9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평가</a:t>
            </a:r>
            <a:endParaRPr lang="en-US" sz="90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77240" y="2697480"/>
            <a:ext cx="45262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97280" y="5440680"/>
            <a:ext cx="3977640" cy="0"/>
          </a:xfrm>
          <a:prstGeom prst="line">
            <a:avLst/>
          </a:prstGeom>
          <a:noFill/>
          <a:ln w="635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97280" y="2880360"/>
            <a:ext cx="0" cy="2560320"/>
          </a:xfrm>
          <a:prstGeom prst="line">
            <a:avLst/>
          </a:prstGeom>
          <a:noFill/>
          <a:ln w="635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376875" y="4775911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679331" y="4432326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981786" y="4641491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284242" y="4708218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586697" y="4258900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889152" y="4084998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191608" y="4356171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494063" y="4237235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796518" y="3773753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098974" y="3789164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401429" y="4025717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703885" y="3726390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143000" y="5413248"/>
            <a:ext cx="3840480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87552" y="2383002"/>
            <a:ext cx="1828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Actual vs Predicted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715000" y="1901952"/>
            <a:ext cx="1234440" cy="44196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769864" y="1943100"/>
            <a:ext cx="1124712" cy="368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모델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949440" y="1901952"/>
            <a:ext cx="960120" cy="44196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004304" y="1943100"/>
            <a:ext cx="850392" cy="368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Test MAE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909560" y="1901952"/>
            <a:ext cx="960120" cy="44196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964424" y="1943100"/>
            <a:ext cx="850392" cy="368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RMSE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869680" y="1901952"/>
            <a:ext cx="960120" cy="44196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924544" y="1943100"/>
            <a:ext cx="850392" cy="368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R²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829800" y="1901952"/>
            <a:ext cx="1051560" cy="44196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884664" y="1943100"/>
            <a:ext cx="941832" cy="368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Bias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715000" y="2343912"/>
            <a:ext cx="1234440" cy="44196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769864" y="2385060"/>
            <a:ext cx="1124712" cy="368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LightGBM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949440" y="2343912"/>
            <a:ext cx="960120" cy="44196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004304" y="2385060"/>
            <a:ext cx="850392" cy="368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0.1652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909560" y="2343912"/>
            <a:ext cx="960120" cy="44196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964424" y="2385060"/>
            <a:ext cx="850392" cy="368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0.2145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8869680" y="2343912"/>
            <a:ext cx="960120" cy="44196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924544" y="2385060"/>
            <a:ext cx="850392" cy="368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0.3422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9829800" y="2343912"/>
            <a:ext cx="1051560" cy="44196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9884664" y="2385060"/>
            <a:ext cx="941832" cy="368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+0.0203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5715000" y="2785872"/>
            <a:ext cx="1234440" cy="44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5769864" y="2827020"/>
            <a:ext cx="1124712" cy="368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Dummy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949440" y="2785872"/>
            <a:ext cx="960120" cy="44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7004304" y="2827020"/>
            <a:ext cx="850392" cy="368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0.2697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7909560" y="2785872"/>
            <a:ext cx="960120" cy="44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7964424" y="2827020"/>
            <a:ext cx="850392" cy="368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0.3329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8869680" y="2785872"/>
            <a:ext cx="960120" cy="44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8924544" y="2827020"/>
            <a:ext cx="850392" cy="368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-0.5851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9829800" y="2785872"/>
            <a:ext cx="1051560" cy="44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9884664" y="2827020"/>
            <a:ext cx="941832" cy="368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+0.2023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5852160" y="3886200"/>
            <a:ext cx="21945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21AEB8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38.72%</a:t>
            </a: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5852160" y="4273875"/>
            <a:ext cx="21945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Dummy 대비 Test MAE 개선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8321040" y="3886200"/>
            <a:ext cx="23774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2863B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0.1417~0.1888</a:t>
            </a: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8321040" y="4273875"/>
            <a:ext cx="23774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월별 MAE 범위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5806440" y="5074920"/>
            <a:ext cx="5074920" cy="777240"/>
          </a:xfrm>
          <a:prstGeom prst="rect">
            <a:avLst/>
          </a:prstGeom>
          <a:solidFill>
            <a:srgbClr val="F1F7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5952744" y="5184648"/>
            <a:ext cx="4782312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&lt;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최종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해석</a:t>
            </a:r>
            <a:r>
              <a:rPr lang="en-US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&gt;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절대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폐업강도는 평균 0.165%p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오차로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예측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Test Y 변동폭이 작기 때문에 R²보다 MAE를 주지표로 보는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것이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타당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하다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atinLnBrk="0"/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08. </a:t>
            </a:r>
            <a:r>
              <a:rPr lang="ko-KR" alt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모델</a:t>
            </a:r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en-US" sz="85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분리</a:t>
            </a:r>
            <a:endParaRPr lang="en-US" sz="85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atinLnBrk="0"/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M1,</a:t>
            </a:r>
            <a:r>
              <a:rPr lang="ko-KR" alt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lang="en-US" altLang="ko-KR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M2</a:t>
            </a:r>
            <a:r>
              <a:rPr lang="ko-KR" alt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모델 분리를 통한 정확도 개선</a:t>
            </a:r>
            <a:endParaRPr lang="en-US" sz="1720" dirty="0">
              <a:solidFill>
                <a:srgbClr val="111111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절대 폐업강도와 같은 달 지역 간 상대위험은 서로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다른</a:t>
            </a: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문제</a:t>
            </a:r>
            <a:endParaRPr lang="en-US" sz="80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2267712"/>
            <a:ext cx="2286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Target 변동의 구성 (%)</a:t>
            </a: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9808" y="3176777"/>
            <a:ext cx="1417320" cy="19088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월별 공통변동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331720" y="3195065"/>
            <a:ext cx="2258568" cy="154305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331720" y="3195065"/>
            <a:ext cx="1854510" cy="154305"/>
          </a:xfrm>
          <a:prstGeom prst="rect">
            <a:avLst/>
          </a:prstGeom>
          <a:solidFill>
            <a:srgbClr val="2863B5"/>
          </a:solidFill>
          <a:ln w="12700">
            <a:solidFill>
              <a:srgbClr val="2863B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49808" y="3708272"/>
            <a:ext cx="1417320" cy="19088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지역 간 차이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331720" y="3726560"/>
            <a:ext cx="2258568" cy="154305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31720" y="3726560"/>
            <a:ext cx="404058" cy="154305"/>
          </a:xfrm>
          <a:prstGeom prst="rect">
            <a:avLst/>
          </a:prstGeom>
          <a:solidFill>
            <a:srgbClr val="2863B5"/>
          </a:solidFill>
          <a:ln w="12700">
            <a:solidFill>
              <a:srgbClr val="2863B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715000" y="2267712"/>
            <a:ext cx="1417320" cy="448056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769864" y="2308860"/>
            <a:ext cx="130759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모델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132320" y="2267712"/>
            <a:ext cx="1234440" cy="448056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187184" y="2308860"/>
            <a:ext cx="112471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절대 MAE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366760" y="2267712"/>
            <a:ext cx="1325880" cy="448056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421624" y="2308860"/>
            <a:ext cx="121615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지역상대 R²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692640" y="2267712"/>
            <a:ext cx="1280160" cy="448056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747504" y="2308860"/>
            <a:ext cx="117043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Top3 적중률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715000" y="2715768"/>
            <a:ext cx="1417320" cy="448056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769864" y="2756916"/>
            <a:ext cx="130759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LightGBM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132320" y="2715768"/>
            <a:ext cx="1234440" cy="448056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187184" y="2756916"/>
            <a:ext cx="112471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0.2698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366760" y="2715768"/>
            <a:ext cx="1325880" cy="448056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421624" y="2756916"/>
            <a:ext cx="121615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0.1249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692640" y="2715768"/>
            <a:ext cx="1280160" cy="448056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747504" y="2756916"/>
            <a:ext cx="117043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33.33%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715000" y="3163824"/>
            <a:ext cx="14173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769864" y="3204972"/>
            <a:ext cx="130759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XGBoost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132320" y="3163824"/>
            <a:ext cx="12344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187184" y="3204972"/>
            <a:ext cx="112471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0.2775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366760" y="3163824"/>
            <a:ext cx="132588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421624" y="3204972"/>
            <a:ext cx="121615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0.1387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692640" y="3163824"/>
            <a:ext cx="12801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747504" y="3204972"/>
            <a:ext cx="117043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38.89%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715000" y="3611880"/>
            <a:ext cx="1417320" cy="448056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769864" y="3653028"/>
            <a:ext cx="130759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Ridge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132320" y="3611880"/>
            <a:ext cx="1234440" cy="448056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187184" y="3653028"/>
            <a:ext cx="112471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0.2804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366760" y="3611880"/>
            <a:ext cx="1325880" cy="448056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421624" y="3653028"/>
            <a:ext cx="121615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0.1416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9692640" y="3611880"/>
            <a:ext cx="1280160" cy="448056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9747504" y="3653028"/>
            <a:ext cx="117043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38.89%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5715000" y="4059936"/>
            <a:ext cx="14173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5769864" y="4101084"/>
            <a:ext cx="130759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RandomForest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7132320" y="4059936"/>
            <a:ext cx="12344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7187184" y="4101084"/>
            <a:ext cx="112471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0.2872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8366760" y="4059936"/>
            <a:ext cx="132588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8421624" y="4101084"/>
            <a:ext cx="121615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-0.0483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9692640" y="4059936"/>
            <a:ext cx="12801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9747504" y="4101084"/>
            <a:ext cx="117043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27.78%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777240" y="4800600"/>
            <a:ext cx="4434840" cy="822960"/>
          </a:xfrm>
          <a:prstGeom prst="rect">
            <a:avLst/>
          </a:prstGeom>
          <a:solidFill>
            <a:srgbClr val="F1F7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923544" y="4910328"/>
            <a:ext cx="4142232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M1은 “부산 전체의 다음달 폐업 레벨”을 잘 맞추지만,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같은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달 16개 구·군의 상대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순위는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잘 맞추지 못하는 상황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5715000" y="4800600"/>
            <a:ext cx="5257800" cy="822960"/>
          </a:xfrm>
          <a:prstGeom prst="rect">
            <a:avLst/>
          </a:prstGeom>
          <a:solidFill>
            <a:srgbClr val="F1F7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5861304" y="4910328"/>
            <a:ext cx="4965192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모델을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M1(절대값 예측)과 M2(구조적 취약성 탐색)로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분리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모델 분리를 통해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높은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R²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값을 갖는 한편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Noto Sans CJK KR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지역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Ranking 성능의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모순을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설명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atinLnBrk="0"/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09. M2</a:t>
            </a:r>
          </a:p>
        </p:txBody>
      </p:sp>
      <p:sp>
        <p:nvSpPr>
          <p:cNvPr id="3" name="Shape 1"/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atinLnBrk="0"/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지역 상대 취약성은 “구조적 지역차”가 더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강함</a:t>
            </a:r>
            <a:endParaRPr lang="en-US" sz="1720" dirty="0">
              <a:solidFill>
                <a:srgbClr val="111111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관광·소비 동적변수보다 과거 지역 평균이 미래 상대위험을 더 잘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설명</a:t>
            </a:r>
            <a:endParaRPr lang="en-US" sz="80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1947671"/>
            <a:ext cx="2194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M2 OOF MAE </a:t>
            </a:r>
            <a:r>
              <a:rPr lang="en-US" sz="14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비교</a:t>
            </a:r>
            <a:endParaRPr lang="en-US" sz="1400" dirty="0">
              <a:solidFill>
                <a:srgbClr val="222222"/>
              </a:solidFill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2767657"/>
            <a:ext cx="1691640" cy="1888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Historical Region Mean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587752" y="2785945"/>
            <a:ext cx="2395728" cy="152248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587752" y="2785945"/>
            <a:ext cx="1445103" cy="152248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3152505"/>
            <a:ext cx="1691640" cy="1888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Ridge Region Only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587752" y="3170793"/>
            <a:ext cx="2395728" cy="152248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587752" y="3170793"/>
            <a:ext cx="1587889" cy="152248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" y="3537353"/>
            <a:ext cx="1691640" cy="1888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Zero Baseline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587752" y="3555641"/>
            <a:ext cx="2395728" cy="152248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587752" y="3555641"/>
            <a:ext cx="2300857" cy="152248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1520" y="3922201"/>
            <a:ext cx="1691640" cy="1888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Region + Dynamic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587752" y="3940489"/>
            <a:ext cx="2395728" cy="152248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587752" y="3940489"/>
            <a:ext cx="1711508" cy="152248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31520" y="4307049"/>
            <a:ext cx="1691640" cy="1888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Dynamic Only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587752" y="4325337"/>
            <a:ext cx="2395728" cy="152248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587752" y="4325337"/>
            <a:ext cx="1880167" cy="152248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715000" y="2169812"/>
            <a:ext cx="1097280" cy="41910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769864" y="2210960"/>
            <a:ext cx="987552" cy="3459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지역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812280" y="2169812"/>
            <a:ext cx="1417320" cy="41910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867144" y="2210960"/>
            <a:ext cx="1307592" cy="3459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평균 상대위험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229600" y="2169812"/>
            <a:ext cx="2651760" cy="41910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284464" y="2210960"/>
            <a:ext cx="2542032" cy="3459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해석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715000" y="2588912"/>
            <a:ext cx="1097280" cy="41910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769864" y="2630060"/>
            <a:ext cx="987552" cy="3459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강서구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812280" y="2588912"/>
            <a:ext cx="1417320" cy="41910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867144" y="2630060"/>
            <a:ext cx="1307592" cy="3459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+0.4956%p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229600" y="2588912"/>
            <a:ext cx="2651760" cy="41910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284464" y="2630060"/>
            <a:ext cx="2542032" cy="3459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관측기간 내내 부산 평균 이상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715000" y="3008012"/>
            <a:ext cx="1097280" cy="4191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769864" y="3049160"/>
            <a:ext cx="987552" cy="3459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동구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812280" y="3008012"/>
            <a:ext cx="1417320" cy="4191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867144" y="3049160"/>
            <a:ext cx="1307592" cy="3459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+0.1696%p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229600" y="3008012"/>
            <a:ext cx="2651760" cy="4191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284464" y="3049160"/>
            <a:ext cx="2542032" cy="3459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구조적 고위험권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715000" y="3427112"/>
            <a:ext cx="1097280" cy="41910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769864" y="3468260"/>
            <a:ext cx="987552" cy="3459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사상구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812280" y="3427112"/>
            <a:ext cx="1417320" cy="41910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867144" y="3468260"/>
            <a:ext cx="1307592" cy="3459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+0.1647%p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8229600" y="3427112"/>
            <a:ext cx="2651760" cy="41910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284464" y="3468260"/>
            <a:ext cx="2542032" cy="3459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구조적 고위험권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5715000" y="3846212"/>
            <a:ext cx="1097280" cy="4191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5769864" y="3887360"/>
            <a:ext cx="987552" cy="3459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중구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812280" y="3846212"/>
            <a:ext cx="1417320" cy="4191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867144" y="3887360"/>
            <a:ext cx="1307592" cy="3459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-0.1799%p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8229600" y="3846212"/>
            <a:ext cx="2651760" cy="4191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8284464" y="3887360"/>
            <a:ext cx="2542032" cy="3459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평균적으로 낮은 상대위험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5715000" y="4265312"/>
            <a:ext cx="1097280" cy="41910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5769864" y="4306460"/>
            <a:ext cx="987552" cy="3459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동래구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6812280" y="4265312"/>
            <a:ext cx="1417320" cy="41910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6867144" y="4306460"/>
            <a:ext cx="1307592" cy="3459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-0.1865%p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8229600" y="4265312"/>
            <a:ext cx="2651760" cy="41910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8284464" y="4306460"/>
            <a:ext cx="2542032" cy="3459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가장 낮은 상대위험권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777240" y="5257799"/>
            <a:ext cx="10058400" cy="777240"/>
          </a:xfrm>
          <a:prstGeom prst="rect">
            <a:avLst/>
          </a:prstGeom>
          <a:solidFill>
            <a:srgbClr val="FFF1E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923544" y="5367527"/>
            <a:ext cx="9765792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동적변수 추가 시 MAE가 오히려 5.21%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악화</a:t>
            </a:r>
            <a:r>
              <a:rPr lang="en-US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..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Noto Sans CJK KR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현재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데이터에서는 “관광·소비 변화가 상대 취약성을 만든다”보다 “구조적 취약성이 지속된다”는 해석이 더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안전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atinLnBrk="0"/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10. </a:t>
            </a:r>
            <a:r>
              <a:rPr lang="en-US" sz="85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모델</a:t>
            </a:r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en-US" sz="85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선정</a:t>
            </a:r>
            <a:endParaRPr lang="en-US" sz="85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atinLnBrk="0"/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최종 모델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선정</a:t>
            </a: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논리</a:t>
            </a:r>
            <a:endParaRPr lang="en-US" sz="1720" dirty="0">
              <a:solidFill>
                <a:srgbClr val="111111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성능, 과적합, 시간 안정성, 설명 가능성을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함께</a:t>
            </a: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판단</a:t>
            </a:r>
            <a:endParaRPr lang="en-US" sz="80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58368" y="1417320"/>
            <a:ext cx="2057400" cy="59436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13232" y="1458468"/>
            <a:ext cx="194767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모델/방식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15768" y="1417320"/>
            <a:ext cx="2926080" cy="59436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770632" y="1458468"/>
            <a:ext cx="281635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맞았던 점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641848" y="1417320"/>
            <a:ext cx="2834640" cy="59436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696712" y="1458468"/>
            <a:ext cx="272491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부족했던 점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476488" y="1417320"/>
            <a:ext cx="3017520" cy="59436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531352" y="1458468"/>
            <a:ext cx="290779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최종 판단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58368" y="2011680"/>
            <a:ext cx="2057400" cy="59436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13232" y="2052828"/>
            <a:ext cx="194767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LightGBM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715768" y="2011680"/>
            <a:ext cx="2926080" cy="59436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770632" y="2052828"/>
            <a:ext cx="281635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M1 MAE·OOF·Test 모두 우수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641848" y="2011680"/>
            <a:ext cx="2834640" cy="59436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696712" y="2052828"/>
            <a:ext cx="272491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지역 상대순위는 약함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476488" y="2011680"/>
            <a:ext cx="3017520" cy="59436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531352" y="2052828"/>
            <a:ext cx="290779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M1 최종 채택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58368" y="2606040"/>
            <a:ext cx="2057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13232" y="2647188"/>
            <a:ext cx="194767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XGBoost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715768" y="2606040"/>
            <a:ext cx="2926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770632" y="2647188"/>
            <a:ext cx="281635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RMSE/R²가 강하고 고위험군 분리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641848" y="2606040"/>
            <a:ext cx="2834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696712" y="2647188"/>
            <a:ext cx="272491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Train 과적합 신호 큼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476488" y="2606040"/>
            <a:ext cx="3017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531352" y="2647188"/>
            <a:ext cx="290779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후보 유지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58368" y="3200400"/>
            <a:ext cx="2057400" cy="59436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13232" y="3241548"/>
            <a:ext cx="194767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Random Forest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2715768" y="3200400"/>
            <a:ext cx="2926080" cy="59436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2770632" y="3241548"/>
            <a:ext cx="281635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단일 Validation에서 균형 좋음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641848" y="3200400"/>
            <a:ext cx="2834640" cy="59436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696712" y="3241548"/>
            <a:ext cx="272491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OOF에서 우위 약화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476488" y="3200400"/>
            <a:ext cx="3017520" cy="59436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531352" y="3241548"/>
            <a:ext cx="290779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보조 비교모델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58368" y="3794760"/>
            <a:ext cx="2057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13232" y="3835908"/>
            <a:ext cx="194767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Ridge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2715768" y="3794760"/>
            <a:ext cx="2926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2770632" y="3835908"/>
            <a:ext cx="281635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단순·안정적·해석 용이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641848" y="3794760"/>
            <a:ext cx="2834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696712" y="3835908"/>
            <a:ext cx="272491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비선형/12월 급등 대응 한계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8476488" y="3794760"/>
            <a:ext cx="3017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531352" y="3835908"/>
            <a:ext cx="290779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기준 모델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58368" y="4389120"/>
            <a:ext cx="2057400" cy="59436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13232" y="4430268"/>
            <a:ext cx="194767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Historical Region Mean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2715768" y="4389120"/>
            <a:ext cx="2926080" cy="59436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2770632" y="4430268"/>
            <a:ext cx="281635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M2 Top3 61.11% 적중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5641848" y="4389120"/>
            <a:ext cx="2834640" cy="59436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696712" y="4430268"/>
            <a:ext cx="272491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원인 설명은 구조지표 중심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8476488" y="4389120"/>
            <a:ext cx="3017520" cy="59436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8531352" y="4430268"/>
            <a:ext cx="290779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M2 구조취약성 지표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868680" y="5532120"/>
            <a:ext cx="10332720" cy="566928"/>
          </a:xfrm>
          <a:prstGeom prst="rect">
            <a:avLst/>
          </a:prstGeom>
          <a:solidFill>
            <a:srgbClr val="F1F7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1014984" y="5641848"/>
            <a:ext cx="1004011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M1은 LightGBM으로 절대 폐업강도를 예측하고, M2는 Historical Region Mean 기반의 구조적 취약성 지표로 지역 간 상대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위험을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설명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11. 다음 단계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atinLnBrk="0"/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Feature Importance → SHAP →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지역별</a:t>
            </a: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설명</a:t>
            </a:r>
            <a:endParaRPr lang="en-US" sz="1720" dirty="0">
              <a:solidFill>
                <a:srgbClr val="111111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성능 경쟁을 종료하고 “왜 위험한가”를 설명하는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단계로</a:t>
            </a: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이동</a:t>
            </a:r>
            <a:endParaRPr lang="en-US" sz="80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77240" y="2194560"/>
            <a:ext cx="2240280" cy="1371600"/>
          </a:xfrm>
          <a:prstGeom prst="rect">
            <a:avLst/>
          </a:prstGeom>
          <a:solidFill>
            <a:srgbClr val="F1F7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41832" y="2383155"/>
            <a:ext cx="292608" cy="292608"/>
          </a:xfrm>
          <a:prstGeom prst="ellipse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41832" y="2456307"/>
            <a:ext cx="29260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344168" y="2424303"/>
            <a:ext cx="15087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Feature Importance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44168" y="2633472"/>
            <a:ext cx="1673352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LightGBM이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예측에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많이 쓴 변수 확인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520440" y="2194560"/>
            <a:ext cx="2240280" cy="1371600"/>
          </a:xfrm>
          <a:prstGeom prst="rect">
            <a:avLst/>
          </a:prstGeom>
          <a:solidFill>
            <a:srgbClr val="E8F6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685032" y="2383155"/>
            <a:ext cx="292608" cy="292608"/>
          </a:xfrm>
          <a:prstGeom prst="ellipse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685032" y="2456307"/>
            <a:ext cx="29260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087368" y="2424303"/>
            <a:ext cx="15087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SHAP Summary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087368" y="2633472"/>
            <a:ext cx="1673352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변수값이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위험을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올리는지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/내리는지 방향 확인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63640" y="2194560"/>
            <a:ext cx="2240280" cy="1371600"/>
          </a:xfrm>
          <a:prstGeom prst="rect">
            <a:avLst/>
          </a:prstGeom>
          <a:solidFill>
            <a:srgbClr val="FFF1E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28232" y="2383155"/>
            <a:ext cx="292608" cy="292608"/>
          </a:xfrm>
          <a:prstGeom prst="ellipse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830568" y="2424303"/>
            <a:ext cx="15087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지역별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SHAP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830568" y="2633472"/>
            <a:ext cx="150876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강서구·중구·사하구 등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사례별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원인 설명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006840" y="2194560"/>
            <a:ext cx="2240280" cy="1371600"/>
          </a:xfrm>
          <a:prstGeom prst="rect">
            <a:avLst/>
          </a:prstGeom>
          <a:solidFill>
            <a:srgbClr val="F0EC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171432" y="2383155"/>
            <a:ext cx="292608" cy="292608"/>
          </a:xfrm>
          <a:prstGeom prst="ellipse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573768" y="2424303"/>
            <a:ext cx="15087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Dashboard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573768" y="2633472"/>
            <a:ext cx="150876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예측 폐업강도 +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구조취약성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+ 설명 변수 시각화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77240" y="4480560"/>
            <a:ext cx="10561320" cy="256032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77240" y="4480560"/>
            <a:ext cx="10561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모델 선정 핵심 지표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77240" y="4846320"/>
            <a:ext cx="10561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32104" y="4887468"/>
            <a:ext cx="10451592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“부산 폐업위험은 월별 공통충격이 매우 강하지만, 강서구·동구·사상구처럼 구조적으로 부산 평균보다 높은 지역도 존재한다.”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77240" y="5394960"/>
            <a:ext cx="10561320" cy="54864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32104" y="5436108"/>
            <a:ext cx="10451592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Noto Sans CJK KR" pitchFamily="34" charset="-120"/>
              </a:rPr>
              <a:t>“따라서 절대 위험 예측은 LightGBM, 지역 상대 취약성은 구조지표로 분리해 해석하는 것이 타당하다.”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65AA97C7-F0D3-2AAE-A4B7-02A4CE9124C3}"/>
              </a:ext>
            </a:extLst>
          </p:cNvPr>
          <p:cNvSpPr/>
          <p:nvPr/>
        </p:nvSpPr>
        <p:spPr>
          <a:xfrm>
            <a:off x="6428232" y="2456307"/>
            <a:ext cx="29260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dirty="0">
                <a:solidFill>
                  <a:srgbClr val="FFFFF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ABBD96D3-81C2-4AD8-9AE8-8806C1200F25}"/>
              </a:ext>
            </a:extLst>
          </p:cNvPr>
          <p:cNvSpPr/>
          <p:nvPr/>
        </p:nvSpPr>
        <p:spPr>
          <a:xfrm>
            <a:off x="9171432" y="2456307"/>
            <a:ext cx="29260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8"/>
          </a:solidFill>
          <a:ln>
            <a:solidFill>
              <a:srgbClr val="F7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965960" cy="6858000"/>
          </a:xfrm>
          <a:prstGeom prst="rect">
            <a:avLst/>
          </a:prstGeom>
          <a:solidFill>
            <a:srgbClr val="1FAAB5"/>
          </a:solidFill>
          <a:ln>
            <a:solidFill>
              <a:srgbClr val="1FA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29184" y="5559552"/>
            <a:ext cx="1051560" cy="100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29184" y="5788152"/>
            <a:ext cx="658368" cy="100584"/>
          </a:xfrm>
          <a:prstGeom prst="roundRect">
            <a:avLst/>
          </a:prstGeom>
          <a:solidFill>
            <a:srgbClr val="DEF1F3"/>
          </a:solidFill>
          <a:ln w="12700">
            <a:solidFill>
              <a:srgbClr val="DE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59152" y="530352"/>
            <a:ext cx="2011680" cy="27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Model Insight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59152" y="868680"/>
            <a:ext cx="9006840" cy="0"/>
          </a:xfrm>
          <a:prstGeom prst="line">
            <a:avLst/>
          </a:prstGeom>
          <a:ln w="17780">
            <a:solidFill>
              <a:srgbClr val="DEF1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359152" y="1078992"/>
            <a:ext cx="6309360" cy="870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350" dirty="0" err="1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부산</a:t>
            </a:r>
            <a:r>
              <a:rPr sz="2350" dirty="0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sz="2350" dirty="0" err="1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폐업</a:t>
            </a:r>
            <a:r>
              <a:rPr lang="en-US" sz="2350" dirty="0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sz="2350" dirty="0" err="1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위험</a:t>
            </a:r>
            <a:r>
              <a:rPr lang="en-US" sz="2350" dirty="0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lang="ko-KR" altLang="en-US" sz="2350" dirty="0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강도</a:t>
            </a:r>
            <a:r>
              <a:rPr sz="2350" dirty="0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sz="2350" dirty="0" err="1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예측</a:t>
            </a:r>
            <a:r>
              <a:rPr lang="en-US" sz="2350" dirty="0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sz="2350" dirty="0" err="1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모델</a:t>
            </a:r>
            <a:endParaRPr sz="2350" dirty="0">
              <a:solidFill>
                <a:srgbClr val="223035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350" dirty="0" err="1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해석·인사이트</a:t>
            </a:r>
            <a:endParaRPr sz="2350" dirty="0">
              <a:solidFill>
                <a:srgbClr val="223035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59152" y="1920240"/>
            <a:ext cx="6858000" cy="2763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0" b="0" i="0" u="none" strike="noStrike" kern="1200" cap="none" spc="0" normalizeH="0" baseline="0" noProof="0" dirty="0" err="1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LightGBM</a:t>
            </a:r>
            <a:r>
              <a:rPr kumimoji="0" sz="112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 SHAP </a:t>
            </a:r>
            <a:r>
              <a:rPr kumimoji="0" sz="1120" b="0" i="0" u="none" strike="noStrike" kern="1200" cap="none" spc="0" normalizeH="0" baseline="0" noProof="0" dirty="0" err="1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기반으로</a:t>
            </a:r>
            <a:r>
              <a:rPr kumimoji="0" sz="112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 본 </a:t>
            </a:r>
            <a:r>
              <a:rPr kumimoji="0" sz="1120" b="0" i="0" u="none" strike="noStrike" kern="1200" cap="none" spc="0" normalizeH="0" baseline="0" noProof="0" dirty="0" err="1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관광</a:t>
            </a:r>
            <a:r>
              <a:rPr kumimoji="0" sz="112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 </a:t>
            </a:r>
            <a:r>
              <a:rPr kumimoji="0" sz="1120" b="0" i="0" u="none" strike="noStrike" kern="1200" cap="none" spc="0" normalizeH="0" baseline="0" noProof="0" dirty="0" err="1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성장</a:t>
            </a:r>
            <a:r>
              <a:rPr kumimoji="0" sz="112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, </a:t>
            </a:r>
            <a:r>
              <a:rPr kumimoji="0" sz="1120" b="0" i="0" u="none" strike="noStrike" kern="1200" cap="none" spc="0" normalizeH="0" baseline="0" noProof="0" dirty="0" err="1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내수</a:t>
            </a:r>
            <a:r>
              <a:rPr kumimoji="0" sz="112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, </a:t>
            </a:r>
            <a:r>
              <a:rPr kumimoji="0" sz="1120" b="0" i="0" u="none" strike="noStrike" kern="1200" cap="none" spc="0" normalizeH="0" baseline="0" noProof="0" dirty="0" err="1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사업자</a:t>
            </a:r>
            <a:r>
              <a:rPr kumimoji="0" sz="112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 </a:t>
            </a:r>
            <a:r>
              <a:rPr kumimoji="0" sz="1120" b="0" i="0" u="none" strike="noStrike" kern="1200" cap="none" spc="0" normalizeH="0" baseline="0" noProof="0" dirty="0" err="1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변화의</a:t>
            </a:r>
            <a:r>
              <a:rPr kumimoji="0" sz="112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 </a:t>
            </a:r>
            <a:r>
              <a:rPr kumimoji="0" sz="1120" b="0" i="0" u="none" strike="noStrike" kern="1200" cap="none" spc="0" normalizeH="0" baseline="0" noProof="0" dirty="0" err="1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의미</a:t>
            </a:r>
            <a:endParaRPr kumimoji="0" sz="1120" b="0" i="0" u="none" strike="noStrike" kern="1200" cap="none" spc="0" normalizeH="0" baseline="0" noProof="0" dirty="0">
              <a:ln>
                <a:noFill/>
              </a:ln>
              <a:solidFill>
                <a:srgbClr val="5C6A70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359152" y="2615184"/>
            <a:ext cx="2743200" cy="347472"/>
          </a:xfrm>
          <a:prstGeom prst="roundRect">
            <a:avLst/>
          </a:prstGeom>
          <a:solidFill>
            <a:srgbClr val="DEF1F3"/>
          </a:solidFill>
          <a:ln w="12700">
            <a:solidFill>
              <a:srgbClr val="DE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8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M1 </a:t>
            </a:r>
            <a:r>
              <a:rPr kumimoji="0" sz="1180" i="0" u="none" strike="noStrike" kern="1200" cap="none" spc="0" normalizeH="0" baseline="0" noProof="0" dirty="0" err="1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다음달</a:t>
            </a:r>
            <a:r>
              <a:rPr kumimoji="0" sz="118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 </a:t>
            </a:r>
            <a:r>
              <a:rPr kumimoji="0" sz="1180" i="0" u="none" strike="noStrike" kern="1200" cap="none" spc="0" normalizeH="0" baseline="0" noProof="0" dirty="0" err="1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절대</a:t>
            </a:r>
            <a:r>
              <a:rPr kumimoji="0" sz="118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 </a:t>
            </a:r>
            <a:r>
              <a:rPr kumimoji="0" sz="1180" i="0" u="none" strike="noStrike" kern="1200" cap="none" spc="0" normalizeH="0" baseline="0" noProof="0" dirty="0" err="1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폐업강도</a:t>
            </a:r>
            <a:r>
              <a:rPr kumimoji="0" sz="118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 </a:t>
            </a:r>
            <a:r>
              <a:rPr kumimoji="0" sz="1180" i="0" u="none" strike="noStrike" kern="1200" cap="none" spc="0" normalizeH="0" baseline="0" noProof="0" dirty="0" err="1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예측</a:t>
            </a:r>
            <a:endParaRPr kumimoji="0" sz="118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230368" y="2615184"/>
            <a:ext cx="2734056" cy="347472"/>
          </a:xfrm>
          <a:prstGeom prst="roundRect">
            <a:avLst/>
          </a:prstGeom>
          <a:solidFill>
            <a:srgbClr val="DEF1F3"/>
          </a:solidFill>
          <a:ln w="12700">
            <a:solidFill>
              <a:srgbClr val="DE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8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M2 </a:t>
            </a:r>
            <a:r>
              <a:rPr kumimoji="0" sz="1180" i="0" u="none" strike="noStrike" kern="1200" cap="none" spc="0" normalizeH="0" baseline="0" noProof="0" dirty="0" err="1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구조적</a:t>
            </a:r>
            <a:r>
              <a:rPr kumimoji="0" sz="118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 </a:t>
            </a:r>
            <a:r>
              <a:rPr kumimoji="0" sz="1180" i="0" u="none" strike="noStrike" kern="1200" cap="none" spc="0" normalizeH="0" baseline="0" noProof="0" dirty="0" err="1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상대</a:t>
            </a:r>
            <a:r>
              <a:rPr kumimoji="0" sz="118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 </a:t>
            </a:r>
            <a:r>
              <a:rPr kumimoji="0" sz="1180" i="0" u="none" strike="noStrike" kern="1200" cap="none" spc="0" normalizeH="0" baseline="0" noProof="0" dirty="0" err="1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취약성</a:t>
            </a:r>
            <a:endParaRPr kumimoji="0" sz="118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359152" y="4965192"/>
            <a:ext cx="1481328" cy="101498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78608" y="5200030"/>
            <a:ext cx="1042416" cy="3838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0.1652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8608" y="5538358"/>
            <a:ext cx="1042416" cy="2332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9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Final Test MAE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68496" y="4965192"/>
            <a:ext cx="1481328" cy="101498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187952" y="5200030"/>
            <a:ext cx="1042416" cy="3838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38.72%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87952" y="5538358"/>
            <a:ext cx="1042416" cy="2332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9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Dummy </a:t>
            </a:r>
            <a:r>
              <a:rPr kumimoji="0" sz="869" b="0" i="0" u="none" strike="noStrike" kern="1200" cap="none" spc="0" normalizeH="0" baseline="0" noProof="0" dirty="0" err="1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대비</a:t>
            </a:r>
            <a:r>
              <a:rPr kumimoji="0" sz="869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kumimoji="0" sz="869" b="0" i="0" u="none" strike="noStrike" kern="1200" cap="none" spc="0" normalizeH="0" baseline="0" noProof="0" dirty="0" err="1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개선</a:t>
            </a:r>
            <a:endParaRPr kumimoji="0" sz="869" b="0" i="0" u="none" strike="noStrike" kern="1200" cap="none" spc="0" normalizeH="0" baseline="0" noProof="0" dirty="0">
              <a:ln>
                <a:noFill/>
              </a:ln>
              <a:solidFill>
                <a:srgbClr val="5C6A70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577840" y="4965192"/>
            <a:ext cx="1481328" cy="101498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797296" y="5200030"/>
            <a:ext cx="1042416" cy="3838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61.11%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97296" y="5538358"/>
            <a:ext cx="1042416" cy="2332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9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M2 Top3 </a:t>
            </a:r>
            <a:r>
              <a:rPr kumimoji="0" sz="869" b="0" i="0" u="none" strike="noStrike" kern="1200" cap="none" spc="0" normalizeH="0" baseline="0" noProof="0" dirty="0" err="1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적중률</a:t>
            </a:r>
            <a:endParaRPr kumimoji="0" sz="869" b="0" i="0" u="none" strike="noStrike" kern="1200" cap="none" spc="0" normalizeH="0" baseline="0" noProof="0" dirty="0">
              <a:ln>
                <a:noFill/>
              </a:ln>
              <a:solidFill>
                <a:srgbClr val="5C6A70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187184" y="4965192"/>
            <a:ext cx="4593031" cy="101498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54A52DA9-2589-8648-1592-8304DFD62FA4}"/>
              </a:ext>
            </a:extLst>
          </p:cNvPr>
          <p:cNvGrpSpPr/>
          <p:nvPr/>
        </p:nvGrpSpPr>
        <p:grpSpPr>
          <a:xfrm>
            <a:off x="7388352" y="5078609"/>
            <a:ext cx="4190695" cy="788151"/>
            <a:chOff x="7388352" y="5093208"/>
            <a:chExt cx="4190695" cy="788151"/>
          </a:xfrm>
        </p:grpSpPr>
        <p:sp>
          <p:nvSpPr>
            <p:cNvPr id="29" name="TextBox 28"/>
            <p:cNvSpPr txBox="1"/>
            <p:nvPr/>
          </p:nvSpPr>
          <p:spPr>
            <a:xfrm>
              <a:off x="7388352" y="5093208"/>
              <a:ext cx="4190695" cy="24782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60" b="1" i="0" u="none" strike="noStrike" kern="1200" cap="none" spc="0" normalizeH="0" baseline="0" noProof="0" dirty="0">
                  <a:ln>
                    <a:noFill/>
                  </a:ln>
                  <a:solidFill>
                    <a:srgbClr val="15747C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SECTION SUMMARY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388352" y="5330952"/>
              <a:ext cx="4190695" cy="550407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모델은</a:t>
              </a: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“</a:t>
              </a:r>
              <a:r>
                <a:rPr kumimoji="0" sz="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관광객이</a:t>
              </a: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kumimoji="0" sz="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많다</a:t>
              </a: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” </a:t>
              </a:r>
              <a:r>
                <a:rPr kumimoji="0" sz="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자체보다</a:t>
              </a: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, 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외부방문</a:t>
              </a: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kumimoji="0" sz="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의존·현지인</a:t>
              </a: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kumimoji="0" sz="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방문</a:t>
              </a: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kumimoji="0" sz="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약화·사업자</a:t>
              </a: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kumimoji="0" sz="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성장</a:t>
              </a: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kumimoji="0" sz="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정체가</a:t>
              </a: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kumimoji="0" sz="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겹치는</a:t>
              </a: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kumimoji="0" sz="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구조를</a:t>
              </a: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위험</a:t>
              </a: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kumimoji="0" sz="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신호로</a:t>
              </a: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kumimoji="0" sz="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학습</a:t>
              </a: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하였다</a:t>
              </a:r>
              <a:endPara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433D8BBB-B57A-EDE7-1FE7-812B244446A5}"/>
              </a:ext>
            </a:extLst>
          </p:cNvPr>
          <p:cNvGrpSpPr/>
          <p:nvPr/>
        </p:nvGrpSpPr>
        <p:grpSpPr>
          <a:xfrm>
            <a:off x="329184" y="530352"/>
            <a:ext cx="914400" cy="861646"/>
            <a:chOff x="109728" y="217346"/>
            <a:chExt cx="914400" cy="861646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D5E3F40-C63C-6C1B-3554-1B69360DA609}"/>
                </a:ext>
              </a:extLst>
            </p:cNvPr>
            <p:cNvSpPr txBox="1"/>
            <p:nvPr/>
          </p:nvSpPr>
          <p:spPr>
            <a:xfrm>
              <a:off x="109728" y="338918"/>
              <a:ext cx="914400" cy="74007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0</a:t>
              </a:r>
              <a:r>
                <a:rPr lang="en-US" sz="4000" b="1" dirty="0">
                  <a:solidFill>
                    <a:srgbClr val="FFFFFF"/>
                  </a:solidFill>
                  <a:latin typeface="HG꼬딕씨_Pro 60g" panose="02020603020101020101" pitchFamily="18" charset="-127"/>
                </a:rPr>
                <a:t>5</a:t>
              </a:r>
              <a:endPara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F429597-8A0E-229F-DDEB-A0088AB094A0}"/>
                </a:ext>
              </a:extLst>
            </p:cNvPr>
            <p:cNvSpPr txBox="1"/>
            <p:nvPr/>
          </p:nvSpPr>
          <p:spPr>
            <a:xfrm>
              <a:off x="109728" y="217346"/>
              <a:ext cx="877824" cy="24314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8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SECTION</a:t>
              </a: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01. 모델 해석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모델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해석</a:t>
            </a: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프레임</a:t>
            </a:r>
            <a:endParaRPr lang="en-US" sz="1720" dirty="0">
              <a:solidFill>
                <a:srgbClr val="111111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M1은 “얼마나 위험한가”, M2는 “어느 지역이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구조적으로</a:t>
            </a: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취약한가”를</a:t>
            </a: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ko-KR" alt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확인</a:t>
            </a:r>
            <a:endParaRPr lang="en-US" sz="80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22960" y="2232660"/>
            <a:ext cx="3063240" cy="3108960"/>
          </a:xfrm>
          <a:prstGeom prst="rect">
            <a:avLst/>
          </a:prstGeom>
          <a:solidFill>
            <a:srgbClr val="F1F7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51560" y="2506980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Noto Sans CJK KR" pitchFamily="34" charset="-120"/>
              </a:rPr>
              <a:t>입력 신호</a:t>
            </a:r>
            <a:endParaRPr kumimoji="0" lang="en-US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51560" y="3101340"/>
            <a:ext cx="256032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외부방문비중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현지인 방문 YoY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사업자 YoY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관광소비 구조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월/계절 효과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 rot="5400000">
            <a:off x="4137660" y="3540252"/>
            <a:ext cx="182880" cy="201168"/>
          </a:xfrm>
          <a:prstGeom prst="triangle">
            <a:avLst/>
          </a:prstGeom>
          <a:solidFill>
            <a:srgbClr val="D9DEE6"/>
          </a:solidFill>
          <a:ln w="1270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0" y="2232660"/>
            <a:ext cx="3063240" cy="3108960"/>
          </a:xfrm>
          <a:prstGeom prst="rect">
            <a:avLst/>
          </a:prstGeom>
          <a:solidFill>
            <a:srgbClr val="E8F6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00600" y="2506980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Noto Sans CJK KR" pitchFamily="34" charset="-120"/>
              </a:rPr>
              <a:t>모델 해석</a:t>
            </a:r>
            <a:endParaRPr kumimoji="0" lang="en-US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00600" y="3101340"/>
            <a:ext cx="256032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LightGBM SHAP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변수별 +/− 기여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구간별 위험신호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계절·비계절 요인 분리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 rot="5400000">
            <a:off x="7886700" y="3540252"/>
            <a:ext cx="182880" cy="201168"/>
          </a:xfrm>
          <a:prstGeom prst="triangle">
            <a:avLst/>
          </a:prstGeom>
          <a:solidFill>
            <a:srgbClr val="D9DEE6"/>
          </a:solidFill>
          <a:ln w="1270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321040" y="2232660"/>
            <a:ext cx="3063240" cy="3108960"/>
          </a:xfrm>
          <a:prstGeom prst="rect">
            <a:avLst/>
          </a:prstGeom>
          <a:solidFill>
            <a:srgbClr val="FFF1E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549640" y="2506980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Noto Sans CJK KR" pitchFamily="34" charset="-120"/>
              </a:rPr>
              <a:t>결과 활용</a:t>
            </a:r>
            <a:endParaRPr kumimoji="0" lang="en-US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549640" y="3101340"/>
            <a:ext cx="256032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다음달 폐업강도 예측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구조적 취약지역 식별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위험 조건 중첩 진단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대시보드 설명 카드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02. SHAP 전체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SHAP 전체 중요도: 계절효과가 강한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기준점으로</a:t>
            </a: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작동</a:t>
            </a:r>
            <a:endParaRPr lang="en-US" sz="1720" dirty="0">
              <a:solidFill>
                <a:srgbClr val="111111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11월 feature는 12월 폐업 급등 패턴을 반영한 강력한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계절</a:t>
            </a: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신호</a:t>
            </a:r>
            <a:endParaRPr lang="en-US" sz="80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2816352"/>
            <a:ext cx="1508760" cy="2148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월_11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404872" y="2834640"/>
            <a:ext cx="2807208" cy="178308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404872" y="2834640"/>
            <a:ext cx="2449927" cy="178308"/>
          </a:xfrm>
          <a:prstGeom prst="rect">
            <a:avLst/>
          </a:prstGeom>
          <a:solidFill>
            <a:srgbClr val="F24072"/>
          </a:solidFill>
          <a:ln w="12700">
            <a:solidFill>
              <a:srgbClr val="F2407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3256178"/>
            <a:ext cx="1508760" cy="2148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월_2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404872" y="3274466"/>
            <a:ext cx="2807208" cy="178308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404872" y="3274466"/>
            <a:ext cx="1038667" cy="178308"/>
          </a:xfrm>
          <a:prstGeom prst="rect">
            <a:avLst/>
          </a:prstGeom>
          <a:solidFill>
            <a:srgbClr val="F24072"/>
          </a:solidFill>
          <a:ln w="12700">
            <a:solidFill>
              <a:srgbClr val="F2407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" y="3696005"/>
            <a:ext cx="1508760" cy="2148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외부방문비중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404872" y="3714293"/>
            <a:ext cx="2807208" cy="178308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404872" y="3714293"/>
            <a:ext cx="2715336" cy="178308"/>
          </a:xfrm>
          <a:prstGeom prst="rect">
            <a:avLst/>
          </a:prstGeom>
          <a:solidFill>
            <a:srgbClr val="F24072"/>
          </a:solidFill>
          <a:ln w="12700">
            <a:solidFill>
              <a:srgbClr val="F2407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520" y="4135831"/>
            <a:ext cx="1508760" cy="2148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월_12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404872" y="4154119"/>
            <a:ext cx="2807208" cy="178308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404872" y="4154119"/>
            <a:ext cx="1727709" cy="178308"/>
          </a:xfrm>
          <a:prstGeom prst="rect">
            <a:avLst/>
          </a:prstGeom>
          <a:solidFill>
            <a:srgbClr val="F24072"/>
          </a:solidFill>
          <a:ln w="12700">
            <a:solidFill>
              <a:srgbClr val="F2407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31520" y="4575658"/>
            <a:ext cx="1508760" cy="2148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체류시간 YoY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404872" y="4593946"/>
            <a:ext cx="2807208" cy="178308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404872" y="4593946"/>
            <a:ext cx="2378471" cy="178308"/>
          </a:xfrm>
          <a:prstGeom prst="rect">
            <a:avLst/>
          </a:prstGeom>
          <a:solidFill>
            <a:srgbClr val="F24072"/>
          </a:solidFill>
          <a:ln w="12700">
            <a:solidFill>
              <a:srgbClr val="F2407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31520" y="5015484"/>
            <a:ext cx="1508760" cy="2148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외부방문자 YoY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404872" y="5033772"/>
            <a:ext cx="2807208" cy="178308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404872" y="5033772"/>
            <a:ext cx="1921661" cy="178308"/>
          </a:xfrm>
          <a:prstGeom prst="rect">
            <a:avLst/>
          </a:prstGeom>
          <a:solidFill>
            <a:srgbClr val="F24072"/>
          </a:solidFill>
          <a:ln w="12700">
            <a:solidFill>
              <a:srgbClr val="F2407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669280" y="2221992"/>
            <a:ext cx="1554480" cy="438912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724144" y="2263140"/>
            <a:ext cx="144475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상위 SHAP 요인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223760" y="2221992"/>
            <a:ext cx="3703320" cy="438912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278624" y="2263140"/>
            <a:ext cx="359359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해석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669280" y="2660904"/>
            <a:ext cx="1554480" cy="438912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724144" y="2702052"/>
            <a:ext cx="144475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월_11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223760" y="2660904"/>
            <a:ext cx="3703320" cy="438912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278624" y="2702052"/>
            <a:ext cx="359359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11월 → 다음달 12월 폐업 급등을 학습한 계절 기준점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669280" y="3099816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724144" y="3140964"/>
            <a:ext cx="144475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월_2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223760" y="3099816"/>
            <a:ext cx="3703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278624" y="3140964"/>
            <a:ext cx="359359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2월 feature → 다음달 3월 구간의 시점 효과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669280" y="3538728"/>
            <a:ext cx="1554480" cy="438912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724144" y="3579876"/>
            <a:ext cx="144475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외부방문비중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223760" y="3538728"/>
            <a:ext cx="3703320" cy="438912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278624" y="3579876"/>
            <a:ext cx="359359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외부방문 의존이 높은 지역을 위험 신호로 활용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669280" y="3977640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724144" y="4018788"/>
            <a:ext cx="144475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월_12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223760" y="3977640"/>
            <a:ext cx="3703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278624" y="4018788"/>
            <a:ext cx="359359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12월 → 다음해 1월 전환의 계절효과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5669280" y="4754880"/>
            <a:ext cx="5257800" cy="868680"/>
          </a:xfrm>
          <a:prstGeom prst="rect">
            <a:avLst/>
          </a:prstGeom>
          <a:solidFill>
            <a:srgbClr val="FFF1E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5815584" y="4864608"/>
            <a:ext cx="4965192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중요: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Test에는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11월 (2026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기준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)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데이터가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없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다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“월_11=0”이라는 사실 자체가 예측을 낮추는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방향으로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작동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즉 “월_11”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의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1위는 계절 패턴의 부재까지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포함한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기준점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03. 계절 제외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모델이 본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관광·소비·사업자</a:t>
            </a: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신호</a:t>
            </a:r>
            <a:endParaRPr lang="en-US" sz="1720" dirty="0">
              <a:solidFill>
                <a:srgbClr val="111111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계절 효과를 제외하면 외부방문비중이 가장 강한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비계절</a:t>
            </a: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변수</a:t>
            </a:r>
            <a:endParaRPr lang="en-US" sz="80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1666799"/>
            <a:ext cx="2468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관광·경제 SHAP 비중 (%)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2130552"/>
            <a:ext cx="1645920" cy="21402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외부방문비중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542032" y="2148840"/>
            <a:ext cx="3401568" cy="177451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542032" y="2148840"/>
            <a:ext cx="3290244" cy="177451"/>
          </a:xfrm>
          <a:prstGeom prst="rect">
            <a:avLst/>
          </a:prstGeom>
          <a:solidFill>
            <a:srgbClr val="2863B5"/>
          </a:solidFill>
          <a:ln w="12700">
            <a:solidFill>
              <a:srgbClr val="2863B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2555870"/>
            <a:ext cx="1645920" cy="21402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현지인방문 YoY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542032" y="2574158"/>
            <a:ext cx="3401568" cy="177451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542032" y="2574158"/>
            <a:ext cx="1793554" cy="177451"/>
          </a:xfrm>
          <a:prstGeom prst="rect">
            <a:avLst/>
          </a:prstGeom>
          <a:solidFill>
            <a:srgbClr val="2863B5"/>
          </a:solidFill>
          <a:ln w="12700">
            <a:solidFill>
              <a:srgbClr val="2863B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" y="2981189"/>
            <a:ext cx="1645920" cy="21402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사업자 YoY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542032" y="2999477"/>
            <a:ext cx="3401568" cy="177451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542032" y="2999477"/>
            <a:ext cx="2006925" cy="177451"/>
          </a:xfrm>
          <a:prstGeom prst="rect">
            <a:avLst/>
          </a:prstGeom>
          <a:solidFill>
            <a:srgbClr val="2863B5"/>
          </a:solidFill>
          <a:ln w="12700">
            <a:solidFill>
              <a:srgbClr val="2863B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1520" y="3406507"/>
            <a:ext cx="1645920" cy="21402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외부방문자 YoY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542032" y="3424795"/>
            <a:ext cx="3401568" cy="177451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542032" y="3424795"/>
            <a:ext cx="2328528" cy="177451"/>
          </a:xfrm>
          <a:prstGeom prst="rect">
            <a:avLst/>
          </a:prstGeom>
          <a:solidFill>
            <a:srgbClr val="2863B5"/>
          </a:solidFill>
          <a:ln w="12700">
            <a:solidFill>
              <a:srgbClr val="2863B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31520" y="3831826"/>
            <a:ext cx="1645920" cy="21402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1인당 관광소비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542032" y="3850114"/>
            <a:ext cx="3401568" cy="177451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542032" y="3850114"/>
            <a:ext cx="2263589" cy="177451"/>
          </a:xfrm>
          <a:prstGeom prst="rect">
            <a:avLst/>
          </a:prstGeom>
          <a:solidFill>
            <a:srgbClr val="2863B5"/>
          </a:solidFill>
          <a:ln w="12700">
            <a:solidFill>
              <a:srgbClr val="2863B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31520" y="4257144"/>
            <a:ext cx="1645920" cy="21402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관광소비비중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542032" y="4275432"/>
            <a:ext cx="3401568" cy="177451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542032" y="4275432"/>
            <a:ext cx="2071864" cy="177451"/>
          </a:xfrm>
          <a:prstGeom prst="rect">
            <a:avLst/>
          </a:prstGeom>
          <a:solidFill>
            <a:srgbClr val="2863B5"/>
          </a:solidFill>
          <a:ln w="12700">
            <a:solidFill>
              <a:srgbClr val="2863B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31520" y="4682463"/>
            <a:ext cx="1645920" cy="21402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방문-소비 Gap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542032" y="4700751"/>
            <a:ext cx="3401568" cy="177451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542032" y="4700751"/>
            <a:ext cx="2925348" cy="177451"/>
          </a:xfrm>
          <a:prstGeom prst="rect">
            <a:avLst/>
          </a:prstGeom>
          <a:solidFill>
            <a:srgbClr val="2863B5"/>
          </a:solidFill>
          <a:ln w="12700">
            <a:solidFill>
              <a:srgbClr val="2863B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31520" y="5107781"/>
            <a:ext cx="1645920" cy="21402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체류시간 YoY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542032" y="5126069"/>
            <a:ext cx="3401568" cy="177451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542032" y="5126069"/>
            <a:ext cx="2882056" cy="177451"/>
          </a:xfrm>
          <a:prstGeom prst="rect">
            <a:avLst/>
          </a:prstGeom>
          <a:solidFill>
            <a:srgbClr val="2863B5"/>
          </a:solidFill>
          <a:ln w="12700">
            <a:solidFill>
              <a:srgbClr val="2863B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537960" y="2794194"/>
            <a:ext cx="1417320" cy="20528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외부방문 의존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119872" y="2812482"/>
            <a:ext cx="2578608" cy="168707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119872" y="2812482"/>
            <a:ext cx="2283910" cy="168707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537960" y="3220647"/>
            <a:ext cx="1417320" cy="20528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현지인 수요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119872" y="3238935"/>
            <a:ext cx="2578608" cy="168707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119872" y="3238935"/>
            <a:ext cx="1252467" cy="168707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537960" y="3647101"/>
            <a:ext cx="1417320" cy="20528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사업자 기반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119872" y="3665389"/>
            <a:ext cx="2578608" cy="168707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8119872" y="3665389"/>
            <a:ext cx="1399816" cy="168707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537960" y="4073554"/>
            <a:ext cx="1417320" cy="20528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소비 구조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119872" y="4091842"/>
            <a:ext cx="2578608" cy="168707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8119872" y="4091842"/>
            <a:ext cx="1620839" cy="168707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537960" y="4500007"/>
            <a:ext cx="1417320" cy="20528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체류/기타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8119872" y="4518295"/>
            <a:ext cx="2578608" cy="168707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8119872" y="4518295"/>
            <a:ext cx="810420" cy="168707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1613535" y="5623560"/>
            <a:ext cx="9197340" cy="685800"/>
          </a:xfrm>
          <a:prstGeom prst="rect">
            <a:avLst/>
          </a:prstGeom>
          <a:solidFill>
            <a:srgbClr val="F1F7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1946910" y="5733288"/>
            <a:ext cx="8530590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단순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“관광객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수”보다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“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외부방문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의존도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”, “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현지인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수요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”, “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사업자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기반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”, “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소비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구조”가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더 큰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예측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신호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로 확인되었다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04. Insight 1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외부방문 의존이 일정 수준을 넘으면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위험</a:t>
            </a: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신호</a:t>
            </a:r>
            <a:endParaRPr lang="en-US" sz="1720" dirty="0">
              <a:solidFill>
                <a:srgbClr val="111111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외부방문비중은 값이 높은 구간에서 SHAP이 급격히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양수로</a:t>
            </a: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전환</a:t>
            </a:r>
            <a:endParaRPr lang="en-US" sz="80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77240" y="1874520"/>
            <a:ext cx="46634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97280" y="4526280"/>
            <a:ext cx="4114800" cy="0"/>
          </a:xfrm>
          <a:prstGeom prst="line">
            <a:avLst/>
          </a:prstGeom>
          <a:noFill/>
          <a:ln w="635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97280" y="2057400"/>
            <a:ext cx="0" cy="2468880"/>
          </a:xfrm>
          <a:prstGeom prst="line">
            <a:avLst/>
          </a:prstGeom>
          <a:noFill/>
          <a:ln w="635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387426" y="3885286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700432" y="3554426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013438" y="3755844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26445" y="3820100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639451" y="3387423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952457" y="3219962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65463" y="3481091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578469" y="3366561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891475" y="2920244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204482" y="2935085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17488" y="3162876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830494" y="2874636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806440" y="1874520"/>
            <a:ext cx="1691640" cy="44577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861304" y="1915668"/>
            <a:ext cx="1581912" cy="3726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외부방문비중 구간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498080" y="1874520"/>
            <a:ext cx="1143000" cy="44577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552944" y="1915668"/>
            <a:ext cx="1033272" cy="3726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평균 SHAP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641080" y="1874520"/>
            <a:ext cx="2240280" cy="44577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695944" y="1915668"/>
            <a:ext cx="2130552" cy="3726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해석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806440" y="2320290"/>
            <a:ext cx="1691640" cy="44577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861304" y="2361438"/>
            <a:ext cx="1581912" cy="3726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30.6~56.5%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498080" y="2320290"/>
            <a:ext cx="1143000" cy="44577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552944" y="2361438"/>
            <a:ext cx="1033272" cy="3726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음수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641080" y="2320290"/>
            <a:ext cx="2240280" cy="44577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695944" y="2361438"/>
            <a:ext cx="2130552" cy="3726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폐업강도 예측을 낮추는 방향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806440" y="2766060"/>
            <a:ext cx="169164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861304" y="2807208"/>
            <a:ext cx="1581912" cy="3726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56.5~75.7%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498080" y="2766060"/>
            <a:ext cx="114300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552944" y="2807208"/>
            <a:ext cx="1033272" cy="3726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+0.1386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8641080" y="2766060"/>
            <a:ext cx="224028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695944" y="2807208"/>
            <a:ext cx="2130552" cy="3726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폐업강도 예측을 크게 높이는 방향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806440" y="3211830"/>
            <a:ext cx="1691640" cy="44577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861304" y="3252978"/>
            <a:ext cx="1581912" cy="3726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양수 비율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498080" y="3211830"/>
            <a:ext cx="1143000" cy="44577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7552944" y="3252978"/>
            <a:ext cx="1033272" cy="3726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92.3%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8641080" y="3211830"/>
            <a:ext cx="2240280" cy="44577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8695944" y="3252978"/>
            <a:ext cx="2130552" cy="3726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대부분의 관측이 위험 상승 방향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5806440" y="4160520"/>
            <a:ext cx="5074920" cy="731520"/>
          </a:xfrm>
          <a:prstGeom prst="rect">
            <a:avLst/>
          </a:prstGeom>
          <a:solidFill>
            <a:srgbClr val="F1F7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5952744" y="4270248"/>
            <a:ext cx="478231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관광객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증가 자체보다,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지역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방문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수요가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외부방문자에게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과도하게 의존하는 구조가 더 중요한 위험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신호로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확인됨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777240" y="5596128"/>
            <a:ext cx="10104120" cy="512064"/>
          </a:xfrm>
          <a:prstGeom prst="rect">
            <a:avLst/>
          </a:prstGeom>
          <a:solidFill>
            <a:srgbClr val="FFF1E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923544" y="5705856"/>
            <a:ext cx="9811512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*56.5%는 정책 임계값이 아니라 Final Test SHAP에서 탐색적으로 관찰된 </a:t>
            </a:r>
            <a:r>
              <a:rPr kumimoji="0" lang="en-US" sz="93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전환</a:t>
            </a:r>
            <a:r>
              <a:rPr kumimoji="0" lang="en-US" sz="93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93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구간</a:t>
            </a:r>
            <a:r>
              <a:rPr kumimoji="0" lang="en-US" sz="93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*</a:t>
            </a:r>
            <a:endParaRPr kumimoji="0" lang="en-US" sz="9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05. Insight 2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현지인 방문과 사업자 성장은 위험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완충</a:t>
            </a: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신호</a:t>
            </a:r>
            <a:endParaRPr lang="en-US" sz="1720" dirty="0">
              <a:solidFill>
                <a:srgbClr val="111111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지역 내수와 상권 기반이 약할수록 다음달 폐업강도를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높게</a:t>
            </a: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예측</a:t>
            </a:r>
            <a:endParaRPr lang="en-US" sz="80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055620" y="1860042"/>
            <a:ext cx="1463040" cy="53721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110484" y="1901190"/>
            <a:ext cx="1353312" cy="4640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변수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518660" y="1860042"/>
            <a:ext cx="1828800" cy="53721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573524" y="1901190"/>
            <a:ext cx="1719072" cy="4640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위험 방향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347460" y="1860042"/>
            <a:ext cx="2788920" cy="53721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402324" y="1901190"/>
            <a:ext cx="2679192" cy="4640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해석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3055620" y="2397252"/>
            <a:ext cx="1463040" cy="53721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3110484" y="2438400"/>
            <a:ext cx="1353312" cy="4640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현지인방문자 YoY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4518660" y="2397252"/>
            <a:ext cx="1828800" cy="53721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4573524" y="2438400"/>
            <a:ext cx="1719072" cy="4640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3.5% 미만에서 +SHAP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347460" y="2397252"/>
            <a:ext cx="2788920" cy="53721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402324" y="2438400"/>
            <a:ext cx="2679192" cy="4640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지역민 일상수요 약화가 폐업위험 상승 신호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3055620" y="2934462"/>
            <a:ext cx="146304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3110484" y="2975610"/>
            <a:ext cx="1353312" cy="4640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전체사업자 YoY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4518660" y="2934462"/>
            <a:ext cx="182880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4573524" y="2975610"/>
            <a:ext cx="1719072" cy="4640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0.3% 미만에서 +SHAP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6347460" y="2934462"/>
            <a:ext cx="278892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6402324" y="2975610"/>
            <a:ext cx="2679192" cy="4640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상권 기반 정체·감소가 위험 상승 신호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3055620" y="3471672"/>
            <a:ext cx="1463040" cy="53721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3110484" y="3512820"/>
            <a:ext cx="1353312" cy="4640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현지인소비 YoY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4518660" y="3471672"/>
            <a:ext cx="1828800" cy="53721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4573524" y="3512820"/>
            <a:ext cx="1719072" cy="4640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중요도는 낮지만 유사 방향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6347460" y="3471672"/>
            <a:ext cx="2788920" cy="53721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6402324" y="3512820"/>
            <a:ext cx="2679192" cy="4640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내수 완충 효과 가능성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1933575" y="4392930"/>
            <a:ext cx="8324850" cy="749808"/>
          </a:xfrm>
          <a:prstGeom prst="rect">
            <a:avLst/>
          </a:prstGeom>
          <a:solidFill>
            <a:srgbClr val="E8F6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3201924" y="4502658"/>
            <a:ext cx="578815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관광소비와는 별개의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현지인 내수 감소 시 폐업이 증가한다는 가설을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가장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강하게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지지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따라서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관광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성장 여부와 별개로 현지인 방문·소비가 버텨주는 지역은 폐업위험이 낮아지는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방향으로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해석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됨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1933575" y="5371338"/>
            <a:ext cx="8324850" cy="585216"/>
          </a:xfrm>
          <a:prstGeom prst="rect">
            <a:avLst/>
          </a:prstGeom>
          <a:solidFill>
            <a:srgbClr val="F1F7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3201924" y="5481066"/>
            <a:ext cx="578815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사업자수 YoY가 +0.3% 이상인 구간에서는 SHAP이 음수로 전환되어, 전체 상권 성장성이 위험 완충 </a:t>
            </a:r>
            <a:r>
              <a:rPr kumimoji="0" lang="en-US" sz="93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신호로</a:t>
            </a:r>
            <a:r>
              <a:rPr kumimoji="0" lang="en-US" sz="93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93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작동</a:t>
            </a:r>
            <a:r>
              <a:rPr kumimoji="0" lang="ko-KR" altLang="en-US" sz="93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한다</a:t>
            </a:r>
            <a:r>
              <a:rPr kumimoji="0" lang="en-US" sz="93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.</a:t>
            </a:r>
            <a:endParaRPr kumimoji="0" lang="en-US" sz="9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06. Insight 3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관광 성장과 상권 생존은 항상 같은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방향이</a:t>
            </a: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아니다</a:t>
            </a:r>
            <a:endParaRPr lang="en-US" sz="1720" dirty="0">
              <a:solidFill>
                <a:srgbClr val="111111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외부방문자 증가와 1인당 관광소비가 높은 구간에서도 폐업위험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상승</a:t>
            </a: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신호</a:t>
            </a:r>
            <a:endParaRPr lang="en-US" sz="80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261360" y="2048256"/>
            <a:ext cx="2468880" cy="45720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316224" y="2089404"/>
            <a:ext cx="235915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조건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730240" y="2048256"/>
            <a:ext cx="3200400" cy="45720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785104" y="2089404"/>
            <a:ext cx="309067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모델상 신호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3261360" y="2505456"/>
            <a:ext cx="2468880" cy="45720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3316224" y="2546604"/>
            <a:ext cx="235915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외부방문자 YoY 약 +7.7% 이상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730240" y="2505456"/>
            <a:ext cx="3200400" cy="45720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785104" y="2546604"/>
            <a:ext cx="309067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폐업강도 예측 상승 방향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3261360" y="2962656"/>
            <a:ext cx="2468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3316224" y="3003804"/>
            <a:ext cx="235915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1인당 관광소비 약 1.4만원 이상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5730240" y="2962656"/>
            <a:ext cx="3200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5785104" y="3003804"/>
            <a:ext cx="309067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폐업강도 예측 상승 방향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3261360" y="3419856"/>
            <a:ext cx="2468880" cy="45720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3316224" y="3461004"/>
            <a:ext cx="235915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체류시간 YoY +5% 이상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5730240" y="3419856"/>
            <a:ext cx="3200400" cy="45720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785104" y="3461004"/>
            <a:ext cx="309067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위험 상승 방향으로 나타남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1933575" y="4306824"/>
            <a:ext cx="8324850" cy="658368"/>
          </a:xfrm>
          <a:prstGeom prst="rect">
            <a:avLst/>
          </a:prstGeom>
          <a:solidFill>
            <a:srgbClr val="F1F7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2773680" y="4416552"/>
            <a:ext cx="66446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관광객이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늘고 소비가 강하더라도, 그 성장이 지역 내수와 사업자 생존으로 자동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전환되지는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않았다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1933575" y="5193792"/>
            <a:ext cx="8324850" cy="658368"/>
          </a:xfrm>
          <a:prstGeom prst="rect">
            <a:avLst/>
          </a:prstGeom>
          <a:solidFill>
            <a:srgbClr val="FFF1E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2533650" y="5303520"/>
            <a:ext cx="71247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이는 “성장-생존 괴리”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가설을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지지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. 높은 관광성장이 폐업위험 완화로 바로 이어지지 않는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구간이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확인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되었다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07. 가설 판정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살아남은 가설과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약한</a:t>
            </a: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가설</a:t>
            </a:r>
            <a:endParaRPr lang="en-US" sz="1720" dirty="0">
              <a:solidFill>
                <a:srgbClr val="111111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모델 결과는 “외부 의존 + 내수 약화 + 생존 괴리”에 더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가깝습니다</a:t>
            </a:r>
            <a:endParaRPr lang="en-US" sz="80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1645920"/>
            <a:ext cx="2103120" cy="561703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0664" y="1687068"/>
            <a:ext cx="1993392" cy="4885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가설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88920" y="1645920"/>
            <a:ext cx="1417320" cy="561703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843784" y="1687068"/>
            <a:ext cx="1307592" cy="4885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판정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206240" y="1645920"/>
            <a:ext cx="7315200" cy="561703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261104" y="1687068"/>
            <a:ext cx="7205472" cy="4885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모델 근거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85800" y="2207623"/>
            <a:ext cx="2103120" cy="561703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0664" y="2248771"/>
            <a:ext cx="1993392" cy="4885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1. 관광 과밀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88920" y="2207623"/>
            <a:ext cx="1417320" cy="561703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843784" y="2248771"/>
            <a:ext cx="1307592" cy="4885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근거 약함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206240" y="2207623"/>
            <a:ext cx="7315200" cy="561703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261104" y="2248771"/>
            <a:ext cx="7205472" cy="4885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관광객집중도 SHAP 비중 약 1%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85800" y="2769326"/>
            <a:ext cx="2103120" cy="56170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40664" y="2810474"/>
            <a:ext cx="1993392" cy="4885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2. 소비 전환 실패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788920" y="2769326"/>
            <a:ext cx="1417320" cy="56170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843784" y="2810474"/>
            <a:ext cx="1307592" cy="4885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근거 부족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206240" y="2769326"/>
            <a:ext cx="7315200" cy="56170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261104" y="2810474"/>
            <a:ext cx="7205472" cy="4885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Gap과 SHAP의 단조관계 없음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85800" y="3331029"/>
            <a:ext cx="2103120" cy="561703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40664" y="3372177"/>
            <a:ext cx="1993392" cy="4885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3. 관광산업 편중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788920" y="3331029"/>
            <a:ext cx="1417320" cy="561703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843784" y="3372177"/>
            <a:ext cx="1307592" cy="4885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부분 지지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206240" y="3331029"/>
            <a:ext cx="7315200" cy="561703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261104" y="3372177"/>
            <a:ext cx="7205472" cy="4885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관광소비비중이 높은 구간에서 +SHAP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85800" y="3892731"/>
            <a:ext cx="2103120" cy="56170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40664" y="3933879"/>
            <a:ext cx="1993392" cy="4885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4. 관광업 과잉경쟁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2788920" y="3892731"/>
            <a:ext cx="1417320" cy="56170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2843784" y="3933879"/>
            <a:ext cx="1307592" cy="4885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미검증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206240" y="3892731"/>
            <a:ext cx="7315200" cy="56170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261104" y="3933879"/>
            <a:ext cx="7205472" cy="4885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지역월업종 Master 별도 분석 필요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85800" y="4454434"/>
            <a:ext cx="2103120" cy="561703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40664" y="4495582"/>
            <a:ext cx="1993392" cy="4885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5. 지역 내수 감소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2788920" y="4454434"/>
            <a:ext cx="1417320" cy="561703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2843784" y="4495582"/>
            <a:ext cx="1307592" cy="4885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강한 지지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206240" y="4454434"/>
            <a:ext cx="7315200" cy="561703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261104" y="4495582"/>
            <a:ext cx="7205472" cy="4885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현지인방문 성장 둔화가 +SHAP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85800" y="5016137"/>
            <a:ext cx="2103120" cy="56170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40664" y="5057285"/>
            <a:ext cx="1993392" cy="4885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6. 성장-생존 괴리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2788920" y="5016137"/>
            <a:ext cx="1417320" cy="56170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2843784" y="5057285"/>
            <a:ext cx="1307592" cy="4885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유력 지지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206240" y="5016137"/>
            <a:ext cx="7315200" cy="56170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261104" y="5057285"/>
            <a:ext cx="7205472" cy="4885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외부방문자 증가·1인당 관광소비 상승이 위험 상승 구간 존재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777240" y="5852160"/>
            <a:ext cx="10652760" cy="530352"/>
          </a:xfrm>
          <a:prstGeom prst="rect">
            <a:avLst/>
          </a:prstGeom>
          <a:solidFill>
            <a:srgbClr val="F1F7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923544" y="5961888"/>
            <a:ext cx="1036015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예측 모델 결과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,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관광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의존이 커지는 동시에 지역 내수와 상권 기반이 약한 지역에서 폐업위험이 높게 예측됐다.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08. 위험신호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SHAP 위험신호가 겹칠수록 실제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폐업강도도</a:t>
            </a: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상승</a:t>
            </a:r>
            <a:endParaRPr lang="en-US" sz="1720" dirty="0">
              <a:solidFill>
                <a:srgbClr val="111111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개별 변수보다 “신호의 중첩”이 더 설득력 있는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진단</a:t>
            </a: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프레임</a:t>
            </a:r>
            <a:endParaRPr lang="en-US" sz="80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1483287"/>
            <a:ext cx="2743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위험신호수별 실제 폐업강도 평균</a:t>
            </a: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2739444"/>
            <a:ext cx="559090" cy="1408938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4221534"/>
            <a:ext cx="55909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</a:t>
            </a:r>
            <a:endParaRPr kumimoji="0" lang="en-US" sz="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491778" y="2591997"/>
            <a:ext cx="559090" cy="1556385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491778" y="4221534"/>
            <a:ext cx="55909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1</a:t>
            </a:r>
            <a:endParaRPr kumimoji="0" lang="en-US" sz="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160597" y="2624763"/>
            <a:ext cx="559090" cy="1523619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160597" y="4221534"/>
            <a:ext cx="55909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2</a:t>
            </a:r>
            <a:endParaRPr kumimoji="0" lang="en-US" sz="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829415" y="2542848"/>
            <a:ext cx="559090" cy="1605534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829415" y="4221534"/>
            <a:ext cx="55909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3</a:t>
            </a:r>
            <a:endParaRPr kumimoji="0" lang="en-US" sz="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498233" y="2542848"/>
            <a:ext cx="559090" cy="1605534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498233" y="4221534"/>
            <a:ext cx="55909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4</a:t>
            </a:r>
            <a:endParaRPr kumimoji="0" lang="en-US" sz="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167051" y="2288911"/>
            <a:ext cx="559090" cy="1859471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167051" y="4221534"/>
            <a:ext cx="55909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5</a:t>
            </a:r>
            <a:endParaRPr kumimoji="0" lang="en-US" sz="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835870" y="2297103"/>
            <a:ext cx="559090" cy="1851279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35870" y="4221534"/>
            <a:ext cx="55909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6</a:t>
            </a:r>
            <a:endParaRPr kumimoji="0" lang="en-US" sz="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897880" y="1444752"/>
            <a:ext cx="1737360" cy="470263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952744" y="1485900"/>
            <a:ext cx="1627632" cy="39711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위험신호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635240" y="1444752"/>
            <a:ext cx="3200400" cy="470263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690104" y="1485900"/>
            <a:ext cx="3090672" cy="39711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조건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897880" y="1915015"/>
            <a:ext cx="1737360" cy="470263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952744" y="1956163"/>
            <a:ext cx="1627632" cy="39711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외부방문의존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635240" y="1915015"/>
            <a:ext cx="3200400" cy="470263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690104" y="1956163"/>
            <a:ext cx="3090672" cy="39711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외부방문비중 ≥ 56.5%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897880" y="2385278"/>
            <a:ext cx="1737360" cy="47026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952744" y="2426426"/>
            <a:ext cx="1627632" cy="39711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외부방문급증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635240" y="2385278"/>
            <a:ext cx="3200400" cy="47026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690104" y="2426426"/>
            <a:ext cx="3090672" cy="39711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외부방문자 YoY ≥ 7.7%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897880" y="2855541"/>
            <a:ext cx="1737360" cy="470263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952744" y="2896689"/>
            <a:ext cx="1627632" cy="39711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현지인방문약화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635240" y="2855541"/>
            <a:ext cx="3200400" cy="470263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690104" y="2896689"/>
            <a:ext cx="3090672" cy="39711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현지인방문자 YoY &lt; 3.5%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897880" y="3325803"/>
            <a:ext cx="1737360" cy="47026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952744" y="3366951"/>
            <a:ext cx="1627632" cy="39711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사업자성장정체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635240" y="3325803"/>
            <a:ext cx="3200400" cy="47026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690104" y="3366951"/>
            <a:ext cx="3090672" cy="39711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전체사업자 YoY &lt; 0.3%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5897880" y="3796066"/>
            <a:ext cx="1737360" cy="470263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952744" y="3837214"/>
            <a:ext cx="1627632" cy="39711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고관광객소비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7635240" y="3796066"/>
            <a:ext cx="3200400" cy="470263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690104" y="3837214"/>
            <a:ext cx="3090672" cy="39711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1인당 관광소비 ≥ 1.4만원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5897880" y="4266329"/>
            <a:ext cx="1737360" cy="47026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5952744" y="4307477"/>
            <a:ext cx="1627632" cy="39711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관광소비편중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7635240" y="4266329"/>
            <a:ext cx="3200400" cy="47026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7690104" y="4307477"/>
            <a:ext cx="3090672" cy="39711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관광소비비중 ≥ 99.1%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777240" y="5166360"/>
            <a:ext cx="10058400" cy="594360"/>
          </a:xfrm>
          <a:prstGeom prst="rect">
            <a:avLst/>
          </a:prstGeom>
          <a:solidFill>
            <a:srgbClr val="FFF1E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923544" y="5276088"/>
            <a:ext cx="976579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위험신호 5~6개 관측의 실제 폐업강도 평균은 약 2.27%로, 0~4개 구간 평균 약 1.92%보다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높다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. 이는 사후 탐색 결과이며 독립 검증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규칙은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아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님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777240" y="5870448"/>
            <a:ext cx="10058400" cy="411480"/>
          </a:xfrm>
          <a:prstGeom prst="rect">
            <a:avLst/>
          </a:prstGeom>
          <a:solidFill>
            <a:srgbClr val="F1F7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923544" y="5980176"/>
            <a:ext cx="9765792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대표 사례: 2026-02 [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강서구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, 사상구,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연제구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]는 여러 위험 신호가 동시에 겹쳤고 실제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폐업강도도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높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았다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09. M2 인사이트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구조적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취약지역은</a:t>
            </a: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반복된다</a:t>
            </a:r>
            <a:endParaRPr lang="en-US" sz="1720" dirty="0">
              <a:solidFill>
                <a:srgbClr val="111111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지역 상대위험은 단기 관광·소비 변화보다 과거 지역 패턴이 더 잘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설명</a:t>
            </a:r>
            <a:endParaRPr lang="en-US" sz="80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DED07053-4A89-F8F7-ECCF-93504730024C}"/>
              </a:ext>
            </a:extLst>
          </p:cNvPr>
          <p:cNvGrpSpPr/>
          <p:nvPr/>
        </p:nvGrpSpPr>
        <p:grpSpPr>
          <a:xfrm>
            <a:off x="1104900" y="1947671"/>
            <a:ext cx="9982200" cy="2560320"/>
            <a:chOff x="731520" y="1947671"/>
            <a:chExt cx="9982200" cy="2560320"/>
          </a:xfrm>
        </p:grpSpPr>
        <p:sp>
          <p:nvSpPr>
            <p:cNvPr id="8" name="Shape 6"/>
            <p:cNvSpPr/>
            <p:nvPr/>
          </p:nvSpPr>
          <p:spPr>
            <a:xfrm>
              <a:off x="731520" y="1947671"/>
              <a:ext cx="1783080" cy="426720"/>
            </a:xfrm>
            <a:prstGeom prst="rect">
              <a:avLst/>
            </a:prstGeom>
            <a:solidFill>
              <a:srgbClr val="21AEB8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786384" y="1988819"/>
              <a:ext cx="1673352" cy="35356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상대위험 상위/하위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2514600" y="1947671"/>
              <a:ext cx="1325880" cy="426720"/>
            </a:xfrm>
            <a:prstGeom prst="rect">
              <a:avLst/>
            </a:prstGeom>
            <a:solidFill>
              <a:srgbClr val="21AEB8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2569464" y="1988819"/>
              <a:ext cx="1216152" cy="35356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평균 상대위험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3840480" y="1947671"/>
              <a:ext cx="1920240" cy="426720"/>
            </a:xfrm>
            <a:prstGeom prst="rect">
              <a:avLst/>
            </a:prstGeom>
            <a:solidFill>
              <a:srgbClr val="21AEB8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3895344" y="1988819"/>
              <a:ext cx="1810512" cy="35356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해석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731520" y="2374391"/>
              <a:ext cx="1783080" cy="42672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786384" y="2415539"/>
              <a:ext cx="1673352" cy="35356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강서구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16" name="Shape 14"/>
            <p:cNvSpPr/>
            <p:nvPr/>
          </p:nvSpPr>
          <p:spPr>
            <a:xfrm>
              <a:off x="2514600" y="2374391"/>
              <a:ext cx="1325880" cy="42672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2569464" y="2415539"/>
              <a:ext cx="1216152" cy="35356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+0.4956%p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18" name="Shape 16"/>
            <p:cNvSpPr/>
            <p:nvPr/>
          </p:nvSpPr>
          <p:spPr>
            <a:xfrm>
              <a:off x="3840480" y="2374391"/>
              <a:ext cx="1920240" cy="42672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3895344" y="2415539"/>
              <a:ext cx="1810512" cy="35356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관측기간 내내 부산 평균 이상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731520" y="2801111"/>
              <a:ext cx="1783080" cy="4267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786384" y="2842259"/>
              <a:ext cx="1673352" cy="35356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동구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22" name="Shape 20"/>
            <p:cNvSpPr/>
            <p:nvPr/>
          </p:nvSpPr>
          <p:spPr>
            <a:xfrm>
              <a:off x="2514600" y="2801111"/>
              <a:ext cx="1325880" cy="4267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2569464" y="2842259"/>
              <a:ext cx="1216152" cy="35356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+0.1696%p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24" name="Shape 22"/>
            <p:cNvSpPr/>
            <p:nvPr/>
          </p:nvSpPr>
          <p:spPr>
            <a:xfrm>
              <a:off x="3840480" y="2801111"/>
              <a:ext cx="1920240" cy="4267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3895344" y="2842259"/>
              <a:ext cx="1810512" cy="35356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구조적 고위험권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26" name="Shape 24"/>
            <p:cNvSpPr/>
            <p:nvPr/>
          </p:nvSpPr>
          <p:spPr>
            <a:xfrm>
              <a:off x="731520" y="3227831"/>
              <a:ext cx="1783080" cy="42672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786384" y="3268979"/>
              <a:ext cx="1673352" cy="35356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사상구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28" name="Shape 26"/>
            <p:cNvSpPr/>
            <p:nvPr/>
          </p:nvSpPr>
          <p:spPr>
            <a:xfrm>
              <a:off x="2514600" y="3227831"/>
              <a:ext cx="1325880" cy="42672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2569464" y="3268979"/>
              <a:ext cx="1216152" cy="35356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+0.1647%p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30" name="Shape 28"/>
            <p:cNvSpPr/>
            <p:nvPr/>
          </p:nvSpPr>
          <p:spPr>
            <a:xfrm>
              <a:off x="3840480" y="3227831"/>
              <a:ext cx="1920240" cy="42672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31" name="Text 29"/>
            <p:cNvSpPr/>
            <p:nvPr/>
          </p:nvSpPr>
          <p:spPr>
            <a:xfrm>
              <a:off x="3895344" y="3268979"/>
              <a:ext cx="1810512" cy="35356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구조적 고위험권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32" name="Shape 30"/>
            <p:cNvSpPr/>
            <p:nvPr/>
          </p:nvSpPr>
          <p:spPr>
            <a:xfrm>
              <a:off x="731520" y="3654551"/>
              <a:ext cx="1783080" cy="4267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33" name="Text 31"/>
            <p:cNvSpPr/>
            <p:nvPr/>
          </p:nvSpPr>
          <p:spPr>
            <a:xfrm>
              <a:off x="786384" y="3695699"/>
              <a:ext cx="1673352" cy="35356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중구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34" name="Shape 32"/>
            <p:cNvSpPr/>
            <p:nvPr/>
          </p:nvSpPr>
          <p:spPr>
            <a:xfrm>
              <a:off x="2514600" y="3654551"/>
              <a:ext cx="1325880" cy="4267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35" name="Text 33"/>
            <p:cNvSpPr/>
            <p:nvPr/>
          </p:nvSpPr>
          <p:spPr>
            <a:xfrm>
              <a:off x="2569464" y="3695699"/>
              <a:ext cx="1216152" cy="35356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-0.1799%p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36" name="Shape 34"/>
            <p:cNvSpPr/>
            <p:nvPr/>
          </p:nvSpPr>
          <p:spPr>
            <a:xfrm>
              <a:off x="3840480" y="3654551"/>
              <a:ext cx="1920240" cy="4267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37" name="Text 35"/>
            <p:cNvSpPr/>
            <p:nvPr/>
          </p:nvSpPr>
          <p:spPr>
            <a:xfrm>
              <a:off x="3895344" y="3695699"/>
              <a:ext cx="1810512" cy="35356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평균적으로 낮은 상대위험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38" name="Shape 36"/>
            <p:cNvSpPr/>
            <p:nvPr/>
          </p:nvSpPr>
          <p:spPr>
            <a:xfrm>
              <a:off x="731520" y="4081271"/>
              <a:ext cx="1783080" cy="42672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39" name="Text 37"/>
            <p:cNvSpPr/>
            <p:nvPr/>
          </p:nvSpPr>
          <p:spPr>
            <a:xfrm>
              <a:off x="786384" y="4122419"/>
              <a:ext cx="1673352" cy="35356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동래구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40" name="Shape 38"/>
            <p:cNvSpPr/>
            <p:nvPr/>
          </p:nvSpPr>
          <p:spPr>
            <a:xfrm>
              <a:off x="2514600" y="4081271"/>
              <a:ext cx="1325880" cy="42672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41" name="Text 39"/>
            <p:cNvSpPr/>
            <p:nvPr/>
          </p:nvSpPr>
          <p:spPr>
            <a:xfrm>
              <a:off x="2569464" y="4122419"/>
              <a:ext cx="1216152" cy="35356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-0.1865%p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42" name="Shape 40"/>
            <p:cNvSpPr/>
            <p:nvPr/>
          </p:nvSpPr>
          <p:spPr>
            <a:xfrm>
              <a:off x="3840480" y="4081271"/>
              <a:ext cx="1920240" cy="42672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43" name="Text 41"/>
            <p:cNvSpPr/>
            <p:nvPr/>
          </p:nvSpPr>
          <p:spPr>
            <a:xfrm>
              <a:off x="3895344" y="4122419"/>
              <a:ext cx="1810512" cy="35356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가장 낮은 상대위험권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44" name="Shape 42"/>
            <p:cNvSpPr/>
            <p:nvPr/>
          </p:nvSpPr>
          <p:spPr>
            <a:xfrm>
              <a:off x="6096000" y="1947671"/>
              <a:ext cx="1965960" cy="434340"/>
            </a:xfrm>
            <a:prstGeom prst="rect">
              <a:avLst/>
            </a:prstGeom>
            <a:solidFill>
              <a:srgbClr val="21AEB8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45" name="Text 43"/>
            <p:cNvSpPr/>
            <p:nvPr/>
          </p:nvSpPr>
          <p:spPr>
            <a:xfrm>
              <a:off x="6150864" y="1988819"/>
              <a:ext cx="1856232" cy="36118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M2 방식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46" name="Shape 44"/>
            <p:cNvSpPr/>
            <p:nvPr/>
          </p:nvSpPr>
          <p:spPr>
            <a:xfrm>
              <a:off x="8061960" y="1947671"/>
              <a:ext cx="1280160" cy="434340"/>
            </a:xfrm>
            <a:prstGeom prst="rect">
              <a:avLst/>
            </a:prstGeom>
            <a:solidFill>
              <a:srgbClr val="21AEB8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47" name="Text 45"/>
            <p:cNvSpPr/>
            <p:nvPr/>
          </p:nvSpPr>
          <p:spPr>
            <a:xfrm>
              <a:off x="8116824" y="1988819"/>
              <a:ext cx="1170432" cy="36118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OOF MAE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48" name="Shape 46"/>
            <p:cNvSpPr/>
            <p:nvPr/>
          </p:nvSpPr>
          <p:spPr>
            <a:xfrm>
              <a:off x="9342120" y="1947671"/>
              <a:ext cx="1371600" cy="434340"/>
            </a:xfrm>
            <a:prstGeom prst="rect">
              <a:avLst/>
            </a:prstGeom>
            <a:solidFill>
              <a:srgbClr val="21AEB8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49" name="Text 47"/>
            <p:cNvSpPr/>
            <p:nvPr/>
          </p:nvSpPr>
          <p:spPr>
            <a:xfrm>
              <a:off x="9396984" y="1988819"/>
              <a:ext cx="1261872" cy="36118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Top3 적중률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50" name="Shape 48"/>
            <p:cNvSpPr/>
            <p:nvPr/>
          </p:nvSpPr>
          <p:spPr>
            <a:xfrm>
              <a:off x="6096000" y="2382011"/>
              <a:ext cx="1965960" cy="43434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51" name="Text 49"/>
            <p:cNvSpPr/>
            <p:nvPr/>
          </p:nvSpPr>
          <p:spPr>
            <a:xfrm>
              <a:off x="6150864" y="2423159"/>
              <a:ext cx="1856232" cy="36118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Historical Region Mean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52" name="Shape 50"/>
            <p:cNvSpPr/>
            <p:nvPr/>
          </p:nvSpPr>
          <p:spPr>
            <a:xfrm>
              <a:off x="8061960" y="2382011"/>
              <a:ext cx="1280160" cy="43434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53" name="Text 51"/>
            <p:cNvSpPr/>
            <p:nvPr/>
          </p:nvSpPr>
          <p:spPr>
            <a:xfrm>
              <a:off x="8116824" y="2423159"/>
              <a:ext cx="1170432" cy="36118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0.1508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54" name="Shape 52"/>
            <p:cNvSpPr/>
            <p:nvPr/>
          </p:nvSpPr>
          <p:spPr>
            <a:xfrm>
              <a:off x="9342120" y="2382011"/>
              <a:ext cx="1371600" cy="43434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55" name="Text 53"/>
            <p:cNvSpPr/>
            <p:nvPr/>
          </p:nvSpPr>
          <p:spPr>
            <a:xfrm>
              <a:off x="9396984" y="2423159"/>
              <a:ext cx="1261872" cy="36118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61.11%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56" name="Shape 54"/>
            <p:cNvSpPr/>
            <p:nvPr/>
          </p:nvSpPr>
          <p:spPr>
            <a:xfrm>
              <a:off x="6096000" y="2816351"/>
              <a:ext cx="1965960" cy="4343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57" name="Text 55"/>
            <p:cNvSpPr/>
            <p:nvPr/>
          </p:nvSpPr>
          <p:spPr>
            <a:xfrm>
              <a:off x="6150864" y="2857499"/>
              <a:ext cx="1856232" cy="36118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Region + Dynamic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58" name="Shape 56"/>
            <p:cNvSpPr/>
            <p:nvPr/>
          </p:nvSpPr>
          <p:spPr>
            <a:xfrm>
              <a:off x="8061960" y="2816351"/>
              <a:ext cx="1280160" cy="4343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59" name="Text 57"/>
            <p:cNvSpPr/>
            <p:nvPr/>
          </p:nvSpPr>
          <p:spPr>
            <a:xfrm>
              <a:off x="8116824" y="2857499"/>
              <a:ext cx="1170432" cy="36118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0.1786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60" name="Shape 58"/>
            <p:cNvSpPr/>
            <p:nvPr/>
          </p:nvSpPr>
          <p:spPr>
            <a:xfrm>
              <a:off x="9342120" y="2816351"/>
              <a:ext cx="1371600" cy="4343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61" name="Text 59"/>
            <p:cNvSpPr/>
            <p:nvPr/>
          </p:nvSpPr>
          <p:spPr>
            <a:xfrm>
              <a:off x="9396984" y="2857499"/>
              <a:ext cx="1261872" cy="36118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50.00%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62" name="Shape 60"/>
            <p:cNvSpPr/>
            <p:nvPr/>
          </p:nvSpPr>
          <p:spPr>
            <a:xfrm>
              <a:off x="6096000" y="3250691"/>
              <a:ext cx="1965960" cy="43434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63" name="Text 61"/>
            <p:cNvSpPr/>
            <p:nvPr/>
          </p:nvSpPr>
          <p:spPr>
            <a:xfrm>
              <a:off x="6150864" y="3291839"/>
              <a:ext cx="1856232" cy="36118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Dynamic Only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64" name="Shape 62"/>
            <p:cNvSpPr/>
            <p:nvPr/>
          </p:nvSpPr>
          <p:spPr>
            <a:xfrm>
              <a:off x="8061960" y="3250691"/>
              <a:ext cx="1280160" cy="43434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65" name="Text 63"/>
            <p:cNvSpPr/>
            <p:nvPr/>
          </p:nvSpPr>
          <p:spPr>
            <a:xfrm>
              <a:off x="8116824" y="3291839"/>
              <a:ext cx="1170432" cy="36118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0.1962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66" name="Shape 64"/>
            <p:cNvSpPr/>
            <p:nvPr/>
          </p:nvSpPr>
          <p:spPr>
            <a:xfrm>
              <a:off x="9342120" y="3250691"/>
              <a:ext cx="1371600" cy="43434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67" name="Text 65"/>
            <p:cNvSpPr/>
            <p:nvPr/>
          </p:nvSpPr>
          <p:spPr>
            <a:xfrm>
              <a:off x="9396984" y="3291839"/>
              <a:ext cx="1261872" cy="36118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16.67%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48DEF7AD-9379-ABBA-010B-80970E725A59}"/>
              </a:ext>
            </a:extLst>
          </p:cNvPr>
          <p:cNvGrpSpPr/>
          <p:nvPr/>
        </p:nvGrpSpPr>
        <p:grpSpPr>
          <a:xfrm>
            <a:off x="1159764" y="5248656"/>
            <a:ext cx="9872472" cy="749808"/>
            <a:chOff x="3451860" y="5248656"/>
            <a:chExt cx="4617720" cy="749808"/>
          </a:xfrm>
        </p:grpSpPr>
        <p:sp>
          <p:nvSpPr>
            <p:cNvPr id="83" name="Shape 81"/>
            <p:cNvSpPr/>
            <p:nvPr/>
          </p:nvSpPr>
          <p:spPr>
            <a:xfrm>
              <a:off x="3451860" y="5248656"/>
              <a:ext cx="4617720" cy="749808"/>
            </a:xfrm>
            <a:prstGeom prst="rect">
              <a:avLst/>
            </a:prstGeom>
            <a:solidFill>
              <a:srgbClr val="F1F7FB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84" name="Text 82"/>
            <p:cNvSpPr/>
            <p:nvPr/>
          </p:nvSpPr>
          <p:spPr>
            <a:xfrm>
              <a:off x="3598164" y="5358384"/>
              <a:ext cx="4325112" cy="54864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강서구는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 15개월 평균 +0.4956%p로 관측기간 내내 부산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평균보다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높았다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.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이는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 “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관광객 상승 및 관련 사항에 따른 일시적 변화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”보다 구조적 취약성으로 보는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편이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타당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.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10. </a:t>
            </a:r>
            <a:r>
              <a:rPr kumimoji="0" lang="en-US" sz="850" b="0" i="0" u="none" strike="noStrike" kern="1200" cap="none" spc="0" normalizeH="0" baseline="0" noProof="0" dirty="0" err="1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최종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lang="ko-KR" altLang="en-US" sz="850" dirty="0">
                <a:solidFill>
                  <a:srgbClr val="6D747D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결과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모델 최종 도출 결과</a:t>
            </a:r>
            <a:endParaRPr lang="en-US" sz="1720" dirty="0">
              <a:solidFill>
                <a:srgbClr val="111111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관광 성장의 양보다, 성장의 구조와 지역 내수의 동반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여부가</a:t>
            </a: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ko-KR" alt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중요하다고 판단되었다</a:t>
            </a:r>
            <a:endParaRPr lang="en-US" sz="80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77240" y="1828800"/>
            <a:ext cx="10607040" cy="256032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1847088"/>
            <a:ext cx="1060704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50" dirty="0">
                <a:solidFill>
                  <a:srgbClr val="FFFFF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모델 학습에 따른 최종 결과</a:t>
            </a:r>
            <a:endParaRPr kumimoji="0" lang="en-US" sz="85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77240" y="2194560"/>
            <a:ext cx="10607040" cy="685800"/>
          </a:xfrm>
          <a:prstGeom prst="rect">
            <a:avLst/>
          </a:prstGeom>
          <a:solidFill>
            <a:srgbClr val="F1F7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23544" y="2304288"/>
            <a:ext cx="10314432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부산의 다음달 폐업위험은 단순한 관광객 증가보다, 외부방문 의존이 높고 현지인 방문·사업자 기반이 약한 지역에서 더 높게 예측됐다.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77240" y="3154680"/>
            <a:ext cx="4297680" cy="41148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32104" y="3195828"/>
            <a:ext cx="418795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확인된 인사이트</a:t>
            </a:r>
            <a:endParaRPr kumimoji="0" lang="en-US" sz="9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074920" y="3154680"/>
            <a:ext cx="6309360" cy="41148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129784" y="3195828"/>
            <a:ext cx="619963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인사이트 기반 해석</a:t>
            </a:r>
            <a:endParaRPr kumimoji="0" lang="en-US" sz="9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77240" y="3566160"/>
            <a:ext cx="4297680" cy="41148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32104" y="3607308"/>
            <a:ext cx="418795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외부방문비중 56.5% 이상 구간에서 위험 상승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074920" y="3566160"/>
            <a:ext cx="6309360" cy="41148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129784" y="3607308"/>
            <a:ext cx="619963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외부수요 의존도가 높은 구간에서 폐업위험 신호가 강화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77240" y="3977640"/>
            <a:ext cx="4297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32104" y="4018788"/>
            <a:ext cx="418795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현지인방문 YoY 3.5% 미만에서 위험 상승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074920" y="3977640"/>
            <a:ext cx="6309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129784" y="4018788"/>
            <a:ext cx="619963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지역 내수의 약화가 위험 완충 기능을 약화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77240" y="4389120"/>
            <a:ext cx="4297680" cy="41148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32104" y="4430268"/>
            <a:ext cx="418795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외부방문자 YoY 7.7% 이상에서도 위험 상승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074920" y="4389120"/>
            <a:ext cx="6309360" cy="41148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129784" y="4430268"/>
            <a:ext cx="619963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관광성장과 상권 생존이 항상 같은 방향은 아님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77240" y="4800600"/>
            <a:ext cx="4297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32104" y="4841748"/>
            <a:ext cx="418795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관광객집중도 자체는 중요도 낮음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074920" y="4800600"/>
            <a:ext cx="6309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129784" y="4841748"/>
            <a:ext cx="619963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단순 과밀보다 의존 구조가 더 설명력 있음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77240" y="5212080"/>
            <a:ext cx="4297680" cy="41148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32104" y="5253228"/>
            <a:ext cx="418795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M2는 지역 과거 패턴이 강함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074920" y="5212080"/>
            <a:ext cx="6309360" cy="41148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129784" y="5253228"/>
            <a:ext cx="619963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구조적 취약성은 별도 지표로 다뤄야 함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B1A58-86B7-959D-C5DA-E365040B7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AF9D8B-79F2-8445-8C54-869EA1010A3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8"/>
          </a:solidFill>
          <a:ln>
            <a:solidFill>
              <a:srgbClr val="F7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C98874-64F1-98CA-FFD8-FC952FF83B21}"/>
              </a:ext>
            </a:extLst>
          </p:cNvPr>
          <p:cNvSpPr/>
          <p:nvPr/>
        </p:nvSpPr>
        <p:spPr>
          <a:xfrm>
            <a:off x="0" y="0"/>
            <a:ext cx="1965960" cy="6858000"/>
          </a:xfrm>
          <a:prstGeom prst="rect">
            <a:avLst/>
          </a:prstGeom>
          <a:solidFill>
            <a:srgbClr val="1FAAB5"/>
          </a:solidFill>
          <a:ln>
            <a:solidFill>
              <a:srgbClr val="1FA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3464714-DCFA-71FB-3981-F4F91B9EFDC8}"/>
              </a:ext>
            </a:extLst>
          </p:cNvPr>
          <p:cNvSpPr/>
          <p:nvPr/>
        </p:nvSpPr>
        <p:spPr>
          <a:xfrm>
            <a:off x="329184" y="5559552"/>
            <a:ext cx="1051560" cy="100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52D5FF7-0FFE-DD19-F06F-B18FA400D0E8}"/>
              </a:ext>
            </a:extLst>
          </p:cNvPr>
          <p:cNvSpPr/>
          <p:nvPr/>
        </p:nvSpPr>
        <p:spPr>
          <a:xfrm>
            <a:off x="329184" y="5788152"/>
            <a:ext cx="658368" cy="100584"/>
          </a:xfrm>
          <a:prstGeom prst="roundRect">
            <a:avLst/>
          </a:prstGeom>
          <a:solidFill>
            <a:srgbClr val="DEF1F3"/>
          </a:solidFill>
          <a:ln w="12700">
            <a:solidFill>
              <a:srgbClr val="DE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6EE1E2-B589-C835-5EFC-37DCF3CE7F8A}"/>
              </a:ext>
            </a:extLst>
          </p:cNvPr>
          <p:cNvSpPr txBox="1"/>
          <p:nvPr/>
        </p:nvSpPr>
        <p:spPr>
          <a:xfrm>
            <a:off x="2359152" y="530352"/>
            <a:ext cx="2011680" cy="27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Evaluation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6E1D4234-D0EA-E4A8-5EBC-829BAE7C265B}"/>
              </a:ext>
            </a:extLst>
          </p:cNvPr>
          <p:cNvCxnSpPr/>
          <p:nvPr/>
        </p:nvCxnSpPr>
        <p:spPr>
          <a:xfrm>
            <a:off x="2359152" y="868680"/>
            <a:ext cx="9006840" cy="0"/>
          </a:xfrm>
          <a:prstGeom prst="line">
            <a:avLst/>
          </a:prstGeom>
          <a:ln w="17780">
            <a:solidFill>
              <a:srgbClr val="DEF1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BC3BEE7-9EF9-27BD-B702-B83ACB72423C}"/>
              </a:ext>
            </a:extLst>
          </p:cNvPr>
          <p:cNvSpPr txBox="1"/>
          <p:nvPr/>
        </p:nvSpPr>
        <p:spPr>
          <a:xfrm>
            <a:off x="2359152" y="1078992"/>
            <a:ext cx="6309360" cy="4773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latinLnBrk="0">
              <a:lnSpc>
                <a:spcPct val="110000"/>
              </a:lnSpc>
              <a:defRPr/>
            </a:pPr>
            <a:r>
              <a:rPr lang="ko-KR" altLang="en-US" sz="2400" dirty="0">
                <a:solidFill>
                  <a:srgbClr val="1F2D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데이터분석 한계 및 평가</a:t>
            </a:r>
            <a:endParaRPr kumimoji="0" sz="2350" b="0" i="0" u="none" strike="noStrike" kern="1200" cap="none" spc="0" normalizeH="0" baseline="0" noProof="0" dirty="0">
              <a:ln>
                <a:noFill/>
              </a:ln>
              <a:solidFill>
                <a:srgbClr val="223035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974658-5D34-8ACD-7A1D-4CB956D3950E}"/>
              </a:ext>
            </a:extLst>
          </p:cNvPr>
          <p:cNvSpPr txBox="1"/>
          <p:nvPr/>
        </p:nvSpPr>
        <p:spPr>
          <a:xfrm>
            <a:off x="2359152" y="1556302"/>
            <a:ext cx="6858000" cy="264688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ko-KR" altLang="en-US" sz="1120" dirty="0">
                <a:solidFill>
                  <a:srgbClr val="5C6A70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공공데이터 기반 분석 과정에서 발생한 데이터 </a:t>
            </a:r>
            <a:r>
              <a:rPr lang="en-US" altLang="ko-KR" sz="1120" dirty="0">
                <a:solidFill>
                  <a:srgbClr val="5C6A70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· </a:t>
            </a:r>
            <a:r>
              <a:rPr lang="ko-KR" altLang="en-US" sz="1120" dirty="0">
                <a:solidFill>
                  <a:srgbClr val="5C6A70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모델링 한계와 향후 개선 방향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5B777F9-2B22-A62D-5E63-E27C513B8B24}"/>
              </a:ext>
            </a:extLst>
          </p:cNvPr>
          <p:cNvGrpSpPr/>
          <p:nvPr/>
        </p:nvGrpSpPr>
        <p:grpSpPr>
          <a:xfrm>
            <a:off x="329184" y="530352"/>
            <a:ext cx="914400" cy="861646"/>
            <a:chOff x="109728" y="217346"/>
            <a:chExt cx="914400" cy="861646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22A1C14-26FF-926E-B2E1-04E5D994BACF}"/>
                </a:ext>
              </a:extLst>
            </p:cNvPr>
            <p:cNvSpPr txBox="1"/>
            <p:nvPr/>
          </p:nvSpPr>
          <p:spPr>
            <a:xfrm>
              <a:off x="109728" y="338918"/>
              <a:ext cx="914400" cy="74007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0</a:t>
              </a:r>
              <a:r>
                <a:rPr lang="en-US" sz="4000" b="1" dirty="0">
                  <a:solidFill>
                    <a:srgbClr val="FFFFFF"/>
                  </a:solidFill>
                  <a:latin typeface="HG꼬딕씨_Pro 60g" panose="02020603020101020101" pitchFamily="18" charset="-127"/>
                </a:rPr>
                <a:t>6</a:t>
              </a:r>
              <a:endPara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0DFEBFA-F522-40FA-1CA6-B98E17AB42B2}"/>
                </a:ext>
              </a:extLst>
            </p:cNvPr>
            <p:cNvSpPr txBox="1"/>
            <p:nvPr/>
          </p:nvSpPr>
          <p:spPr>
            <a:xfrm>
              <a:off x="109728" y="217346"/>
              <a:ext cx="877824" cy="24314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8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SECTION</a:t>
              </a:r>
            </a:p>
          </p:txBody>
        </p:sp>
      </p:grpSp>
      <p:sp>
        <p:nvSpPr>
          <p:cNvPr id="5" name="Rounded Rectangle 11">
            <a:extLst>
              <a:ext uri="{FF2B5EF4-FFF2-40B4-BE49-F238E27FC236}">
                <a16:creationId xmlns:a16="http://schemas.microsoft.com/office/drawing/2014/main" id="{67F1D235-E67A-38A2-B311-2923A32AA629}"/>
              </a:ext>
            </a:extLst>
          </p:cNvPr>
          <p:cNvSpPr/>
          <p:nvPr/>
        </p:nvSpPr>
        <p:spPr>
          <a:xfrm>
            <a:off x="2359152" y="2353163"/>
            <a:ext cx="2788920" cy="365760"/>
          </a:xfrm>
          <a:prstGeom prst="roundRect">
            <a:avLst/>
          </a:prstGeom>
          <a:solidFill>
            <a:srgbClr val="DCF4F6"/>
          </a:solidFill>
          <a:ln w="12700">
            <a:solidFill>
              <a:srgbClr val="DCF4F6"/>
            </a:solidFill>
          </a:ln>
          <a:effectLst>
            <a:outerShdw blurRad="50800" dist="38100" dir="5400000" sx="95000" sy="95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000D10-CCF1-7614-A025-EA424D9B2730}"/>
              </a:ext>
            </a:extLst>
          </p:cNvPr>
          <p:cNvSpPr txBox="1"/>
          <p:nvPr/>
        </p:nvSpPr>
        <p:spPr>
          <a:xfrm>
            <a:off x="2505456" y="2416803"/>
            <a:ext cx="2487168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0" dirty="0" err="1">
                <a:solidFill>
                  <a:srgbClr val="087B89"/>
                </a:solidFill>
                <a:latin typeface="HG꼬딕씨_Pro 60g"/>
              </a:rPr>
              <a:t>데이터</a:t>
            </a:r>
            <a:r>
              <a:rPr sz="1400" b="0" dirty="0">
                <a:solidFill>
                  <a:srgbClr val="087B89"/>
                </a:solidFill>
                <a:latin typeface="HG꼬딕씨_Pro 60g"/>
              </a:rPr>
              <a:t> </a:t>
            </a:r>
            <a:r>
              <a:rPr sz="1400" b="0" dirty="0" err="1">
                <a:solidFill>
                  <a:srgbClr val="087B89"/>
                </a:solidFill>
                <a:latin typeface="HG꼬딕씨_Pro 60g"/>
              </a:rPr>
              <a:t>확보</a:t>
            </a:r>
            <a:r>
              <a:rPr sz="1400" b="0" dirty="0">
                <a:solidFill>
                  <a:srgbClr val="087B89"/>
                </a:solidFill>
                <a:latin typeface="HG꼬딕씨_Pro 60g"/>
              </a:rPr>
              <a:t> · </a:t>
            </a:r>
            <a:r>
              <a:rPr sz="1400" b="0" dirty="0" err="1">
                <a:solidFill>
                  <a:srgbClr val="087B89"/>
                </a:solidFill>
                <a:latin typeface="HG꼬딕씨_Pro 60g"/>
              </a:rPr>
              <a:t>통합</a:t>
            </a:r>
            <a:r>
              <a:rPr sz="1400" b="0" dirty="0">
                <a:solidFill>
                  <a:srgbClr val="087B89"/>
                </a:solidFill>
                <a:latin typeface="HG꼬딕씨_Pro 60g"/>
              </a:rPr>
              <a:t> </a:t>
            </a:r>
            <a:r>
              <a:rPr sz="1400" b="0" dirty="0" err="1">
                <a:solidFill>
                  <a:srgbClr val="087B89"/>
                </a:solidFill>
                <a:latin typeface="HG꼬딕씨_Pro 60g"/>
              </a:rPr>
              <a:t>한계</a:t>
            </a:r>
            <a:endParaRPr sz="1400" b="0" dirty="0">
              <a:solidFill>
                <a:srgbClr val="087B89"/>
              </a:solidFill>
              <a:latin typeface="HG꼬딕씨_Pro 60g"/>
            </a:endParaRPr>
          </a:p>
        </p:txBody>
      </p:sp>
      <p:sp>
        <p:nvSpPr>
          <p:cNvPr id="23" name="Rounded Rectangle 13">
            <a:extLst>
              <a:ext uri="{FF2B5EF4-FFF2-40B4-BE49-F238E27FC236}">
                <a16:creationId xmlns:a16="http://schemas.microsoft.com/office/drawing/2014/main" id="{EBE5F815-B43D-94DB-5FB7-625BD63E8716}"/>
              </a:ext>
            </a:extLst>
          </p:cNvPr>
          <p:cNvSpPr/>
          <p:nvPr/>
        </p:nvSpPr>
        <p:spPr>
          <a:xfrm>
            <a:off x="5257800" y="2353163"/>
            <a:ext cx="2788920" cy="365760"/>
          </a:xfrm>
          <a:prstGeom prst="roundRect">
            <a:avLst/>
          </a:prstGeom>
          <a:solidFill>
            <a:srgbClr val="DCF4F6"/>
          </a:solidFill>
          <a:ln w="12700">
            <a:solidFill>
              <a:srgbClr val="DCF4F6"/>
            </a:solidFill>
          </a:ln>
          <a:effectLst>
            <a:outerShdw blurRad="50800" dist="38100" dir="5400000" sx="95000" sy="95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C0337F3-8BFB-7901-F73A-4BFF56911C8F}"/>
              </a:ext>
            </a:extLst>
          </p:cNvPr>
          <p:cNvSpPr txBox="1"/>
          <p:nvPr/>
        </p:nvSpPr>
        <p:spPr>
          <a:xfrm>
            <a:off x="5404104" y="2416803"/>
            <a:ext cx="2487168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0">
                <a:solidFill>
                  <a:srgbClr val="087B89"/>
                </a:solidFill>
                <a:latin typeface="HG꼬딕씨_Pro 60g"/>
              </a:rPr>
              <a:t>변수 선택 · 모델 평가 한계</a:t>
            </a:r>
          </a:p>
        </p:txBody>
      </p:sp>
      <p:sp>
        <p:nvSpPr>
          <p:cNvPr id="36" name="Rounded Rectangle 15">
            <a:extLst>
              <a:ext uri="{FF2B5EF4-FFF2-40B4-BE49-F238E27FC236}">
                <a16:creationId xmlns:a16="http://schemas.microsoft.com/office/drawing/2014/main" id="{E9CA6574-FBD2-95BC-02E7-FC9BF587CDCC}"/>
              </a:ext>
            </a:extLst>
          </p:cNvPr>
          <p:cNvSpPr/>
          <p:nvPr/>
        </p:nvSpPr>
        <p:spPr>
          <a:xfrm>
            <a:off x="2359152" y="3048107"/>
            <a:ext cx="90068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8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BF2369E6-2203-E256-A4BE-F4FEB39880B1}"/>
              </a:ext>
            </a:extLst>
          </p:cNvPr>
          <p:cNvGrpSpPr/>
          <p:nvPr/>
        </p:nvGrpSpPr>
        <p:grpSpPr>
          <a:xfrm>
            <a:off x="2633472" y="3299567"/>
            <a:ext cx="7818120" cy="1280160"/>
            <a:chOff x="2633472" y="3203555"/>
            <a:chExt cx="7818120" cy="1280160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9C6EBE9-DA5B-075D-933F-B4F4C8BE33FD}"/>
                </a:ext>
              </a:extLst>
            </p:cNvPr>
            <p:cNvSpPr txBox="1"/>
            <p:nvPr/>
          </p:nvSpPr>
          <p:spPr>
            <a:xfrm>
              <a:off x="2633472" y="3203555"/>
              <a:ext cx="1463040" cy="256032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l"/>
              <a:r>
                <a:rPr sz="1300" b="0">
                  <a:solidFill>
                    <a:srgbClr val="087B89"/>
                  </a:solidFill>
                  <a:latin typeface="HG꼬딕씨_Pro 60g"/>
                </a:rPr>
                <a:t>LIMITATIONS</a:t>
              </a:r>
            </a:p>
          </p:txBody>
        </p:sp>
        <p:sp>
          <p:nvSpPr>
            <p:cNvPr id="40" name="Oval 17">
              <a:extLst>
                <a:ext uri="{FF2B5EF4-FFF2-40B4-BE49-F238E27FC236}">
                  <a16:creationId xmlns:a16="http://schemas.microsoft.com/office/drawing/2014/main" id="{B5CF954E-E66A-11A7-6178-B28DCDCB90C0}"/>
                </a:ext>
              </a:extLst>
            </p:cNvPr>
            <p:cNvSpPr/>
            <p:nvPr/>
          </p:nvSpPr>
          <p:spPr>
            <a:xfrm>
              <a:off x="2633472" y="3605891"/>
              <a:ext cx="292608" cy="292608"/>
            </a:xfrm>
            <a:prstGeom prst="ellipse">
              <a:avLst/>
            </a:prstGeom>
            <a:solidFill>
              <a:srgbClr val="24ABB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8D08651-9B89-5D47-3B99-B53B8568E995}"/>
                </a:ext>
              </a:extLst>
            </p:cNvPr>
            <p:cNvSpPr txBox="1"/>
            <p:nvPr/>
          </p:nvSpPr>
          <p:spPr>
            <a:xfrm>
              <a:off x="2647188" y="3668070"/>
              <a:ext cx="265176" cy="109728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850" b="0">
                  <a:solidFill>
                    <a:srgbClr val="FFFFFF"/>
                  </a:solidFill>
                  <a:latin typeface="HG꼬딕씨_Pro 60g"/>
                </a:rPr>
                <a:t>01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17FAC46-8825-48C9-EC21-6547729CEBD9}"/>
                </a:ext>
              </a:extLst>
            </p:cNvPr>
            <p:cNvSpPr txBox="1"/>
            <p:nvPr/>
          </p:nvSpPr>
          <p:spPr>
            <a:xfrm>
              <a:off x="3026664" y="3596747"/>
              <a:ext cx="3520440" cy="384048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l"/>
              <a:r>
                <a:rPr sz="1130" b="0">
                  <a:solidFill>
                    <a:srgbClr val="1F2D35"/>
                  </a:solidFill>
                  <a:latin typeface="HG꼬딕씨_Pro 40g"/>
                </a:rPr>
                <a:t>공공데이터 특성상 월별 폐업 데이터와 상권 데이터를
모두 확보하기 어려움</a:t>
              </a:r>
            </a:p>
          </p:txBody>
        </p:sp>
        <p:sp>
          <p:nvSpPr>
            <p:cNvPr id="46" name="Oval 20">
              <a:extLst>
                <a:ext uri="{FF2B5EF4-FFF2-40B4-BE49-F238E27FC236}">
                  <a16:creationId xmlns:a16="http://schemas.microsoft.com/office/drawing/2014/main" id="{91AAC02A-F09B-AA1D-C3EC-EF0A1BC5B956}"/>
                </a:ext>
              </a:extLst>
            </p:cNvPr>
            <p:cNvSpPr/>
            <p:nvPr/>
          </p:nvSpPr>
          <p:spPr>
            <a:xfrm>
              <a:off x="2633472" y="4108811"/>
              <a:ext cx="292608" cy="292608"/>
            </a:xfrm>
            <a:prstGeom prst="ellipse">
              <a:avLst/>
            </a:prstGeom>
            <a:solidFill>
              <a:srgbClr val="24ABB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D44D3D9A-389D-9AFA-DFD0-2BC2A67FD79A}"/>
                </a:ext>
              </a:extLst>
            </p:cNvPr>
            <p:cNvSpPr txBox="1"/>
            <p:nvPr/>
          </p:nvSpPr>
          <p:spPr>
            <a:xfrm>
              <a:off x="2647188" y="4170990"/>
              <a:ext cx="265176" cy="109728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850" b="0">
                  <a:solidFill>
                    <a:srgbClr val="FFFFFF"/>
                  </a:solidFill>
                  <a:latin typeface="HG꼬딕씨_Pro 60g"/>
                </a:rPr>
                <a:t>02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8FD3F27-6524-4C34-6369-15B02B0D4D3E}"/>
                </a:ext>
              </a:extLst>
            </p:cNvPr>
            <p:cNvSpPr txBox="1"/>
            <p:nvPr/>
          </p:nvSpPr>
          <p:spPr>
            <a:xfrm>
              <a:off x="3026664" y="4099667"/>
              <a:ext cx="3520440" cy="384048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l"/>
              <a:r>
                <a:rPr sz="1130" b="0">
                  <a:solidFill>
                    <a:srgbClr val="1F2D35"/>
                  </a:solidFill>
                  <a:latin typeface="HG꼬딕씨_Pro 40g"/>
                </a:rPr>
                <a:t>데이터별 시간 단위(월/연도)와 공간 단위
(행정동/행정구)가 달라 통합 전처리 필요</a:t>
              </a:r>
            </a:p>
          </p:txBody>
        </p:sp>
        <p:sp>
          <p:nvSpPr>
            <p:cNvPr id="52" name="Oval 23">
              <a:extLst>
                <a:ext uri="{FF2B5EF4-FFF2-40B4-BE49-F238E27FC236}">
                  <a16:creationId xmlns:a16="http://schemas.microsoft.com/office/drawing/2014/main" id="{6C580CFD-DFB7-E520-2A99-C751E3F61D02}"/>
                </a:ext>
              </a:extLst>
            </p:cNvPr>
            <p:cNvSpPr/>
            <p:nvPr/>
          </p:nvSpPr>
          <p:spPr>
            <a:xfrm>
              <a:off x="6537960" y="3605891"/>
              <a:ext cx="292608" cy="292608"/>
            </a:xfrm>
            <a:prstGeom prst="ellipse">
              <a:avLst/>
            </a:prstGeom>
            <a:solidFill>
              <a:srgbClr val="24ABB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1D7E5F7-1E03-04CD-F9AB-EA12674AA0CB}"/>
                </a:ext>
              </a:extLst>
            </p:cNvPr>
            <p:cNvSpPr txBox="1"/>
            <p:nvPr/>
          </p:nvSpPr>
          <p:spPr>
            <a:xfrm>
              <a:off x="6551676" y="3668070"/>
              <a:ext cx="265176" cy="109728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850" b="0">
                  <a:solidFill>
                    <a:srgbClr val="FFFFFF"/>
                  </a:solidFill>
                  <a:latin typeface="HG꼬딕씨_Pro 60g"/>
                </a:rPr>
                <a:t>03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BD573E2-81AF-C899-1FC4-4CF4AEA1258C}"/>
                </a:ext>
              </a:extLst>
            </p:cNvPr>
            <p:cNvSpPr txBox="1"/>
            <p:nvPr/>
          </p:nvSpPr>
          <p:spPr>
            <a:xfrm>
              <a:off x="6931152" y="3596747"/>
              <a:ext cx="3520440" cy="384721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l"/>
              <a:r>
                <a:rPr sz="1130" b="0" dirty="0" err="1">
                  <a:solidFill>
                    <a:srgbClr val="1F2D35"/>
                  </a:solidFill>
                  <a:latin typeface="HG꼬딕씨_Pro 40g"/>
                </a:rPr>
                <a:t>변수</a:t>
              </a:r>
              <a:r>
                <a:rPr sz="1130" b="0" dirty="0">
                  <a:solidFill>
                    <a:srgbClr val="1F2D35"/>
                  </a:solidFill>
                  <a:latin typeface="HG꼬딕씨_Pro 40g"/>
                </a:rPr>
                <a:t> 간 </a:t>
              </a:r>
              <a:r>
                <a:rPr sz="1130" b="0" dirty="0" err="1">
                  <a:solidFill>
                    <a:srgbClr val="1F2D35"/>
                  </a:solidFill>
                  <a:latin typeface="HG꼬딕씨_Pro 40g"/>
                </a:rPr>
                <a:t>높은</a:t>
              </a:r>
              <a:r>
                <a:rPr sz="1130" b="0" dirty="0">
                  <a:solidFill>
                    <a:srgbClr val="1F2D35"/>
                  </a:solidFill>
                  <a:latin typeface="HG꼬딕씨_Pro 40g"/>
                </a:rPr>
                <a:t> </a:t>
              </a:r>
              <a:r>
                <a:rPr sz="1130" b="0" dirty="0" err="1">
                  <a:solidFill>
                    <a:srgbClr val="1F2D35"/>
                  </a:solidFill>
                  <a:latin typeface="HG꼬딕씨_Pro 40g"/>
                </a:rPr>
                <a:t>상관관계</a:t>
              </a:r>
              <a:r>
                <a:rPr sz="1130" b="0" dirty="0">
                  <a:solidFill>
                    <a:srgbClr val="1F2D35"/>
                  </a:solidFill>
                  <a:latin typeface="HG꼬딕씨_Pro 40g"/>
                </a:rPr>
                <a:t>(</a:t>
              </a:r>
              <a:r>
                <a:rPr sz="1130" b="0" dirty="0" err="1">
                  <a:solidFill>
                    <a:srgbClr val="1F2D35"/>
                  </a:solidFill>
                  <a:latin typeface="HG꼬딕씨_Pro 40g"/>
                </a:rPr>
                <a:t>다중공선성</a:t>
              </a:r>
              <a:r>
                <a:rPr sz="1130" b="0" dirty="0">
                  <a:solidFill>
                    <a:srgbClr val="1F2D35"/>
                  </a:solidFill>
                  <a:latin typeface="HG꼬딕씨_Pro 40g"/>
                </a:rPr>
                <a:t>)로 </a:t>
              </a:r>
              <a:r>
                <a:rPr sz="1130" b="0" dirty="0" err="1">
                  <a:solidFill>
                    <a:srgbClr val="1F2D35"/>
                  </a:solidFill>
                  <a:latin typeface="HG꼬딕씨_Pro 40g"/>
                </a:rPr>
                <a:t>인해</a:t>
              </a:r>
              <a:r>
                <a:rPr sz="1130" b="0" dirty="0">
                  <a:solidFill>
                    <a:srgbClr val="1F2D35"/>
                  </a:solidFill>
                  <a:latin typeface="HG꼬딕씨_Pro 40g"/>
                </a:rPr>
                <a:t> </a:t>
              </a:r>
              <a:endParaRPr lang="en-US" sz="1130" b="0" dirty="0">
                <a:solidFill>
                  <a:srgbClr val="1F2D35"/>
                </a:solidFill>
                <a:latin typeface="HG꼬딕씨_Pro 40g"/>
              </a:endParaRPr>
            </a:p>
            <a:p>
              <a:pPr algn="l"/>
              <a:r>
                <a:rPr sz="1130" b="0" dirty="0" err="1">
                  <a:solidFill>
                    <a:srgbClr val="1F2D35"/>
                  </a:solidFill>
                  <a:latin typeface="HG꼬딕씨_Pro 40g"/>
                </a:rPr>
                <a:t>변수</a:t>
              </a:r>
              <a:r>
                <a:rPr sz="1130" b="0" dirty="0">
                  <a:solidFill>
                    <a:srgbClr val="1F2D35"/>
                  </a:solidFill>
                  <a:latin typeface="HG꼬딕씨_Pro 40g"/>
                </a:rPr>
                <a:t> </a:t>
              </a:r>
              <a:r>
                <a:rPr sz="1130" b="0" dirty="0" err="1">
                  <a:solidFill>
                    <a:srgbClr val="1F2D35"/>
                  </a:solidFill>
                  <a:latin typeface="HG꼬딕씨_Pro 40g"/>
                </a:rPr>
                <a:t>선택</a:t>
              </a:r>
              <a:r>
                <a:rPr lang="en-US" sz="1130" dirty="0">
                  <a:solidFill>
                    <a:srgbClr val="1F2D35"/>
                  </a:solidFill>
                  <a:latin typeface="HG꼬딕씨_Pro 40g"/>
                </a:rPr>
                <a:t> </a:t>
              </a:r>
              <a:r>
                <a:rPr sz="1130" b="0" dirty="0" err="1">
                  <a:solidFill>
                    <a:srgbClr val="1F2D35"/>
                  </a:solidFill>
                  <a:latin typeface="HG꼬딕씨_Pro 40g"/>
                </a:rPr>
                <a:t>과정</a:t>
              </a:r>
              <a:r>
                <a:rPr sz="1130" b="0" dirty="0">
                  <a:solidFill>
                    <a:srgbClr val="1F2D35"/>
                  </a:solidFill>
                  <a:latin typeface="HG꼬딕씨_Pro 40g"/>
                </a:rPr>
                <a:t> </a:t>
              </a:r>
              <a:r>
                <a:rPr sz="1130" b="0" dirty="0" err="1">
                  <a:solidFill>
                    <a:srgbClr val="1F2D35"/>
                  </a:solidFill>
                  <a:latin typeface="HG꼬딕씨_Pro 40g"/>
                </a:rPr>
                <a:t>필요</a:t>
              </a:r>
              <a:endParaRPr sz="1130" b="0" dirty="0">
                <a:solidFill>
                  <a:srgbClr val="1F2D35"/>
                </a:solidFill>
                <a:latin typeface="HG꼬딕씨_Pro 40g"/>
              </a:endParaRPr>
            </a:p>
          </p:txBody>
        </p:sp>
        <p:sp>
          <p:nvSpPr>
            <p:cNvPr id="58" name="Oval 26">
              <a:extLst>
                <a:ext uri="{FF2B5EF4-FFF2-40B4-BE49-F238E27FC236}">
                  <a16:creationId xmlns:a16="http://schemas.microsoft.com/office/drawing/2014/main" id="{C57A760F-46C6-5B5D-8AB9-159AD60A7C22}"/>
                </a:ext>
              </a:extLst>
            </p:cNvPr>
            <p:cNvSpPr/>
            <p:nvPr/>
          </p:nvSpPr>
          <p:spPr>
            <a:xfrm>
              <a:off x="6537960" y="4108811"/>
              <a:ext cx="292608" cy="292608"/>
            </a:xfrm>
            <a:prstGeom prst="ellipse">
              <a:avLst/>
            </a:prstGeom>
            <a:solidFill>
              <a:srgbClr val="24ABB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625C70F-1B03-623F-A51C-08962FC27D1F}"/>
                </a:ext>
              </a:extLst>
            </p:cNvPr>
            <p:cNvSpPr txBox="1"/>
            <p:nvPr/>
          </p:nvSpPr>
          <p:spPr>
            <a:xfrm>
              <a:off x="6551676" y="4170990"/>
              <a:ext cx="265176" cy="109728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850" b="0">
                  <a:solidFill>
                    <a:srgbClr val="FFFFFF"/>
                  </a:solidFill>
                  <a:latin typeface="HG꼬딕씨_Pro 60g"/>
                </a:rPr>
                <a:t>04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40376FC-DA72-CCA9-92C4-4647653BA9A5}"/>
                </a:ext>
              </a:extLst>
            </p:cNvPr>
            <p:cNvSpPr txBox="1"/>
            <p:nvPr/>
          </p:nvSpPr>
          <p:spPr>
            <a:xfrm>
              <a:off x="6931152" y="4099667"/>
              <a:ext cx="3520440" cy="384048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l"/>
              <a:r>
                <a:rPr sz="1130" b="0" dirty="0" err="1">
                  <a:solidFill>
                    <a:srgbClr val="1F2D35"/>
                  </a:solidFill>
                  <a:latin typeface="HG꼬딕씨_Pro 40g"/>
                </a:rPr>
                <a:t>소비</a:t>
              </a:r>
              <a:r>
                <a:rPr sz="1130" b="0" dirty="0">
                  <a:solidFill>
                    <a:srgbClr val="1F2D35"/>
                  </a:solidFill>
                  <a:latin typeface="HG꼬딕씨_Pro 40g"/>
                </a:rPr>
                <a:t> </a:t>
              </a:r>
              <a:r>
                <a:rPr sz="1130" b="0" dirty="0" err="1">
                  <a:solidFill>
                    <a:srgbClr val="1F2D35"/>
                  </a:solidFill>
                  <a:latin typeface="HG꼬딕씨_Pro 40g"/>
                </a:rPr>
                <a:t>데이터만으로</a:t>
              </a:r>
              <a:r>
                <a:rPr sz="1130" b="0" dirty="0">
                  <a:solidFill>
                    <a:srgbClr val="1F2D35"/>
                  </a:solidFill>
                  <a:latin typeface="HG꼬딕씨_Pro 40g"/>
                </a:rPr>
                <a:t> </a:t>
              </a:r>
              <a:r>
                <a:rPr sz="1130" b="0" dirty="0" err="1">
                  <a:solidFill>
                    <a:srgbClr val="1F2D35"/>
                  </a:solidFill>
                  <a:latin typeface="HG꼬딕씨_Pro 40g"/>
                </a:rPr>
                <a:t>폐업</a:t>
              </a:r>
              <a:r>
                <a:rPr sz="1130" b="0" dirty="0">
                  <a:solidFill>
                    <a:srgbClr val="1F2D35"/>
                  </a:solidFill>
                  <a:latin typeface="HG꼬딕씨_Pro 40g"/>
                </a:rPr>
                <a:t> </a:t>
              </a:r>
              <a:r>
                <a:rPr sz="1130" b="0" dirty="0" err="1">
                  <a:solidFill>
                    <a:srgbClr val="1F2D35"/>
                  </a:solidFill>
                  <a:latin typeface="HG꼬딕씨_Pro 40g"/>
                </a:rPr>
                <a:t>원인을</a:t>
              </a:r>
              <a:r>
                <a:rPr sz="1130" b="0" dirty="0">
                  <a:solidFill>
                    <a:srgbClr val="1F2D35"/>
                  </a:solidFill>
                  <a:latin typeface="HG꼬딕씨_Pro 40g"/>
                </a:rPr>
                <a:t> </a:t>
              </a:r>
              <a:r>
                <a:rPr sz="1130" b="0" dirty="0" err="1">
                  <a:solidFill>
                    <a:srgbClr val="1F2D35"/>
                  </a:solidFill>
                  <a:latin typeface="HG꼬딕씨_Pro 40g"/>
                </a:rPr>
                <a:t>모두</a:t>
              </a:r>
              <a:r>
                <a:rPr sz="1130" b="0" dirty="0">
                  <a:solidFill>
                    <a:srgbClr val="1F2D35"/>
                  </a:solidFill>
                  <a:latin typeface="HG꼬딕씨_Pro 40g"/>
                </a:rPr>
                <a:t> </a:t>
              </a:r>
              <a:r>
                <a:rPr sz="1130" b="0" dirty="0" err="1">
                  <a:solidFill>
                    <a:srgbClr val="1F2D35"/>
                  </a:solidFill>
                  <a:latin typeface="HG꼬딕씨_Pro 40g"/>
                </a:rPr>
                <a:t>설명하기</a:t>
              </a:r>
              <a:r>
                <a:rPr sz="1130" b="0" dirty="0">
                  <a:solidFill>
                    <a:srgbClr val="1F2D35"/>
                  </a:solidFill>
                  <a:latin typeface="HG꼬딕씨_Pro 40g"/>
                </a:rPr>
                <a:t> </a:t>
              </a:r>
              <a:r>
                <a:rPr sz="1130" b="0" dirty="0" err="1">
                  <a:solidFill>
                    <a:srgbClr val="1F2D35"/>
                  </a:solidFill>
                  <a:latin typeface="HG꼬딕씨_Pro 40g"/>
                </a:rPr>
                <a:t>어려워</a:t>
              </a:r>
              <a:r>
                <a:rPr sz="1130" b="0" dirty="0">
                  <a:solidFill>
                    <a:srgbClr val="1F2D35"/>
                  </a:solidFill>
                  <a:latin typeface="HG꼬딕씨_Pro 40g"/>
                </a:rPr>
                <a:t>
</a:t>
              </a:r>
              <a:r>
                <a:rPr sz="1130" b="0" dirty="0" err="1">
                  <a:solidFill>
                    <a:srgbClr val="1F2D35"/>
                  </a:solidFill>
                  <a:latin typeface="HG꼬딕씨_Pro 40g"/>
                </a:rPr>
                <a:t>임대료·공실률·유동인구</a:t>
              </a:r>
              <a:r>
                <a:rPr sz="1130" b="0" dirty="0">
                  <a:solidFill>
                    <a:srgbClr val="1F2D35"/>
                  </a:solidFill>
                  <a:latin typeface="HG꼬딕씨_Pro 40g"/>
                </a:rPr>
                <a:t> 등 </a:t>
              </a:r>
              <a:r>
                <a:rPr sz="1130" b="0" dirty="0" err="1">
                  <a:solidFill>
                    <a:srgbClr val="1F2D35"/>
                  </a:solidFill>
                  <a:latin typeface="HG꼬딕씨_Pro 40g"/>
                </a:rPr>
                <a:t>추가</a:t>
              </a:r>
              <a:r>
                <a:rPr sz="1130" b="0" dirty="0">
                  <a:solidFill>
                    <a:srgbClr val="1F2D35"/>
                  </a:solidFill>
                  <a:latin typeface="HG꼬딕씨_Pro 40g"/>
                </a:rPr>
                <a:t> </a:t>
              </a:r>
              <a:r>
                <a:rPr sz="1130" b="0" dirty="0" err="1">
                  <a:solidFill>
                    <a:srgbClr val="1F2D35"/>
                  </a:solidFill>
                  <a:latin typeface="HG꼬딕씨_Pro 40g"/>
                </a:rPr>
                <a:t>변수</a:t>
              </a:r>
              <a:r>
                <a:rPr sz="1130" b="0" dirty="0">
                  <a:solidFill>
                    <a:srgbClr val="1F2D35"/>
                  </a:solidFill>
                  <a:latin typeface="HG꼬딕씨_Pro 40g"/>
                </a:rPr>
                <a:t> </a:t>
              </a:r>
              <a:r>
                <a:rPr sz="1130" b="0" dirty="0" err="1">
                  <a:solidFill>
                    <a:srgbClr val="1F2D35"/>
                  </a:solidFill>
                  <a:latin typeface="HG꼬딕씨_Pro 40g"/>
                </a:rPr>
                <a:t>반영</a:t>
              </a:r>
              <a:r>
                <a:rPr sz="1130" b="0" dirty="0">
                  <a:solidFill>
                    <a:srgbClr val="1F2D35"/>
                  </a:solidFill>
                  <a:latin typeface="HG꼬딕씨_Pro 40g"/>
                </a:rPr>
                <a:t> </a:t>
              </a:r>
              <a:r>
                <a:rPr sz="1130" b="0" dirty="0" err="1">
                  <a:solidFill>
                    <a:srgbClr val="1F2D35"/>
                  </a:solidFill>
                  <a:latin typeface="HG꼬딕씨_Pro 40g"/>
                </a:rPr>
                <a:t>한계</a:t>
              </a:r>
              <a:endParaRPr sz="1130" b="0" dirty="0">
                <a:solidFill>
                  <a:srgbClr val="1F2D35"/>
                </a:solidFill>
                <a:latin typeface="HG꼬딕씨_Pro 40g"/>
              </a:endParaRPr>
            </a:p>
          </p:txBody>
        </p:sp>
      </p:grpSp>
      <p:sp>
        <p:nvSpPr>
          <p:cNvPr id="64" name="Rounded Rectangle 29">
            <a:extLst>
              <a:ext uri="{FF2B5EF4-FFF2-40B4-BE49-F238E27FC236}">
                <a16:creationId xmlns:a16="http://schemas.microsoft.com/office/drawing/2014/main" id="{A0985D55-DAA8-A5BC-F5CD-727A5B6FF208}"/>
              </a:ext>
            </a:extLst>
          </p:cNvPr>
          <p:cNvSpPr/>
          <p:nvPr/>
        </p:nvSpPr>
        <p:spPr>
          <a:xfrm>
            <a:off x="2359152" y="5169515"/>
            <a:ext cx="1499616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8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F7C980D-2B19-9539-9573-6B5965E62474}"/>
              </a:ext>
            </a:extLst>
          </p:cNvPr>
          <p:cNvSpPr txBox="1"/>
          <p:nvPr/>
        </p:nvSpPr>
        <p:spPr>
          <a:xfrm>
            <a:off x="2523744" y="5370683"/>
            <a:ext cx="1170431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0">
                <a:solidFill>
                  <a:srgbClr val="087B89"/>
                </a:solidFill>
                <a:latin typeface="HG꼬딕씨_Pro 60g"/>
              </a:rPr>
              <a:t>데이터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5D8C07F-26D5-9955-8D90-ED12CA23B231}"/>
              </a:ext>
            </a:extLst>
          </p:cNvPr>
          <p:cNvSpPr txBox="1"/>
          <p:nvPr/>
        </p:nvSpPr>
        <p:spPr>
          <a:xfrm>
            <a:off x="2478024" y="5635859"/>
            <a:ext cx="1261872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19" b="0">
                <a:solidFill>
                  <a:srgbClr val="7F8B92"/>
                </a:solidFill>
                <a:latin typeface="HG꼬딕씨_Pro 20g"/>
              </a:rPr>
              <a:t>월별 · 공간 단위
확보 한계</a:t>
            </a:r>
          </a:p>
        </p:txBody>
      </p:sp>
      <p:sp>
        <p:nvSpPr>
          <p:cNvPr id="70" name="Rounded Rectangle 32">
            <a:extLst>
              <a:ext uri="{FF2B5EF4-FFF2-40B4-BE49-F238E27FC236}">
                <a16:creationId xmlns:a16="http://schemas.microsoft.com/office/drawing/2014/main" id="{B1F0E84A-86B3-08C1-ABE5-E8C72458917C}"/>
              </a:ext>
            </a:extLst>
          </p:cNvPr>
          <p:cNvSpPr/>
          <p:nvPr/>
        </p:nvSpPr>
        <p:spPr>
          <a:xfrm>
            <a:off x="3986783" y="5169515"/>
            <a:ext cx="1499616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8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B61B826-B925-9EC2-9002-329CABC9E527}"/>
              </a:ext>
            </a:extLst>
          </p:cNvPr>
          <p:cNvSpPr txBox="1"/>
          <p:nvPr/>
        </p:nvSpPr>
        <p:spPr>
          <a:xfrm>
            <a:off x="4151375" y="5370683"/>
            <a:ext cx="1170431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0">
                <a:solidFill>
                  <a:srgbClr val="087B89"/>
                </a:solidFill>
                <a:latin typeface="HG꼬딕씨_Pro 60g"/>
              </a:rPr>
              <a:t>전처리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4F7C5D5-A662-289D-CE8F-7163F6EACD23}"/>
              </a:ext>
            </a:extLst>
          </p:cNvPr>
          <p:cNvSpPr txBox="1"/>
          <p:nvPr/>
        </p:nvSpPr>
        <p:spPr>
          <a:xfrm>
            <a:off x="4105655" y="5635859"/>
            <a:ext cx="1261872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19" b="0">
                <a:solidFill>
                  <a:srgbClr val="7F8B92"/>
                </a:solidFill>
                <a:latin typeface="HG꼬딕씨_Pro 20g"/>
              </a:rPr>
              <a:t>단위 불일치
매핑 · 병합 필요</a:t>
            </a:r>
          </a:p>
        </p:txBody>
      </p:sp>
      <p:sp>
        <p:nvSpPr>
          <p:cNvPr id="76" name="Rounded Rectangle 35">
            <a:extLst>
              <a:ext uri="{FF2B5EF4-FFF2-40B4-BE49-F238E27FC236}">
                <a16:creationId xmlns:a16="http://schemas.microsoft.com/office/drawing/2014/main" id="{F2D4DC93-A130-731F-E44E-3F472E1F6DD7}"/>
              </a:ext>
            </a:extLst>
          </p:cNvPr>
          <p:cNvSpPr/>
          <p:nvPr/>
        </p:nvSpPr>
        <p:spPr>
          <a:xfrm>
            <a:off x="5614416" y="5169515"/>
            <a:ext cx="1499616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8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5F4A4A4-1D18-DC2F-2404-D38E520B93D3}"/>
              </a:ext>
            </a:extLst>
          </p:cNvPr>
          <p:cNvSpPr txBox="1"/>
          <p:nvPr/>
        </p:nvSpPr>
        <p:spPr>
          <a:xfrm>
            <a:off x="5779007" y="5370683"/>
            <a:ext cx="1170431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0" dirty="0" err="1">
                <a:solidFill>
                  <a:srgbClr val="087B89"/>
                </a:solidFill>
                <a:latin typeface="HG꼬딕씨_Pro 60g"/>
              </a:rPr>
              <a:t>모델링</a:t>
            </a:r>
            <a:endParaRPr sz="1200" b="0" dirty="0">
              <a:solidFill>
                <a:srgbClr val="087B89"/>
              </a:solidFill>
              <a:latin typeface="HG꼬딕씨_Pro 60g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A4AD741-1FDE-E653-45C9-65FF0A1116B3}"/>
              </a:ext>
            </a:extLst>
          </p:cNvPr>
          <p:cNvSpPr txBox="1"/>
          <p:nvPr/>
        </p:nvSpPr>
        <p:spPr>
          <a:xfrm>
            <a:off x="5733288" y="5635859"/>
            <a:ext cx="1261872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19" b="0">
                <a:solidFill>
                  <a:srgbClr val="7F8B92"/>
                </a:solidFill>
                <a:latin typeface="HG꼬딕씨_Pro 20g"/>
              </a:rPr>
              <a:t>다중공선성
변수 선택 필요</a:t>
            </a:r>
          </a:p>
        </p:txBody>
      </p:sp>
      <p:sp>
        <p:nvSpPr>
          <p:cNvPr id="82" name="Rounded Rectangle 38">
            <a:extLst>
              <a:ext uri="{FF2B5EF4-FFF2-40B4-BE49-F238E27FC236}">
                <a16:creationId xmlns:a16="http://schemas.microsoft.com/office/drawing/2014/main" id="{C5E81B41-8983-C4C1-7B5B-AA9E8965B153}"/>
              </a:ext>
            </a:extLst>
          </p:cNvPr>
          <p:cNvSpPr/>
          <p:nvPr/>
        </p:nvSpPr>
        <p:spPr>
          <a:xfrm>
            <a:off x="7388352" y="5169515"/>
            <a:ext cx="3977639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8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86FC8A28-8BD3-07B5-013F-FF47491D93AE}"/>
              </a:ext>
            </a:extLst>
          </p:cNvPr>
          <p:cNvGrpSpPr/>
          <p:nvPr/>
        </p:nvGrpSpPr>
        <p:grpSpPr>
          <a:xfrm>
            <a:off x="7680960" y="5278216"/>
            <a:ext cx="3541222" cy="678711"/>
            <a:chOff x="7680960" y="5334107"/>
            <a:chExt cx="3541222" cy="678711"/>
          </a:xfrm>
        </p:grpSpPr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BA910897-F6EE-6B4D-17EE-37C6843E6162}"/>
                </a:ext>
              </a:extLst>
            </p:cNvPr>
            <p:cNvSpPr txBox="1"/>
            <p:nvPr/>
          </p:nvSpPr>
          <p:spPr>
            <a:xfrm>
              <a:off x="7680960" y="5334107"/>
              <a:ext cx="1508760" cy="164592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l"/>
              <a:r>
                <a:rPr sz="1050" b="0" dirty="0">
                  <a:solidFill>
                    <a:srgbClr val="087B89"/>
                  </a:solidFill>
                  <a:latin typeface="HG꼬딕씨_Pro 60g"/>
                </a:rPr>
                <a:t>SECTION SUMMARY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ADDDE08E-3FA9-8CB8-35D4-23492740B620}"/>
                </a:ext>
              </a:extLst>
            </p:cNvPr>
            <p:cNvSpPr txBox="1"/>
            <p:nvPr/>
          </p:nvSpPr>
          <p:spPr>
            <a:xfrm>
              <a:off x="7680960" y="5528455"/>
              <a:ext cx="3541222" cy="484363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l"/>
              <a:r>
                <a:rPr sz="969" b="0" dirty="0" err="1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예측</a:t>
              </a:r>
              <a:r>
                <a:rPr sz="969" b="0" dirty="0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 </a:t>
              </a:r>
              <a:r>
                <a:rPr sz="969" b="0" dirty="0" err="1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결과는</a:t>
              </a:r>
              <a:r>
                <a:rPr sz="969" b="0" dirty="0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 </a:t>
              </a:r>
              <a:r>
                <a:rPr sz="969" b="0" dirty="0" err="1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확보</a:t>
              </a:r>
              <a:r>
                <a:rPr sz="969" b="0" dirty="0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 </a:t>
              </a:r>
              <a:r>
                <a:rPr sz="969" b="0" dirty="0" err="1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가능한</a:t>
              </a:r>
              <a:r>
                <a:rPr sz="969" b="0" dirty="0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 </a:t>
              </a:r>
              <a:r>
                <a:rPr sz="969" b="0" dirty="0" err="1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데이터</a:t>
              </a:r>
              <a:r>
                <a:rPr sz="969" b="0" dirty="0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 </a:t>
              </a:r>
              <a:r>
                <a:rPr sz="969" b="0" dirty="0" err="1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범위</a:t>
              </a:r>
              <a:r>
                <a:rPr sz="969" b="0" dirty="0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 </a:t>
              </a:r>
              <a:r>
                <a:rPr sz="969" b="0" dirty="0" err="1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내에서</a:t>
              </a:r>
              <a:r>
                <a:rPr sz="969" b="0" dirty="0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 </a:t>
              </a:r>
              <a:r>
                <a:rPr sz="969" b="0" dirty="0" err="1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수행되었으며</a:t>
              </a:r>
              <a:r>
                <a:rPr sz="969" b="0" dirty="0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, </a:t>
              </a:r>
              <a:endParaRPr lang="en-US" sz="969" b="0" dirty="0">
                <a:solidFill>
                  <a:srgbClr val="48586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endParaRPr>
            </a:p>
            <a:p>
              <a:pPr algn="l"/>
              <a:r>
                <a:rPr sz="969" b="0" dirty="0" err="1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향후</a:t>
              </a:r>
              <a:r>
                <a:rPr sz="969" b="0" dirty="0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 </a:t>
              </a:r>
              <a:r>
                <a:rPr sz="969" b="0" dirty="0" err="1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임대료·공실률·유동인구</a:t>
              </a:r>
              <a:r>
                <a:rPr sz="969" b="0" dirty="0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 등 </a:t>
              </a:r>
              <a:endParaRPr lang="en-US" sz="969" b="0" dirty="0">
                <a:solidFill>
                  <a:srgbClr val="48586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endParaRPr>
            </a:p>
            <a:p>
              <a:pPr algn="l"/>
              <a:r>
                <a:rPr sz="969" b="0" dirty="0" err="1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다양한</a:t>
              </a:r>
              <a:r>
                <a:rPr sz="969" b="0" dirty="0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 </a:t>
              </a:r>
              <a:r>
                <a:rPr sz="969" b="0" dirty="0" err="1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변수와</a:t>
              </a:r>
              <a:r>
                <a:rPr sz="969" b="0" dirty="0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 </a:t>
              </a:r>
              <a:r>
                <a:rPr sz="969" b="0" dirty="0" err="1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장기</a:t>
              </a:r>
              <a:r>
                <a:rPr sz="969" b="0" dirty="0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 </a:t>
              </a:r>
              <a:r>
                <a:rPr sz="969" b="0" dirty="0" err="1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데이터를</a:t>
              </a:r>
              <a:r>
                <a:rPr sz="969" b="0" dirty="0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 </a:t>
              </a:r>
              <a:r>
                <a:rPr sz="969" b="0" dirty="0" err="1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활용하면</a:t>
              </a:r>
              <a:r>
                <a:rPr sz="969" b="0" dirty="0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 </a:t>
              </a:r>
              <a:r>
                <a:rPr sz="969" b="0" dirty="0" err="1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정확도를</a:t>
              </a:r>
              <a:r>
                <a:rPr sz="969" b="0" dirty="0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 </a:t>
              </a:r>
              <a:r>
                <a:rPr sz="969" b="0" dirty="0" err="1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높일</a:t>
              </a:r>
              <a:r>
                <a:rPr sz="969" b="0" dirty="0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 </a:t>
              </a:r>
              <a:r>
                <a:rPr sz="969" dirty="0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수</a:t>
              </a:r>
              <a:r>
                <a:rPr lang="en-US" sz="969" dirty="0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 </a:t>
              </a:r>
              <a:r>
                <a:rPr lang="ko-KR" altLang="en-US" sz="969" dirty="0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있을 것</a:t>
              </a:r>
              <a:r>
                <a:rPr sz="969" b="0" dirty="0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60858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</TotalTime>
  <Words>6604</Words>
  <Application>Microsoft Office PowerPoint</Application>
  <PresentationFormat>와이드스크린</PresentationFormat>
  <Paragraphs>1273</Paragraphs>
  <Slides>64</Slides>
  <Notes>62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64</vt:i4>
      </vt:variant>
    </vt:vector>
  </HeadingPairs>
  <TitlesOfParts>
    <vt:vector size="77" baseType="lpstr">
      <vt:lpstr>HGGGothicssi_Pro 20g</vt:lpstr>
      <vt:lpstr>HGGGothicssi_Pro 40g</vt:lpstr>
      <vt:lpstr>HGGGothicssi_Pro 60g</vt:lpstr>
      <vt:lpstr>HGGGothicssi_Pro 80g</vt:lpstr>
      <vt:lpstr>HG꼬딕씨_Pro 00g</vt:lpstr>
      <vt:lpstr>HG꼬딕씨_Pro 20g</vt:lpstr>
      <vt:lpstr>HG꼬딕씨_Pro 40g</vt:lpstr>
      <vt:lpstr>HG꼬딕씨_Pro 60g</vt:lpstr>
      <vt:lpstr>HG꼬딕씨_Pro 80g</vt:lpstr>
      <vt:lpstr>HG꼬딕씨_Pro 99g</vt:lpstr>
      <vt:lpstr>Arial</vt:lpstr>
      <vt:lpstr>Office 테마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성우 김</dc:creator>
  <cp:lastModifiedBy>Admin</cp:lastModifiedBy>
  <cp:revision>5</cp:revision>
  <dcterms:created xsi:type="dcterms:W3CDTF">2026-08-18T20:37:13Z</dcterms:created>
  <dcterms:modified xsi:type="dcterms:W3CDTF">2026-08-20T06:26:20Z</dcterms:modified>
</cp:coreProperties>
</file>