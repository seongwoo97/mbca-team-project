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0933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14400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0B2545"/>
                </a:solidFill>
              </a:rPr>
              <a:t>부산 폐업 예측 모델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0B2545"/>
                </a:solidFill>
              </a:rPr>
              <a:t>비교·선정 결과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13232" y="24231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관광 성장·소비·사업자 변화와 폐업 취약성 분석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3232" y="3063240"/>
            <a:ext cx="2606040" cy="301752"/>
          </a:xfrm>
          <a:prstGeom prst="roundRect">
            <a:avLst>
              <a:gd name="adj" fmla="val 21212"/>
            </a:avLst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3113532"/>
            <a:ext cx="2459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M1: 다음달 절대 폐업강도 예측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493008" y="3063240"/>
            <a:ext cx="2697480" cy="301752"/>
          </a:xfrm>
          <a:prstGeom prst="roundRect">
            <a:avLst>
              <a:gd name="adj" fmla="val 21212"/>
            </a:avLst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3113532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M2: 구조적 폐업 취약지역 탐색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13232" y="397764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BAC"/>
                </a:solidFill>
              </a:rPr>
              <a:t>0.1652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13232" y="4416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최종 Test MAE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397764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A974"/>
                </a:solidFill>
              </a:rPr>
              <a:t>38.72%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68880" y="4416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Dummy 대비 개선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397764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7A59"/>
                </a:solidFill>
              </a:rPr>
              <a:t>61.11%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80560" y="4416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M2 Top3 적중률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" y="5074920"/>
            <a:ext cx="5943600" cy="868680"/>
          </a:xfrm>
          <a:prstGeom prst="roundRect">
            <a:avLst>
              <a:gd name="adj" fmla="val 5263"/>
            </a:avLst>
          </a:prstGeom>
          <a:solidFill>
            <a:srgbClr val="F3F7FF"/>
          </a:solidFill>
          <a:ln w="10160">
            <a:solidFill>
              <a:srgbClr val="B9C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5184648"/>
            <a:ext cx="56509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결론: 절대 폐업강도는 LightGBM이 가장 안정적으로 예측했고, 지역 간 상대 취약성은 단기 관광·소비 변수보다 과거부터 지속된 지역 구조 차이가 더 강했습니다.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95160" y="9144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</a:rPr>
              <a:t>OOF MAE: M1 후보 비교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95160" y="1453896"/>
            <a:ext cx="18434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11827"/>
                </a:solidFill>
              </a:rPr>
              <a:t>LightGBM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03182" y="1472184"/>
            <a:ext cx="2042770" cy="146304"/>
          </a:xfrm>
          <a:prstGeom prst="rect">
            <a:avLst/>
          </a:prstGeom>
          <a:solidFill>
            <a:srgbClr val="ECF1F7"/>
          </a:solidFill>
          <a:ln w="12700">
            <a:solidFill>
              <a:srgbClr val="ECF1F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3182" y="1472184"/>
            <a:ext cx="1722310" cy="146304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2013966"/>
            <a:ext cx="18434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11827"/>
                </a:solidFill>
              </a:rPr>
              <a:t>XGBoost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03182" y="2032254"/>
            <a:ext cx="2042770" cy="146304"/>
          </a:xfrm>
          <a:prstGeom prst="rect">
            <a:avLst/>
          </a:prstGeom>
          <a:solidFill>
            <a:srgbClr val="ECF1F7"/>
          </a:solidFill>
          <a:ln w="12700">
            <a:solidFill>
              <a:srgbClr val="ECF1F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03182" y="2032254"/>
            <a:ext cx="1771464" cy="146304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2574036"/>
            <a:ext cx="18434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11827"/>
                </a:solidFill>
              </a:rPr>
              <a:t>Ridge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03182" y="2592324"/>
            <a:ext cx="2042770" cy="146304"/>
          </a:xfrm>
          <a:prstGeom prst="rect">
            <a:avLst/>
          </a:prstGeom>
          <a:solidFill>
            <a:srgbClr val="ECF1F7"/>
          </a:solidFill>
          <a:ln w="12700">
            <a:solidFill>
              <a:srgbClr val="ECF1F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3182" y="2592324"/>
            <a:ext cx="1789977" cy="146304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3134106"/>
            <a:ext cx="18434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11827"/>
                </a:solidFill>
              </a:rPr>
              <a:t>RF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003182" y="3152394"/>
            <a:ext cx="2042770" cy="146304"/>
          </a:xfrm>
          <a:prstGeom prst="rect">
            <a:avLst/>
          </a:prstGeom>
          <a:solidFill>
            <a:srgbClr val="ECF1F7"/>
          </a:solidFill>
          <a:ln w="12700">
            <a:solidFill>
              <a:srgbClr val="ECF1F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03182" y="3152394"/>
            <a:ext cx="1833386" cy="146304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95160" y="4343400"/>
            <a:ext cx="1234440" cy="402336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50024" y="4379976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</a:rPr>
              <a:t>구분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29600" y="4343400"/>
            <a:ext cx="1417320" cy="402336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84464" y="4379976"/>
            <a:ext cx="1307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</a:rPr>
              <a:t>선정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646920" y="4343400"/>
            <a:ext cx="1737360" cy="402336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01784" y="437997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</a:rPr>
              <a:t>근거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995160" y="4745736"/>
            <a:ext cx="123444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50024" y="4782312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</a:rPr>
              <a:t>M1 예측모델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229600" y="4745736"/>
            <a:ext cx="141732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84464" y="4782312"/>
            <a:ext cx="1307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</a:rPr>
              <a:t>LightGBM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646920" y="4745736"/>
            <a:ext cx="173736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01784" y="4782312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</a:rPr>
              <a:t>OOF MAE 1위, Final Test 안정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995160" y="5148072"/>
            <a:ext cx="123444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50024" y="5184648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</a:rPr>
              <a:t>M2 취약성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229600" y="5148072"/>
            <a:ext cx="141732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84464" y="5184648"/>
            <a:ext cx="1307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</a:rPr>
              <a:t>Historical Region Mean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646920" y="5148072"/>
            <a:ext cx="173736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01784" y="518464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</a:rPr>
              <a:t>상대위험 Top3 61.11% 적중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데이터 구조와 문제 정의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관측단위는 행정구×연월, 목표는 “다음달 폐업강도” 예측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188720"/>
            <a:ext cx="1417320" cy="502920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225296"/>
            <a:ext cx="1307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1827"/>
                </a:solidFill>
              </a:rPr>
              <a:t>항목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0" y="1188720"/>
            <a:ext cx="3749040" cy="502920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66544" y="1225296"/>
            <a:ext cx="36393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1827"/>
                </a:solidFill>
              </a:rPr>
              <a:t>내용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1691640"/>
            <a:ext cx="141732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1728216"/>
            <a:ext cx="1307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1827"/>
                </a:solidFill>
              </a:rPr>
              <a:t>모델링 Ready 파일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011680" y="1691640"/>
            <a:ext cx="37490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66544" y="1728216"/>
            <a:ext cx="36393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1827"/>
                </a:solidFill>
              </a:rPr>
              <a:t>240행 × 71열 / 16개 구·군 × 15개 feature-month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2194560"/>
            <a:ext cx="141732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2231136"/>
            <a:ext cx="1307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1827"/>
                </a:solidFill>
              </a:rPr>
              <a:t>M1 Target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011680" y="2194560"/>
            <a:ext cx="37490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66544" y="2231136"/>
            <a:ext cx="36393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1827"/>
                </a:solidFill>
              </a:rPr>
              <a:t>다음달 폐업수 ÷ 전월 사업자수 × 100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2697480"/>
            <a:ext cx="141732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2734056"/>
            <a:ext cx="1307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1827"/>
                </a:solidFill>
              </a:rPr>
              <a:t>분할 원칙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011680" y="2697480"/>
            <a:ext cx="37490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66544" y="2734056"/>
            <a:ext cx="36393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1827"/>
                </a:solidFill>
              </a:rPr>
              <a:t>랜덤 split 금지. 연월 기준으로 Train/Validation/Test 분리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3200400"/>
            <a:ext cx="141732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3236976"/>
            <a:ext cx="1307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1827"/>
                </a:solidFill>
              </a:rPr>
              <a:t>Test 보류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011680" y="3200400"/>
            <a:ext cx="37490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66544" y="3236976"/>
            <a:ext cx="36393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1827"/>
                </a:solidFill>
              </a:rPr>
              <a:t>2026년 feature-month 64행은 최종 평가 전까지 미사용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09360" y="1234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시간 분할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72200" y="182880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45352" y="1938528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Train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45352" y="2185416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202410~202504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028432" y="182880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FF7A59"/>
          </a:solidFill>
          <a:ln w="12700">
            <a:solidFill>
              <a:srgbClr val="FF7A5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01584" y="1938528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Validation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01584" y="2185416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202509~202512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884664" y="182880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57816" y="1938528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Final Test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957816" y="2185416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202601~202604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63640" y="2971800"/>
            <a:ext cx="5212080" cy="1097280"/>
          </a:xfrm>
          <a:prstGeom prst="roundRect">
            <a:avLst>
              <a:gd name="adj" fmla="val 4167"/>
            </a:avLst>
          </a:prstGeom>
          <a:solidFill>
            <a:srgbClr val="F6F8FB"/>
          </a:solidFill>
          <a:ln w="10160">
            <a:solidFill>
              <a:srgbClr val="CFD8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9944" y="3081528"/>
            <a:ext cx="49194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핵심 누수 방지: 다음달 target 관련 컬럼과 현재월 실제 폐업 Y는 X에서 제외했습니다. 2025-06~08 결측 구간도 다음달 target으로 연결하지 않았습니다.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720840" y="4617720"/>
            <a:ext cx="1005840" cy="640080"/>
          </a:xfrm>
          <a:prstGeom prst="chevron">
            <a:avLst/>
          </a:prstGeom>
          <a:solidFill>
            <a:srgbClr val="E9F1FB"/>
          </a:solidFill>
          <a:ln w="12700">
            <a:solidFill>
              <a:srgbClr val="B9C8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4709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</a:rPr>
              <a:t>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</a:rPr>
              <a:t>관광·소비·사업자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01000" y="4617720"/>
            <a:ext cx="1005840" cy="640080"/>
          </a:xfrm>
          <a:prstGeom prst="chevron">
            <a:avLst/>
          </a:prstGeom>
          <a:solidFill>
            <a:srgbClr val="EAF9F9"/>
          </a:solidFill>
          <a:ln w="12700">
            <a:solidFill>
              <a:srgbClr val="B9C8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0" y="4709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</a:rPr>
              <a:t>t → t+1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</a:rPr>
              <a:t>검증 완료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281160" y="4617720"/>
            <a:ext cx="1005840" cy="640080"/>
          </a:xfrm>
          <a:prstGeom prst="chevron">
            <a:avLst/>
          </a:prstGeom>
          <a:solidFill>
            <a:srgbClr val="FFF1E8"/>
          </a:solidFill>
          <a:ln w="12700">
            <a:solidFill>
              <a:srgbClr val="B9C8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26880" y="4709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</a:rPr>
              <a:t>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</a:rPr>
              <a:t>다음달 폐업강도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Target 특성: 12월 효과와 월별 공통변동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폐업강도 변동의 대부분은 지역 간 차이보다 월별 공통변동에서 발생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801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</a:rPr>
              <a:t>Y 변동 분해 (%)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1819656"/>
            <a:ext cx="20738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11827"/>
                </a:solidFill>
              </a:rPr>
              <a:t>월 간 공통변동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24251" y="1837944"/>
            <a:ext cx="2360981" cy="146304"/>
          </a:xfrm>
          <a:prstGeom prst="rect">
            <a:avLst/>
          </a:prstGeom>
          <a:solidFill>
            <a:srgbClr val="ECF1F7"/>
          </a:solidFill>
          <a:ln w="12700">
            <a:solidFill>
              <a:srgbClr val="ECF1F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4251" y="1837944"/>
            <a:ext cx="1938601" cy="146304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42616"/>
            <a:ext cx="20738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11827"/>
                </a:solidFill>
              </a:rPr>
              <a:t>월 내 지역차이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24251" y="2660904"/>
            <a:ext cx="2360981" cy="146304"/>
          </a:xfrm>
          <a:prstGeom prst="rect">
            <a:avLst/>
          </a:prstGeom>
          <a:solidFill>
            <a:srgbClr val="ECF1F7"/>
          </a:solidFill>
          <a:ln w="12700">
            <a:solidFill>
              <a:srgbClr val="ECF1F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4251" y="2660904"/>
            <a:ext cx="422379" cy="146304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977640"/>
            <a:ext cx="4754880" cy="1143000"/>
          </a:xfrm>
          <a:prstGeom prst="roundRect">
            <a:avLst>
              <a:gd name="adj" fmla="val 4000"/>
            </a:avLst>
          </a:prstGeom>
          <a:solidFill>
            <a:srgbClr val="F3F7FF"/>
          </a:solidFill>
          <a:ln w="10160">
            <a:solidFill>
              <a:srgbClr val="B9C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" y="4087368"/>
            <a:ext cx="44622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해석: M1 모델의 높은 R²는 “어느 달에 부산 전체 폐업 수준이 높아지는가”를 맞힌 효과가 큽니다. 지역별 순위 예측은 별도 문제로 분리해야 합니다.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1280160"/>
            <a:ext cx="1143000" cy="438912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1316736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</a:rPr>
              <a:t>Target월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315200" y="1280160"/>
            <a:ext cx="1005840" cy="438912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70064" y="1316736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</a:rPr>
              <a:t>평균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321040" y="1280160"/>
            <a:ext cx="1188720" cy="438912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75904" y="1316736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</a:rPr>
              <a:t>지역 표준편차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9509760" y="1280160"/>
            <a:ext cx="1783080" cy="438912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64624" y="1316736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</a:rPr>
              <a:t>특징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172200" y="1719072"/>
            <a:ext cx="1143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27064" y="175564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</a:rPr>
              <a:t>202512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7315200" y="1719072"/>
            <a:ext cx="100584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70064" y="1755648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</a:rPr>
              <a:t>3.1389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321040" y="1719072"/>
            <a:ext cx="11887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75904" y="175564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</a:rPr>
              <a:t>0.4142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9509760" y="1719072"/>
            <a:ext cx="17830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64624" y="1755648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</a:rPr>
              <a:t>연말 폐업 급등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172200" y="2157984"/>
            <a:ext cx="1143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27064" y="2194560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</a:rPr>
              <a:t>202601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7315200" y="2157984"/>
            <a:ext cx="100584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70064" y="219456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</a:rPr>
              <a:t>2.3896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8321040" y="2157984"/>
            <a:ext cx="11887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75904" y="219456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</a:rPr>
              <a:t>0.2709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9509760" y="2157984"/>
            <a:ext cx="17830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64624" y="219456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</a:rPr>
              <a:t>연초 높은 수준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6172200" y="2596896"/>
            <a:ext cx="1143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27064" y="2633472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</a:rPr>
              <a:t>202510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7315200" y="2596896"/>
            <a:ext cx="100584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70064" y="2633472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</a:rPr>
              <a:t>1.5301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8321040" y="2596896"/>
            <a:ext cx="11887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75904" y="263347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</a:rPr>
              <a:t>0.2117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9509760" y="2596896"/>
            <a:ext cx="17830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564624" y="2633472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</a:rPr>
              <a:t>가장 낮은 월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6172200" y="3035808"/>
            <a:ext cx="1143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27064" y="3072384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</a:rPr>
              <a:t>202604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7315200" y="3035808"/>
            <a:ext cx="100584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70064" y="307238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</a:rPr>
              <a:t>1.9647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8321040" y="3035808"/>
            <a:ext cx="11887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75904" y="3072384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</a:rPr>
              <a:t>0.1966</a:t>
            </a:r>
            <a:endParaRPr lang="en-US" sz="1080" dirty="0"/>
          </a:p>
        </p:txBody>
      </p:sp>
      <p:sp>
        <p:nvSpPr>
          <p:cNvPr id="53" name="Shape 51"/>
          <p:cNvSpPr/>
          <p:nvPr/>
        </p:nvSpPr>
        <p:spPr>
          <a:xfrm>
            <a:off x="9509760" y="3035808"/>
            <a:ext cx="178308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564624" y="3072384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</a:rPr>
              <a:t>평균대 범위</a:t>
            </a:r>
            <a:endParaRPr lang="en-US" sz="1080" dirty="0"/>
          </a:p>
        </p:txBody>
      </p:sp>
      <p:sp>
        <p:nvSpPr>
          <p:cNvPr id="55" name="Text 53"/>
          <p:cNvSpPr/>
          <p:nvPr/>
        </p:nvSpPr>
        <p:spPr>
          <a:xfrm>
            <a:off x="6236208" y="3977640"/>
            <a:ext cx="502920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IQR 이상치 20개 중 대부분은 2024·2025년 12월에 집중</a:t>
            </a:r>
            <a:endParaRPr lang="en-US" sz="1220" dirty="0"/>
          </a:p>
          <a:p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 제거보다 계절 효과로 해석하는 것이 타당</a:t>
            </a:r>
            <a:endParaRPr lang="en-US" sz="1220" dirty="0"/>
          </a:p>
          <a:p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월/계절 변수를 통제하지 않으면 관광 변수 효과가 과장될 수 있음</a:t>
            </a:r>
            <a:endParaRPr lang="en-US" sz="1220" dirty="0"/>
          </a:p>
        </p:txBody>
      </p:sp>
      <p:sp>
        <p:nvSpPr>
          <p:cNvPr id="56" name="Text 54"/>
          <p:cNvSpPr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Feature Set: 중복 변수 제거와 누수 차단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상관이 높은 파생변수를 정리하고, 첫 모델은 11개 수치 변수 + 지역 + 월로 시작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34440"/>
            <a:ext cx="2560320" cy="530352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27101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포함한 주요 변수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3182112" y="1234440"/>
            <a:ext cx="2834640" cy="530352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36976" y="1271016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이유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21792" y="1764792"/>
            <a:ext cx="25603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180136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외부방문자 YoY, 현지인방문자 YoY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3182112" y="1764792"/>
            <a:ext cx="28346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36976" y="180136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관광 유입과 지역 내 방문 움직임 분리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21792" y="2295144"/>
            <a:ext cx="25603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233172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관광객집중도, 외부방문비중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3182112" y="2295144"/>
            <a:ext cx="28346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36976" y="233172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과밀·관광 의존도 가설 반영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21792" y="2825496"/>
            <a:ext cx="25603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286207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현지인소비 YoY, 관광소비비중, 1인당 관광소비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3182112" y="2825496"/>
            <a:ext cx="28346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36976" y="2862072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내수 감소·소비 전환 실패 가설 반영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21792" y="3355848"/>
            <a:ext cx="25603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" y="339242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관광소비 CV 3m, 전체사업자 YoY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3182112" y="3355848"/>
            <a:ext cx="28346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36976" y="3392424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소비 변동성과 공급 변화 반영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621792" y="3886200"/>
            <a:ext cx="25603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392277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행정구, 월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3182112" y="3886200"/>
            <a:ext cx="28346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36976" y="3922776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지역 고정효과와 12월 계절효과 통제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6400800" y="1234440"/>
            <a:ext cx="2194560" cy="530352"/>
          </a:xfrm>
          <a:prstGeom prst="rect">
            <a:avLst/>
          </a:prstGeom>
          <a:solidFill>
            <a:srgbClr val="FFEFEA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55664" y="1271016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제외/보류 변수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8595360" y="1234440"/>
            <a:ext cx="2743200" cy="530352"/>
          </a:xfrm>
          <a:prstGeom prst="rect">
            <a:avLst/>
          </a:prstGeom>
          <a:solidFill>
            <a:srgbClr val="FFEFEA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50224" y="127101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판단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6400800" y="1764792"/>
            <a:ext cx="21945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55664" y="180136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다음달 target 관련 컬럼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8595360" y="1764792"/>
            <a:ext cx="27432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50224" y="180136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Y이므로 X에서 제외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6400800" y="2295144"/>
            <a:ext cx="21945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55664" y="233172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현재월 폐업 Y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8595360" y="2295144"/>
            <a:ext cx="27432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50224" y="233172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안전한 첫 모델에서는 제외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6400800" y="2825496"/>
            <a:ext cx="21945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55664" y="286207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총소비 YoY ↔ 관광소비 YoY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8595360" y="2825496"/>
            <a:ext cx="27432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50224" y="2862072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r=0.9982로 사실상 중복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6400800" y="3355848"/>
            <a:ext cx="21945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55664" y="3392424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총소비 CV ↔ 관광소비 CV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8595360" y="3355848"/>
            <a:ext cx="27432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50224" y="3392424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r≈0.99로 중복</a:t>
            </a:r>
            <a:endParaRPr lang="en-US" sz="1020" dirty="0"/>
          </a:p>
        </p:txBody>
      </p:sp>
      <p:sp>
        <p:nvSpPr>
          <p:cNvPr id="50" name="Shape 48"/>
          <p:cNvSpPr/>
          <p:nvPr/>
        </p:nvSpPr>
        <p:spPr>
          <a:xfrm>
            <a:off x="6400800" y="3886200"/>
            <a:ext cx="21945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55664" y="3922776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전월 폐업 lag1</a:t>
            </a:r>
            <a:endParaRPr lang="en-US" sz="1020" dirty="0"/>
          </a:p>
        </p:txBody>
      </p:sp>
      <p:sp>
        <p:nvSpPr>
          <p:cNvPr id="52" name="Shape 50"/>
          <p:cNvSpPr/>
          <p:nvPr/>
        </p:nvSpPr>
        <p:spPr>
          <a:xfrm>
            <a:off x="8595360" y="3886200"/>
            <a:ext cx="27432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50224" y="392277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32개 결측. 별도 실험용으로 보류</a:t>
            </a:r>
            <a:endParaRPr lang="en-US" sz="1020" dirty="0"/>
          </a:p>
        </p:txBody>
      </p:sp>
      <p:sp>
        <p:nvSpPr>
          <p:cNvPr id="54" name="Shape 52"/>
          <p:cNvSpPr/>
          <p:nvPr/>
        </p:nvSpPr>
        <p:spPr>
          <a:xfrm>
            <a:off x="914400" y="5532120"/>
            <a:ext cx="10058400" cy="68580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0160">
            <a:solidFill>
              <a:srgbClr val="CFD8E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60704" y="5641848"/>
            <a:ext cx="97657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결정: 복잡한 변수를 많이 넣기보다, 가설을 대표하는 변수만 남겨 모델 비교의 해석 가능성을 확보했습니다.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 Baseline: Ridge가 단순 평균보다 확실히 개선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선형계열 중에서는 Ridge가 Linear Regression보다 일반화 성능이 좋았습니다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3444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</a:rPr>
              <a:t>Validation MAE 비교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1773936"/>
            <a:ext cx="20546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11827"/>
                </a:solidFill>
              </a:rPr>
              <a:t>Ridge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05049" y="1792224"/>
            <a:ext cx="2334463" cy="146304"/>
          </a:xfrm>
          <a:prstGeom prst="rect">
            <a:avLst/>
          </a:prstGeom>
          <a:solidFill>
            <a:srgbClr val="ECF1F7"/>
          </a:solidFill>
          <a:ln w="12700">
            <a:solidFill>
              <a:srgbClr val="ECF1F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05049" y="1792224"/>
            <a:ext cx="1359825" cy="146304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05456"/>
            <a:ext cx="20546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11827"/>
                </a:solidFill>
              </a:rPr>
              <a:t>Linear Regression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05049" y="2523744"/>
            <a:ext cx="2334463" cy="146304"/>
          </a:xfrm>
          <a:prstGeom prst="rect">
            <a:avLst/>
          </a:prstGeom>
          <a:solidFill>
            <a:srgbClr val="ECF1F7"/>
          </a:solidFill>
          <a:ln w="12700">
            <a:solidFill>
              <a:srgbClr val="ECF1F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5049" y="2523744"/>
            <a:ext cx="1528295" cy="146304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36976"/>
            <a:ext cx="20546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11827"/>
                </a:solidFill>
              </a:rPr>
              <a:t>Dummy Mean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05049" y="3255264"/>
            <a:ext cx="2334463" cy="146304"/>
          </a:xfrm>
          <a:prstGeom prst="rect">
            <a:avLst/>
          </a:prstGeom>
          <a:solidFill>
            <a:srgbClr val="ECF1F7"/>
          </a:solidFill>
          <a:ln w="12700">
            <a:solidFill>
              <a:srgbClr val="ECF1F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05049" y="3255264"/>
            <a:ext cx="2128252" cy="146304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9320" y="1234440"/>
            <a:ext cx="1143000" cy="393192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44184" y="1271016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모델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132320" y="1234440"/>
            <a:ext cx="1097280" cy="393192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87184" y="1271016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Valid MAE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8229600" y="1234440"/>
            <a:ext cx="1005840" cy="393192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84464" y="1271016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Valid R²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9235440" y="1234440"/>
            <a:ext cx="2103120" cy="393192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90304" y="1271016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해석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989320" y="1627632"/>
            <a:ext cx="114300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44184" y="1664208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Ridge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7132320" y="1627632"/>
            <a:ext cx="109728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87184" y="166420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0.3495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8229600" y="1627632"/>
            <a:ext cx="100584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84464" y="1664208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0.5986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9235440" y="1627632"/>
            <a:ext cx="210312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90304" y="166420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Dummy 대비 36.10% 개선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5989320" y="2020824"/>
            <a:ext cx="114300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44184" y="2057400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Linear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7132320" y="2020824"/>
            <a:ext cx="109728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87184" y="2057400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0.3928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8229600" y="2020824"/>
            <a:ext cx="100584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84464" y="2057400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0.5305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9235440" y="2020824"/>
            <a:ext cx="210312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90304" y="205740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Train 적합은 좋지만 과적합 더 큼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5989320" y="2414016"/>
            <a:ext cx="114300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44184" y="2450592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Dummy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7132320" y="2414016"/>
            <a:ext cx="109728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7184" y="2450592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0.5470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8229600" y="2414016"/>
            <a:ext cx="100584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84464" y="2450592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-0.0243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9235440" y="2414016"/>
            <a:ext cx="210312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90304" y="2450592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평균만 예측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5989320" y="2971800"/>
            <a:ext cx="534924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0160">
            <a:solidFill>
              <a:srgbClr val="CFD8E3"/>
            </a:solidFill>
            <a:prstDash val="solid"/>
          </a:ln>
        </p:spPr>
      </p:sp>
      <p:pic>
        <p:nvPicPr>
          <p:cNvPr id="49" name="Image 0" descr="/mnt/data/1b87f80a-f2dd-4a11-914f-5fb48931d7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850" y="3026664"/>
            <a:ext cx="3616180" cy="2770632"/>
          </a:xfrm>
          <a:prstGeom prst="rect">
            <a:avLst/>
          </a:prstGeom>
        </p:spPr>
      </p:pic>
      <p:sp>
        <p:nvSpPr>
          <p:cNvPr id="50" name="Shape 47"/>
          <p:cNvSpPr/>
          <p:nvPr/>
        </p:nvSpPr>
        <p:spPr>
          <a:xfrm>
            <a:off x="777240" y="4617720"/>
            <a:ext cx="4754880" cy="960120"/>
          </a:xfrm>
          <a:prstGeom prst="roundRect">
            <a:avLst>
              <a:gd name="adj" fmla="val 4762"/>
            </a:avLst>
          </a:prstGeom>
          <a:solidFill>
            <a:srgbClr val="F3F7FF"/>
          </a:solidFill>
          <a:ln w="10160">
            <a:solidFill>
              <a:srgbClr val="B9C8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23544" y="4727448"/>
            <a:ext cx="44622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Ridge는 저위험/고위험 구분은 잡지만, 극단적으로 높은 폐업강도는 평균 쪽으로 눌러 예측하는 경향이 보였습니다.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 4개 후보 Screening: LightGBM이 Validation 1위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단일 Validation에서는 LightGBM이 MAE·R² 모두 가장 우세했습니다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344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</a:rPr>
              <a:t>Validation MAE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1773936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11827"/>
                </a:solidFill>
              </a:rPr>
              <a:t>LightGBM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62656" y="1792224"/>
            <a:ext cx="2414016" cy="146304"/>
          </a:xfrm>
          <a:prstGeom prst="rect">
            <a:avLst/>
          </a:prstGeom>
          <a:solidFill>
            <a:srgbClr val="ECF1F7"/>
          </a:solidFill>
          <a:ln w="12700">
            <a:solidFill>
              <a:srgbClr val="ECF1F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62656" y="1792224"/>
            <a:ext cx="2055090" cy="146304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45436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11827"/>
                </a:solidFill>
              </a:rPr>
              <a:t>RandomForest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62656" y="2363724"/>
            <a:ext cx="2414016" cy="146304"/>
          </a:xfrm>
          <a:prstGeom prst="rect">
            <a:avLst/>
          </a:prstGeom>
          <a:solidFill>
            <a:srgbClr val="ECF1F7"/>
          </a:solidFill>
          <a:ln w="12700">
            <a:solidFill>
              <a:srgbClr val="ECF1F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62656" y="2363724"/>
            <a:ext cx="2149110" cy="146304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16936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11827"/>
                </a:solidFill>
              </a:rPr>
              <a:t>XGBoost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62656" y="2935224"/>
            <a:ext cx="2414016" cy="146304"/>
          </a:xfrm>
          <a:prstGeom prst="rect">
            <a:avLst/>
          </a:prstGeom>
          <a:solidFill>
            <a:srgbClr val="ECF1F7"/>
          </a:solidFill>
          <a:ln w="12700">
            <a:solidFill>
              <a:srgbClr val="ECF1F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62656" y="2935224"/>
            <a:ext cx="2192308" cy="146304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488436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11827"/>
                </a:solidFill>
              </a:rPr>
              <a:t>Ridge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62656" y="3506724"/>
            <a:ext cx="2414016" cy="146304"/>
          </a:xfrm>
          <a:prstGeom prst="rect">
            <a:avLst/>
          </a:prstGeom>
          <a:solidFill>
            <a:srgbClr val="ECF1F7"/>
          </a:solidFill>
          <a:ln w="12700">
            <a:solidFill>
              <a:srgbClr val="ECF1F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62656" y="3506724"/>
            <a:ext cx="2220259" cy="146304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1234440"/>
            <a:ext cx="1280160" cy="429768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35624" y="1271016"/>
            <a:ext cx="1170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모델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7360920" y="1234440"/>
            <a:ext cx="1005840" cy="429768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15784" y="1271016"/>
            <a:ext cx="8961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Valid MAE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366760" y="1234440"/>
            <a:ext cx="1005840" cy="429768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21624" y="1271016"/>
            <a:ext cx="8961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Valid R²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9372600" y="1234440"/>
            <a:ext cx="1965960" cy="429768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27464" y="1271016"/>
            <a:ext cx="18562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판단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080760" y="1664208"/>
            <a:ext cx="128016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35624" y="1700784"/>
            <a:ext cx="1170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LightGBM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7360920" y="1664208"/>
            <a:ext cx="100584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15784" y="1700784"/>
            <a:ext cx="8961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0.3235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8366760" y="1664208"/>
            <a:ext cx="100584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21624" y="1700784"/>
            <a:ext cx="8961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0.6320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9372600" y="1664208"/>
            <a:ext cx="196596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27464" y="1700784"/>
            <a:ext cx="18562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성능 1위. 과적합 신호는 존재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6080760" y="2093976"/>
            <a:ext cx="128016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35624" y="2130552"/>
            <a:ext cx="1170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Random Forest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7360920" y="2093976"/>
            <a:ext cx="100584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15784" y="2130552"/>
            <a:ext cx="8961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0.3383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8366760" y="2093976"/>
            <a:ext cx="100584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21624" y="2130552"/>
            <a:ext cx="8961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0.6180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9372600" y="2093976"/>
            <a:ext cx="196596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27464" y="2130552"/>
            <a:ext cx="18562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균형 우수. MAE Gap 가장 작음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6080760" y="2523744"/>
            <a:ext cx="128016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35624" y="2560320"/>
            <a:ext cx="1170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XGBoost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7360920" y="2523744"/>
            <a:ext cx="100584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15784" y="2560320"/>
            <a:ext cx="8961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0.3451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8366760" y="2523744"/>
            <a:ext cx="100584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21624" y="2560320"/>
            <a:ext cx="8961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0.6250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9372600" y="2523744"/>
            <a:ext cx="196596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27464" y="2560320"/>
            <a:ext cx="18562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RMSE/R² 우수. Train 과적합 강함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6080760" y="2953512"/>
            <a:ext cx="128016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35624" y="2990088"/>
            <a:ext cx="1170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Ridge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7360920" y="2953512"/>
            <a:ext cx="100584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15784" y="2990088"/>
            <a:ext cx="8961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0.3495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8366760" y="2953512"/>
            <a:ext cx="100584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21624" y="2990088"/>
            <a:ext cx="8961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0.5986</a:t>
            </a:r>
            <a:endParaRPr lang="en-US" sz="1020" dirty="0"/>
          </a:p>
        </p:txBody>
      </p:sp>
      <p:sp>
        <p:nvSpPr>
          <p:cNvPr id="57" name="Shape 55"/>
          <p:cNvSpPr/>
          <p:nvPr/>
        </p:nvSpPr>
        <p:spPr>
          <a:xfrm>
            <a:off x="9372600" y="2953512"/>
            <a:ext cx="196596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427464" y="2990088"/>
            <a:ext cx="18562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단순하고 안정적인 기준 모델</a:t>
            </a:r>
            <a:endParaRPr lang="en-US" sz="1020" dirty="0"/>
          </a:p>
        </p:txBody>
      </p:sp>
      <p:sp>
        <p:nvSpPr>
          <p:cNvPr id="59" name="Shape 57"/>
          <p:cNvSpPr/>
          <p:nvPr/>
        </p:nvSpPr>
        <p:spPr>
          <a:xfrm>
            <a:off x="6080760" y="3794760"/>
            <a:ext cx="5257800" cy="960120"/>
          </a:xfrm>
          <a:prstGeom prst="roundRect">
            <a:avLst>
              <a:gd name="adj" fmla="val 4762"/>
            </a:avLst>
          </a:prstGeom>
          <a:solidFill>
            <a:srgbClr val="F6F8FB"/>
          </a:solidFill>
          <a:ln w="10160">
            <a:solidFill>
              <a:srgbClr val="CFD8E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27064" y="3904488"/>
            <a:ext cx="49651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해석: 복잡한 트리 모델이 Ridge를 이기긴 했지만 격차는 크지 않았습니다. 그래서 단일 Validation만으로 최종 선정하지 않고 시간 기반 OOF 검증으로 넘어갔습니다.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6080760" y="5074920"/>
            <a:ext cx="5257800" cy="310896"/>
          </a:xfrm>
          <a:prstGeom prst="rect">
            <a:avLst/>
          </a:prstGeom>
          <a:solidFill>
            <a:srgbClr val="FFEFEA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35624" y="5111496"/>
            <a:ext cx="5148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왜 DNN/LSTM은 제외?</a:t>
            </a:r>
            <a:endParaRPr lang="en-US" sz="1020" dirty="0"/>
          </a:p>
        </p:txBody>
      </p:sp>
      <p:sp>
        <p:nvSpPr>
          <p:cNvPr id="63" name="Shape 61"/>
          <p:cNvSpPr/>
          <p:nvPr/>
        </p:nvSpPr>
        <p:spPr>
          <a:xfrm>
            <a:off x="6080760" y="5385816"/>
            <a:ext cx="525780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35624" y="5422392"/>
            <a:ext cx="5148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표본 240행, 지역당 15개월이라 신경망/시계열 딥러닝은 과적합 위험이 큼</a:t>
            </a:r>
            <a:endParaRPr lang="en-US" sz="1020" dirty="0"/>
          </a:p>
        </p:txBody>
      </p:sp>
      <p:sp>
        <p:nvSpPr>
          <p:cNvPr id="65" name="Shape 63"/>
          <p:cNvSpPr/>
          <p:nvPr/>
        </p:nvSpPr>
        <p:spPr>
          <a:xfrm>
            <a:off x="6080760" y="5696712"/>
            <a:ext cx="525780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35624" y="5733288"/>
            <a:ext cx="5148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정형 데이터에서는 Ridge·Tree 계열이 더 해석 가능하고 안정적</a:t>
            </a:r>
            <a:endParaRPr lang="en-US" sz="1020" dirty="0"/>
          </a:p>
        </p:txBody>
      </p:sp>
      <p:sp>
        <p:nvSpPr>
          <p:cNvPr id="67" name="Text 65"/>
          <p:cNvSpPr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06. 시간 기반 OOF 검증: LightGBM 우세, 그러나 압도적 1위는 아님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미래월을 한 달씩 검증해 단일 Validation 우연성을 줄였습니다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143000"/>
            <a:ext cx="566928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0160">
            <a:solidFill>
              <a:srgbClr val="CFD8E3"/>
            </a:solidFill>
            <a:prstDash val="solid"/>
          </a:ln>
        </p:spPr>
      </p:sp>
      <p:pic>
        <p:nvPicPr>
          <p:cNvPr id="7" name="Image 0" descr="/mnt/data/a08291a9-f899-4843-beac-c9933807f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35175"/>
            <a:ext cx="5559552" cy="29133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29400" y="1417320"/>
            <a:ext cx="1325880" cy="411480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84264" y="1453896"/>
            <a:ext cx="1216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모델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7955280" y="1417320"/>
            <a:ext cx="1051560" cy="411480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10144" y="1453896"/>
            <a:ext cx="941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평균 MAE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9006840" y="1417320"/>
            <a:ext cx="1051560" cy="411480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61704" y="1453896"/>
            <a:ext cx="941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최악 MAE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10058400" y="1417320"/>
            <a:ext cx="1097280" cy="411480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113264" y="1453896"/>
            <a:ext cx="9875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1위 횟수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6629400" y="1828800"/>
            <a:ext cx="132588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84264" y="1865376"/>
            <a:ext cx="1216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LightGBM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7955280" y="1828800"/>
            <a:ext cx="105156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10144" y="1865376"/>
            <a:ext cx="941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0.2698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9006840" y="1828800"/>
            <a:ext cx="105156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061704" y="1865376"/>
            <a:ext cx="941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0.4600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10058400" y="1828800"/>
            <a:ext cx="109728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113264" y="1865376"/>
            <a:ext cx="9875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2회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6629400" y="2240280"/>
            <a:ext cx="132588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84264" y="2276856"/>
            <a:ext cx="1216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XGBoost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7955280" y="2240280"/>
            <a:ext cx="105156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10144" y="2276856"/>
            <a:ext cx="941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0.2775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9006840" y="2240280"/>
            <a:ext cx="105156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061704" y="2276856"/>
            <a:ext cx="941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0.4547</a:t>
            </a:r>
            <a:endParaRPr lang="en-US" sz="1020" dirty="0"/>
          </a:p>
        </p:txBody>
      </p:sp>
      <p:sp>
        <p:nvSpPr>
          <p:cNvPr id="30" name="Shape 27"/>
          <p:cNvSpPr/>
          <p:nvPr/>
        </p:nvSpPr>
        <p:spPr>
          <a:xfrm>
            <a:off x="10058400" y="2240280"/>
            <a:ext cx="109728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113264" y="2276856"/>
            <a:ext cx="9875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2회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6629400" y="2651760"/>
            <a:ext cx="132588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84264" y="2688336"/>
            <a:ext cx="1216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Ridge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7955280" y="2651760"/>
            <a:ext cx="105156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010144" y="2688336"/>
            <a:ext cx="941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0.2804</a:t>
            </a:r>
            <a:endParaRPr lang="en-US" sz="1020" dirty="0"/>
          </a:p>
        </p:txBody>
      </p:sp>
      <p:sp>
        <p:nvSpPr>
          <p:cNvPr id="36" name="Shape 33"/>
          <p:cNvSpPr/>
          <p:nvPr/>
        </p:nvSpPr>
        <p:spPr>
          <a:xfrm>
            <a:off x="9006840" y="2651760"/>
            <a:ext cx="105156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061704" y="2688336"/>
            <a:ext cx="941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0.4448</a:t>
            </a:r>
            <a:endParaRPr lang="en-US" sz="1020" dirty="0"/>
          </a:p>
        </p:txBody>
      </p:sp>
      <p:sp>
        <p:nvSpPr>
          <p:cNvPr id="38" name="Shape 35"/>
          <p:cNvSpPr/>
          <p:nvPr/>
        </p:nvSpPr>
        <p:spPr>
          <a:xfrm>
            <a:off x="10058400" y="2651760"/>
            <a:ext cx="109728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113264" y="2688336"/>
            <a:ext cx="9875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1회</a:t>
            </a:r>
            <a:endParaRPr lang="en-US" sz="1020" dirty="0"/>
          </a:p>
        </p:txBody>
      </p:sp>
      <p:sp>
        <p:nvSpPr>
          <p:cNvPr id="40" name="Shape 37"/>
          <p:cNvSpPr/>
          <p:nvPr/>
        </p:nvSpPr>
        <p:spPr>
          <a:xfrm>
            <a:off x="6629400" y="3063240"/>
            <a:ext cx="132588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684264" y="3099816"/>
            <a:ext cx="1216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RandomForest</a:t>
            </a:r>
            <a:endParaRPr lang="en-US" sz="1020" dirty="0"/>
          </a:p>
        </p:txBody>
      </p:sp>
      <p:sp>
        <p:nvSpPr>
          <p:cNvPr id="42" name="Shape 39"/>
          <p:cNvSpPr/>
          <p:nvPr/>
        </p:nvSpPr>
        <p:spPr>
          <a:xfrm>
            <a:off x="7955280" y="3063240"/>
            <a:ext cx="105156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010144" y="3099816"/>
            <a:ext cx="941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0.2872</a:t>
            </a:r>
            <a:endParaRPr lang="en-US" sz="1020" dirty="0"/>
          </a:p>
        </p:txBody>
      </p:sp>
      <p:sp>
        <p:nvSpPr>
          <p:cNvPr id="44" name="Shape 41"/>
          <p:cNvSpPr/>
          <p:nvPr/>
        </p:nvSpPr>
        <p:spPr>
          <a:xfrm>
            <a:off x="9006840" y="3063240"/>
            <a:ext cx="105156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061704" y="3099816"/>
            <a:ext cx="941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0.4882</a:t>
            </a:r>
            <a:endParaRPr lang="en-US" sz="1020" dirty="0"/>
          </a:p>
        </p:txBody>
      </p:sp>
      <p:sp>
        <p:nvSpPr>
          <p:cNvPr id="46" name="Shape 43"/>
          <p:cNvSpPr/>
          <p:nvPr/>
        </p:nvSpPr>
        <p:spPr>
          <a:xfrm>
            <a:off x="10058400" y="3063240"/>
            <a:ext cx="109728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113264" y="3099816"/>
            <a:ext cx="9875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1회</a:t>
            </a:r>
            <a:endParaRPr lang="en-US" sz="1020" dirty="0"/>
          </a:p>
        </p:txBody>
      </p:sp>
      <p:sp>
        <p:nvSpPr>
          <p:cNvPr id="48" name="Text 45"/>
          <p:cNvSpPr/>
          <p:nvPr/>
        </p:nvSpPr>
        <p:spPr>
          <a:xfrm>
            <a:off x="6675120" y="3794760"/>
            <a:ext cx="443484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LightGBM은 평균 MAE가 가장 낮아 M1 후보 1위</a:t>
            </a:r>
            <a:endParaRPr lang="en-US" sz="1220" dirty="0"/>
          </a:p>
          <a:p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Ridge는 변동성이 작아 안정성 기준에서는 강점</a:t>
            </a:r>
            <a:endParaRPr lang="en-US" sz="1220" dirty="0"/>
          </a:p>
          <a:p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2026-01 Target은 모든 모델이 어려워한 구간</a:t>
            </a:r>
            <a:endParaRPr lang="en-US" sz="1220" dirty="0"/>
          </a:p>
          <a:p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최종 선정은 MAE와 안정성, 해석 가능성을 함께 고려</a:t>
            </a:r>
            <a:endParaRPr lang="en-US" sz="1220" dirty="0"/>
          </a:p>
        </p:txBody>
      </p:sp>
      <p:sp>
        <p:nvSpPr>
          <p:cNvPr id="49" name="Text 46"/>
          <p:cNvSpPr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07. Final Test: LightGBM 성능 검증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2026년 feature-month 64행은 최종 모델 선정 후 딱 한 번만 평가했습니다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43000"/>
            <a:ext cx="562356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0160">
            <a:solidFill>
              <a:srgbClr val="CFD8E3"/>
            </a:solidFill>
            <a:prstDash val="solid"/>
          </a:ln>
        </p:spPr>
      </p:sp>
      <p:pic>
        <p:nvPicPr>
          <p:cNvPr id="7" name="Image 0" descr="/mnt/data/0ff80169-55db-4380-ae0b-07e1785e9b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118" y="1197864"/>
            <a:ext cx="5319484" cy="43251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29400" y="1234440"/>
            <a:ext cx="1234440" cy="411480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84264" y="1271016"/>
            <a:ext cx="11247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모델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7863840" y="1234440"/>
            <a:ext cx="914400" cy="411480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18704" y="127101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Test MAE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8778240" y="1234440"/>
            <a:ext cx="822960" cy="411480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33104" y="1271016"/>
            <a:ext cx="713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RMSE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9601200" y="1234440"/>
            <a:ext cx="731520" cy="411480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56064" y="1271016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R²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10332720" y="1234440"/>
            <a:ext cx="822960" cy="411480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387584" y="1271016"/>
            <a:ext cx="713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Bias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6629400" y="1645920"/>
            <a:ext cx="123444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84264" y="1682496"/>
            <a:ext cx="11247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LightGBM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7863840" y="1645920"/>
            <a:ext cx="91440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18704" y="168249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0.1652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8778240" y="1645920"/>
            <a:ext cx="82296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33104" y="1682496"/>
            <a:ext cx="713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0.2145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9601200" y="1645920"/>
            <a:ext cx="73152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656064" y="1682496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0.3422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10332720" y="1645920"/>
            <a:ext cx="82296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387584" y="1682496"/>
            <a:ext cx="713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+0.0203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6629400" y="2057400"/>
            <a:ext cx="123444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84264" y="2093976"/>
            <a:ext cx="11247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Dummy</a:t>
            </a:r>
            <a:endParaRPr lang="en-US" sz="1020" dirty="0"/>
          </a:p>
        </p:txBody>
      </p:sp>
      <p:sp>
        <p:nvSpPr>
          <p:cNvPr id="30" name="Shape 27"/>
          <p:cNvSpPr/>
          <p:nvPr/>
        </p:nvSpPr>
        <p:spPr>
          <a:xfrm>
            <a:off x="7863840" y="2057400"/>
            <a:ext cx="91440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18704" y="209397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0.2697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8778240" y="2057400"/>
            <a:ext cx="82296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833104" y="2093976"/>
            <a:ext cx="713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0.3329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9601200" y="2057400"/>
            <a:ext cx="73152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56064" y="2093976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-0.5851</a:t>
            </a:r>
            <a:endParaRPr lang="en-US" sz="1020" dirty="0"/>
          </a:p>
        </p:txBody>
      </p:sp>
      <p:sp>
        <p:nvSpPr>
          <p:cNvPr id="36" name="Shape 33"/>
          <p:cNvSpPr/>
          <p:nvPr/>
        </p:nvSpPr>
        <p:spPr>
          <a:xfrm>
            <a:off x="10332720" y="2057400"/>
            <a:ext cx="82296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387584" y="2093976"/>
            <a:ext cx="713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+0.2023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6629400" y="288036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A974"/>
                </a:solidFill>
              </a:rPr>
              <a:t>38.72%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6629400" y="33192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Dummy 대비 Test MAE 개선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9006840" y="288036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BAC"/>
                </a:solidFill>
              </a:rPr>
              <a:t>0.1417~0.1888</a:t>
            </a:r>
            <a:endParaRPr lang="en-US" sz="2200" dirty="0"/>
          </a:p>
        </p:txBody>
      </p:sp>
      <p:sp>
        <p:nvSpPr>
          <p:cNvPr id="41" name="Text 38"/>
          <p:cNvSpPr/>
          <p:nvPr/>
        </p:nvSpPr>
        <p:spPr>
          <a:xfrm>
            <a:off x="9006840" y="33192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월별 MAE 범위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629400" y="3977640"/>
            <a:ext cx="4572000" cy="960120"/>
          </a:xfrm>
          <a:prstGeom prst="roundRect">
            <a:avLst>
              <a:gd name="adj" fmla="val 4762"/>
            </a:avLst>
          </a:prstGeom>
          <a:solidFill>
            <a:srgbClr val="F3F7FF"/>
          </a:solidFill>
          <a:ln w="10160">
            <a:solidFill>
              <a:srgbClr val="B9C8D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775704" y="4087368"/>
            <a:ext cx="4279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최종 해석: 절대 폐업강도는 평균 0.165%p 오차로 예측했습니다. Test Y 변동폭이 작기 때문에 R²보다 MAE를 주지표로 보는 것이 타당합니다.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662940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B7280"/>
                </a:solidFill>
              </a:rPr>
              <a:t>한계: 극단적으로 낮거나 높은 지역별 실제값은 평균 쪽으로 수축해 예측하는 경향이 있습니다.</a:t>
            </a:r>
            <a:endParaRPr lang="en-US" sz="1020" dirty="0"/>
          </a:p>
        </p:txBody>
      </p:sp>
      <p:sp>
        <p:nvSpPr>
          <p:cNvPr id="45" name="Text 42"/>
          <p:cNvSpPr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08. 왜 “예측은 잘 되는데 순위는 약한가?”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절대 폐업강도와 같은 달 지역 간 상대위험은 서로 다른 문제였습니다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344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</a:rPr>
              <a:t>Target 변동의 구성 (%)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1773936"/>
            <a:ext cx="20354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11827"/>
                </a:solidFill>
              </a:rPr>
              <a:t>월별 공통변동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85846" y="1792224"/>
            <a:ext cx="2307946" cy="146304"/>
          </a:xfrm>
          <a:prstGeom prst="rect">
            <a:avLst/>
          </a:prstGeom>
          <a:solidFill>
            <a:srgbClr val="ECF1F7"/>
          </a:solidFill>
          <a:ln w="12700">
            <a:solidFill>
              <a:srgbClr val="ECF1F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5846" y="1792224"/>
            <a:ext cx="1895054" cy="146304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734056"/>
            <a:ext cx="20354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11827"/>
                </a:solidFill>
              </a:rPr>
              <a:t>지역 간 차이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85846" y="2752344"/>
            <a:ext cx="2307946" cy="146304"/>
          </a:xfrm>
          <a:prstGeom prst="rect">
            <a:avLst/>
          </a:prstGeom>
          <a:solidFill>
            <a:srgbClr val="ECF1F7"/>
          </a:solidFill>
          <a:ln w="12700">
            <a:solidFill>
              <a:srgbClr val="ECF1F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5846" y="2752344"/>
            <a:ext cx="412891" cy="146304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234440"/>
            <a:ext cx="1280160" cy="438912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1271016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</a:rPr>
              <a:t>모델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7406640" y="1234440"/>
            <a:ext cx="1143000" cy="438912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61504" y="1271016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</a:rPr>
              <a:t>절대 MAE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8549640" y="1234440"/>
            <a:ext cx="1143000" cy="438912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04504" y="1271016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</a:rPr>
              <a:t>지역상대 R²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9692640" y="1234440"/>
            <a:ext cx="1371600" cy="438912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47504" y="1271016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</a:rPr>
              <a:t>Top3 적중률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126480" y="1673352"/>
            <a:ext cx="128016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170992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</a:rPr>
              <a:t>LightGBM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7406640" y="1673352"/>
            <a:ext cx="1143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61504" y="170992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</a:rPr>
              <a:t>0.2698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8549640" y="1673352"/>
            <a:ext cx="1143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04504" y="1709928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</a:rPr>
              <a:t>0.1249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9692640" y="1673352"/>
            <a:ext cx="13716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47504" y="170992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</a:rPr>
              <a:t>33.33%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6126480" y="2112264"/>
            <a:ext cx="128016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1344" y="214884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</a:rPr>
              <a:t>XGBoost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7406640" y="2112264"/>
            <a:ext cx="1143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61504" y="2148840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</a:rPr>
              <a:t>0.2775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8549640" y="2112264"/>
            <a:ext cx="1143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04504" y="2148840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</a:rPr>
              <a:t>0.1387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9692640" y="2112264"/>
            <a:ext cx="13716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47504" y="214884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</a:rPr>
              <a:t>38.89%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6126480" y="2551176"/>
            <a:ext cx="128016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81344" y="258775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</a:rPr>
              <a:t>Ridge</a:t>
            </a:r>
            <a:endParaRPr lang="en-US" sz="1030" dirty="0"/>
          </a:p>
        </p:txBody>
      </p:sp>
      <p:sp>
        <p:nvSpPr>
          <p:cNvPr id="39" name="Shape 37"/>
          <p:cNvSpPr/>
          <p:nvPr/>
        </p:nvSpPr>
        <p:spPr>
          <a:xfrm>
            <a:off x="7406640" y="2551176"/>
            <a:ext cx="1143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61504" y="2587752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</a:rPr>
              <a:t>0.2804</a:t>
            </a:r>
            <a:endParaRPr lang="en-US" sz="1030" dirty="0"/>
          </a:p>
        </p:txBody>
      </p:sp>
      <p:sp>
        <p:nvSpPr>
          <p:cNvPr id="41" name="Shape 39"/>
          <p:cNvSpPr/>
          <p:nvPr/>
        </p:nvSpPr>
        <p:spPr>
          <a:xfrm>
            <a:off x="8549640" y="2551176"/>
            <a:ext cx="1143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04504" y="2587752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</a:rPr>
              <a:t>0.1416</a:t>
            </a:r>
            <a:endParaRPr lang="en-US" sz="1030" dirty="0"/>
          </a:p>
        </p:txBody>
      </p:sp>
      <p:sp>
        <p:nvSpPr>
          <p:cNvPr id="43" name="Shape 41"/>
          <p:cNvSpPr/>
          <p:nvPr/>
        </p:nvSpPr>
        <p:spPr>
          <a:xfrm>
            <a:off x="9692640" y="2551176"/>
            <a:ext cx="13716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47504" y="258775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</a:rPr>
              <a:t>38.89%</a:t>
            </a:r>
            <a:endParaRPr lang="en-US" sz="1030" dirty="0"/>
          </a:p>
        </p:txBody>
      </p:sp>
      <p:sp>
        <p:nvSpPr>
          <p:cNvPr id="45" name="Shape 43"/>
          <p:cNvSpPr/>
          <p:nvPr/>
        </p:nvSpPr>
        <p:spPr>
          <a:xfrm>
            <a:off x="6126480" y="2990088"/>
            <a:ext cx="128016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81344" y="3026664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</a:rPr>
              <a:t>RandomForest</a:t>
            </a:r>
            <a:endParaRPr lang="en-US" sz="1030" dirty="0"/>
          </a:p>
        </p:txBody>
      </p:sp>
      <p:sp>
        <p:nvSpPr>
          <p:cNvPr id="47" name="Shape 45"/>
          <p:cNvSpPr/>
          <p:nvPr/>
        </p:nvSpPr>
        <p:spPr>
          <a:xfrm>
            <a:off x="7406640" y="2990088"/>
            <a:ext cx="1143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61504" y="3026664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</a:rPr>
              <a:t>0.2872</a:t>
            </a:r>
            <a:endParaRPr lang="en-US" sz="1030" dirty="0"/>
          </a:p>
        </p:txBody>
      </p:sp>
      <p:sp>
        <p:nvSpPr>
          <p:cNvPr id="49" name="Shape 47"/>
          <p:cNvSpPr/>
          <p:nvPr/>
        </p:nvSpPr>
        <p:spPr>
          <a:xfrm>
            <a:off x="8549640" y="2990088"/>
            <a:ext cx="1143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04504" y="3026664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</a:rPr>
              <a:t>-0.0483</a:t>
            </a:r>
            <a:endParaRPr lang="en-US" sz="1030" dirty="0"/>
          </a:p>
        </p:txBody>
      </p:sp>
      <p:sp>
        <p:nvSpPr>
          <p:cNvPr id="51" name="Shape 49"/>
          <p:cNvSpPr/>
          <p:nvPr/>
        </p:nvSpPr>
        <p:spPr>
          <a:xfrm>
            <a:off x="9692640" y="2990088"/>
            <a:ext cx="13716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47504" y="302666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</a:rPr>
              <a:t>27.78%</a:t>
            </a:r>
            <a:endParaRPr lang="en-US" sz="1030" dirty="0"/>
          </a:p>
        </p:txBody>
      </p:sp>
      <p:sp>
        <p:nvSpPr>
          <p:cNvPr id="53" name="Shape 51"/>
          <p:cNvSpPr/>
          <p:nvPr/>
        </p:nvSpPr>
        <p:spPr>
          <a:xfrm>
            <a:off x="868680" y="4206240"/>
            <a:ext cx="4663440" cy="91440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10160">
            <a:solidFill>
              <a:srgbClr val="CFD8E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14984" y="4315968"/>
            <a:ext cx="4370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결론: M1은 “부산 전체의 다음달 폐업 레벨”을 잘 맞추지만, 같은 달 16개 구·군의 상대 순위는 별도로 모델링해야 했습니다.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263640" y="3886200"/>
            <a:ext cx="4846320" cy="1143000"/>
          </a:xfrm>
          <a:prstGeom prst="roundRect">
            <a:avLst>
              <a:gd name="adj" fmla="val 4000"/>
            </a:avLst>
          </a:prstGeom>
          <a:solidFill>
            <a:srgbClr val="F3F7FF"/>
          </a:solidFill>
          <a:ln w="10160">
            <a:solidFill>
              <a:srgbClr val="B9C8D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9944" y="3995928"/>
            <a:ext cx="45537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그래서 모델을 M1(절대값 예측)과 M2(구조적 취약성 탐색)로 분리했습니다. 이 분리가 높은 R²와 낮은 지역 Ranking 성능의 모순을 설명합니다.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09. M2: 지역 상대 취약성은 “구조적 지역차”가 더 강함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관광·소비·사업자 동적변수보다 과거 지역 평균이 미래 상대위험을 더 잘 설명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430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</a:rPr>
              <a:t>M2 OOF MAE 비교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1682496"/>
            <a:ext cx="22274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11827"/>
                </a:solidFill>
              </a:rPr>
              <a:t>Historical Region Mean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77870" y="1700784"/>
            <a:ext cx="2573122" cy="146304"/>
          </a:xfrm>
          <a:prstGeom prst="rect">
            <a:avLst/>
          </a:prstGeom>
          <a:solidFill>
            <a:srgbClr val="ECF1F7"/>
          </a:solidFill>
          <a:ln w="12700">
            <a:solidFill>
              <a:srgbClr val="ECF1F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77870" y="1700784"/>
            <a:ext cx="1763758" cy="146304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03120"/>
            <a:ext cx="22274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11827"/>
                </a:solidFill>
              </a:rPr>
              <a:t>Ridge Region Only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77870" y="2121408"/>
            <a:ext cx="2573122" cy="146304"/>
          </a:xfrm>
          <a:prstGeom prst="rect">
            <a:avLst/>
          </a:prstGeom>
          <a:solidFill>
            <a:srgbClr val="ECF1F7"/>
          </a:solidFill>
          <a:ln w="12700">
            <a:solidFill>
              <a:srgbClr val="ECF1F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77870" y="2121408"/>
            <a:ext cx="1938028" cy="146304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523744"/>
            <a:ext cx="22274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11827"/>
                </a:solidFill>
              </a:rPr>
              <a:t>Zero Baseline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77870" y="2542032"/>
            <a:ext cx="2573122" cy="146304"/>
          </a:xfrm>
          <a:prstGeom prst="rect">
            <a:avLst/>
          </a:prstGeom>
          <a:solidFill>
            <a:srgbClr val="ECF1F7"/>
          </a:solidFill>
          <a:ln w="12700">
            <a:solidFill>
              <a:srgbClr val="ECF1F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77870" y="2542032"/>
            <a:ext cx="2019900" cy="146304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944368"/>
            <a:ext cx="22274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11827"/>
                </a:solidFill>
              </a:rPr>
              <a:t>Region + Dynamic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77870" y="2962656"/>
            <a:ext cx="2573122" cy="146304"/>
          </a:xfrm>
          <a:prstGeom prst="rect">
            <a:avLst/>
          </a:prstGeom>
          <a:solidFill>
            <a:srgbClr val="ECF1F7"/>
          </a:solidFill>
          <a:ln w="12700">
            <a:solidFill>
              <a:srgbClr val="ECF1F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77870" y="2962656"/>
            <a:ext cx="2088907" cy="146304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364992"/>
            <a:ext cx="22274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11827"/>
                </a:solidFill>
              </a:rPr>
              <a:t>Dynamic Only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77870" y="3383280"/>
            <a:ext cx="2573122" cy="146304"/>
          </a:xfrm>
          <a:prstGeom prst="rect">
            <a:avLst/>
          </a:prstGeom>
          <a:solidFill>
            <a:srgbClr val="ECF1F7"/>
          </a:solidFill>
          <a:ln w="12700">
            <a:solidFill>
              <a:srgbClr val="ECF1F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77870" y="3383280"/>
            <a:ext cx="2294757" cy="146304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1143000"/>
            <a:ext cx="1005840" cy="402336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55664" y="1179576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지역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7406640" y="1143000"/>
            <a:ext cx="1234440" cy="402336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61504" y="1179576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평균 상대위험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8641080" y="1143000"/>
            <a:ext cx="2606040" cy="402336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95944" y="1179576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해석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400800" y="1545336"/>
            <a:ext cx="100584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55664" y="1581912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강서구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7406640" y="1545336"/>
            <a:ext cx="123444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61504" y="1581912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+0.4956%p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8641080" y="1545336"/>
            <a:ext cx="260604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95944" y="1581912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관측기간 내내 부산 평균 이상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6400800" y="1947672"/>
            <a:ext cx="100584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55664" y="1984248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동구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7406640" y="1947672"/>
            <a:ext cx="123444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61504" y="1984248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+0.1696%p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8641080" y="1947672"/>
            <a:ext cx="260604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95944" y="198424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구조적 고위험권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6400800" y="2350008"/>
            <a:ext cx="100584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55664" y="2386584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사상구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7406640" y="2350008"/>
            <a:ext cx="123444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61504" y="2386584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+0.1647%p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8641080" y="2350008"/>
            <a:ext cx="260604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95944" y="2386584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구조적 고위험권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6400800" y="2752344"/>
            <a:ext cx="100584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55664" y="278892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중구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7406640" y="2752344"/>
            <a:ext cx="123444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61504" y="2788920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-0.1799%p</a:t>
            </a:r>
            <a:endParaRPr lang="en-US" sz="1020" dirty="0"/>
          </a:p>
        </p:txBody>
      </p:sp>
      <p:sp>
        <p:nvSpPr>
          <p:cNvPr id="50" name="Shape 48"/>
          <p:cNvSpPr/>
          <p:nvPr/>
        </p:nvSpPr>
        <p:spPr>
          <a:xfrm>
            <a:off x="8641080" y="2752344"/>
            <a:ext cx="260604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95944" y="2788920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평균적으로 낮은 상대위험</a:t>
            </a:r>
            <a:endParaRPr lang="en-US" sz="1020" dirty="0"/>
          </a:p>
        </p:txBody>
      </p:sp>
      <p:sp>
        <p:nvSpPr>
          <p:cNvPr id="52" name="Shape 50"/>
          <p:cNvSpPr/>
          <p:nvPr/>
        </p:nvSpPr>
        <p:spPr>
          <a:xfrm>
            <a:off x="6400800" y="3154680"/>
            <a:ext cx="100584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55664" y="3191256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동래구</a:t>
            </a:r>
            <a:endParaRPr lang="en-US" sz="1020" dirty="0"/>
          </a:p>
        </p:txBody>
      </p:sp>
      <p:sp>
        <p:nvSpPr>
          <p:cNvPr id="54" name="Shape 52"/>
          <p:cNvSpPr/>
          <p:nvPr/>
        </p:nvSpPr>
        <p:spPr>
          <a:xfrm>
            <a:off x="7406640" y="3154680"/>
            <a:ext cx="123444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61504" y="3191256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-0.1865%p</a:t>
            </a:r>
            <a:endParaRPr lang="en-US" sz="1020" dirty="0"/>
          </a:p>
        </p:txBody>
      </p:sp>
      <p:sp>
        <p:nvSpPr>
          <p:cNvPr id="56" name="Shape 54"/>
          <p:cNvSpPr/>
          <p:nvPr/>
        </p:nvSpPr>
        <p:spPr>
          <a:xfrm>
            <a:off x="8641080" y="3154680"/>
            <a:ext cx="260604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95944" y="3191256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가장 낮은 상대위험권</a:t>
            </a:r>
            <a:endParaRPr lang="en-US" sz="1020" dirty="0"/>
          </a:p>
        </p:txBody>
      </p:sp>
      <p:sp>
        <p:nvSpPr>
          <p:cNvPr id="58" name="Shape 56"/>
          <p:cNvSpPr/>
          <p:nvPr/>
        </p:nvSpPr>
        <p:spPr>
          <a:xfrm>
            <a:off x="6400800" y="3611880"/>
            <a:ext cx="4846320" cy="68580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0160">
            <a:solidFill>
              <a:srgbClr val="F3C3A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47104" y="3721608"/>
            <a:ext cx="45537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</a:rPr>
              <a:t>동적변수 추가 시 MAE가 오히려 5.21% 악화했습니다. 현재 데이터에서는 “관광·소비 변화가 상대 취약성을 만든다”보다 “구조적 취약성이 지속된다”는 해석이 더 안전합니다.</a:t>
            </a:r>
            <a:endParaRPr lang="en-US" sz="1120" dirty="0"/>
          </a:p>
        </p:txBody>
      </p:sp>
      <p:sp>
        <p:nvSpPr>
          <p:cNvPr id="60" name="Shape 58"/>
          <p:cNvSpPr/>
          <p:nvPr/>
        </p:nvSpPr>
        <p:spPr>
          <a:xfrm>
            <a:off x="685800" y="4434840"/>
            <a:ext cx="10607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0160">
            <a:solidFill>
              <a:srgbClr val="CFD8E3"/>
            </a:solidFill>
            <a:prstDash val="solid"/>
          </a:ln>
        </p:spPr>
      </p:sp>
      <p:pic>
        <p:nvPicPr>
          <p:cNvPr id="61" name="Image 0" descr="/mnt/data/d94c7925-16f2-4273-9efd-9a0ae93bd1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8642" y="4489704"/>
            <a:ext cx="4361355" cy="1353312"/>
          </a:xfrm>
          <a:prstGeom prst="rect">
            <a:avLst/>
          </a:prstGeom>
        </p:spPr>
      </p:pic>
      <p:sp>
        <p:nvSpPr>
          <p:cNvPr id="62" name="Text 59"/>
          <p:cNvSpPr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최종 모델 선정 논리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모델 선택 기준은 성능, 과적합, 시간 안정성, 설명 가능성을 함께 봤습니다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34440"/>
            <a:ext cx="1737360" cy="438912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127101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11827"/>
                </a:solidFill>
              </a:rPr>
              <a:t>모델/방식</a:t>
            </a:r>
            <a:endParaRPr lang="en-US" sz="1010" dirty="0"/>
          </a:p>
        </p:txBody>
      </p:sp>
      <p:sp>
        <p:nvSpPr>
          <p:cNvPr id="8" name="Shape 6"/>
          <p:cNvSpPr/>
          <p:nvPr/>
        </p:nvSpPr>
        <p:spPr>
          <a:xfrm>
            <a:off x="2423160" y="1234440"/>
            <a:ext cx="3063240" cy="438912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78024" y="1271016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11827"/>
                </a:solidFill>
              </a:rPr>
              <a:t>맞았던 점</a:t>
            </a:r>
            <a:endParaRPr lang="en-US" sz="1010" dirty="0"/>
          </a:p>
        </p:txBody>
      </p:sp>
      <p:sp>
        <p:nvSpPr>
          <p:cNvPr id="10" name="Shape 8"/>
          <p:cNvSpPr/>
          <p:nvPr/>
        </p:nvSpPr>
        <p:spPr>
          <a:xfrm>
            <a:off x="5486400" y="1234440"/>
            <a:ext cx="2788920" cy="438912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41264" y="1271016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11827"/>
                </a:solidFill>
              </a:rPr>
              <a:t>부족했던 점</a:t>
            </a:r>
            <a:endParaRPr lang="en-US" sz="1010" dirty="0"/>
          </a:p>
        </p:txBody>
      </p:sp>
      <p:sp>
        <p:nvSpPr>
          <p:cNvPr id="12" name="Shape 10"/>
          <p:cNvSpPr/>
          <p:nvPr/>
        </p:nvSpPr>
        <p:spPr>
          <a:xfrm>
            <a:off x="8275320" y="1234440"/>
            <a:ext cx="3200400" cy="438912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0184" y="127101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11827"/>
                </a:solidFill>
              </a:rPr>
              <a:t>최종 판단</a:t>
            </a:r>
            <a:endParaRPr lang="en-US" sz="1010" dirty="0"/>
          </a:p>
        </p:txBody>
      </p:sp>
      <p:sp>
        <p:nvSpPr>
          <p:cNvPr id="14" name="Shape 12"/>
          <p:cNvSpPr/>
          <p:nvPr/>
        </p:nvSpPr>
        <p:spPr>
          <a:xfrm>
            <a:off x="685800" y="1673352"/>
            <a:ext cx="173736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" y="170992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11827"/>
                </a:solidFill>
              </a:rPr>
              <a:t>LightGBM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2423160" y="1673352"/>
            <a:ext cx="306324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78024" y="170992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11827"/>
                </a:solidFill>
              </a:rPr>
              <a:t>M1 MAE·OOF·Test 모두 우수</a:t>
            </a:r>
            <a:endParaRPr lang="en-US" sz="1010" dirty="0"/>
          </a:p>
        </p:txBody>
      </p:sp>
      <p:sp>
        <p:nvSpPr>
          <p:cNvPr id="18" name="Shape 16"/>
          <p:cNvSpPr/>
          <p:nvPr/>
        </p:nvSpPr>
        <p:spPr>
          <a:xfrm>
            <a:off x="5486400" y="1673352"/>
            <a:ext cx="27889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41264" y="1709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11827"/>
                </a:solidFill>
              </a:rPr>
              <a:t>지역 상대순위는 약함</a:t>
            </a:r>
            <a:endParaRPr lang="en-US" sz="1010" dirty="0"/>
          </a:p>
        </p:txBody>
      </p:sp>
      <p:sp>
        <p:nvSpPr>
          <p:cNvPr id="20" name="Shape 18"/>
          <p:cNvSpPr/>
          <p:nvPr/>
        </p:nvSpPr>
        <p:spPr>
          <a:xfrm>
            <a:off x="8275320" y="1673352"/>
            <a:ext cx="32004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0184" y="1709928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11827"/>
                </a:solidFill>
              </a:rPr>
              <a:t>M1 최종 채택</a:t>
            </a:r>
            <a:endParaRPr lang="en-US" sz="1010" dirty="0"/>
          </a:p>
        </p:txBody>
      </p:sp>
      <p:sp>
        <p:nvSpPr>
          <p:cNvPr id="22" name="Shape 20"/>
          <p:cNvSpPr/>
          <p:nvPr/>
        </p:nvSpPr>
        <p:spPr>
          <a:xfrm>
            <a:off x="685800" y="2112264"/>
            <a:ext cx="173736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" y="21488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11827"/>
                </a:solidFill>
              </a:rPr>
              <a:t>XGBoost</a:t>
            </a:r>
            <a:endParaRPr lang="en-US" sz="1010" dirty="0"/>
          </a:p>
        </p:txBody>
      </p:sp>
      <p:sp>
        <p:nvSpPr>
          <p:cNvPr id="24" name="Shape 22"/>
          <p:cNvSpPr/>
          <p:nvPr/>
        </p:nvSpPr>
        <p:spPr>
          <a:xfrm>
            <a:off x="2423160" y="2112264"/>
            <a:ext cx="306324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78024" y="214884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11827"/>
                </a:solidFill>
              </a:rPr>
              <a:t>RMSE/R²가 강하고 고위험군 분리</a:t>
            </a:r>
            <a:endParaRPr lang="en-US" sz="1010" dirty="0"/>
          </a:p>
        </p:txBody>
      </p:sp>
      <p:sp>
        <p:nvSpPr>
          <p:cNvPr id="26" name="Shape 24"/>
          <p:cNvSpPr/>
          <p:nvPr/>
        </p:nvSpPr>
        <p:spPr>
          <a:xfrm>
            <a:off x="5486400" y="2112264"/>
            <a:ext cx="27889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41264" y="214884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11827"/>
                </a:solidFill>
              </a:rPr>
              <a:t>Train 과적합 신호 큼</a:t>
            </a:r>
            <a:endParaRPr lang="en-US" sz="1010" dirty="0"/>
          </a:p>
        </p:txBody>
      </p:sp>
      <p:sp>
        <p:nvSpPr>
          <p:cNvPr id="28" name="Shape 26"/>
          <p:cNvSpPr/>
          <p:nvPr/>
        </p:nvSpPr>
        <p:spPr>
          <a:xfrm>
            <a:off x="8275320" y="2112264"/>
            <a:ext cx="32004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0184" y="214884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11827"/>
                </a:solidFill>
              </a:rPr>
              <a:t>후보 유지, 최종은 아님</a:t>
            </a:r>
            <a:endParaRPr lang="en-US" sz="1010" dirty="0"/>
          </a:p>
        </p:txBody>
      </p:sp>
      <p:sp>
        <p:nvSpPr>
          <p:cNvPr id="30" name="Shape 28"/>
          <p:cNvSpPr/>
          <p:nvPr/>
        </p:nvSpPr>
        <p:spPr>
          <a:xfrm>
            <a:off x="685800" y="2551176"/>
            <a:ext cx="173736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" y="258775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11827"/>
                </a:solidFill>
              </a:rPr>
              <a:t>Random Forest</a:t>
            </a:r>
            <a:endParaRPr lang="en-US" sz="1010" dirty="0"/>
          </a:p>
        </p:txBody>
      </p:sp>
      <p:sp>
        <p:nvSpPr>
          <p:cNvPr id="32" name="Shape 30"/>
          <p:cNvSpPr/>
          <p:nvPr/>
        </p:nvSpPr>
        <p:spPr>
          <a:xfrm>
            <a:off x="2423160" y="2551176"/>
            <a:ext cx="306324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78024" y="2587752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11827"/>
                </a:solidFill>
              </a:rPr>
              <a:t>단일 Validation에서 균형 좋음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5486400" y="2551176"/>
            <a:ext cx="27889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41264" y="2587752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11827"/>
                </a:solidFill>
              </a:rPr>
              <a:t>OOF에서 우위 약화</a:t>
            </a:r>
            <a:endParaRPr lang="en-US" sz="1010" dirty="0"/>
          </a:p>
        </p:txBody>
      </p:sp>
      <p:sp>
        <p:nvSpPr>
          <p:cNvPr id="36" name="Shape 34"/>
          <p:cNvSpPr/>
          <p:nvPr/>
        </p:nvSpPr>
        <p:spPr>
          <a:xfrm>
            <a:off x="8275320" y="2551176"/>
            <a:ext cx="32004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30184" y="2587752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11827"/>
                </a:solidFill>
              </a:rPr>
              <a:t>보조 비교모델</a:t>
            </a:r>
            <a:endParaRPr lang="en-US" sz="1010" dirty="0"/>
          </a:p>
        </p:txBody>
      </p:sp>
      <p:sp>
        <p:nvSpPr>
          <p:cNvPr id="38" name="Shape 36"/>
          <p:cNvSpPr/>
          <p:nvPr/>
        </p:nvSpPr>
        <p:spPr>
          <a:xfrm>
            <a:off x="685800" y="2990088"/>
            <a:ext cx="173736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0664" y="3026664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11827"/>
                </a:solidFill>
              </a:rPr>
              <a:t>Ridge</a:t>
            </a:r>
            <a:endParaRPr lang="en-US" sz="1010" dirty="0"/>
          </a:p>
        </p:txBody>
      </p:sp>
      <p:sp>
        <p:nvSpPr>
          <p:cNvPr id="40" name="Shape 38"/>
          <p:cNvSpPr/>
          <p:nvPr/>
        </p:nvSpPr>
        <p:spPr>
          <a:xfrm>
            <a:off x="2423160" y="2990088"/>
            <a:ext cx="306324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78024" y="3026664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11827"/>
                </a:solidFill>
              </a:rPr>
              <a:t>단순·안정적·해석 용이</a:t>
            </a:r>
            <a:endParaRPr lang="en-US" sz="1010" dirty="0"/>
          </a:p>
        </p:txBody>
      </p:sp>
      <p:sp>
        <p:nvSpPr>
          <p:cNvPr id="42" name="Shape 40"/>
          <p:cNvSpPr/>
          <p:nvPr/>
        </p:nvSpPr>
        <p:spPr>
          <a:xfrm>
            <a:off x="5486400" y="2990088"/>
            <a:ext cx="27889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41264" y="3026664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11827"/>
                </a:solidFill>
              </a:rPr>
              <a:t>비선형/12월 급등 대응 한계</a:t>
            </a:r>
            <a:endParaRPr lang="en-US" sz="1010" dirty="0"/>
          </a:p>
        </p:txBody>
      </p:sp>
      <p:sp>
        <p:nvSpPr>
          <p:cNvPr id="44" name="Shape 42"/>
          <p:cNvSpPr/>
          <p:nvPr/>
        </p:nvSpPr>
        <p:spPr>
          <a:xfrm>
            <a:off x="8275320" y="2990088"/>
            <a:ext cx="32004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30184" y="3026664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11827"/>
                </a:solidFill>
              </a:rPr>
              <a:t>기준 모델</a:t>
            </a:r>
            <a:endParaRPr lang="en-US" sz="1010" dirty="0"/>
          </a:p>
        </p:txBody>
      </p:sp>
      <p:sp>
        <p:nvSpPr>
          <p:cNvPr id="46" name="Shape 44"/>
          <p:cNvSpPr/>
          <p:nvPr/>
        </p:nvSpPr>
        <p:spPr>
          <a:xfrm>
            <a:off x="685800" y="3429000"/>
            <a:ext cx="173736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0664" y="346557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11827"/>
                </a:solidFill>
              </a:rPr>
              <a:t>Historical Region Mean</a:t>
            </a:r>
            <a:endParaRPr lang="en-US" sz="1010" dirty="0"/>
          </a:p>
        </p:txBody>
      </p:sp>
      <p:sp>
        <p:nvSpPr>
          <p:cNvPr id="48" name="Shape 46"/>
          <p:cNvSpPr/>
          <p:nvPr/>
        </p:nvSpPr>
        <p:spPr>
          <a:xfrm>
            <a:off x="2423160" y="3429000"/>
            <a:ext cx="306324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78024" y="3465576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11827"/>
                </a:solidFill>
              </a:rPr>
              <a:t>M2 Top3 61.11% 적중</a:t>
            </a:r>
            <a:endParaRPr lang="en-US" sz="1010" dirty="0"/>
          </a:p>
        </p:txBody>
      </p:sp>
      <p:sp>
        <p:nvSpPr>
          <p:cNvPr id="50" name="Shape 48"/>
          <p:cNvSpPr/>
          <p:nvPr/>
        </p:nvSpPr>
        <p:spPr>
          <a:xfrm>
            <a:off x="5486400" y="3429000"/>
            <a:ext cx="278892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41264" y="3465576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11827"/>
                </a:solidFill>
              </a:rPr>
              <a:t>원인 설명은 구조지표 중심</a:t>
            </a:r>
            <a:endParaRPr lang="en-US" sz="1010" dirty="0"/>
          </a:p>
        </p:txBody>
      </p:sp>
      <p:sp>
        <p:nvSpPr>
          <p:cNvPr id="52" name="Shape 50"/>
          <p:cNvSpPr/>
          <p:nvPr/>
        </p:nvSpPr>
        <p:spPr>
          <a:xfrm>
            <a:off x="8275320" y="3429000"/>
            <a:ext cx="32004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30184" y="346557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11827"/>
                </a:solidFill>
              </a:rPr>
              <a:t>M2 구조취약성 지표</a:t>
            </a:r>
            <a:endParaRPr lang="en-US" sz="1010" dirty="0"/>
          </a:p>
        </p:txBody>
      </p:sp>
      <p:sp>
        <p:nvSpPr>
          <p:cNvPr id="54" name="Shape 52"/>
          <p:cNvSpPr/>
          <p:nvPr/>
        </p:nvSpPr>
        <p:spPr>
          <a:xfrm>
            <a:off x="868680" y="4617720"/>
            <a:ext cx="10424160" cy="822960"/>
          </a:xfrm>
          <a:prstGeom prst="roundRect">
            <a:avLst>
              <a:gd name="adj" fmla="val 5556"/>
            </a:avLst>
          </a:prstGeom>
          <a:solidFill>
            <a:srgbClr val="F3F7FF"/>
          </a:solidFill>
          <a:ln w="10160">
            <a:solidFill>
              <a:srgbClr val="B9C8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14984" y="4727448"/>
            <a:ext cx="10131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선정: M1은 LightGBM으로 절대 폐업강도를 예측하고, M2는 Historical Region Mean 기반의 구조적 취약성 지표로 지역 간 상대 위험을 설명합니다.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다음 분석 단계: Feature Importance → SHAP → 지역별 설명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이제 성능 경쟁은 종료하고 “왜 위험한가”를 설명하는 단계로 넘어갑니다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5448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10160">
            <a:solidFill>
              <a:srgbClr val="CFD8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783080"/>
            <a:ext cx="457200" cy="457200"/>
          </a:xfrm>
          <a:prstGeom prst="ellipse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0195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423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</a:rPr>
              <a:t>1. Feature Importance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8408" y="277063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B7280"/>
                </a:solidFill>
              </a:rPr>
              <a:t>LightGBM이 예측에 많이 쓴 변수 확인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566160" y="155448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10160">
            <a:solidFill>
              <a:srgbClr val="CFD8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94760" y="1783080"/>
            <a:ext cx="457200" cy="45720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90195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94760" y="2423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</a:rPr>
              <a:t>2. SHAP Summary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67328" y="277063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B7280"/>
                </a:solidFill>
              </a:rPr>
              <a:t>변수값이 위험을 올리는지/내리는지 방향 확인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355080" y="155448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10160">
            <a:solidFill>
              <a:srgbClr val="CFD8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1783080"/>
            <a:ext cx="457200" cy="457200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90195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2423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</a:rPr>
              <a:t>3. 지역별 SHAP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56248" y="277063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B7280"/>
                </a:solidFill>
              </a:rPr>
              <a:t>강서구·중구·사하구 등 사례별 원인 설명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9144000" y="155448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10160">
            <a:solidFill>
              <a:srgbClr val="CFD8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72600" y="1783080"/>
            <a:ext cx="457200" cy="457200"/>
          </a:xfrm>
          <a:prstGeom prst="ellipse">
            <a:avLst/>
          </a:prstGeom>
          <a:solidFill>
            <a:srgbClr val="7A5CFF"/>
          </a:solidFill>
          <a:ln w="12700">
            <a:solidFill>
              <a:srgbClr val="7A5C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72600" y="190195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72600" y="2423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</a:rPr>
              <a:t>4. Dashboard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45168" y="277063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B7280"/>
                </a:solidFill>
              </a:rPr>
              <a:t>예측 폐업강도 + 구조취약성 + 설명 변수 시각화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868680" y="4160520"/>
            <a:ext cx="10424160" cy="384048"/>
          </a:xfrm>
          <a:prstGeom prst="rect">
            <a:avLst/>
          </a:prstGeom>
          <a:solidFill>
            <a:srgbClr val="E9F1FB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" y="4197096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</a:rPr>
              <a:t>발표용 핵심 문장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68680" y="4544568"/>
            <a:ext cx="1042416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3544" y="458114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</a:rPr>
              <a:t>“부산 폐업위험은 월별 공통충격이 매우 강하지만, 강서구·동구·사상구처럼 구조적으로 부산 평균보다 높은 지역도 존재한다.”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68680" y="4928616"/>
            <a:ext cx="1042416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3544" y="4965192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</a:rPr>
              <a:t>“따라서 절대 위험 예측은 LightGBM, 지역 상대 취약성은 구조지표로 분리해 해석하는 것이 타당하다.”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5623560"/>
            <a:ext cx="102412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B7280"/>
                </a:solidFill>
              </a:rPr>
              <a:t>추가 권장: SHAP 이후에는 큰 오차 사례(중구 과대예측, 사하구 과소예측)를 별도 점검해 모델 한계를 같이 제시합니다.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1133856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1410</Words>
  <Application>Microsoft Office PowerPoint</Application>
  <PresentationFormat>와이드스크린</PresentationFormat>
  <Paragraphs>334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부산 폐업 예측 모델 선정 결과</dc:title>
  <dc:subject>부산 폐업 예측 모델 선정 결과</dc:subject>
  <dc:creator>OpenAI</dc:creator>
  <cp:lastModifiedBy>성우 김</cp:lastModifiedBy>
  <cp:revision>1</cp:revision>
  <dcterms:created xsi:type="dcterms:W3CDTF">2026-08-18T09:27:12Z</dcterms:created>
  <dcterms:modified xsi:type="dcterms:W3CDTF">2026-08-18T09:30:28Z</dcterms:modified>
</cp:coreProperties>
</file>