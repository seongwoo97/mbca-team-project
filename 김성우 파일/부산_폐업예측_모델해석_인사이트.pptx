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18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폐업위험 예측모델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해석·인사이트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</a:rPr>
              <a:t>LightGBM SHAP 기반으로 본 관광 성장, 내수, 사업자 변화의 의미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13232" y="2999232"/>
            <a:ext cx="2560320" cy="310896"/>
          </a:xfrm>
          <a:prstGeom prst="roundRect">
            <a:avLst>
              <a:gd name="adj" fmla="val 20588"/>
            </a:avLst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0632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M1: 다음달 절대 폐업강도 예측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3520440" y="2999232"/>
            <a:ext cx="2240280" cy="310896"/>
          </a:xfrm>
          <a:prstGeom prst="roundRect">
            <a:avLst>
              <a:gd name="adj" fmla="val 20588"/>
            </a:avLst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306324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M2: 구조적 상대 취약성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713232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BAC"/>
                </a:solidFill>
              </a:rPr>
              <a:t>0.1652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" y="42611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</a:rPr>
              <a:t>Final Test MAE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423160" y="3840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A974"/>
                </a:solidFill>
              </a:rPr>
              <a:t>38.72%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4261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</a:rPr>
              <a:t>Dummy 대비 개선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462272" y="3840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A59"/>
                </a:solidFill>
              </a:rPr>
              <a:t>61.11%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62272" y="4261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B7280"/>
                </a:solidFill>
              </a:rPr>
              <a:t>M2 Top3 적중률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13232" y="4919472"/>
            <a:ext cx="6080760" cy="868680"/>
          </a:xfrm>
          <a:prstGeom prst="roundRect">
            <a:avLst>
              <a:gd name="adj" fmla="val 5263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5029200"/>
            <a:ext cx="57881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요약: 모델은 “관광객이 많다” 자체보다, 외부방문 의존·현지인 방문 약화·사업자 성장 정체가 겹치는 구조를 위험 신호로 학습했습니다.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868680"/>
            <a:ext cx="4434840" cy="49834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18" name="Image 0" descr="/mnt/data/4c4bd56d-21ef-4108-bd16-cc6f20fc81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284923"/>
            <a:ext cx="4325112" cy="41509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0" y="5989320"/>
            <a:ext cx="4343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자료는 모델 성능 비교가 아니라, 선정된 모델이 학습한 패턴과 발표용 인사이트를 정리한 것입니다.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모델 해석 프레임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M1은 “얼마나 위험한가”, M2는 “어느 지역이 구조적으로 취약한가”를 봅니다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2788920" cy="3566160"/>
          </a:xfrm>
          <a:prstGeom prst="roundRect">
            <a:avLst>
              <a:gd name="adj" fmla="val 1967"/>
            </a:avLst>
          </a:prstGeom>
          <a:solidFill>
            <a:srgbClr val="E9F1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</a:rPr>
              <a:t>입력 신호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2788920" cy="3566160"/>
          </a:xfrm>
          <a:prstGeom prst="roundRect">
            <a:avLst>
              <a:gd name="adj" fmla="val 1967"/>
            </a:avLst>
          </a:prstGeom>
          <a:solidFill>
            <a:srgbClr val="EAF9F9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</a:rPr>
              <a:t>모델 해석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75320" y="1371600"/>
            <a:ext cx="2788920" cy="3566160"/>
          </a:xfrm>
          <a:prstGeom prst="roundRect">
            <a:avLst>
              <a:gd name="adj" fmla="val 1967"/>
            </a:avLst>
          </a:prstGeom>
          <a:solidFill>
            <a:srgbClr val="FFF1E8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</a:rPr>
              <a:t>결과 활용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24231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방문 YoY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YoY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 구조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월/계절 효과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2084832"/>
            <a:ext cx="24231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LightGBM SHAP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+/− 기여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구간별 위험신호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계절효과와 비계절 요인 분리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58200" y="2084832"/>
            <a:ext cx="24231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다음달 폐업강도 예측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취약지역 식별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조건 중첩 진단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설명 카드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5486400"/>
            <a:ext cx="10058400" cy="6858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5596128"/>
            <a:ext cx="9765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슬라이드는 “모델이 무엇을 보고 위험을 높였는가”에만 집중합니다. 모델 선정 과정은 별도 PPT 범위입니다.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SHAP 전체 중요도: 계절효과가 강한 기준점으로 작동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feature는 12월 폐업 급등 패턴을 반영한 강력한 계절 신호입니다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530352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01cd68f5-2c1b-46f3-b6a8-efab2354a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91" y="1197864"/>
            <a:ext cx="4642138" cy="4965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234440"/>
            <a:ext cx="155448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5664" y="127101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SHAP 요인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0" y="1234440"/>
            <a:ext cx="379476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10144" y="1271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0" y="1673352"/>
            <a:ext cx="15544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55664" y="170992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월_11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1673352"/>
            <a:ext cx="3794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10144" y="170992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→ 다음달 12월 폐업 급등을 학습한 계절 기준점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2112264"/>
            <a:ext cx="15544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5664" y="21488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월_2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0" y="2112264"/>
            <a:ext cx="3794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10144" y="214884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feature → 다음달 3월 구간의 시점 효과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0" y="2551176"/>
            <a:ext cx="15544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55664" y="258775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55280" y="2551176"/>
            <a:ext cx="3794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10144" y="258775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 의존이 높은 지역을 위험 신호로 활용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2990088"/>
            <a:ext cx="15544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55664" y="302666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월_12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55280" y="2990088"/>
            <a:ext cx="37947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10144" y="302666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→ 다음해 1월 전환의 계절효과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0" y="3520440"/>
            <a:ext cx="5349240" cy="987552"/>
          </a:xfrm>
          <a:prstGeom prst="roundRect">
            <a:avLst>
              <a:gd name="adj" fmla="val 4630"/>
            </a:avLst>
          </a:prstGeom>
          <a:solidFill>
            <a:srgbClr val="FFF7ED"/>
          </a:solidFill>
          <a:ln w="10160">
            <a:solidFill>
              <a:srgbClr val="F3C3A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47104" y="3630168"/>
            <a:ext cx="5056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중요: Test에는 11월 데이터가 없습니다. “월_11=0”이라는 사실 자체가 예측을 낮추는 방향으로 작동했습니다. 즉 월_11 1위는 계절 패턴의 부재까지 포함한 기준점입니다.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6400800" y="4800600"/>
            <a:ext cx="5349240" cy="777240"/>
          </a:xfrm>
          <a:prstGeom prst="roundRect">
            <a:avLst>
              <a:gd name="adj" fmla="val 588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47104" y="4910328"/>
            <a:ext cx="50566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발표에서는 계절효과와 관광·경제 요인을 반드시 분리해 설명해야 합니다. 그렇지 않으면 월 효과가 관광 변수 메시지를 덮습니다.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계절 제외: 모델이 본 관광·소비·사업자 신호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외부방문비중이 가장 강한 비계절 변수였습니다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97280"/>
            <a:ext cx="56692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902ae268-36cf-4e5a-a08b-b1246e3fad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64987"/>
            <a:ext cx="5559552" cy="37395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2344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관광·경제 SHAP 비중 (%)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1719072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외부방문비중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8790127" y="1755648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90127" y="1755648"/>
            <a:ext cx="1937753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127123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현지인방문 YoY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790127" y="2163699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90127" y="2163699"/>
            <a:ext cx="1102266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2535174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사업자 YoY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790127" y="2571750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90127" y="2571750"/>
            <a:ext cx="1049992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2943225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외부방문자 YoY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790127" y="2979801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90127" y="2979801"/>
            <a:ext cx="959864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3351276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1인당 관광소비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790127" y="3387852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90127" y="3387852"/>
            <a:ext cx="937332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9400" y="3759327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관광소비비중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8790127" y="3795903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90127" y="3795903"/>
            <a:ext cx="818363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167378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방문-소비 Gap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8790127" y="4203954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90127" y="4203954"/>
            <a:ext cx="763384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29400" y="4575429"/>
            <a:ext cx="1977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40" dirty="0">
                <a:solidFill>
                  <a:srgbClr val="111827"/>
                </a:solidFill>
              </a:rPr>
              <a:t>체류시간 YoY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8790127" y="4612005"/>
            <a:ext cx="2072945" cy="128016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790127" y="4612005"/>
            <a:ext cx="703900" cy="12801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29400" y="5349240"/>
            <a:ext cx="4709160" cy="6858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75704" y="5458968"/>
            <a:ext cx="4416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단순한 “관광객 수”보다 외부방문 의존도, 현지인 수요, 사업자 기반, 소비 구조가 더 큰 예측 신호였습니다.</a:t>
            </a:r>
            <a:endParaRPr lang="en-US" sz="1140" dirty="0"/>
          </a:p>
        </p:txBody>
      </p:sp>
      <p:sp>
        <p:nvSpPr>
          <p:cNvPr id="35" name="Text 32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Insight 1: 외부방문 의존이 일정 수준을 넘으면 위험 신호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외부방문비중은 값이 높은 구간에서 SHAP이 급격히 양수로 전환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576072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4022c6b5-e315-4a83-923a-12a3b3a6af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497907"/>
            <a:ext cx="5650992" cy="36793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1325880"/>
            <a:ext cx="1645920" cy="45720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75704" y="136245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 구간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66760" y="1325880"/>
            <a:ext cx="1143000" cy="45720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21624" y="136245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SHAP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509760" y="1325880"/>
            <a:ext cx="2377440" cy="45720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64624" y="136245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1783080"/>
            <a:ext cx="1645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181965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30.6~56.5%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66760" y="1783080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181965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509760" y="1783080"/>
            <a:ext cx="2377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64624" y="181965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폐업강도 예측을 낮추는 방향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20840" y="2240280"/>
            <a:ext cx="1645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75704" y="227685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56.5~75.7%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366760" y="2240280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227685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+0.1386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509760" y="2240280"/>
            <a:ext cx="2377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64624" y="227685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폐업강도 예측을 크게 높이는 방향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20840" y="2697480"/>
            <a:ext cx="1645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75704" y="273405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양수 비율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366760" y="2697480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21624" y="273405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92.3%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509760" y="2697480"/>
            <a:ext cx="2377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64624" y="273405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관측이 위험 상승 방향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720840" y="32918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67144" y="3401568"/>
            <a:ext cx="4873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문장: 관광객 증가 자체보다, 지역 방문 수요가 외부방문자에게 과도하게 의존하는 구조가 더 중요한 위험 신호로 나타났습니다.</a:t>
            </a:r>
            <a:endParaRPr lang="en-US" sz="1220" dirty="0"/>
          </a:p>
        </p:txBody>
      </p:sp>
      <p:sp>
        <p:nvSpPr>
          <p:cNvPr id="34" name="Text 31"/>
          <p:cNvSpPr/>
          <p:nvPr/>
        </p:nvSpPr>
        <p:spPr>
          <a:xfrm>
            <a:off x="676656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56.5%는 정책 임계값이 아니라 Final Test SHAP에서 탐색적으로 관찰된 전환 구간입니다.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Insight 2: 현지인 방문과 사업자 성장은 위험 완충 신호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내수와 상권 기반이 약할수록 다음달 폐업강도를 높게 예측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48f2317d-6a7b-43df-aecc-3958de78b4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234" y="1197864"/>
            <a:ext cx="4006372" cy="2633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9776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9" name="Image 1" descr="/mnt/data/107afd8e-9d32-44ed-a685-0a9e8d8410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400" y="4032504"/>
            <a:ext cx="3432041" cy="22219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55080" y="1234440"/>
            <a:ext cx="1645920" cy="47548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9944" y="12710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</a:t>
            </a:r>
            <a:endParaRPr lang="en-US" sz="1060" dirty="0"/>
          </a:p>
        </p:txBody>
      </p:sp>
      <p:sp>
        <p:nvSpPr>
          <p:cNvPr id="12" name="Shape 8"/>
          <p:cNvSpPr/>
          <p:nvPr/>
        </p:nvSpPr>
        <p:spPr>
          <a:xfrm>
            <a:off x="8001000" y="1234440"/>
            <a:ext cx="2011680" cy="47548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55864" y="12710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방향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10012680" y="1234440"/>
            <a:ext cx="2057400" cy="47548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67544" y="127101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355080" y="1709928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9944" y="174650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현지인방문자 YoY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8001000" y="1709928"/>
            <a:ext cx="2011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55864" y="17465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3.5% 미만에서 +SHAP</a:t>
            </a:r>
            <a:endParaRPr lang="en-US" sz="1060" dirty="0"/>
          </a:p>
        </p:txBody>
      </p:sp>
      <p:sp>
        <p:nvSpPr>
          <p:cNvPr id="20" name="Shape 16"/>
          <p:cNvSpPr/>
          <p:nvPr/>
        </p:nvSpPr>
        <p:spPr>
          <a:xfrm>
            <a:off x="10012680" y="1709928"/>
            <a:ext cx="20574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067544" y="1746504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지역민 일상수요 약화가 폐업위험 상승 신호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6355080" y="2185416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9944" y="222199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전체사업자 YoY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8001000" y="2185416"/>
            <a:ext cx="2011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55864" y="222199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0.3% 미만에서 +SHAP</a:t>
            </a:r>
            <a:endParaRPr lang="en-US" sz="1060" dirty="0"/>
          </a:p>
        </p:txBody>
      </p:sp>
      <p:sp>
        <p:nvSpPr>
          <p:cNvPr id="26" name="Shape 22"/>
          <p:cNvSpPr/>
          <p:nvPr/>
        </p:nvSpPr>
        <p:spPr>
          <a:xfrm>
            <a:off x="10012680" y="2185416"/>
            <a:ext cx="20574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67544" y="222199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기반 정체·감소가 위험 상승 신호</a:t>
            </a:r>
            <a:endParaRPr lang="en-US" sz="1060" dirty="0"/>
          </a:p>
        </p:txBody>
      </p:sp>
      <p:sp>
        <p:nvSpPr>
          <p:cNvPr id="28" name="Shape 24"/>
          <p:cNvSpPr/>
          <p:nvPr/>
        </p:nvSpPr>
        <p:spPr>
          <a:xfrm>
            <a:off x="6355080" y="2660904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09944" y="26974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현지인소비 YoY</a:t>
            </a:r>
            <a:endParaRPr lang="en-US" sz="1060" dirty="0"/>
          </a:p>
        </p:txBody>
      </p:sp>
      <p:sp>
        <p:nvSpPr>
          <p:cNvPr id="30" name="Shape 26"/>
          <p:cNvSpPr/>
          <p:nvPr/>
        </p:nvSpPr>
        <p:spPr>
          <a:xfrm>
            <a:off x="8001000" y="2660904"/>
            <a:ext cx="201168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55864" y="269748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중요도는 낮지만 유사 방향</a:t>
            </a:r>
            <a:endParaRPr lang="en-US" sz="1060" dirty="0"/>
          </a:p>
        </p:txBody>
      </p:sp>
      <p:sp>
        <p:nvSpPr>
          <p:cNvPr id="32" name="Shape 28"/>
          <p:cNvSpPr/>
          <p:nvPr/>
        </p:nvSpPr>
        <p:spPr>
          <a:xfrm>
            <a:off x="10012680" y="2660904"/>
            <a:ext cx="20574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067544" y="269748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내수 완충 효과 가능성</a:t>
            </a:r>
            <a:endParaRPr lang="en-US" sz="1060" dirty="0"/>
          </a:p>
        </p:txBody>
      </p:sp>
      <p:sp>
        <p:nvSpPr>
          <p:cNvPr id="34" name="Shape 30"/>
          <p:cNvSpPr/>
          <p:nvPr/>
        </p:nvSpPr>
        <p:spPr>
          <a:xfrm>
            <a:off x="6355080" y="3154680"/>
            <a:ext cx="5715000" cy="960120"/>
          </a:xfrm>
          <a:prstGeom prst="roundRect">
            <a:avLst>
              <a:gd name="adj" fmla="val 4762"/>
            </a:avLst>
          </a:prstGeom>
          <a:solidFill>
            <a:srgbClr val="EAF7EF"/>
          </a:solidFill>
          <a:ln w="10160">
            <a:solidFill>
              <a:srgbClr val="B9D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01384" y="3264408"/>
            <a:ext cx="5422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5를 가장 강하게 지지합니다. 관광 성장 여부와 별개로 현지인 방문·소비가 버텨주는 지역은 폐업위험이 낮아지는 방향으로 해석됩니다.</a:t>
            </a:r>
            <a:endParaRPr lang="en-US" sz="1210" dirty="0"/>
          </a:p>
        </p:txBody>
      </p:sp>
      <p:sp>
        <p:nvSpPr>
          <p:cNvPr id="36" name="Shape 32"/>
          <p:cNvSpPr/>
          <p:nvPr/>
        </p:nvSpPr>
        <p:spPr>
          <a:xfrm>
            <a:off x="6355080" y="4434840"/>
            <a:ext cx="5715000" cy="86868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01384" y="4544568"/>
            <a:ext cx="5422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사업자수 YoY가 +0.3% 이상인 구간에서는 SHAP이 음수로 전환되어, 전체 상권 성장성이 위험 완충 신호로 작동했습니다.</a:t>
            </a:r>
            <a:endParaRPr lang="en-US" sz="1120" dirty="0"/>
          </a:p>
        </p:txBody>
      </p:sp>
      <p:sp>
        <p:nvSpPr>
          <p:cNvPr id="38" name="Text 34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Insight 3: 관광 성장과 상권 생존은 항상 같은 방향이 아니다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외부방문자 증가와 1인당 관광소비가 높은 구간에서도 폐업위험 상승 신호가 나타남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14300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fed36bb6-a1d8-42a2-9ea5-87affa3710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531" y="1197864"/>
            <a:ext cx="3794354" cy="2404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374904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9" name="Image 1" descr="/mnt/data/dbe86fa6-c549-43d8-b56f-75fe384cb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85" y="3803904"/>
            <a:ext cx="3757245" cy="24048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1325880"/>
            <a:ext cx="2103120" cy="47548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47104" y="136245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1060" dirty="0"/>
          </a:p>
        </p:txBody>
      </p:sp>
      <p:sp>
        <p:nvSpPr>
          <p:cNvPr id="12" name="Shape 8"/>
          <p:cNvSpPr/>
          <p:nvPr/>
        </p:nvSpPr>
        <p:spPr>
          <a:xfrm>
            <a:off x="8595360" y="1325880"/>
            <a:ext cx="2880360" cy="47548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50224" y="1362456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모델상 신호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6492240" y="1801368"/>
            <a:ext cx="21031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47104" y="1837944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외부방문자 YoY 약 +7.7% 이상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8595360" y="1801368"/>
            <a:ext cx="28803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50224" y="1837944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폐업강도 예측 상승 방향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6492240" y="2276856"/>
            <a:ext cx="21031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47104" y="231343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관광소비 약 1.4만원 이상</a:t>
            </a:r>
            <a:endParaRPr lang="en-US" sz="1060" dirty="0"/>
          </a:p>
        </p:txBody>
      </p:sp>
      <p:sp>
        <p:nvSpPr>
          <p:cNvPr id="20" name="Shape 16"/>
          <p:cNvSpPr/>
          <p:nvPr/>
        </p:nvSpPr>
        <p:spPr>
          <a:xfrm>
            <a:off x="8595360" y="2276856"/>
            <a:ext cx="28803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50224" y="2313432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폐업강도 예측 상승 방향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6492240" y="2752344"/>
            <a:ext cx="21031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47104" y="278892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체류시간 YoY +5% 이상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8595360" y="2752344"/>
            <a:ext cx="28803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650224" y="2788920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상승 방향으로 나타남</a:t>
            </a:r>
            <a:endParaRPr lang="en-US" sz="1060" dirty="0"/>
          </a:p>
        </p:txBody>
      </p:sp>
      <p:sp>
        <p:nvSpPr>
          <p:cNvPr id="26" name="Shape 22"/>
          <p:cNvSpPr/>
          <p:nvPr/>
        </p:nvSpPr>
        <p:spPr>
          <a:xfrm>
            <a:off x="6492240" y="324612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0160">
            <a:solidFill>
              <a:srgbClr val="F3C3A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38544" y="3355848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문장: 관광객이 늘고 소비가 강하더라도, 그 성장이 지역 내수와 사업자 생존으로 자동 전환되지는 않았습니다.</a:t>
            </a:r>
            <a:endParaRPr lang="en-US" sz="1210" dirty="0"/>
          </a:p>
        </p:txBody>
      </p:sp>
      <p:sp>
        <p:nvSpPr>
          <p:cNvPr id="28" name="Shape 24"/>
          <p:cNvSpPr/>
          <p:nvPr/>
        </p:nvSpPr>
        <p:spPr>
          <a:xfrm>
            <a:off x="6492240" y="452628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38544" y="4636008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“성장-생존 괴리” 가설을 지지합니다. 높은 관광성장이 폐업위험 완화로 바로 이어지지 않는 구간이 확인됐습니다.</a:t>
            </a:r>
            <a:endParaRPr lang="en-US" sz="1170" dirty="0"/>
          </a:p>
        </p:txBody>
      </p:sp>
      <p:sp>
        <p:nvSpPr>
          <p:cNvPr id="30" name="Text 26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가설별 판정: 살아남은 가설과 약한 가설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결과는 “관광객 과밀”보다 “외부 의존 + 내수 약화 + 생존 괴리”에 더 가깝습니다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1920240" cy="53035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27101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2606040" y="1234440"/>
            <a:ext cx="1325880" cy="53035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60904" y="1271016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3931920" y="1234440"/>
            <a:ext cx="7635240" cy="53035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86784" y="1271016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근거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85800" y="1764792"/>
            <a:ext cx="1920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8013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관광 과밀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2606040" y="1764792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1801368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약함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3931920" y="1764792"/>
            <a:ext cx="7635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1801368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관광객집중도 SHAP 비중 약 1%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85800" y="2295144"/>
            <a:ext cx="1920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23317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소비 전환 실패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2606040" y="2295144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0904" y="233172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3931920" y="2295144"/>
            <a:ext cx="7635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2331720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Gap과 SHAP의 단조관계 없음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85800" y="2825496"/>
            <a:ext cx="1920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28620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관광산업 편중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2606040" y="2825496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2862072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지지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3931920" y="2825496"/>
            <a:ext cx="7635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2862072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관광소비비중이 높은 구간에서 +SHAP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85800" y="3355848"/>
            <a:ext cx="1920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33924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관광업 과잉경쟁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2606040" y="3355848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60904" y="3392424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3931920" y="3355848"/>
            <a:ext cx="7635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6784" y="3392424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지역월업종 Master 별도 분석 필요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685800" y="3886200"/>
            <a:ext cx="1920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392277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지역 내수 감소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2606040" y="3886200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3922776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지지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3931920" y="3886200"/>
            <a:ext cx="7635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6784" y="3922776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현지인방문 성장 둔화가 +SHAP</a:t>
            </a:r>
            <a:endParaRPr lang="en-US" sz="1110" dirty="0"/>
          </a:p>
        </p:txBody>
      </p:sp>
      <p:sp>
        <p:nvSpPr>
          <p:cNvPr id="42" name="Shape 40"/>
          <p:cNvSpPr/>
          <p:nvPr/>
        </p:nvSpPr>
        <p:spPr>
          <a:xfrm>
            <a:off x="685800" y="4416552"/>
            <a:ext cx="1920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" y="445312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성장-생존 괴리</a:t>
            </a:r>
            <a:endParaRPr lang="en-US" sz="1110" dirty="0"/>
          </a:p>
        </p:txBody>
      </p:sp>
      <p:sp>
        <p:nvSpPr>
          <p:cNvPr id="44" name="Shape 42"/>
          <p:cNvSpPr/>
          <p:nvPr/>
        </p:nvSpPr>
        <p:spPr>
          <a:xfrm>
            <a:off x="2606040" y="4416552"/>
            <a:ext cx="1325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60904" y="4453128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유력 지지</a:t>
            </a:r>
            <a:endParaRPr lang="en-US" sz="1110" dirty="0"/>
          </a:p>
        </p:txBody>
      </p:sp>
      <p:sp>
        <p:nvSpPr>
          <p:cNvPr id="46" name="Shape 44"/>
          <p:cNvSpPr/>
          <p:nvPr/>
        </p:nvSpPr>
        <p:spPr>
          <a:xfrm>
            <a:off x="3931920" y="4416552"/>
            <a:ext cx="7635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86784" y="4453128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외부방문자 증가·1인당 관광소비 상승이 위험 상승 구간 존재</a:t>
            </a:r>
            <a:endParaRPr lang="en-US" sz="1110" dirty="0"/>
          </a:p>
        </p:txBody>
      </p:sp>
      <p:sp>
        <p:nvSpPr>
          <p:cNvPr id="48" name="Shape 46"/>
          <p:cNvSpPr/>
          <p:nvPr/>
        </p:nvSpPr>
        <p:spPr>
          <a:xfrm>
            <a:off x="868680" y="5166360"/>
            <a:ext cx="10332720" cy="777240"/>
          </a:xfrm>
          <a:prstGeom prst="roundRect">
            <a:avLst>
              <a:gd name="adj" fmla="val 588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" y="5276088"/>
            <a:ext cx="10040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결론: “관광객이 많아서 폐업한다”가 아니라, 관광 의존이 커지는 동시에 지역 내수와 상권 기반이 약한 지역에서 폐업위험이 높게 예측됐다.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SHAP 위험신호가 겹칠수록 실제 폐업강도도 상승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변수보다 “신호의 중첩”이 더 설득력 있는 진단 프레임입니다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위험신호수별 실제 폐업강도 평균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430263"/>
            <a:ext cx="663593" cy="1638817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29095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1.72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85800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0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1459121" y="2259278"/>
            <a:ext cx="663593" cy="180980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9121" y="2058110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1.90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459121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1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232442" y="2296556"/>
            <a:ext cx="663593" cy="177252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2442" y="2095388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1.86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232442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2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005763" y="2204121"/>
            <a:ext cx="663593" cy="1864959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5763" y="2002953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1.96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005763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3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779085" y="2203170"/>
            <a:ext cx="663593" cy="186591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9085" y="2002002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1.96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779085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4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52406" y="1907226"/>
            <a:ext cx="663593" cy="216185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2406" y="1706058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2.27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552406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5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325727" y="1916546"/>
            <a:ext cx="663593" cy="215253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5727" y="1715378"/>
            <a:ext cx="6635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</a:rPr>
              <a:t>2.26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325727" y="4142232"/>
            <a:ext cx="6635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</a:rPr>
              <a:t>6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446520" y="1234440"/>
            <a:ext cx="1828800" cy="329184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127101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위험신호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75320" y="1234440"/>
            <a:ext cx="3291840" cy="329184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127101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46520" y="1563624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01384" y="16002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외부방문의존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275320" y="1563624"/>
            <a:ext cx="3291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160020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 ≥ 56.5%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446520" y="1892808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4" y="19293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외부방문급증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275320" y="1892808"/>
            <a:ext cx="3291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192938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외부방문자 YoY ≥ 7.7%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446520" y="2221992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22585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현지인방문약화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275320" y="2221992"/>
            <a:ext cx="3291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0184" y="225856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현지인방문자 YoY &lt; 3.5%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446520" y="2551176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1384" y="25877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사업자성장정체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275320" y="2551176"/>
            <a:ext cx="3291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0184" y="25877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전체사업자 YoY &lt; 0.3%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6446520" y="2880360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1384" y="29169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고관광객소비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275320" y="2880360"/>
            <a:ext cx="3291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0184" y="29169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관광소비 ≥ 1.4만원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446520" y="3209544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1384" y="32461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관광소비편중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8275320" y="3209544"/>
            <a:ext cx="32918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0184" y="324612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관광소비비중 ≥ 99.1%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6446520" y="365760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0160">
            <a:solidFill>
              <a:srgbClr val="F3C3A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92824" y="376732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위험신호 5~6개 관측의 실제 폐업강도 평균은 약 2.27%로, 0~4개 구간 평균 약 1.92%보다 높았습니다. 이는 사후 탐색 결과이며 독립 검증 규칙은 아닙니다.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6446520" y="4892040"/>
            <a:ext cx="5120640" cy="731520"/>
          </a:xfrm>
          <a:prstGeom prst="roundRect">
            <a:avLst>
              <a:gd name="adj" fmla="val 6250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92824" y="5001768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사례: 2026-02 강서구, 사상구, 연제구는 여러 위험 신호가 동시에 겹쳤고 실제 폐업강도도 높았습니다.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 M2 인사이트: 구조적 취약지역은 반복된다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상대위험은 단기 관광·소비 변화보다 과거 지역 패턴이 더 잘 설명했습니다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160020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179576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상대위험 상위/하위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286000" y="1143000"/>
            <a:ext cx="123444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1795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상대위험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520440" y="1143000"/>
            <a:ext cx="233172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179576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85800" y="1572768"/>
            <a:ext cx="160020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609344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강서구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286000" y="1572768"/>
            <a:ext cx="12344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1609344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+0.4956%p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520440" y="1572768"/>
            <a:ext cx="23317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1609344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관측기간 내내 부산 평균 이상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85800" y="2002536"/>
            <a:ext cx="160020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2039112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동구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286000" y="2002536"/>
            <a:ext cx="12344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2039112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+0.1696%p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520440" y="2002536"/>
            <a:ext cx="23317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2039112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고위험권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5800" y="2432304"/>
            <a:ext cx="160020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2468880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사상구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286000" y="2432304"/>
            <a:ext cx="12344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40864" y="2468880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+0.1647%p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3520440" y="2432304"/>
            <a:ext cx="23317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2468880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고위험권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85800" y="2862072"/>
            <a:ext cx="160020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2898648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중구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2286000" y="2862072"/>
            <a:ext cx="12344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0864" y="2898648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-0.1799%p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3520440" y="2862072"/>
            <a:ext cx="23317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75304" y="2898648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평균적으로 낮은 상대위험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85800" y="3291840"/>
            <a:ext cx="160020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3328416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동래구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286000" y="3291840"/>
            <a:ext cx="12344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40864" y="332841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-0.1865%p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3520440" y="3291840"/>
            <a:ext cx="23317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5304" y="3328416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낮은 상대위험권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85800" y="4663440"/>
            <a:ext cx="5166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43" name="Image 0" descr="/mnt/data/d94c7925-16f2-4273-9efd-9a0ae93bd1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317" y="4718304"/>
            <a:ext cx="3919326" cy="1216152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6355080" y="1234440"/>
            <a:ext cx="2057400" cy="45720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9944" y="127101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방식</a:t>
            </a:r>
            <a:endParaRPr lang="en-US" sz="1030" dirty="0"/>
          </a:p>
        </p:txBody>
      </p:sp>
      <p:sp>
        <p:nvSpPr>
          <p:cNvPr id="46" name="Shape 43"/>
          <p:cNvSpPr/>
          <p:nvPr/>
        </p:nvSpPr>
        <p:spPr>
          <a:xfrm>
            <a:off x="8412480" y="1234440"/>
            <a:ext cx="1188720" cy="45720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67344" y="12710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MAE</a:t>
            </a:r>
            <a:endParaRPr lang="en-US" sz="1030" dirty="0"/>
          </a:p>
        </p:txBody>
      </p:sp>
      <p:sp>
        <p:nvSpPr>
          <p:cNvPr id="48" name="Shape 45"/>
          <p:cNvSpPr/>
          <p:nvPr/>
        </p:nvSpPr>
        <p:spPr>
          <a:xfrm>
            <a:off x="9601200" y="1234440"/>
            <a:ext cx="1371600" cy="45720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656064" y="12710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Top3 적중률</a:t>
            </a:r>
            <a:endParaRPr lang="en-US" sz="1030" dirty="0"/>
          </a:p>
        </p:txBody>
      </p:sp>
      <p:sp>
        <p:nvSpPr>
          <p:cNvPr id="50" name="Shape 47"/>
          <p:cNvSpPr/>
          <p:nvPr/>
        </p:nvSpPr>
        <p:spPr>
          <a:xfrm>
            <a:off x="6355080" y="1691640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9944" y="172821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Historical Region Mean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8412480" y="1691640"/>
            <a:ext cx="1188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67344" y="17282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0.1508</a:t>
            </a:r>
            <a:endParaRPr lang="en-US" sz="1030" dirty="0"/>
          </a:p>
        </p:txBody>
      </p:sp>
      <p:sp>
        <p:nvSpPr>
          <p:cNvPr id="54" name="Shape 51"/>
          <p:cNvSpPr/>
          <p:nvPr/>
        </p:nvSpPr>
        <p:spPr>
          <a:xfrm>
            <a:off x="9601200" y="1691640"/>
            <a:ext cx="13716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656064" y="17282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61.11%</a:t>
            </a:r>
            <a:endParaRPr lang="en-US" sz="1030" dirty="0"/>
          </a:p>
        </p:txBody>
      </p:sp>
      <p:sp>
        <p:nvSpPr>
          <p:cNvPr id="56" name="Shape 53"/>
          <p:cNvSpPr/>
          <p:nvPr/>
        </p:nvSpPr>
        <p:spPr>
          <a:xfrm>
            <a:off x="6355080" y="2148840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9944" y="218541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Region + Dynamic</a:t>
            </a:r>
            <a:endParaRPr lang="en-US" sz="1030" dirty="0"/>
          </a:p>
        </p:txBody>
      </p:sp>
      <p:sp>
        <p:nvSpPr>
          <p:cNvPr id="58" name="Shape 55"/>
          <p:cNvSpPr/>
          <p:nvPr/>
        </p:nvSpPr>
        <p:spPr>
          <a:xfrm>
            <a:off x="8412480" y="2148840"/>
            <a:ext cx="1188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467344" y="21854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0.1786</a:t>
            </a:r>
            <a:endParaRPr lang="en-US" sz="1030" dirty="0"/>
          </a:p>
        </p:txBody>
      </p:sp>
      <p:sp>
        <p:nvSpPr>
          <p:cNvPr id="60" name="Shape 57"/>
          <p:cNvSpPr/>
          <p:nvPr/>
        </p:nvSpPr>
        <p:spPr>
          <a:xfrm>
            <a:off x="9601200" y="2148840"/>
            <a:ext cx="13716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656064" y="21854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50.00%</a:t>
            </a:r>
            <a:endParaRPr lang="en-US" sz="1030" dirty="0"/>
          </a:p>
        </p:txBody>
      </p:sp>
      <p:sp>
        <p:nvSpPr>
          <p:cNvPr id="62" name="Shape 59"/>
          <p:cNvSpPr/>
          <p:nvPr/>
        </p:nvSpPr>
        <p:spPr>
          <a:xfrm>
            <a:off x="6355080" y="2606040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09944" y="264261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 Only</a:t>
            </a:r>
            <a:endParaRPr lang="en-US" sz="1030" dirty="0"/>
          </a:p>
        </p:txBody>
      </p:sp>
      <p:sp>
        <p:nvSpPr>
          <p:cNvPr id="64" name="Shape 6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467344" y="26426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0.1962</a:t>
            </a:r>
            <a:endParaRPr lang="en-US" sz="1030" dirty="0"/>
          </a:p>
        </p:txBody>
      </p:sp>
      <p:sp>
        <p:nvSpPr>
          <p:cNvPr id="66" name="Shape 63"/>
          <p:cNvSpPr/>
          <p:nvPr/>
        </p:nvSpPr>
        <p:spPr>
          <a:xfrm>
            <a:off x="9601200" y="2606040"/>
            <a:ext cx="13716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656064" y="26426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16.67%</a:t>
            </a:r>
            <a:endParaRPr lang="en-US" sz="1030" dirty="0"/>
          </a:p>
        </p:txBody>
      </p:sp>
      <p:sp>
        <p:nvSpPr>
          <p:cNvPr id="68" name="Shape 65"/>
          <p:cNvSpPr/>
          <p:nvPr/>
        </p:nvSpPr>
        <p:spPr>
          <a:xfrm>
            <a:off x="6355080" y="3246120"/>
            <a:ext cx="5257800" cy="960120"/>
          </a:xfrm>
          <a:prstGeom prst="roundRect">
            <a:avLst>
              <a:gd name="adj" fmla="val 476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501384" y="3355848"/>
            <a:ext cx="4965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강서구는 15개월 평균 +0.4956%p로 관측기간 내내 부산 평균보다 높았습니다. 이는 “일시적 관광 변화”보다 구조적 취약성으로 보는 편이 타당합니다.</a:t>
            </a:r>
            <a:endParaRPr lang="en-US" sz="1140" dirty="0"/>
          </a:p>
        </p:txBody>
      </p:sp>
      <p:sp>
        <p:nvSpPr>
          <p:cNvPr id="70" name="Shape 67"/>
          <p:cNvSpPr/>
          <p:nvPr/>
        </p:nvSpPr>
        <p:spPr>
          <a:xfrm>
            <a:off x="6355080" y="4526280"/>
            <a:ext cx="5257800" cy="960120"/>
          </a:xfrm>
          <a:prstGeom prst="roundRect">
            <a:avLst>
              <a:gd name="adj" fmla="val 4762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501384" y="4636008"/>
            <a:ext cx="4965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M2는 복잡한 ML보다 구조적 취약성 지표로 제시하는 것이 더 안전합니다. M1과 M2를 분리하면 예측과 지역 진단의 역할이 명확해집니다.</a:t>
            </a:r>
            <a:endParaRPr lang="en-US" sz="1140" dirty="0"/>
          </a:p>
        </p:txBody>
      </p:sp>
      <p:sp>
        <p:nvSpPr>
          <p:cNvPr id="72" name="Text 69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대시보드 적용 방향: 예측값 + 구조취약성 + 원인 설명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결과물은 “위험 순위”보다 “왜 위험한가”를 보여주는 구조가 적합합니다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2971800" cy="2834640"/>
          </a:xfrm>
          <a:prstGeom prst="roundRect">
            <a:avLst>
              <a:gd name="adj" fmla="val 2258"/>
            </a:avLst>
          </a:prstGeom>
          <a:solidFill>
            <a:srgbClr val="E9F1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</a:rPr>
              <a:t>예측 레이어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M1 LightGBM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다음달 폐업강도 예측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폐업강도 예측값, 예측/실제 오차, 월별 변화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2971800" cy="2834640"/>
          </a:xfrm>
          <a:prstGeom prst="roundRect">
            <a:avLst>
              <a:gd name="adj" fmla="val 2258"/>
            </a:avLst>
          </a:prstGeom>
          <a:solidFill>
            <a:srgbClr val="EAF9F9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642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</a:rPr>
              <a:t>구조 레이어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M2 상대 취약성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과거 지역 평균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강서구·동구·사상구 등 반복 취약지역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2971800" cy="2834640"/>
          </a:xfrm>
          <a:prstGeom prst="roundRect">
            <a:avLst>
              <a:gd name="adj" fmla="val 2258"/>
            </a:avLst>
          </a:prstGeom>
          <a:solidFill>
            <a:srgbClr val="FFF1E8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642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</a:rPr>
              <a:t>설명 레이어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85632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SHAP 원인 카드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위험신호 중첩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5632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외부방문의존, 내수 약화, 사업자 정체 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846320"/>
            <a:ext cx="384048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88289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0" y="4846320"/>
            <a:ext cx="658368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4882896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답변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248656"/>
            <a:ext cx="38404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28523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다음달 어느 지역이 위험한가?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0" y="5248656"/>
            <a:ext cx="65836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5285232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예측 폐업강도와 구조 취약성 점수를 함께 표시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14400" y="5650992"/>
            <a:ext cx="38404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568756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위험한가?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754880" y="5650992"/>
            <a:ext cx="65836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568756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기반 위험신호: 외부방문 의존, 현지인 방문 약화 등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914400" y="6053328"/>
            <a:ext cx="38404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6089904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정책적으로 무엇을 봐야 하나?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4754880" y="6053328"/>
            <a:ext cx="658368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6089904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유입 확대보다 지역 내수·사업자 생존 기반을 같이 점검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</a:t>
            </a:r>
            <a:r>
              <a:rPr lang="en-US" sz="2500" b="1" dirty="0" err="1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성장의 양보다, 성장의 구조와 지역 내수의 동반 여부가 중요했습니다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BAC"/>
                </a:solidFill>
              </a:rPr>
              <a:t>최종 한 문장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10424160" cy="868680"/>
          </a:xfrm>
          <a:prstGeom prst="roundRect">
            <a:avLst>
              <a:gd name="adj" fmla="val 5263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801368"/>
            <a:ext cx="10131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부산의 다음달 폐업위험은 단순한 관광객 증가보다, 외부방문 의존이 높고 현지인 방문·사업자 기반이 약한 지역에서 더 높게 예측됐다.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374904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3008376"/>
            <a:ext cx="3639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인사이트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971800"/>
            <a:ext cx="667512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3008376"/>
            <a:ext cx="6565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 표현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401568"/>
            <a:ext cx="37490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438144"/>
            <a:ext cx="3639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외부방문비중 56.5% 이상 구간에서 위험 상승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3401568"/>
            <a:ext cx="6675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3438144"/>
            <a:ext cx="6565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“외부수요 의존도가 높은 구간에서 폐업위험 신호가 강화”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831336"/>
            <a:ext cx="37490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867912"/>
            <a:ext cx="3639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현지인방문 YoY 3.5% 미만에서 위험 상승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831336"/>
            <a:ext cx="6675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3867912"/>
            <a:ext cx="6565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“지역 내수의 약화가 위험 완충 기능을 약화”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61104"/>
            <a:ext cx="37490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297680"/>
            <a:ext cx="3639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외부방문자 YoY 7.7% 이상에서도 위험 상승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261104"/>
            <a:ext cx="6675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4297680"/>
            <a:ext cx="6565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“관광성장과 상권 생존이 항상 같은 방향은 아님”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690872"/>
            <a:ext cx="37490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727448"/>
            <a:ext cx="3639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관광객집중도 자체는 중요도 낮음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4690872"/>
            <a:ext cx="6675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4727448"/>
            <a:ext cx="6565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“단순 과밀보다 의존 구조가 더 설명력 있음”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120640"/>
            <a:ext cx="37490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5157216"/>
            <a:ext cx="3639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M2는 지역 과거 패턴이 강함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5120640"/>
            <a:ext cx="66751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5157216"/>
            <a:ext cx="6565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“구조적 취약성은 별도 지표로 다뤄야 함”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623560"/>
            <a:ext cx="10424160" cy="548640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 w="10160">
            <a:solidFill>
              <a:srgbClr val="F1B6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5733288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SHAP은 인과가 아니라 모델의 예측 기여도입니다. 전환 구간은 정책 임계값이 아니라 현재 Test에서 관찰된 탐색적 신호로 제시해야 합니다.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1320272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Microsoft Office PowerPoint</Application>
  <PresentationFormat>와이드스크린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부산 폐업 예측 모델 해석 및 인사이트</dc:title>
  <dc:subject>부산 폐업 예측 모델 해석 및 인사이트</dc:subject>
  <dc:creator>OpenAI</dc:creator>
  <cp:lastModifiedBy>성우 김</cp:lastModifiedBy>
  <cp:revision>2</cp:revision>
  <dcterms:created xsi:type="dcterms:W3CDTF">2026-08-18T10:02:44Z</dcterms:created>
  <dcterms:modified xsi:type="dcterms:W3CDTF">2026-09-01T02:28:54Z</dcterms:modified>
</cp:coreProperties>
</file>