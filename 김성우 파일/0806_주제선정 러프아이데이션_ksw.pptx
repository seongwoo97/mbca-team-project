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59" r:id="rId5"/>
    <p:sldId id="256" r:id="rId6"/>
    <p:sldId id="266" r:id="rId7"/>
    <p:sldId id="267" r:id="rId8"/>
    <p:sldId id="268" r:id="rId9"/>
    <p:sldId id="260" r:id="rId10"/>
    <p:sldId id="257" r:id="rId11"/>
    <p:sldId id="258" r:id="rId12"/>
    <p:sldId id="265" r:id="rId13"/>
    <p:sldId id="277" r:id="rId14"/>
    <p:sldId id="261" r:id="rId15"/>
    <p:sldId id="262" r:id="rId16"/>
    <p:sldId id="272" r:id="rId17"/>
    <p:sldId id="278" r:id="rId18"/>
    <p:sldId id="273" r:id="rId19"/>
    <p:sldId id="274" r:id="rId20"/>
    <p:sldId id="275" r:id="rId21"/>
    <p:sldId id="263" r:id="rId22"/>
    <p:sldId id="264" r:id="rId23"/>
    <p:sldId id="276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>
        <p:scale>
          <a:sx n="100" d="100"/>
          <a:sy n="100" d="100"/>
        </p:scale>
        <p:origin x="91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52EC5-01BC-280A-43CE-73C821352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8D3139-38A0-1D59-2B8D-26F3352CC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89A207-2508-8E5F-2AC8-270523EF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911BC6-C120-FD5D-965E-B7611712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5D1B3-9A30-D844-ADC8-3FF104B6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6A431-F2FC-5B16-0964-FF98820B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0A03C3-7F85-D870-0AD8-3F0D71974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E1431-E3B8-62D9-398C-741E088A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A1FEC-2BE6-2F6F-5683-5645AE37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B340B3-7428-3BFB-E189-2367F51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84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C073B-CA64-69C6-DE2F-5260082F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1DE9D9-BEBF-8E7D-07F2-D2DE9613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4ACDAB-6ADC-AA1C-461A-7D0EDB01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22C6D-20A0-0995-1046-57FC5688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73199-491F-E26D-342B-07AA85DF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2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B9917-3EDC-4862-D7FA-819FC12C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6D2640-CE3C-0B8D-7D3D-4CF3E2D06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699768-EC4E-38BA-851E-45428EA36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28C86-ACF8-52BA-FA7F-534DAD93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AE5787-5A53-A6A8-0A16-D1EFD57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32D87-27C6-701C-B20E-A4FA64CE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8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64EFC-ED38-3184-2944-7FB1988A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3D047E-CF07-9EF0-FB1F-67906143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1B50C3-5CA4-BF36-7BF4-3B029C73E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D80AE7-BF41-9A7E-990E-CA1F961C5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4FFA89-F925-B73C-06AA-9980EC6BC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6C19A7-8C09-AB3D-E0B0-3024726F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CCE0DC-2693-33B4-670D-E7ECFEBD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625BC0-75E3-9211-02A8-EFCC7022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30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1D0C3-9F8D-884B-8E29-EEDE1147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9E5D90-37A0-2595-D624-311B038E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4DC07F-60AA-BB3A-6BE8-69B51215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928804-0192-0972-FFF3-F3EDCD7E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75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CA6F62-CA28-D648-6EBC-6FBA5C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E0359F-8953-947E-4881-CB6E30BF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547D3A-2837-1344-A0C0-14A23C3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4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4601D-8271-566F-C082-A5BE18C9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97467-B550-DECB-1962-15E61869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9DE7E1-1BDB-559D-0468-D9C03F35B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CFB880-98F5-10CC-5364-2FDEF06C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372597-6DF1-C489-FEFF-2FF77D1F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5DF58E-2DFD-8D6F-02DB-B952E56B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93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442D2-09FF-3F75-B04C-5C97AD17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CAA982-2722-4A1D-21B1-064AF84F3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BD3FDA-DC6D-FD77-757D-DD471A44D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21622F-711E-907F-24A0-69E9D2EC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644B87-654E-99E8-329D-88243D34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C87CFF-AE8E-C08C-2695-F3D17998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9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33E62-FE87-156C-44C0-FCA3F52F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15F358-4307-6984-F559-F78E10CB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7F973-4D5A-5BD3-C029-531217E2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DBF80-B398-D6B6-8F43-2664B7FE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5707C-014E-7F9A-FA9A-999C9D95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7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552D52-EDBC-E834-940B-F7E89172D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0F6C95-AA96-376F-7147-7650F12C5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8A02B-E066-D94C-5DA8-7BFB9999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E4A9AF-9EF3-D9D6-2E08-FD57B195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1BC931-8556-D07F-2A42-033B93C00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0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04022F-02B1-E0B0-4CE1-B9CB91D8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85951-B826-A7F1-A44A-3E39AB99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41C95-366D-1AB9-7EFF-CC9105981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EB247-23AD-4DF0-8AC1-D230D2C3E826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4F0153-2CA7-0CA3-710A-1C4403500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89388-7162-2240-4EE0-DA32AAB28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88100-BF59-4D69-9D84-C6A87C807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92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46F20A-3095-5B57-0F3A-9869D0FA0E33}"/>
              </a:ext>
            </a:extLst>
          </p:cNvPr>
          <p:cNvSpPr txBox="1"/>
          <p:nvPr/>
        </p:nvSpPr>
        <p:spPr>
          <a:xfrm>
            <a:off x="247650" y="1982450"/>
            <a:ext cx="116967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2025년 데이터분석 공모전 수상작</a:t>
            </a:r>
          </a:p>
          <a:p>
            <a:pPr algn="ctr"/>
            <a:endParaRPr lang="ko-KR" altLang="en-US" sz="1400" dirty="0"/>
          </a:p>
          <a:p>
            <a:pPr algn="ctr"/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track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1 최우수상 : 예측 모델이 밝혀낸 어린이 보호구역의 공백 / 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히트맵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+ 지도 로 표시한 '보호구역 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미지정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구역'</a:t>
            </a: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= 어린이 교통안전을 위한 예방적 개입이 충분히 이루어지지 않은 정책적 사각지대</a:t>
            </a:r>
          </a:p>
          <a:p>
            <a:pPr algn="ctr"/>
            <a:endParaRPr lang="ko-KR" altLang="en-US" sz="1400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track2 최우수상 : 폐업 감지 경보 서비스</a:t>
            </a: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= 유동인구 및 붐비는 정도를 계산하여 해당 가게가 폐업 직전인지 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어떤지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확인 가능?</a:t>
            </a:r>
          </a:p>
          <a:p>
            <a:pPr algn="ctr"/>
            <a:endParaRPr lang="ko-KR" altLang="en-US" sz="1400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trackc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1 우수상 : 해양 데이터를 활용한 해양 쓰레기 핫스팟(밀집구역) 예측 모델</a:t>
            </a: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= 해류 및 해양 쓰레기 이동 경로 파악 후 어디에 쓰레기가 밀집되는지 예측</a:t>
            </a:r>
          </a:p>
          <a:p>
            <a:pPr algn="ctr"/>
            <a:endParaRPr lang="ko-KR" altLang="en-US" sz="1400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track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2 우수상 : 여행 관광의 소비주의를 위한 융복합 데이터 / 공급자 중심 -&gt; 소비자 중심의 패러다임</a:t>
            </a: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= 부산의 각 위치 별 해외여행객을 위한 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스팟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지정</a:t>
            </a:r>
          </a:p>
        </p:txBody>
      </p:sp>
    </p:spTree>
    <p:extLst>
      <p:ext uri="{BB962C8B-B14F-4D97-AF65-F5344CB8AC3E}">
        <p14:creationId xmlns:p14="http://schemas.microsoft.com/office/powerpoint/2010/main" val="24589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1AC1E-1981-886F-588C-3BAE1D2F000A}"/>
              </a:ext>
            </a:extLst>
          </p:cNvPr>
          <p:cNvSpPr txBox="1"/>
          <p:nvPr/>
        </p:nvSpPr>
        <p:spPr>
          <a:xfrm>
            <a:off x="1876425" y="2521059"/>
            <a:ext cx="8439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2024년 공모전 수상작</a:t>
            </a:r>
          </a:p>
          <a:p>
            <a:pPr algn="ctr"/>
            <a:endParaRPr lang="ko-KR" altLang="en-US" sz="1400" dirty="0"/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대상 : 부산 지하철 유휴공간 방치 및 부산교통공사 적자 문제 해결을 위함</a:t>
            </a: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= 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스마트팜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서비스 '</a:t>
            </a:r>
            <a:r>
              <a:rPr lang="ko-KR" altLang="en-US" sz="1400" dirty="0" err="1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키아라</a:t>
            </a:r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'</a:t>
            </a:r>
          </a:p>
          <a:p>
            <a:pPr algn="ctr"/>
            <a:endParaRPr lang="ko-KR" altLang="en-US" sz="1400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최우수상 : 부산 최적의 순찰경로 추천 및 위험도 모니터링</a:t>
            </a:r>
          </a:p>
          <a:p>
            <a:pPr algn="ctr"/>
            <a:endParaRPr lang="ko-KR" altLang="en-US" sz="1400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sz="14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우수상 : 초고령사회, 교통 / 안전 / 편의에 따른 노인공공임대주택 설치 건의</a:t>
            </a:r>
          </a:p>
        </p:txBody>
      </p:sp>
    </p:spTree>
    <p:extLst>
      <p:ext uri="{BB962C8B-B14F-4D97-AF65-F5344CB8AC3E}">
        <p14:creationId xmlns:p14="http://schemas.microsoft.com/office/powerpoint/2010/main" val="292988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E781A7-020D-BC04-8C17-4FDF2DA54759}"/>
              </a:ext>
            </a:extLst>
          </p:cNvPr>
          <p:cNvSpPr txBox="1"/>
          <p:nvPr/>
        </p:nvSpPr>
        <p:spPr>
          <a:xfrm>
            <a:off x="2190750" y="2828836"/>
            <a:ext cx="7810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[공통점]</a:t>
            </a:r>
            <a:endParaRPr lang="en-US" altLang="ko-KR" b="1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 </a:t>
            </a:r>
            <a:r>
              <a:rPr lang="ko-KR" altLang="en-US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- 위치에 따른 취약점 및 개선지역을 종합 후 계산하는 형식.</a:t>
            </a:r>
          </a:p>
          <a:p>
            <a:pPr algn="ctr"/>
            <a:r>
              <a:rPr lang="ko-KR" altLang="en-US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- 시계열에 따른 차후 예측 혹은 즉각 대응에 대한 내용은 부재하다.</a:t>
            </a:r>
            <a:endParaRPr lang="en-US" altLang="ko-KR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endParaRPr lang="en-US" altLang="ko-KR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시시각각 변하는 데이터에 대해 </a:t>
            </a:r>
          </a:p>
        </p:txBody>
      </p:sp>
    </p:spTree>
    <p:extLst>
      <p:ext uri="{BB962C8B-B14F-4D97-AF65-F5344CB8AC3E}">
        <p14:creationId xmlns:p14="http://schemas.microsoft.com/office/powerpoint/2010/main" val="10741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86E4E9-B7D2-A899-1CE5-FAD3F1FB299F}"/>
              </a:ext>
            </a:extLst>
          </p:cNvPr>
          <p:cNvSpPr txBox="1"/>
          <p:nvPr/>
        </p:nvSpPr>
        <p:spPr>
          <a:xfrm>
            <a:off x="5535591" y="2644170"/>
            <a:ext cx="11208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dirty="0">
                <a:solidFill>
                  <a:prstClr val="black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</a:t>
            </a:r>
            <a:endParaRPr lang="ko-KR" altLang="en-US" sz="9600" dirty="0">
              <a:solidFill>
                <a:prstClr val="black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952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6BEA14A0-F75D-8AC4-F6D0-CCE532B5D238}"/>
              </a:ext>
            </a:extLst>
          </p:cNvPr>
          <p:cNvGrpSpPr/>
          <p:nvPr/>
        </p:nvGrpSpPr>
        <p:grpSpPr>
          <a:xfrm>
            <a:off x="2362488" y="888864"/>
            <a:ext cx="7259782" cy="4183647"/>
            <a:chOff x="1514763" y="1898514"/>
            <a:chExt cx="7259782" cy="418364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90303FE-A5BF-9490-2C3B-E4042AEA4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4763" y="1898514"/>
              <a:ext cx="7259782" cy="156468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758D1F-8E12-0405-05E7-D9272E6317E1}"/>
                </a:ext>
              </a:extLst>
            </p:cNvPr>
            <p:cNvSpPr txBox="1"/>
            <p:nvPr/>
          </p:nvSpPr>
          <p:spPr>
            <a:xfrm>
              <a:off x="2096654" y="3569962"/>
              <a:ext cx="6096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/>
                <a:t>https://www.busan.com/view/busan/view.php?code=2025102118211887538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87F68C2-5A47-543D-F968-F79FC4012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6282" y="4430916"/>
              <a:ext cx="5696745" cy="122889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08D214-9284-A3CA-8332-14E95F34BB0C}"/>
                </a:ext>
              </a:extLst>
            </p:cNvPr>
            <p:cNvSpPr txBox="1"/>
            <p:nvPr/>
          </p:nvSpPr>
          <p:spPr>
            <a:xfrm>
              <a:off x="2096654" y="5805162"/>
              <a:ext cx="6096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/>
                <a:t>https://news.kbs.co.kr/news/pc/view/view.do?ncd=8384985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63A9BB1-E6BC-A9FD-35E9-0709DAB538FA}"/>
              </a:ext>
            </a:extLst>
          </p:cNvPr>
          <p:cNvSpPr txBox="1"/>
          <p:nvPr/>
        </p:nvSpPr>
        <p:spPr>
          <a:xfrm>
            <a:off x="1893455" y="5590883"/>
            <a:ext cx="840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고령화 문제가 여전히 심각한 부산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517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928C2C2-7D3B-D235-F29F-23BF97D63F35}"/>
              </a:ext>
            </a:extLst>
          </p:cNvPr>
          <p:cNvGrpSpPr/>
          <p:nvPr/>
        </p:nvGrpSpPr>
        <p:grpSpPr>
          <a:xfrm>
            <a:off x="1893455" y="1250884"/>
            <a:ext cx="8405090" cy="4356232"/>
            <a:chOff x="1893455" y="1852407"/>
            <a:chExt cx="8405090" cy="43562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1A41ADC-BC4D-C86B-67C5-45A567880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9890" y="1852407"/>
              <a:ext cx="6592220" cy="29436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F1F2DC-7658-85DA-E505-20714BD0995A}"/>
                </a:ext>
              </a:extLst>
            </p:cNvPr>
            <p:cNvSpPr txBox="1"/>
            <p:nvPr/>
          </p:nvSpPr>
          <p:spPr>
            <a:xfrm>
              <a:off x="1893455" y="5562308"/>
              <a:ext cx="84050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부산시 고령자를 대상으로 한 </a:t>
              </a:r>
              <a:r>
                <a:rPr lang="en-US" altLang="ko-KR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‘</a:t>
              </a:r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부산시 </a:t>
              </a:r>
              <a:r>
                <a:rPr lang="ko-KR" altLang="en-US" dirty="0" err="1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건강업</a:t>
              </a:r>
              <a:r>
                <a:rPr lang="en-US" altLang="ko-KR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(UP)’ </a:t>
              </a:r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사업을</a:t>
              </a:r>
              <a:endPara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endParaRPr>
            </a:p>
            <a:p>
              <a:pPr algn="ctr"/>
              <a:r>
                <a:rPr lang="en-US" altLang="ko-KR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2025</a:t>
              </a:r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년부터 추진</a:t>
              </a:r>
              <a:endPara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308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5A1298-18DA-E770-7830-05BAE86B5489}"/>
              </a:ext>
            </a:extLst>
          </p:cNvPr>
          <p:cNvSpPr txBox="1"/>
          <p:nvPr/>
        </p:nvSpPr>
        <p:spPr>
          <a:xfrm>
            <a:off x="1581150" y="2828836"/>
            <a:ext cx="902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현재 그런 시설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(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의료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취미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커뮤니케이션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)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이 없는 지역을 찾아 표시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후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부산시 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건강업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사업이 우선적으로 진행되어야 하는 최우선 지역을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데이터 분석을 통해 지정해줄 수 있으면 어떨지 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89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64AD-7241-A4E1-CF38-AE100357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ADC3A1-BE99-42E0-053F-A480D3FB2518}"/>
              </a:ext>
            </a:extLst>
          </p:cNvPr>
          <p:cNvSpPr txBox="1"/>
          <p:nvPr/>
        </p:nvSpPr>
        <p:spPr>
          <a:xfrm>
            <a:off x="1581150" y="2551837"/>
            <a:ext cx="9029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But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이는 정확히 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2024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년 공모전 우수상의 분석을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정확히 반대로 진행하는 것 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ㅋㅋ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+a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혹은 해당 기획에 대한 명확한 특장점 필요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326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0000-47B3-B963-B7E6-05E25358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C0DDEE-B780-F836-D13A-9EE618B1FB93}"/>
              </a:ext>
            </a:extLst>
          </p:cNvPr>
          <p:cNvSpPr txBox="1"/>
          <p:nvPr/>
        </p:nvSpPr>
        <p:spPr>
          <a:xfrm>
            <a:off x="5556430" y="2644170"/>
            <a:ext cx="10791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dirty="0">
                <a:solidFill>
                  <a:prstClr val="black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B</a:t>
            </a:r>
            <a:endParaRPr lang="ko-KR" altLang="en-US" sz="9600" dirty="0">
              <a:solidFill>
                <a:prstClr val="black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17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만리장성 - 위키백과, 우리 모두의 백과사전">
            <a:extLst>
              <a:ext uri="{FF2B5EF4-FFF2-40B4-BE49-F238E27FC236}">
                <a16:creationId xmlns:a16="http://schemas.microsoft.com/office/drawing/2014/main" id="{5FB30BF0-989A-4015-45D3-39097050E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69" y="1851461"/>
            <a:ext cx="4726197" cy="31511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C83105-4812-9069-AB2E-52705B50B6C7}"/>
              </a:ext>
            </a:extLst>
          </p:cNvPr>
          <p:cNvSpPr txBox="1"/>
          <p:nvPr/>
        </p:nvSpPr>
        <p:spPr>
          <a:xfrm>
            <a:off x="3071903" y="13300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이상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D3DA14-6200-4068-D653-389CF3B603F2}"/>
              </a:ext>
            </a:extLst>
          </p:cNvPr>
          <p:cNvGrpSpPr/>
          <p:nvPr/>
        </p:nvGrpSpPr>
        <p:grpSpPr>
          <a:xfrm>
            <a:off x="6672567" y="1330037"/>
            <a:ext cx="4248728" cy="4193308"/>
            <a:chOff x="6672567" y="1330037"/>
            <a:chExt cx="4248728" cy="4193308"/>
          </a:xfrm>
        </p:grpSpPr>
        <p:pic>
          <p:nvPicPr>
            <p:cNvPr id="9" name="그림 8" descr="여긴 다시는 안가요&quot;...다녀온 사람들 질색하는 세계 유명 관광지 7곳 &lt; 여행뉴스 &lt; 기사본문 - 여행톡톡">
              <a:extLst>
                <a:ext uri="{FF2B5EF4-FFF2-40B4-BE49-F238E27FC236}">
                  <a16:creationId xmlns:a16="http://schemas.microsoft.com/office/drawing/2014/main" id="{D768E1E0-4F9B-33AD-7D6D-81BEB9F08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2567" y="1855739"/>
              <a:ext cx="4248728" cy="315114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1CB5C4-CE48-AEC3-336E-7CE597BE1EC1}"/>
                </a:ext>
              </a:extLst>
            </p:cNvPr>
            <p:cNvSpPr txBox="1"/>
            <p:nvPr/>
          </p:nvSpPr>
          <p:spPr>
            <a:xfrm>
              <a:off x="8473765" y="1330037"/>
              <a:ext cx="646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현실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37601-910B-0ED2-29E6-A8AF1B1FC253}"/>
                </a:ext>
              </a:extLst>
            </p:cNvPr>
            <p:cNvSpPr txBox="1"/>
            <p:nvPr/>
          </p:nvSpPr>
          <p:spPr>
            <a:xfrm>
              <a:off x="8358351" y="515401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살려줘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BF8D06F-5808-CD7D-3366-E6B5951C6F26}"/>
              </a:ext>
            </a:extLst>
          </p:cNvPr>
          <p:cNvSpPr txBox="1"/>
          <p:nvPr/>
        </p:nvSpPr>
        <p:spPr>
          <a:xfrm>
            <a:off x="2599817" y="5154013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동양의 신비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..!</a:t>
            </a:r>
            <a:endParaRPr lang="ko-KR" altLang="en-US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162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2C08E9-F8C1-C5AC-DD62-352EC28D5276}"/>
              </a:ext>
            </a:extLst>
          </p:cNvPr>
          <p:cNvSpPr txBox="1"/>
          <p:nvPr/>
        </p:nvSpPr>
        <p:spPr>
          <a:xfrm>
            <a:off x="1893455" y="5387098"/>
            <a:ext cx="840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여행객의 급증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/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밀집으로 원주민은 물론 관광객들의 평가 역시 떨어트리는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‘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오버투어리즘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심각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38EE66F-3985-DFC7-7F20-183550BE56D6}"/>
              </a:ext>
            </a:extLst>
          </p:cNvPr>
          <p:cNvGrpSpPr/>
          <p:nvPr/>
        </p:nvGrpSpPr>
        <p:grpSpPr>
          <a:xfrm>
            <a:off x="1893453" y="824571"/>
            <a:ext cx="8405094" cy="4210630"/>
            <a:chOff x="1893452" y="1400629"/>
            <a:chExt cx="8405094" cy="42106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517D82-83E2-A953-8066-5D4E37037236}"/>
                </a:ext>
              </a:extLst>
            </p:cNvPr>
            <p:cNvSpPr txBox="1"/>
            <p:nvPr/>
          </p:nvSpPr>
          <p:spPr>
            <a:xfrm>
              <a:off x="3047999" y="2949253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/>
                <a:t>https://www.news1.kr/local/busan-gyeongnam/6244664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74621F4-AEEC-3256-340A-428F7B54A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4290" y="1400629"/>
              <a:ext cx="8183420" cy="144740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62F9FDC-C028-58FF-AB95-1471C2286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3452" y="3772161"/>
              <a:ext cx="8405094" cy="11794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55FDBA-D450-FF58-F79A-D7936B866686}"/>
                </a:ext>
              </a:extLst>
            </p:cNvPr>
            <p:cNvSpPr txBox="1"/>
            <p:nvPr/>
          </p:nvSpPr>
          <p:spPr>
            <a:xfrm>
              <a:off x="3048000" y="5303482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/>
                <a:t>https://www.munhwa.com/article/11606738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508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EB4116-9A0B-4291-80EA-890CAF4B7D33}"/>
              </a:ext>
            </a:extLst>
          </p:cNvPr>
          <p:cNvSpPr txBox="1"/>
          <p:nvPr/>
        </p:nvSpPr>
        <p:spPr>
          <a:xfrm>
            <a:off x="2207491" y="2551837"/>
            <a:ext cx="77770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만족도는 높지만 덜 알려진 부산 관광지 발굴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..</a:t>
            </a:r>
          </a:p>
          <a:p>
            <a:pPr algn="ctr"/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유명한 부산 관광지 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뿐만 아니라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유망한 부산 관광지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까지 즐길 수 있도록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2B1C6D-69EA-0D2F-29F2-B0E2F400B1E5}"/>
              </a:ext>
            </a:extLst>
          </p:cNvPr>
          <p:cNvSpPr/>
          <p:nvPr/>
        </p:nvSpPr>
        <p:spPr>
          <a:xfrm>
            <a:off x="12484101" y="3101109"/>
            <a:ext cx="3380509" cy="655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" dirty="0"/>
              <a:t>만족도는 높지만 덜 알려진</a:t>
            </a:r>
            <a:r>
              <a:rPr lang="ko-KR" altLang="en-US" dirty="0"/>
              <a:t> </a:t>
            </a:r>
            <a:r>
              <a:rPr lang="ko-KR" altLang="en-US" sz="300" dirty="0"/>
              <a:t>부산 관광지 발굴</a:t>
            </a:r>
          </a:p>
          <a:p>
            <a:pPr algn="ctr"/>
            <a:r>
              <a:rPr lang="ko-KR" altLang="en-US" sz="300" dirty="0"/>
              <a:t>프로젝트 이름 예시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「부산 숨은 만족 지도」</a:t>
            </a:r>
          </a:p>
          <a:p>
            <a:pPr algn="ctr"/>
            <a:r>
              <a:rPr lang="ko-KR" altLang="en-US" sz="300" dirty="0"/>
              <a:t>사람이 몰리는 곳이 아니라</a:t>
            </a:r>
            <a:r>
              <a:rPr lang="en-US" altLang="ko-KR" sz="300" dirty="0"/>
              <a:t>, </a:t>
            </a:r>
            <a:r>
              <a:rPr lang="ko-KR" altLang="en-US" sz="300" dirty="0"/>
              <a:t>다녀온 사람이 만족한 곳을 찾는다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이 프로젝트도 상당히 좋습니다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한국관광 </a:t>
            </a:r>
            <a:r>
              <a:rPr lang="ko-KR" altLang="en-US" sz="300" dirty="0" err="1"/>
              <a:t>데이터랩에서는</a:t>
            </a:r>
            <a:r>
              <a:rPr lang="ko-KR" altLang="en-US" sz="300" dirty="0"/>
              <a:t> 이동통신 기반 방문자 수</a:t>
            </a:r>
            <a:r>
              <a:rPr lang="en-US" altLang="ko-KR" sz="300" dirty="0"/>
              <a:t>, </a:t>
            </a:r>
            <a:r>
              <a:rPr lang="ko-KR" altLang="en-US" sz="300" dirty="0"/>
              <a:t>숙박 방문 비율</a:t>
            </a:r>
            <a:r>
              <a:rPr lang="en-US" altLang="ko-KR" sz="300" dirty="0"/>
              <a:t>, </a:t>
            </a:r>
            <a:r>
              <a:rPr lang="ko-KR" altLang="en-US" sz="300" dirty="0"/>
              <a:t>방문자의 연령</a:t>
            </a:r>
            <a:r>
              <a:rPr lang="en-US" altLang="ko-KR" sz="300" dirty="0"/>
              <a:t>·</a:t>
            </a:r>
            <a:r>
              <a:rPr lang="ko-KR" altLang="en-US" sz="300" dirty="0"/>
              <a:t>성별</a:t>
            </a:r>
            <a:r>
              <a:rPr lang="en-US" altLang="ko-KR" sz="300" dirty="0"/>
              <a:t>, </a:t>
            </a:r>
            <a:r>
              <a:rPr lang="ko-KR" altLang="en-US" sz="300" dirty="0"/>
              <a:t>신용카드 기반 관광소비</a:t>
            </a:r>
            <a:r>
              <a:rPr lang="en-US" altLang="ko-KR" sz="300" dirty="0"/>
              <a:t>, </a:t>
            </a:r>
            <a:r>
              <a:rPr lang="ko-KR" altLang="en-US" sz="300" dirty="0"/>
              <a:t>내비게이션 인기 목적지 등을 제공합니다</a:t>
            </a:r>
            <a:r>
              <a:rPr lang="en-US" altLang="ko-KR" sz="300" dirty="0"/>
              <a:t>. </a:t>
            </a:r>
            <a:r>
              <a:rPr lang="ko-KR" altLang="en-US" sz="300" dirty="0"/>
              <a:t>다만 카드데이터는 전체 소비액이 아니라 특정 카드 이용자의 추세라는 한계가 있습니다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부산의 관광객 실태조사도 매년 공개되고 있으며</a:t>
            </a:r>
            <a:r>
              <a:rPr lang="en-US" altLang="ko-KR" sz="300" dirty="0"/>
              <a:t>, 2025</a:t>
            </a:r>
            <a:r>
              <a:rPr lang="ko-KR" altLang="en-US" sz="300" dirty="0"/>
              <a:t>년 조사 보고서가 </a:t>
            </a:r>
            <a:r>
              <a:rPr lang="en-US" altLang="ko-KR" sz="300" dirty="0"/>
              <a:t>2026</a:t>
            </a:r>
            <a:r>
              <a:rPr lang="ko-KR" altLang="en-US" sz="300" dirty="0"/>
              <a:t>년에 게시됐습니다</a:t>
            </a:r>
            <a:r>
              <a:rPr lang="en-US" altLang="ko-KR" sz="300" dirty="0"/>
              <a:t>. </a:t>
            </a:r>
            <a:r>
              <a:rPr lang="ko-KR" altLang="en-US" sz="300" dirty="0"/>
              <a:t>영도구는 </a:t>
            </a:r>
            <a:r>
              <a:rPr lang="ko-KR" altLang="en-US" sz="300" dirty="0" err="1"/>
              <a:t>흰여울문화마을</a:t>
            </a:r>
            <a:r>
              <a:rPr lang="en-US" altLang="ko-KR" sz="300" dirty="0"/>
              <a:t>·</a:t>
            </a:r>
            <a:r>
              <a:rPr lang="ko-KR" altLang="en-US" sz="300" dirty="0" err="1"/>
              <a:t>봉래물양장</a:t>
            </a:r>
            <a:r>
              <a:rPr lang="en-US" altLang="ko-KR" sz="300" dirty="0"/>
              <a:t>·</a:t>
            </a:r>
            <a:r>
              <a:rPr lang="ko-KR" altLang="en-US" sz="300" dirty="0"/>
              <a:t>감지해변의 일별 유동인구를 </a:t>
            </a:r>
            <a:r>
              <a:rPr lang="ko-KR" altLang="en-US" sz="300" dirty="0" err="1"/>
              <a:t>공공와이파이</a:t>
            </a:r>
            <a:r>
              <a:rPr lang="ko-KR" altLang="en-US" sz="300" dirty="0"/>
              <a:t> 접속 데이터로 제공하고 있어 소규모 실증분석도 가능합니다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핵심 질문</a:t>
            </a:r>
          </a:p>
          <a:p>
            <a:pPr algn="ctr"/>
            <a:r>
              <a:rPr lang="ko-KR" altLang="en-US" sz="300" dirty="0"/>
              <a:t>방문객은 적지만 만족도가 높은 장소는 어디인가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 err="1"/>
              <a:t>검색량은</a:t>
            </a:r>
            <a:r>
              <a:rPr lang="ko-KR" altLang="en-US" sz="300" dirty="0"/>
              <a:t> 낮지만 리뷰 반응이 좋은 지역은 어디인가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해운대</a:t>
            </a:r>
            <a:r>
              <a:rPr lang="en-US" altLang="ko-KR" sz="300" dirty="0"/>
              <a:t>·</a:t>
            </a:r>
            <a:r>
              <a:rPr lang="ko-KR" altLang="en-US" sz="300" dirty="0" err="1"/>
              <a:t>광안리와</a:t>
            </a:r>
            <a:r>
              <a:rPr lang="ko-KR" altLang="en-US" sz="300" dirty="0"/>
              <a:t> 비슷한 만족을 주면서 덜 붐비는 곳은 어디인가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관광객이 몰려 만족도가 하락하고 있는 지역은 어디인가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방문객은 있지만 소비나 체류시간이 짧은 지역은 어디인가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특정 관광지를 추천했을 때 주변 상권까지 이동하는가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사용할 데이터</a:t>
            </a:r>
          </a:p>
          <a:p>
            <a:pPr algn="ctr"/>
            <a:r>
              <a:rPr lang="ko-KR" altLang="en-US" sz="300" dirty="0"/>
              <a:t>관광수요 데이터</a:t>
            </a:r>
          </a:p>
          <a:p>
            <a:pPr algn="ctr"/>
            <a:r>
              <a:rPr lang="ko-KR" altLang="en-US" sz="300" dirty="0"/>
              <a:t>이동통신 기반 방문자 수</a:t>
            </a:r>
          </a:p>
          <a:p>
            <a:pPr algn="ctr"/>
            <a:r>
              <a:rPr lang="ko-KR" altLang="en-US" sz="300" dirty="0"/>
              <a:t>외지인</a:t>
            </a:r>
            <a:r>
              <a:rPr lang="en-US" altLang="ko-KR" sz="300" dirty="0"/>
              <a:t>·</a:t>
            </a:r>
            <a:r>
              <a:rPr lang="ko-KR" altLang="en-US" sz="300" dirty="0"/>
              <a:t>현지인 비율</a:t>
            </a:r>
          </a:p>
          <a:p>
            <a:pPr algn="ctr"/>
            <a:r>
              <a:rPr lang="ko-KR" altLang="en-US" sz="300" dirty="0"/>
              <a:t>시간대별 체류인구</a:t>
            </a:r>
          </a:p>
          <a:p>
            <a:pPr algn="ctr"/>
            <a:r>
              <a:rPr lang="ko-KR" altLang="en-US" sz="300" dirty="0"/>
              <a:t>평균 체류시간</a:t>
            </a:r>
          </a:p>
          <a:p>
            <a:pPr algn="ctr"/>
            <a:r>
              <a:rPr lang="ko-KR" altLang="en-US" sz="300" dirty="0"/>
              <a:t>주중</a:t>
            </a:r>
            <a:r>
              <a:rPr lang="en-US" altLang="ko-KR" sz="300" dirty="0"/>
              <a:t>·</a:t>
            </a:r>
            <a:r>
              <a:rPr lang="ko-KR" altLang="en-US" sz="300" dirty="0"/>
              <a:t>주말 방문 차이</a:t>
            </a:r>
          </a:p>
          <a:p>
            <a:pPr algn="ctr"/>
            <a:r>
              <a:rPr lang="ko-KR" altLang="en-US" sz="300" dirty="0"/>
              <a:t>계절별 </a:t>
            </a:r>
            <a:r>
              <a:rPr lang="ko-KR" altLang="en-US" sz="300" dirty="0" err="1"/>
              <a:t>방문량</a:t>
            </a:r>
            <a:endParaRPr lang="ko-KR" altLang="en-US" sz="300" dirty="0"/>
          </a:p>
          <a:p>
            <a:pPr algn="ctr"/>
            <a:r>
              <a:rPr lang="ko-KR" altLang="en-US" sz="300" dirty="0"/>
              <a:t>재방문 추정치</a:t>
            </a:r>
          </a:p>
          <a:p>
            <a:pPr algn="ctr"/>
            <a:r>
              <a:rPr lang="ko-KR" altLang="en-US" sz="300" dirty="0"/>
              <a:t>만족도 데이터</a:t>
            </a:r>
          </a:p>
          <a:p>
            <a:pPr algn="ctr"/>
            <a:r>
              <a:rPr lang="ko-KR" altLang="en-US" sz="300" dirty="0"/>
              <a:t>부산 관광객 설문조사</a:t>
            </a:r>
          </a:p>
          <a:p>
            <a:pPr algn="ctr"/>
            <a:r>
              <a:rPr lang="ko-KR" altLang="en-US" sz="300" dirty="0"/>
              <a:t>관광지별 </a:t>
            </a:r>
            <a:r>
              <a:rPr lang="ko-KR" altLang="en-US" sz="300" dirty="0" err="1"/>
              <a:t>별점</a:t>
            </a:r>
            <a:endParaRPr lang="ko-KR" altLang="en-US" sz="300" dirty="0"/>
          </a:p>
          <a:p>
            <a:pPr algn="ctr"/>
            <a:r>
              <a:rPr lang="ko-KR" altLang="en-US" sz="300" dirty="0"/>
              <a:t>공개 리뷰의 긍정</a:t>
            </a:r>
            <a:r>
              <a:rPr lang="en-US" altLang="ko-KR" sz="300" dirty="0"/>
              <a:t>·</a:t>
            </a:r>
            <a:r>
              <a:rPr lang="ko-KR" altLang="en-US" sz="300" dirty="0"/>
              <a:t>부정 감성</a:t>
            </a:r>
          </a:p>
          <a:p>
            <a:pPr algn="ctr"/>
            <a:r>
              <a:rPr lang="ko-KR" altLang="en-US" sz="300" dirty="0"/>
              <a:t>다시 방문하고 싶다는 표현</a:t>
            </a:r>
          </a:p>
          <a:p>
            <a:pPr algn="ctr"/>
            <a:r>
              <a:rPr lang="ko-KR" altLang="en-US" sz="300" dirty="0"/>
              <a:t>사진</a:t>
            </a:r>
            <a:r>
              <a:rPr lang="en-US" altLang="ko-KR" sz="300" dirty="0"/>
              <a:t>·</a:t>
            </a:r>
            <a:r>
              <a:rPr lang="ko-KR" altLang="en-US" sz="300" dirty="0"/>
              <a:t>풍경</a:t>
            </a:r>
            <a:r>
              <a:rPr lang="en-US" altLang="ko-KR" sz="300" dirty="0"/>
              <a:t>·</a:t>
            </a:r>
            <a:r>
              <a:rPr lang="ko-KR" altLang="en-US" sz="300" dirty="0"/>
              <a:t>음식</a:t>
            </a:r>
            <a:r>
              <a:rPr lang="en-US" altLang="ko-KR" sz="300" dirty="0"/>
              <a:t>·</a:t>
            </a:r>
            <a:r>
              <a:rPr lang="ko-KR" altLang="en-US" sz="300" dirty="0"/>
              <a:t>교통</a:t>
            </a:r>
            <a:r>
              <a:rPr lang="en-US" altLang="ko-KR" sz="300" dirty="0"/>
              <a:t>·</a:t>
            </a:r>
            <a:r>
              <a:rPr lang="ko-KR" altLang="en-US" sz="300" dirty="0"/>
              <a:t>혼잡 관련 키워드</a:t>
            </a:r>
          </a:p>
          <a:p>
            <a:pPr algn="ctr"/>
            <a:r>
              <a:rPr lang="ko-KR" altLang="en-US" sz="300" dirty="0"/>
              <a:t>민원과 불편사항</a:t>
            </a:r>
          </a:p>
          <a:p>
            <a:pPr algn="ctr"/>
            <a:r>
              <a:rPr lang="ko-KR" altLang="en-US" sz="300" dirty="0"/>
              <a:t>소비</a:t>
            </a:r>
            <a:r>
              <a:rPr lang="en-US" altLang="ko-KR" sz="300" dirty="0"/>
              <a:t>·</a:t>
            </a:r>
            <a:r>
              <a:rPr lang="ko-KR" altLang="en-US" sz="300" dirty="0"/>
              <a:t>접근 데이터</a:t>
            </a:r>
          </a:p>
          <a:p>
            <a:pPr algn="ctr"/>
            <a:r>
              <a:rPr lang="ko-KR" altLang="en-US" sz="300" dirty="0"/>
              <a:t>카드소비액</a:t>
            </a:r>
          </a:p>
          <a:p>
            <a:pPr algn="ctr"/>
            <a:r>
              <a:rPr lang="ko-KR" altLang="en-US" sz="300" dirty="0"/>
              <a:t>음식</a:t>
            </a:r>
            <a:r>
              <a:rPr lang="en-US" altLang="ko-KR" sz="300" dirty="0"/>
              <a:t>·</a:t>
            </a:r>
            <a:r>
              <a:rPr lang="ko-KR" altLang="en-US" sz="300" dirty="0"/>
              <a:t>숙박</a:t>
            </a:r>
            <a:r>
              <a:rPr lang="en-US" altLang="ko-KR" sz="300" dirty="0"/>
              <a:t>·</a:t>
            </a:r>
            <a:r>
              <a:rPr lang="ko-KR" altLang="en-US" sz="300" dirty="0"/>
              <a:t>쇼핑 소비</a:t>
            </a:r>
          </a:p>
          <a:p>
            <a:pPr algn="ctr"/>
            <a:r>
              <a:rPr lang="ko-KR" altLang="en-US" sz="300" dirty="0"/>
              <a:t>대중교통 접근성</a:t>
            </a:r>
          </a:p>
          <a:p>
            <a:pPr algn="ctr"/>
            <a:r>
              <a:rPr lang="ko-KR" altLang="en-US" sz="300" dirty="0"/>
              <a:t>주차장</a:t>
            </a:r>
          </a:p>
          <a:p>
            <a:pPr algn="ctr"/>
            <a:r>
              <a:rPr lang="ko-KR" altLang="en-US" sz="300" dirty="0"/>
              <a:t>주변 숙박시설</a:t>
            </a:r>
          </a:p>
          <a:p>
            <a:pPr algn="ctr"/>
            <a:r>
              <a:rPr lang="ko-KR" altLang="en-US" sz="300" dirty="0"/>
              <a:t>인근 관광지와의 이동시간</a:t>
            </a:r>
          </a:p>
          <a:p>
            <a:pPr algn="ctr"/>
            <a:r>
              <a:rPr lang="ko-KR" altLang="en-US" sz="300" dirty="0"/>
              <a:t>관광지 혼잡도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공개된 리뷰나 </a:t>
            </a:r>
            <a:r>
              <a:rPr lang="en-US" altLang="ko-KR" sz="300" dirty="0"/>
              <a:t>SNS </a:t>
            </a:r>
            <a:r>
              <a:rPr lang="ko-KR" altLang="en-US" sz="300" dirty="0"/>
              <a:t>텍스트를 이용할 경우에는 플랫폼의 이용조건을 지키고</a:t>
            </a:r>
            <a:r>
              <a:rPr lang="en-US" altLang="ko-KR" sz="300" dirty="0"/>
              <a:t>, </a:t>
            </a:r>
            <a:r>
              <a:rPr lang="ko-KR" altLang="en-US" sz="300" dirty="0"/>
              <a:t>개인 계정이 아닌 지역 단위의 집계된 감성</a:t>
            </a:r>
            <a:r>
              <a:rPr lang="en-US" altLang="ko-KR" sz="300" dirty="0"/>
              <a:t>·</a:t>
            </a:r>
            <a:r>
              <a:rPr lang="ko-KR" altLang="en-US" sz="300" dirty="0"/>
              <a:t>키워드만 사용하는 것이 안전합니다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핵심 분석 구조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관광지를 다음 네 유형으로 나눕니다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방문객	만족도	의미	정책</a:t>
            </a:r>
          </a:p>
          <a:p>
            <a:pPr algn="ctr"/>
            <a:r>
              <a:rPr lang="ko-KR" altLang="en-US" sz="300" dirty="0"/>
              <a:t>많음	높음	부산 대표 관광지	품질 유지</a:t>
            </a:r>
            <a:r>
              <a:rPr lang="en-US" altLang="ko-KR" sz="300" dirty="0"/>
              <a:t>·</a:t>
            </a:r>
            <a:r>
              <a:rPr lang="ko-KR" altLang="en-US" sz="300" dirty="0"/>
              <a:t>혼잡 관리</a:t>
            </a:r>
          </a:p>
          <a:p>
            <a:pPr algn="ctr"/>
            <a:r>
              <a:rPr lang="ko-KR" altLang="en-US" sz="300" dirty="0"/>
              <a:t>많음	낮음	과밀 또는 서비스 문제	교통</a:t>
            </a:r>
            <a:r>
              <a:rPr lang="en-US" altLang="ko-KR" sz="300" dirty="0"/>
              <a:t>·</a:t>
            </a:r>
            <a:r>
              <a:rPr lang="ko-KR" altLang="en-US" sz="300" dirty="0"/>
              <a:t>가격</a:t>
            </a:r>
            <a:r>
              <a:rPr lang="en-US" altLang="ko-KR" sz="300" dirty="0"/>
              <a:t>·</a:t>
            </a:r>
            <a:r>
              <a:rPr lang="ko-KR" altLang="en-US" sz="300" dirty="0"/>
              <a:t>환경 개선</a:t>
            </a:r>
          </a:p>
          <a:p>
            <a:pPr algn="ctr"/>
            <a:r>
              <a:rPr lang="ko-KR" altLang="en-US" sz="300" dirty="0"/>
              <a:t>적음	높음	숨은 관광자원	적극적인 홍보</a:t>
            </a:r>
            <a:r>
              <a:rPr lang="en-US" altLang="ko-KR" sz="300" dirty="0"/>
              <a:t>·</a:t>
            </a:r>
            <a:r>
              <a:rPr lang="ko-KR" altLang="en-US" sz="300" dirty="0"/>
              <a:t>코스 연결</a:t>
            </a:r>
          </a:p>
          <a:p>
            <a:pPr algn="ctr"/>
            <a:r>
              <a:rPr lang="ko-KR" altLang="en-US" sz="300" dirty="0"/>
              <a:t>적음	낮음	경쟁력 부족	콘텐츠 보강 또는 우선순위 제외</a:t>
            </a:r>
          </a:p>
          <a:p>
            <a:pPr algn="ctr"/>
            <a:endParaRPr lang="ko-KR" altLang="en-US" sz="100" dirty="0"/>
          </a:p>
          <a:p>
            <a:pPr algn="ctr"/>
            <a:r>
              <a:rPr lang="ko-KR" altLang="en-US" sz="300" dirty="0"/>
              <a:t>가장 중요한 대상은 ‘방문객은 적지만 만족도는 높은 </a:t>
            </a:r>
            <a:r>
              <a:rPr lang="ko-KR" altLang="en-US" sz="300" dirty="0" err="1"/>
              <a:t>관광지’입니다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이를 ‘숨은 </a:t>
            </a:r>
            <a:r>
              <a:rPr lang="ko-KR" altLang="en-US" sz="300" dirty="0" err="1"/>
              <a:t>만족지수’로</a:t>
            </a:r>
            <a:r>
              <a:rPr lang="ko-KR" altLang="en-US" sz="300" dirty="0"/>
              <a:t> 만들 수 있습니다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만족도</a:t>
            </a:r>
          </a:p>
          <a:p>
            <a:pPr algn="ctr"/>
            <a:r>
              <a:rPr lang="ko-KR" altLang="en-US" sz="300" dirty="0"/>
              <a:t>긍정 리뷰 비율</a:t>
            </a:r>
          </a:p>
          <a:p>
            <a:pPr algn="ctr"/>
            <a:r>
              <a:rPr lang="ko-KR" altLang="en-US" sz="300" dirty="0"/>
              <a:t>재방문 의향</a:t>
            </a:r>
          </a:p>
          <a:p>
            <a:pPr algn="ctr"/>
            <a:r>
              <a:rPr lang="ko-KR" altLang="en-US" sz="300" dirty="0"/>
              <a:t>체류시간</a:t>
            </a:r>
          </a:p>
          <a:p>
            <a:pPr algn="ctr"/>
            <a:r>
              <a:rPr lang="ko-KR" altLang="en-US" sz="300" dirty="0"/>
              <a:t>주변 소비</a:t>
            </a:r>
          </a:p>
          <a:p>
            <a:pPr algn="ctr"/>
            <a:r>
              <a:rPr lang="ko-KR" altLang="en-US" sz="300" dirty="0"/>
              <a:t>대중교통 접근성</a:t>
            </a:r>
          </a:p>
          <a:p>
            <a:pPr algn="ctr"/>
            <a:r>
              <a:rPr lang="ko-KR" altLang="en-US" sz="300" dirty="0"/>
              <a:t>현재 혼잡 수준</a:t>
            </a:r>
          </a:p>
          <a:p>
            <a:pPr algn="ctr"/>
            <a:r>
              <a:rPr lang="ko-KR" altLang="en-US" sz="300" dirty="0" err="1"/>
              <a:t>검색량</a:t>
            </a:r>
            <a:r>
              <a:rPr lang="ko-KR" altLang="en-US" sz="300" dirty="0"/>
              <a:t> 대비 실제 만족도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다만 리뷰가 </a:t>
            </a:r>
            <a:r>
              <a:rPr lang="en-US" altLang="ko-KR" sz="300" dirty="0"/>
              <a:t>5</a:t>
            </a:r>
            <a:r>
              <a:rPr lang="ko-KR" altLang="en-US" sz="300" dirty="0"/>
              <a:t>개인 장소의 </a:t>
            </a:r>
            <a:r>
              <a:rPr lang="ko-KR" altLang="en-US" sz="300" dirty="0" err="1"/>
              <a:t>별점</a:t>
            </a:r>
            <a:r>
              <a:rPr lang="ko-KR" altLang="en-US" sz="300" dirty="0"/>
              <a:t> </a:t>
            </a:r>
            <a:r>
              <a:rPr lang="en-US" altLang="ko-KR" sz="300" dirty="0"/>
              <a:t>5.0</a:t>
            </a:r>
            <a:r>
              <a:rPr lang="ko-KR" altLang="en-US" sz="300" dirty="0"/>
              <a:t>과 리뷰가 </a:t>
            </a:r>
            <a:r>
              <a:rPr lang="en-US" altLang="ko-KR" sz="300" dirty="0"/>
              <a:t>2</a:t>
            </a:r>
            <a:r>
              <a:rPr lang="ko-KR" altLang="en-US" sz="300" dirty="0"/>
              <a:t>천 개인 장소의 </a:t>
            </a:r>
            <a:r>
              <a:rPr lang="en-US" altLang="ko-KR" sz="300" dirty="0"/>
              <a:t>4.7</a:t>
            </a:r>
            <a:r>
              <a:rPr lang="ko-KR" altLang="en-US" sz="300" dirty="0"/>
              <a:t>을 똑같이 비교하면 안 됩니다</a:t>
            </a:r>
            <a:r>
              <a:rPr lang="en-US" altLang="ko-KR" sz="300" dirty="0"/>
              <a:t>. </a:t>
            </a:r>
            <a:r>
              <a:rPr lang="ko-KR" altLang="en-US" sz="300" dirty="0"/>
              <a:t>리뷰</a:t>
            </a:r>
            <a:r>
              <a:rPr lang="en-US" altLang="ko-KR" sz="300" dirty="0"/>
              <a:t>·</a:t>
            </a:r>
            <a:r>
              <a:rPr lang="ko-KR" altLang="en-US" sz="300" dirty="0"/>
              <a:t>설문 표본 수가 적은 장소는 점수를 보수적으로 보정해야 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관광객 분산에 활용하는 방법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예를 들어 사용자가 “</a:t>
            </a:r>
            <a:r>
              <a:rPr lang="ko-KR" altLang="en-US" sz="300" dirty="0" err="1"/>
              <a:t>광안리처럼</a:t>
            </a:r>
            <a:r>
              <a:rPr lang="ko-KR" altLang="en-US" sz="300" dirty="0"/>
              <a:t> 바다를 보고 싶지만 사람이 적은 </a:t>
            </a:r>
            <a:r>
              <a:rPr lang="ko-KR" altLang="en-US" sz="300" dirty="0" err="1"/>
              <a:t>곳”을</a:t>
            </a:r>
            <a:r>
              <a:rPr lang="ko-KR" altLang="en-US" sz="300" dirty="0"/>
              <a:t> 선택하면 다음 조건으로 추천합니다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바다</a:t>
            </a:r>
            <a:r>
              <a:rPr lang="en-US" altLang="ko-KR" sz="300" dirty="0"/>
              <a:t>·</a:t>
            </a:r>
            <a:r>
              <a:rPr lang="ko-KR" altLang="en-US" sz="300" dirty="0"/>
              <a:t>산책 만족도 높음</a:t>
            </a:r>
          </a:p>
          <a:p>
            <a:pPr algn="ctr"/>
            <a:r>
              <a:rPr lang="ko-KR" altLang="en-US" sz="300" dirty="0"/>
              <a:t>현재 혼잡도 낮음</a:t>
            </a:r>
          </a:p>
          <a:p>
            <a:pPr algn="ctr"/>
            <a:r>
              <a:rPr lang="ko-KR" altLang="en-US" sz="300" dirty="0"/>
              <a:t>대중교통 </a:t>
            </a:r>
            <a:r>
              <a:rPr lang="en-US" altLang="ko-KR" sz="300" dirty="0"/>
              <a:t>40</a:t>
            </a:r>
            <a:r>
              <a:rPr lang="ko-KR" altLang="en-US" sz="300" dirty="0"/>
              <a:t>분 이내</a:t>
            </a:r>
          </a:p>
          <a:p>
            <a:pPr algn="ctr"/>
            <a:r>
              <a:rPr lang="ko-KR" altLang="en-US" sz="300" dirty="0"/>
              <a:t>주변 음식점 만족도 높음</a:t>
            </a:r>
          </a:p>
          <a:p>
            <a:pPr algn="ctr"/>
            <a:r>
              <a:rPr lang="ko-KR" altLang="en-US" sz="300" dirty="0"/>
              <a:t>관광객 소비가 지역상권으로 연결될 가능성이 높음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결과는 단순 순위가 아니라 대체 관광코스로 제공합니다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광안리 혼잡도 높음</a:t>
            </a:r>
          </a:p>
          <a:p>
            <a:pPr algn="ctr"/>
            <a:r>
              <a:rPr lang="ko-KR" altLang="en-US" sz="300" dirty="0"/>
              <a:t>→ </a:t>
            </a:r>
            <a:r>
              <a:rPr lang="ko-KR" altLang="en-US" sz="300" dirty="0" err="1"/>
              <a:t>청사포</a:t>
            </a:r>
            <a:endParaRPr lang="ko-KR" altLang="en-US" sz="300" dirty="0"/>
          </a:p>
          <a:p>
            <a:pPr algn="ctr"/>
            <a:r>
              <a:rPr lang="ko-KR" altLang="en-US" sz="300" dirty="0"/>
              <a:t>→ </a:t>
            </a:r>
            <a:r>
              <a:rPr lang="ko-KR" altLang="en-US" sz="300" dirty="0" err="1"/>
              <a:t>다대포</a:t>
            </a:r>
            <a:endParaRPr lang="ko-KR" altLang="en-US" sz="300" dirty="0"/>
          </a:p>
          <a:p>
            <a:pPr algn="ctr"/>
            <a:r>
              <a:rPr lang="ko-KR" altLang="en-US" sz="300" dirty="0"/>
              <a:t>→ 감지해변</a:t>
            </a:r>
          </a:p>
          <a:p>
            <a:pPr algn="ctr"/>
            <a:r>
              <a:rPr lang="ko-KR" altLang="en-US" sz="300" dirty="0"/>
              <a:t>→ 봉래동 로컬상권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각 장소가 실제로 같은 경험을 제공하는지는 관광객의 리뷰 키워드와 방문 행동을 통해 묶습니다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야경형</a:t>
            </a:r>
          </a:p>
          <a:p>
            <a:pPr algn="ctr"/>
            <a:r>
              <a:rPr lang="ko-KR" altLang="en-US" sz="300" dirty="0"/>
              <a:t>바다산책형</a:t>
            </a:r>
          </a:p>
          <a:p>
            <a:pPr algn="ctr"/>
            <a:r>
              <a:rPr lang="ko-KR" altLang="en-US" sz="300" dirty="0"/>
              <a:t>카페형</a:t>
            </a:r>
          </a:p>
          <a:p>
            <a:pPr algn="ctr"/>
            <a:r>
              <a:rPr lang="ko-KR" altLang="en-US" sz="300" dirty="0"/>
              <a:t>역사</a:t>
            </a:r>
            <a:r>
              <a:rPr lang="en-US" altLang="ko-KR" sz="300" dirty="0"/>
              <a:t>·</a:t>
            </a:r>
            <a:r>
              <a:rPr lang="ko-KR" altLang="en-US" sz="300" dirty="0"/>
              <a:t>원도심형</a:t>
            </a:r>
          </a:p>
          <a:p>
            <a:pPr algn="ctr"/>
            <a:r>
              <a:rPr lang="ko-KR" altLang="en-US" sz="300" dirty="0"/>
              <a:t>가족형</a:t>
            </a:r>
          </a:p>
          <a:p>
            <a:pPr algn="ctr"/>
            <a:r>
              <a:rPr lang="ko-KR" altLang="en-US" sz="300" dirty="0"/>
              <a:t>조용한 휴식형</a:t>
            </a:r>
          </a:p>
          <a:p>
            <a:pPr algn="ctr"/>
            <a:r>
              <a:rPr lang="ko-KR" altLang="en-US" sz="300" dirty="0"/>
              <a:t>음식탐방형</a:t>
            </a:r>
          </a:p>
          <a:p>
            <a:pPr algn="ctr"/>
            <a:r>
              <a:rPr lang="ko-KR" altLang="en-US" sz="300" dirty="0"/>
              <a:t>실증 실험도 가능함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숨은 관광지 </a:t>
            </a:r>
            <a:r>
              <a:rPr lang="en-US" altLang="ko-KR" sz="300" dirty="0"/>
              <a:t>3</a:t>
            </a:r>
            <a:r>
              <a:rPr lang="ko-KR" altLang="en-US" sz="300" dirty="0"/>
              <a:t>곳을 선정해 홍보한 뒤 홍보하지 않은 유사 지역과 비교합니다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측정 지표는 다음과 같습니다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방문객 증가율</a:t>
            </a:r>
          </a:p>
          <a:p>
            <a:pPr algn="ctr"/>
            <a:r>
              <a:rPr lang="ko-KR" altLang="en-US" sz="300" dirty="0"/>
              <a:t>평균 체류시간</a:t>
            </a:r>
          </a:p>
          <a:p>
            <a:pPr algn="ctr"/>
            <a:r>
              <a:rPr lang="ko-KR" altLang="en-US" sz="300" dirty="0"/>
              <a:t>관광소비액</a:t>
            </a:r>
          </a:p>
          <a:p>
            <a:pPr algn="ctr"/>
            <a:r>
              <a:rPr lang="ko-KR" altLang="en-US" sz="300" dirty="0"/>
              <a:t>주변 상권 유입</a:t>
            </a:r>
          </a:p>
          <a:p>
            <a:pPr algn="ctr"/>
            <a:r>
              <a:rPr lang="ko-KR" altLang="en-US" sz="300" dirty="0"/>
              <a:t>주말 혼잡도</a:t>
            </a:r>
          </a:p>
          <a:p>
            <a:pPr algn="ctr"/>
            <a:r>
              <a:rPr lang="ko-KR" altLang="en-US" sz="300" dirty="0"/>
              <a:t>만족도 변화</a:t>
            </a:r>
          </a:p>
          <a:p>
            <a:pPr algn="ctr"/>
            <a:r>
              <a:rPr lang="ko-KR" altLang="en-US" sz="300" dirty="0"/>
              <a:t>기존 과밀 관광지 </a:t>
            </a:r>
            <a:r>
              <a:rPr lang="ko-KR" altLang="en-US" sz="300" dirty="0" err="1"/>
              <a:t>방문량</a:t>
            </a:r>
            <a:r>
              <a:rPr lang="ko-KR" altLang="en-US" sz="300" dirty="0"/>
              <a:t> 변화</a:t>
            </a:r>
          </a:p>
          <a:p>
            <a:pPr algn="ctr"/>
            <a:r>
              <a:rPr lang="ko-KR" altLang="en-US" sz="300" dirty="0"/>
              <a:t>부산 내 두 번째 관광지 방문 비율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이렇게 하면 단순히 “숨은 명소를 </a:t>
            </a:r>
            <a:r>
              <a:rPr lang="ko-KR" altLang="en-US" sz="300" dirty="0" err="1"/>
              <a:t>홍보했다”가</a:t>
            </a:r>
            <a:r>
              <a:rPr lang="ko-KR" altLang="en-US" sz="300" dirty="0"/>
              <a:t> 아니라</a:t>
            </a:r>
            <a:r>
              <a:rPr lang="en-US" altLang="ko-KR" sz="300" dirty="0"/>
              <a:t>,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관광객을 분산했는가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지역상권에 소비가 발생했는가</a:t>
            </a:r>
            <a:r>
              <a:rPr lang="en-US" altLang="ko-KR" sz="300" dirty="0"/>
              <a:t>?</a:t>
            </a:r>
          </a:p>
          <a:p>
            <a:pPr algn="ctr"/>
            <a:r>
              <a:rPr lang="ko-KR" altLang="en-US" sz="300" dirty="0"/>
              <a:t>관광객 만족도를 유지했는가</a:t>
            </a:r>
            <a:r>
              <a:rPr lang="en-US" altLang="ko-KR" sz="300" dirty="0"/>
              <a:t>?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까지 검증할 수 있습니다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캠페인으로 확장한다면 메시지는 다음처럼 잡을 수 있습니다</a:t>
            </a:r>
            <a:r>
              <a:rPr lang="en-US" altLang="ko-KR" sz="300" dirty="0"/>
              <a:t>.</a:t>
            </a:r>
          </a:p>
          <a:p>
            <a:pPr algn="ctr"/>
            <a:endParaRPr lang="en-US" altLang="ko-KR" sz="300" dirty="0"/>
          </a:p>
          <a:p>
            <a:pPr algn="ctr"/>
            <a:r>
              <a:rPr lang="en-US" altLang="ko-KR" sz="300" dirty="0"/>
              <a:t>“</a:t>
            </a:r>
            <a:r>
              <a:rPr lang="ko-KR" altLang="en-US" sz="300" dirty="0"/>
              <a:t>유명한 부산 말고</a:t>
            </a:r>
            <a:r>
              <a:rPr lang="en-US" altLang="ko-KR" sz="300" dirty="0"/>
              <a:t>, </a:t>
            </a:r>
            <a:r>
              <a:rPr lang="ko-KR" altLang="en-US" sz="300" dirty="0"/>
              <a:t>만족한 부산으로</a:t>
            </a:r>
            <a:r>
              <a:rPr lang="en-US" altLang="ko-KR" sz="300" dirty="0"/>
              <a:t>.”</a:t>
            </a:r>
          </a:p>
          <a:p>
            <a:pPr algn="ctr"/>
            <a:r>
              <a:rPr lang="ko-KR" altLang="en-US" sz="300" dirty="0"/>
              <a:t>유명한 부산</a:t>
            </a:r>
            <a:r>
              <a:rPr lang="en-US" altLang="ko-KR" sz="300" dirty="0"/>
              <a:t>? </a:t>
            </a:r>
            <a:r>
              <a:rPr lang="ko-KR" altLang="en-US" sz="300" dirty="0"/>
              <a:t>유망한 부산</a:t>
            </a:r>
            <a:r>
              <a:rPr lang="en-US" altLang="ko-KR" sz="300" dirty="0"/>
              <a:t>!</a:t>
            </a:r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또는</a:t>
            </a:r>
          </a:p>
          <a:p>
            <a:pPr algn="ctr"/>
            <a:endParaRPr lang="ko-KR" altLang="en-US" sz="300" dirty="0"/>
          </a:p>
          <a:p>
            <a:pPr algn="ctr"/>
            <a:r>
              <a:rPr lang="ko-KR" altLang="en-US" sz="300" dirty="0"/>
              <a:t>“부산</a:t>
            </a:r>
            <a:r>
              <a:rPr lang="en-US" altLang="ko-KR" sz="300" dirty="0"/>
              <a:t>, </a:t>
            </a:r>
            <a:r>
              <a:rPr lang="ko-KR" altLang="en-US" sz="300" dirty="0"/>
              <a:t>한 칸 옆으로 가보세요</a:t>
            </a:r>
            <a:r>
              <a:rPr lang="en-US" altLang="ko-KR" sz="300" dirty="0"/>
              <a:t>.”</a:t>
            </a:r>
            <a:endParaRPr lang="ko-KR" altLang="en-US" sz="300" dirty="0"/>
          </a:p>
        </p:txBody>
      </p:sp>
    </p:spTree>
    <p:extLst>
      <p:ext uri="{BB962C8B-B14F-4D97-AF65-F5344CB8AC3E}">
        <p14:creationId xmlns:p14="http://schemas.microsoft.com/office/powerpoint/2010/main" val="87563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CFF5-30FA-1983-19A9-FC515679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F2A071-6A94-E9BA-10FD-79D70C482D76}"/>
              </a:ext>
            </a:extLst>
          </p:cNvPr>
          <p:cNvSpPr txBox="1"/>
          <p:nvPr/>
        </p:nvSpPr>
        <p:spPr>
          <a:xfrm>
            <a:off x="2207491" y="2274838"/>
            <a:ext cx="77770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인구가 과밀집됨에 따라 생기는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오버투어리즘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지역 경제 차등화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관광지 환경 파괴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등등의 문제를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데이터 분석을 통해 해결할 수 있을 것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2E062F-082B-4A93-DF95-0C1C9FC9589A}"/>
              </a:ext>
            </a:extLst>
          </p:cNvPr>
          <p:cNvSpPr/>
          <p:nvPr/>
        </p:nvSpPr>
        <p:spPr>
          <a:xfrm>
            <a:off x="12484101" y="3101109"/>
            <a:ext cx="3380509" cy="655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만족도는 높지만 덜 알려진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관광지 발굴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프로젝트 이름 예시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「부산 숨은 만족 지도」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사람이 몰리는 곳이 아니라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다녀온 사람이 만족한 곳을 찾는다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프로젝트도 상당히 좋습니다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한국관광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데이터랩에서는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이동통신 기반 방문자 수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숙박 방문 비율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방문자의 연령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성별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신용카드 기반 관광소비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내비게이션 인기 목적지 등을 제공합니다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다만 카드데이터는 전체 소비액이 아니라 특정 카드 이용자의 추세라는 한계가 있습니다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부산의 관광객 실태조사도 매년 공개되고 있으며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2025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조사 보고서가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2026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년에 게시됐습니다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영도구는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흰여울문화마을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봉래물양장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감지해변의 일별 유동인구를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공공와이파이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접속 데이터로 제공하고 있어 소규모 실증분석도 가능합니다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질문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방문객은 적지만 만족도가 높은 장소는 어디인가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검색량은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낮지만 리뷰 반응이 좋은 지역은 어디인가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해운대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광안리와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비슷한 만족을 주면서 덜 붐비는 곳은 어디인가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관광객이 몰려 만족도가 하락하고 있는 지역은 어디인가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방문객은 있지만 소비나 체류시간이 짧은 지역은 어디인가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특정 관광지를 추천했을 때 주변 상권까지 이동하는가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사용할 데이터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관광수요 데이터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이동통신 기반 방문자 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외지인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현지인 비율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시간대별 체류인구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체류시간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주중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방문 차이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계절별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방문량</a:t>
            </a: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재방문 추정치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만족도 데이터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관광객 설문조사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관광지별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별점</a:t>
            </a: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공개 리뷰의 긍정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부정 감성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다시 방문하고 싶다는 표현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사진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풍경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음식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교통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혼잡 관련 키워드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민원과 불편사항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소비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접근 데이터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카드소비액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음식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숙박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쇼핑 소비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대중교통 접근성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주차장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주변 숙박시설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인근 관광지와의 이동시간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관광지 혼잡도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공개된 리뷰나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텍스트를 이용할 경우에는 플랫폼의 이용조건을 지키고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개인 계정이 아닌 지역 단위의 집계된 감성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키워드만 사용하는 것이 안전합니다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분석 구조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관광지를 다음 네 유형으로 나눕니다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방문객	만족도	의미	정책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많음	높음	부산 대표 관광지	품질 유지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혼잡 관리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많음	낮음	과밀 또는 서비스 문제	교통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환경 개선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적음	높음	숨은 관광자원	적극적인 홍보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코스 연결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적음	낮음	경쟁력 부족	콘텐츠 보강 또는 우선순위 제외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가장 중요한 대상은 ‘방문객은 적지만 만족도는 높은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관광지’입니다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이를 ‘숨은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만족지수’로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만들 수 있습니다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긍정 리뷰 비율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재방문 의향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체류시간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주변 소비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대중교통 접근성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현재 혼잡 수준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검색량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대비 실제 만족도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다만 리뷰가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개인 장소의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별점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5.0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리뷰가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천 개인 장소의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4.7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똑같이 비교하면 안 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리뷰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설문 표본 수가 적은 장소는 점수를 보수적으로 보정해야 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 분산에 활용하는 방법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 사용자가 “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광안리처럼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바다를 보고 싶지만 사람이 적은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곳”을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선택하면 다음 조건으로 추천합니다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바다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산책 만족도 높음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현재 혼잡도 낮음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대중교통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40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 이내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주변 음식점 만족도 높음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 소비가 지역상권으로 연결될 가능성이 높음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결과는 단순 순위가 아니라 대체 관광코스로 제공합니다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광안리 혼잡도 높음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청사포</a:t>
            </a: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다대포</a:t>
            </a: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감지해변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봉래동 로컬상권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장소가 실제로 같은 경험을 제공하는지는 관광객의 리뷰 키워드와 방문 행동을 통해 묶습니다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야경형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바다산책형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카페형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역사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원도심형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가족형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조용한 휴식형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음식탐방형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실증 실험도 가능함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숨은 관광지 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곳을 선정해 홍보한 뒤 홍보하지 않은 유사 지역과 비교합니다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측정 지표는 다음과 같습니다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방문객 증가율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체류시간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관광소비액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주변 상권 유입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혼잡도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만족도 변화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기존 과밀 관광지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방문량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변화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내 두 번째 관광지 방문 비율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이렇게 하면 단순히 “숨은 명소를 </a:t>
            </a:r>
            <a:r>
              <a:rPr kumimoji="0" lang="ko-KR" altLang="en-US" sz="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홍보했다”가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아니라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관광객을 분산했는가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지역상권에 소비가 발생했는가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 만족도를 유지했는가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까지 검증할 수 있습니다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캠페인으로 확장한다면 메시지는 다음처럼 잡을 수 있습니다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유명한 부산 말고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만족한 부산으로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유명한 부산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유망한 부산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또는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“부산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 칸 옆으로 가보세요</a:t>
            </a:r>
            <a:r>
              <a:rPr kumimoji="0" lang="en-US" altLang="ko-KR" sz="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.”</a:t>
            </a: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31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88CF-47BD-10BD-B7E1-76B3E997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1EE366-FDB0-DD5E-CC28-3314F3F4D4F0}"/>
              </a:ext>
            </a:extLst>
          </p:cNvPr>
          <p:cNvSpPr txBox="1"/>
          <p:nvPr/>
        </p:nvSpPr>
        <p:spPr>
          <a:xfrm>
            <a:off x="5567651" y="2644170"/>
            <a:ext cx="10567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dirty="0">
                <a:solidFill>
                  <a:prstClr val="black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C</a:t>
            </a:r>
            <a:endParaRPr lang="ko-KR" altLang="en-US" sz="9600" dirty="0">
              <a:solidFill>
                <a:prstClr val="black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565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8EE0566-50E3-E1B9-2C2B-F0B41AA312FC}"/>
              </a:ext>
            </a:extLst>
          </p:cNvPr>
          <p:cNvGrpSpPr/>
          <p:nvPr/>
        </p:nvGrpSpPr>
        <p:grpSpPr>
          <a:xfrm>
            <a:off x="2207491" y="955270"/>
            <a:ext cx="7777018" cy="4947461"/>
            <a:chOff x="2207491" y="799805"/>
            <a:chExt cx="7777018" cy="494746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CA54CB3-D4B4-E3ED-13B1-21AAAE835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6680" y="799805"/>
              <a:ext cx="5658640" cy="422969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C5448F-C6A8-CDDD-062E-70E90C5AE0D7}"/>
                </a:ext>
              </a:extLst>
            </p:cNvPr>
            <p:cNvSpPr txBox="1"/>
            <p:nvPr/>
          </p:nvSpPr>
          <p:spPr>
            <a:xfrm>
              <a:off x="2207491" y="5377934"/>
              <a:ext cx="77770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전국 자동차 </a:t>
              </a:r>
              <a:r>
                <a:rPr lang="en-US" altLang="ko-KR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/ </a:t>
              </a:r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인구 수에 따른 교통사고 추이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858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D3936F0-E8F3-5657-FA74-963F1707381A}"/>
              </a:ext>
            </a:extLst>
          </p:cNvPr>
          <p:cNvGrpSpPr/>
          <p:nvPr/>
        </p:nvGrpSpPr>
        <p:grpSpPr>
          <a:xfrm>
            <a:off x="1999679" y="901342"/>
            <a:ext cx="8192643" cy="5055317"/>
            <a:chOff x="1999678" y="847414"/>
            <a:chExt cx="8192643" cy="50553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23C1708-069B-D514-92D6-D83BE9B7C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9678" y="847414"/>
              <a:ext cx="8192643" cy="445832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568419-86D2-39C3-B4AA-291C7E407F15}"/>
                </a:ext>
              </a:extLst>
            </p:cNvPr>
            <p:cNvSpPr txBox="1"/>
            <p:nvPr/>
          </p:nvSpPr>
          <p:spPr>
            <a:xfrm>
              <a:off x="2207491" y="5533399"/>
              <a:ext cx="77770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이를 부산 기준으로 계산해보면 생각보다 준수한 것 같지만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74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A8DB-6FB7-32CF-EBAC-F27D4F3B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FA1E57C-1B6F-1C8F-3983-FD0E6F7533CD}"/>
              </a:ext>
            </a:extLst>
          </p:cNvPr>
          <p:cNvGrpSpPr/>
          <p:nvPr/>
        </p:nvGrpSpPr>
        <p:grpSpPr>
          <a:xfrm>
            <a:off x="1999679" y="901342"/>
            <a:ext cx="8192643" cy="5055317"/>
            <a:chOff x="1999678" y="847414"/>
            <a:chExt cx="8192643" cy="50553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5D6EBCB-F320-6006-A9BE-32ED51D3F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9678" y="847414"/>
              <a:ext cx="8192643" cy="445832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3D1A1D-6072-BD91-93C6-5A6AD2F88166}"/>
                </a:ext>
              </a:extLst>
            </p:cNvPr>
            <p:cNvSpPr txBox="1"/>
            <p:nvPr/>
          </p:nvSpPr>
          <p:spPr>
            <a:xfrm>
              <a:off x="2207491" y="5533399"/>
              <a:ext cx="77770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도로 </a:t>
              </a:r>
              <a:r>
                <a:rPr lang="en-US" altLang="ko-KR" dirty="0">
                  <a:solidFill>
                    <a:prstClr val="black"/>
                  </a:solidFill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100km </a:t>
              </a:r>
              <a:r>
                <a:rPr lang="ko-KR" altLang="en-US" dirty="0">
                  <a:solidFill>
                    <a:prstClr val="black"/>
                  </a:solidFill>
                  <a:latin typeface="Noto Serif KR SemiBold" panose="02020200000000000000" pitchFamily="18" charset="-127"/>
                  <a:ea typeface="Noto Serif KR SemiBold" panose="02020200000000000000" pitchFamily="18" charset="-127"/>
                </a:rPr>
                <a:t>당 사고율이 유독 굉장히 높은 것을 볼 수 있음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KR SemiBold" panose="02020200000000000000" pitchFamily="18" charset="-127"/>
                <a:ea typeface="Noto Serif KR SemiBold" panose="02020200000000000000" pitchFamily="18" charset="-127"/>
                <a:cs typeface="+mn-cs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092F50-B3EE-7D6B-C354-59B505666CC1}"/>
              </a:ext>
            </a:extLst>
          </p:cNvPr>
          <p:cNvSpPr/>
          <p:nvPr/>
        </p:nvSpPr>
        <p:spPr>
          <a:xfrm>
            <a:off x="1924050" y="4895850"/>
            <a:ext cx="8382000" cy="4638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07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BB4E-065A-05AE-1250-1A0F299A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53E2B0-A841-6873-2E33-55E23C09F2AC}"/>
              </a:ext>
            </a:extLst>
          </p:cNvPr>
          <p:cNvSpPr txBox="1"/>
          <p:nvPr/>
        </p:nvSpPr>
        <p:spPr>
          <a:xfrm>
            <a:off x="2207492" y="5339677"/>
            <a:ext cx="7777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인구수 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/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자동차 운용 대수와는 별개로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부산의 운전 환경 자체가 극악인 부분들이 있기 때문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122FDD8-F044-392B-D867-5C8C0E1EE068}"/>
              </a:ext>
            </a:extLst>
          </p:cNvPr>
          <p:cNvGrpSpPr/>
          <p:nvPr/>
        </p:nvGrpSpPr>
        <p:grpSpPr>
          <a:xfrm>
            <a:off x="2340367" y="1372675"/>
            <a:ext cx="7511267" cy="3332675"/>
            <a:chOff x="3023383" y="1372675"/>
            <a:chExt cx="7511267" cy="3332675"/>
          </a:xfrm>
        </p:grpSpPr>
        <p:pic>
          <p:nvPicPr>
            <p:cNvPr id="3" name="그림 2" descr="부산 운전해본 사람만 안다는 현실ㅋㅋ #부산운전 #부산도로실화냐 교통사고율 전국 TOP인 이유가 있다 도로가 무슨 미로 수준임🚗 . # 부산운전 #부산운전헬 #부산도로">
              <a:extLst>
                <a:ext uri="{FF2B5EF4-FFF2-40B4-BE49-F238E27FC236}">
                  <a16:creationId xmlns:a16="http://schemas.microsoft.com/office/drawing/2014/main" id="{925871C0-5714-D375-70E5-6855B0DDF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3383" y="1372675"/>
              <a:ext cx="2649866" cy="3327273"/>
            </a:xfrm>
            <a:prstGeom prst="rect">
              <a:avLst/>
            </a:prstGeom>
          </p:spPr>
        </p:pic>
        <p:pic>
          <p:nvPicPr>
            <p:cNvPr id="4" name="그림 3" descr="여길 어떻게 가요&quot;...심약자는 절대 못지나간다는 한국 도로의 충격적인 정체 &lt; 이슈 &lt; 여행뉴스 &lt; 기사본문 - 여행톡톡">
              <a:extLst>
                <a:ext uri="{FF2B5EF4-FFF2-40B4-BE49-F238E27FC236}">
                  <a16:creationId xmlns:a16="http://schemas.microsoft.com/office/drawing/2014/main" id="{74E2590A-D9D4-96A0-21A3-A89B3FC29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8350" y="1378077"/>
              <a:ext cx="4686300" cy="3327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357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ED5D4-71F6-A94A-676A-B02AE5188CCD}"/>
              </a:ext>
            </a:extLst>
          </p:cNvPr>
          <p:cNvSpPr txBox="1"/>
          <p:nvPr/>
        </p:nvSpPr>
        <p:spPr>
          <a:xfrm>
            <a:off x="2207491" y="2413338"/>
            <a:ext cx="7777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부산 시민들 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입장에서야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일상일 수 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있겠으나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..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타 지역에서 부산으로 넘어온 사람들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관광을 위해 부산에서 운전해야 하는 사람들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,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부산을 주기적으로 와야 하는 사람들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입장에서 이런 길을 마주치면 굉장히 당혹스럽고 무서울 수 있다</a:t>
            </a:r>
          </a:p>
        </p:txBody>
      </p:sp>
    </p:spTree>
    <p:extLst>
      <p:ext uri="{BB962C8B-B14F-4D97-AF65-F5344CB8AC3E}">
        <p14:creationId xmlns:p14="http://schemas.microsoft.com/office/powerpoint/2010/main" val="2616483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C911-87EF-FAEC-E7CE-0890D15D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D459A5-CCAC-DC90-2C9E-0236168D883D}"/>
              </a:ext>
            </a:extLst>
          </p:cNvPr>
          <p:cNvSpPr txBox="1"/>
          <p:nvPr/>
        </p:nvSpPr>
        <p:spPr>
          <a:xfrm>
            <a:off x="2207491" y="2690336"/>
            <a:ext cx="77770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그런 사람들을 위한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‘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돌아가는 길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전용 서비스를 만들 수 있지 않을까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‘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복잡하다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’, ‘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무섭다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’, ‘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어렵다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라는 인상의 길 혹은 지역은 최대한 피할 수 있게끔</a:t>
            </a:r>
          </a:p>
        </p:txBody>
      </p:sp>
    </p:spTree>
    <p:extLst>
      <p:ext uri="{BB962C8B-B14F-4D97-AF65-F5344CB8AC3E}">
        <p14:creationId xmlns:p14="http://schemas.microsoft.com/office/powerpoint/2010/main" val="1361240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5509-9556-5826-A09E-6CB6EB4E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102F4-5F7E-9E9C-E9DB-A287138389F2}"/>
              </a:ext>
            </a:extLst>
          </p:cNvPr>
          <p:cNvSpPr txBox="1"/>
          <p:nvPr/>
        </p:nvSpPr>
        <p:spPr>
          <a:xfrm>
            <a:off x="5037859" y="2644170"/>
            <a:ext cx="21162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etc</a:t>
            </a:r>
            <a:endParaRPr kumimoji="0" lang="ko-KR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7341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9A9D-BF64-3931-8984-2D2A0E2A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6913014-2E14-B452-3188-765047A4D1DB}"/>
              </a:ext>
            </a:extLst>
          </p:cNvPr>
          <p:cNvGrpSpPr/>
          <p:nvPr/>
        </p:nvGrpSpPr>
        <p:grpSpPr>
          <a:xfrm>
            <a:off x="875571" y="751030"/>
            <a:ext cx="10440857" cy="4331886"/>
            <a:chOff x="875571" y="1138958"/>
            <a:chExt cx="10440857" cy="43318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D26CD4C-B780-5181-767E-513BB4B54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8389" y="1138958"/>
              <a:ext cx="7135221" cy="208626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633393-DA83-66E8-924E-3355D055E492}"/>
                </a:ext>
              </a:extLst>
            </p:cNvPr>
            <p:cNvSpPr txBox="1"/>
            <p:nvPr/>
          </p:nvSpPr>
          <p:spPr>
            <a:xfrm>
              <a:off x="3047999" y="3263445"/>
              <a:ext cx="6096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/>
                <a:t>https://www.bseconomy.com/news/view.php?idx=55991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6E25C7C-1BAA-3036-EAF4-4D826FB6B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571" y="4101885"/>
              <a:ext cx="10440857" cy="10002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5167B5-A186-9567-3B9B-794DA10C440A}"/>
                </a:ext>
              </a:extLst>
            </p:cNvPr>
            <p:cNvSpPr txBox="1"/>
            <p:nvPr/>
          </p:nvSpPr>
          <p:spPr>
            <a:xfrm>
              <a:off x="3047999" y="5193845"/>
              <a:ext cx="6096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/>
                <a:t>https://www.bseconomy.com/news/view.php?idx=55991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E6E663-5E85-7126-F556-0C62F96B682B}"/>
              </a:ext>
            </a:extLst>
          </p:cNvPr>
          <p:cNvSpPr txBox="1"/>
          <p:nvPr/>
        </p:nvSpPr>
        <p:spPr>
          <a:xfrm>
            <a:off x="1893455" y="5590883"/>
            <a:ext cx="840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‘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낙동강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’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식수원 관련하여 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35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년째 이어지고 있는 문제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algn="ctr"/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현재 점진적으로 더워지고 있는 날씨 탓에 더욱 문제가 대두되고 있음</a:t>
            </a:r>
          </a:p>
        </p:txBody>
      </p:sp>
    </p:spTree>
    <p:extLst>
      <p:ext uri="{BB962C8B-B14F-4D97-AF65-F5344CB8AC3E}">
        <p14:creationId xmlns:p14="http://schemas.microsoft.com/office/powerpoint/2010/main" val="146657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882B-7EE0-49BF-0EE4-CC2B673A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42EC17-168D-A0D8-C1AA-87375D82AA3A}"/>
              </a:ext>
            </a:extLst>
          </p:cNvPr>
          <p:cNvSpPr txBox="1"/>
          <p:nvPr/>
        </p:nvSpPr>
        <p:spPr>
          <a:xfrm>
            <a:off x="2207491" y="3105835"/>
            <a:ext cx="7777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뭔가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..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데이터적으로 뭔가 해볼 수 있나</a:t>
            </a:r>
            <a:r>
              <a:rPr lang="en-US" altLang="ko-KR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.. </a:t>
            </a: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싶긴 한데</a:t>
            </a:r>
            <a:endParaRPr lang="en-US" altLang="ko-KR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아직 잘 </a:t>
            </a:r>
            <a:r>
              <a:rPr lang="ko-KR" altLang="en-US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모르겠읍읍</a:t>
            </a:r>
            <a:endParaRPr lang="ko-KR" altLang="en-US"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86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7024B-C669-A62C-49ED-020C1FDF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8E25C1-76DA-B638-C673-843C6B94986D}"/>
              </a:ext>
            </a:extLst>
          </p:cNvPr>
          <p:cNvSpPr txBox="1"/>
          <p:nvPr/>
        </p:nvSpPr>
        <p:spPr>
          <a:xfrm>
            <a:off x="4767753" y="2644170"/>
            <a:ext cx="26564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EOD</a:t>
            </a:r>
            <a:endParaRPr kumimoji="0" lang="ko-KR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4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1737</Words>
  <Application>Microsoft Office PowerPoint</Application>
  <PresentationFormat>와이드스크린</PresentationFormat>
  <Paragraphs>350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Noto Serif KR Black</vt:lpstr>
      <vt:lpstr>Noto Serif KR Light</vt:lpstr>
      <vt:lpstr>Noto Serif KR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1</cp:revision>
  <dcterms:created xsi:type="dcterms:W3CDTF">2026-08-06T07:07:04Z</dcterms:created>
  <dcterms:modified xsi:type="dcterms:W3CDTF">2026-08-06T07:59:06Z</dcterms:modified>
</cp:coreProperties>
</file>