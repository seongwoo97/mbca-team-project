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8" r:id="rId4"/>
    <p:sldId id="259" r:id="rId5"/>
    <p:sldId id="267" r:id="rId6"/>
    <p:sldId id="260" r:id="rId7"/>
    <p:sldId id="261" r:id="rId8"/>
    <p:sldId id="262" r:id="rId9"/>
    <p:sldId id="273" r:id="rId10"/>
    <p:sldId id="263" r:id="rId11"/>
    <p:sldId id="264" r:id="rId12"/>
    <p:sldId id="274" r:id="rId13"/>
    <p:sldId id="269" r:id="rId14"/>
    <p:sldId id="270" r:id="rId15"/>
    <p:sldId id="271" r:id="rId16"/>
    <p:sldId id="272" r:id="rId17"/>
    <p:sldId id="265" r:id="rId18"/>
    <p:sldId id="266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B7FA5D-B5EF-D129-D95E-080AD0832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BCAA42-EDA1-F445-6F6B-518F88A0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FA4264-469F-2445-6A94-0F981EA2E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F49A-7A3D-4493-BD0A-100DDF2DD6C8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4C489F-0C8C-1D05-2281-E12284BD3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50887F-4C32-1EBE-F25D-943A66A4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2766-A943-459C-A313-9F1647A6A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773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938CF0-A15A-9FA1-B20B-69D6C9180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0FC79A-20BF-0B7A-F51C-1A7355BA3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9D38A0-BEEE-0661-D51A-2C70DD6C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F49A-7A3D-4493-BD0A-100DDF2DD6C8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9D754B-1C17-2567-A362-3C5B9A745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5E7EB1-8194-43C3-73CB-66B6D955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2766-A943-459C-A313-9F1647A6A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980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E19DA5-AA52-A7CF-58D3-2FA5EA72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C8E14E-AA6F-8E76-C4E0-41CF9D38F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680CA9-06FE-04D2-01BF-F7CCC9A4F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F49A-7A3D-4493-BD0A-100DDF2DD6C8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8D52BD-F5BB-A39E-EDED-943E037D2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6203B7-45C4-0B42-3995-4EF112887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2766-A943-459C-A313-9F1647A6A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218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6BFD9E-E959-B61F-F2F6-31AA341D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AF354F-A03C-FD3B-0081-5D059E461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C7DEB0-5A2E-7E64-3775-F38EE856B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9791C7-1881-292A-0179-D77E92CF8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F49A-7A3D-4493-BD0A-100DDF2DD6C8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EF1B82-CB29-1C01-424C-14008D92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DEEE4F-4826-7A65-1778-71B8738AA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2766-A943-459C-A313-9F1647A6A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128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B5C883-AE1C-CB9A-CA77-E3F284509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8ACB81-05EA-D540-4CDB-F6A3C8F45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C1D51E-4EA0-D31A-B92A-59B6AC415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C2D1FFA-84CA-06D8-9CCC-38A3E0638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408C40-767D-EAC7-9E09-6671CFDA2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14924A-CD45-4DBC-F741-599310058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F49A-7A3D-4493-BD0A-100DDF2DD6C8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F88B4AE-1197-FCAA-2C0B-A311249F2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AE270B8-3795-EB95-8355-D5C4A0F9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2766-A943-459C-A313-9F1647A6A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24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D858E-5284-DF9D-9BAD-3ECBF9B6C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68FEA-24E9-FB70-5AE1-46FB26803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F49A-7A3D-4493-BD0A-100DDF2DD6C8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082139-4C3F-7E72-FA49-D869EA88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15E1A5-97A9-3470-CC51-FC7B9F1D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2766-A943-459C-A313-9F1647A6A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43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1A6177-47EC-2A31-4A58-EF5A2428F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F49A-7A3D-4493-BD0A-100DDF2DD6C8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0510D0-6478-310B-44D1-494527D41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4B8AA2-75C0-CE01-4E83-CB743D9CD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2766-A943-459C-A313-9F1647A6A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665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8D11A-75CD-210B-9FE2-9B6C9116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8CED46-24F2-4A62-A750-7D425A78D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FAAA4D-4D72-D5BC-D3A0-07FD95A1D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99215D-FA3D-47F9-01BA-58898B8CE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F49A-7A3D-4493-BD0A-100DDF2DD6C8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025271-9EDC-5095-FCC6-603941552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ECA36A-ABF7-8D6E-8440-2D544BCB6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2766-A943-459C-A313-9F1647A6A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540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745FE-D882-F33A-2A3E-D2334462F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A49B98B-ACD2-6C9F-78B2-C7665C5F0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9DA8B5-4797-3841-958B-1A4AA670F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F14D05-10C6-6572-7E6C-FC515C50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F49A-7A3D-4493-BD0A-100DDF2DD6C8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14E47D-C245-BEF5-2507-0610E6D47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495ED3-2773-8B97-06BE-1C45D92F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2766-A943-459C-A313-9F1647A6A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068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94F779-815A-9233-8BA2-C1F9D741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E985DA-D89A-C6D7-FEBC-17213FE5C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DBE46-102E-2400-A3E0-0CFF4C9BB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F49A-7A3D-4493-BD0A-100DDF2DD6C8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667338-B978-09D8-089D-C98047BD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2C74C7-B628-6228-0F21-3645BB62C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2766-A943-459C-A313-9F1647A6A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4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684D24-0800-35ED-39D0-5A3B827C0E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985F01-5304-3ED1-6EAA-0455F2E95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21DD50-4A6E-2D82-7633-4A335F576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F49A-7A3D-4493-BD0A-100DDF2DD6C8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7E7B1D-00C8-9BFB-AC55-DFA7A98D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8EE5C4-5DEB-793C-4E60-D08E441BD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2766-A943-459C-A313-9F1647A6A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60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6AFFFE5-D879-04FD-64D7-CE7390386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1B999B-2B5D-1D9C-9FAC-715EAF2E5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886C5D-90A4-82F6-27DA-B5CAB7DC8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DF49A-7A3D-4493-BD0A-100DDF2DD6C8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4FDDD7-BADB-E034-18A2-02A2EA987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EDF901-52C5-F0AE-47A0-FE4D0586D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22766-A943-459C-A313-9F1647A6A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515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busan.go.kr/bdip/" TargetMode="External"/><Relationship Id="rId2" Type="http://schemas.openxmlformats.org/officeDocument/2006/relationships/hyperlink" Target="https://www.data.go.kr/index.do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asis.nts.go.kr/websquare/websquare.html?w2xPath=/cm/index.x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5F8254-D597-CAAE-8504-63DDB984E3B3}"/>
              </a:ext>
            </a:extLst>
          </p:cNvPr>
          <p:cNvSpPr txBox="1"/>
          <p:nvPr/>
        </p:nvSpPr>
        <p:spPr>
          <a:xfrm>
            <a:off x="5542002" y="32443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표지표지</a:t>
            </a:r>
          </a:p>
        </p:txBody>
      </p:sp>
    </p:spTree>
    <p:extLst>
      <p:ext uri="{BB962C8B-B14F-4D97-AF65-F5344CB8AC3E}">
        <p14:creationId xmlns:p14="http://schemas.microsoft.com/office/powerpoint/2010/main" val="1286823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35E92-20E9-6653-61E2-EDCF5949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A1D02B-32A2-DC25-33CC-C8F3A4A7F740}"/>
              </a:ext>
            </a:extLst>
          </p:cNvPr>
          <p:cNvSpPr txBox="1"/>
          <p:nvPr/>
        </p:nvSpPr>
        <p:spPr>
          <a:xfrm>
            <a:off x="147782" y="184728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INDEX</a:t>
            </a:r>
            <a:endParaRPr lang="ko-KR" altLang="en-US" dirty="0"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428DE6-DC20-D0A5-3DFC-DF877D8235E7}"/>
              </a:ext>
            </a:extLst>
          </p:cNvPr>
          <p:cNvSpPr txBox="1"/>
          <p:nvPr/>
        </p:nvSpPr>
        <p:spPr>
          <a:xfrm>
            <a:off x="1116061" y="1609497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프로젝트 개요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4B626-93C2-8511-E1B5-32F0646BCE00}"/>
              </a:ext>
            </a:extLst>
          </p:cNvPr>
          <p:cNvSpPr txBox="1"/>
          <p:nvPr/>
        </p:nvSpPr>
        <p:spPr>
          <a:xfrm>
            <a:off x="3563345" y="1609497"/>
            <a:ext cx="1680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325E3-0ED3-F04A-D867-A254A31A0F1D}"/>
              </a:ext>
            </a:extLst>
          </p:cNvPr>
          <p:cNvSpPr txBox="1"/>
          <p:nvPr/>
        </p:nvSpPr>
        <p:spPr>
          <a:xfrm>
            <a:off x="5779796" y="1609497"/>
            <a:ext cx="2997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대시보드 구현 및 모델링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5574A-0B3B-878D-261D-7F40F57D6A25}"/>
              </a:ext>
            </a:extLst>
          </p:cNvPr>
          <p:cNvSpPr txBox="1"/>
          <p:nvPr/>
        </p:nvSpPr>
        <p:spPr>
          <a:xfrm>
            <a:off x="9313917" y="1609497"/>
            <a:ext cx="1762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결론 및 평가</a:t>
            </a:r>
          </a:p>
        </p:txBody>
      </p:sp>
    </p:spTree>
    <p:extLst>
      <p:ext uri="{BB962C8B-B14F-4D97-AF65-F5344CB8AC3E}">
        <p14:creationId xmlns:p14="http://schemas.microsoft.com/office/powerpoint/2010/main" val="1996999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157E9-5B25-4609-04E6-C32D08C0D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2ACE6B-0F8A-7A94-7415-4E4D77753B78}"/>
              </a:ext>
            </a:extLst>
          </p:cNvPr>
          <p:cNvSpPr txBox="1"/>
          <p:nvPr/>
        </p:nvSpPr>
        <p:spPr>
          <a:xfrm>
            <a:off x="1056847" y="5775097"/>
            <a:ext cx="100783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부산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2026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빅데이터 공모전 참여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[TRACK 1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부산시 데이터 분석을 통한 도시 문제 해결 및 맞춤형 정책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서비스 개선 방안 제안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C1D65-ABD2-CD13-230E-A08E8BE87DA0}"/>
              </a:ext>
            </a:extLst>
          </p:cNvPr>
          <p:cNvSpPr txBox="1"/>
          <p:nvPr/>
        </p:nvSpPr>
        <p:spPr>
          <a:xfrm>
            <a:off x="164271" y="184728"/>
            <a:ext cx="1680268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1.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프로젝트 개요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AF601E-D542-2468-E59B-A98CAF52F4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532"/>
          <a:stretch>
            <a:fillRect/>
          </a:stretch>
        </p:blipFill>
        <p:spPr>
          <a:xfrm>
            <a:off x="0" y="1523236"/>
            <a:ext cx="12192000" cy="381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729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63A30-3A7F-8868-2EF4-7D201847E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791537-7950-480D-120D-5499785A2556}"/>
              </a:ext>
            </a:extLst>
          </p:cNvPr>
          <p:cNvSpPr txBox="1"/>
          <p:nvPr/>
        </p:nvSpPr>
        <p:spPr>
          <a:xfrm>
            <a:off x="4599437" y="5793570"/>
            <a:ext cx="2993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부산 호황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폐업 기사 관련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아이러니한 상황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90784E-A93A-9F19-49D1-2EA0B2BEFA31}"/>
              </a:ext>
            </a:extLst>
          </p:cNvPr>
          <p:cNvSpPr txBox="1"/>
          <p:nvPr/>
        </p:nvSpPr>
        <p:spPr>
          <a:xfrm>
            <a:off x="164271" y="184728"/>
            <a:ext cx="1680268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1. </a:t>
            </a:r>
            <a:r>
              <a:rPr lang="ko-KR" altLang="en-US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프로젝트 개요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95C024E-2697-7666-D655-DD32209C4710}"/>
              </a:ext>
            </a:extLst>
          </p:cNvPr>
          <p:cNvGrpSpPr/>
          <p:nvPr/>
        </p:nvGrpSpPr>
        <p:grpSpPr>
          <a:xfrm>
            <a:off x="1495948" y="1476035"/>
            <a:ext cx="9200104" cy="3905930"/>
            <a:chOff x="1154910" y="1476035"/>
            <a:chExt cx="9200104" cy="3905930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DD1C0350-72D3-2492-6C9E-79EE28704B51}"/>
                </a:ext>
              </a:extLst>
            </p:cNvPr>
            <p:cNvGrpSpPr/>
            <p:nvPr/>
          </p:nvGrpSpPr>
          <p:grpSpPr>
            <a:xfrm>
              <a:off x="1154910" y="1476035"/>
              <a:ext cx="4141678" cy="3905930"/>
              <a:chOff x="1260663" y="1538662"/>
              <a:chExt cx="3948645" cy="3723886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065F9B97-5FE9-84CC-56F0-81CD751B5A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60663" y="1538662"/>
                <a:ext cx="3948645" cy="777762"/>
              </a:xfrm>
              <a:prstGeom prst="rect">
                <a:avLst/>
              </a:prstGeom>
            </p:spPr>
          </p:pic>
          <p:pic>
            <p:nvPicPr>
              <p:cNvPr id="9" name="그림 8" descr="올해 상반기 부산을 찾은 외국인 관광객은 242만629명으로 전년보다 43.9% 늘었고, 관광지출은 5914억 원으로 63.0% 증가했다. 평균 체류 기간과 1인당 여행경비도 함께 늘었다. (그래픽=오상민 기자)">
                <a:extLst>
                  <a:ext uri="{FF2B5EF4-FFF2-40B4-BE49-F238E27FC236}">
                    <a16:creationId xmlns:a16="http://schemas.microsoft.com/office/drawing/2014/main" id="{EE01144E-406D-D45E-47C3-EE9D704145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0663" y="2465591"/>
                <a:ext cx="3948645" cy="2796957"/>
              </a:xfrm>
              <a:prstGeom prst="rect">
                <a:avLst/>
              </a:prstGeom>
            </p:spPr>
          </p:pic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DA7C2CA-30B0-5A02-1257-092A5032C7F0}"/>
                </a:ext>
              </a:extLst>
            </p:cNvPr>
            <p:cNvGrpSpPr/>
            <p:nvPr/>
          </p:nvGrpSpPr>
          <p:grpSpPr>
            <a:xfrm>
              <a:off x="6895414" y="1477733"/>
              <a:ext cx="3459600" cy="3904232"/>
              <a:chOff x="7497744" y="1359442"/>
              <a:chExt cx="3585892" cy="4046756"/>
            </a:xfrm>
          </p:grpSpPr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DE63E4BE-1EA2-19E9-9F56-921963D921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15802"/>
              <a:stretch>
                <a:fillRect/>
              </a:stretch>
            </p:blipFill>
            <p:spPr>
              <a:xfrm>
                <a:off x="7497744" y="1359442"/>
                <a:ext cx="3585892" cy="657376"/>
              </a:xfrm>
              <a:prstGeom prst="rect">
                <a:avLst/>
              </a:prstGeom>
            </p:spPr>
          </p:pic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9AA86419-2BDF-7A6C-C9D2-539C78BDC2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96933" y="2177440"/>
                <a:ext cx="3187515" cy="322875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91959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C5F8D-3035-F6C1-64AE-91E3C6150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C32D1C-17BB-D2DF-3302-0E491CAB3910}"/>
              </a:ext>
            </a:extLst>
          </p:cNvPr>
          <p:cNvSpPr txBox="1"/>
          <p:nvPr/>
        </p:nvSpPr>
        <p:spPr>
          <a:xfrm>
            <a:off x="3363527" y="5063897"/>
            <a:ext cx="54649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상반된 둘 간의 상관관계가 있을 것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나아가 이를 기반으로 도시 사업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/ 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신규 아이디어로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E63E6D-4C9A-CFC6-B7C4-7DE9DED9ED23}"/>
              </a:ext>
            </a:extLst>
          </p:cNvPr>
          <p:cNvSpPr txBox="1"/>
          <p:nvPr/>
        </p:nvSpPr>
        <p:spPr>
          <a:xfrm>
            <a:off x="164271" y="184728"/>
            <a:ext cx="1680268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1.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프로젝트 개요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B2AE63-0B97-7E4D-BDFE-9E52010AB6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89" t="12678" r="23889" b="32692"/>
          <a:stretch>
            <a:fillRect/>
          </a:stretch>
        </p:blipFill>
        <p:spPr>
          <a:xfrm>
            <a:off x="4498109" y="1229531"/>
            <a:ext cx="3195782" cy="334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737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240F-B568-999C-ABE4-1C5A6C37F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226A5-FBFE-3C73-7701-FB1B787A786B}"/>
              </a:ext>
            </a:extLst>
          </p:cNvPr>
          <p:cNvSpPr txBox="1"/>
          <p:nvPr/>
        </p:nvSpPr>
        <p:spPr>
          <a:xfrm>
            <a:off x="4701228" y="1859340"/>
            <a:ext cx="278954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팀원소개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---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김성우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바지사장</a:t>
            </a:r>
            <a:endParaRPr lang="en-US" altLang="ko-KR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정연재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: </a:t>
            </a:r>
            <a:r>
              <a:rPr lang="ko-KR" altLang="en-US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전처리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마스터</a:t>
            </a:r>
            <a:endParaRPr lang="en-US" altLang="ko-KR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이석원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대시보드 마스터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박인해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: </a:t>
            </a:r>
            <a:r>
              <a:rPr lang="ko-KR" altLang="en-US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노션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마스터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FAC5EB-F025-0C4C-F3A0-C86AFAD59105}"/>
              </a:ext>
            </a:extLst>
          </p:cNvPr>
          <p:cNvSpPr txBox="1"/>
          <p:nvPr/>
        </p:nvSpPr>
        <p:spPr>
          <a:xfrm>
            <a:off x="164271" y="184728"/>
            <a:ext cx="1680268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1. </a:t>
            </a:r>
            <a:r>
              <a:rPr lang="ko-KR" altLang="en-US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프로젝트 개요</a:t>
            </a:r>
          </a:p>
        </p:txBody>
      </p:sp>
    </p:spTree>
    <p:extLst>
      <p:ext uri="{BB962C8B-B14F-4D97-AF65-F5344CB8AC3E}">
        <p14:creationId xmlns:p14="http://schemas.microsoft.com/office/powerpoint/2010/main" val="1371210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17CDD-0B96-D71D-DC3F-4EF67CA49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665DC7-DC80-39AA-F42B-DEF96606D0DB}"/>
              </a:ext>
            </a:extLst>
          </p:cNvPr>
          <p:cNvSpPr txBox="1"/>
          <p:nvPr/>
        </p:nvSpPr>
        <p:spPr>
          <a:xfrm>
            <a:off x="3010861" y="1997839"/>
            <a:ext cx="617027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진행 관련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언제부터 언제까지 기획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/ 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언제까지 데이터 </a:t>
            </a:r>
            <a:r>
              <a:rPr lang="ko-KR" altLang="en-US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전처리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등등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..)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0806 ~ 0810_[ 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기획 및 방향성 확립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]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0811 ~ 0813_[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수집 및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0813 ~ 0817_[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탐색적 데이터 분석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 EDA ) ]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0817 ~ 0818_[ 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모델 생성 및 대시보드 구현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]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F24D36-5E16-D730-B102-2F6253271020}"/>
              </a:ext>
            </a:extLst>
          </p:cNvPr>
          <p:cNvSpPr txBox="1"/>
          <p:nvPr/>
        </p:nvSpPr>
        <p:spPr>
          <a:xfrm>
            <a:off x="164271" y="184728"/>
            <a:ext cx="1680268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1. </a:t>
            </a:r>
            <a:r>
              <a:rPr lang="ko-KR" altLang="en-US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프로젝트 개요</a:t>
            </a:r>
          </a:p>
        </p:txBody>
      </p:sp>
    </p:spTree>
    <p:extLst>
      <p:ext uri="{BB962C8B-B14F-4D97-AF65-F5344CB8AC3E}">
        <p14:creationId xmlns:p14="http://schemas.microsoft.com/office/powerpoint/2010/main" val="276323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5A90F-AE03-8ACB-22A4-0E1802758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DEB736-1DA5-9DC7-B81D-6FD245F38D7F}"/>
              </a:ext>
            </a:extLst>
          </p:cNvPr>
          <p:cNvSpPr txBox="1"/>
          <p:nvPr/>
        </p:nvSpPr>
        <p:spPr>
          <a:xfrm>
            <a:off x="5385710" y="3244334"/>
            <a:ext cx="1420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분석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가설 수립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D6265-1A70-12E5-C830-46F38012F41C}"/>
              </a:ext>
            </a:extLst>
          </p:cNvPr>
          <p:cNvSpPr txBox="1"/>
          <p:nvPr/>
        </p:nvSpPr>
        <p:spPr>
          <a:xfrm>
            <a:off x="164271" y="184728"/>
            <a:ext cx="1510350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2. </a:t>
            </a:r>
            <a:r>
              <a:rPr lang="ko-KR" altLang="en-US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데이터 분석</a:t>
            </a:r>
          </a:p>
        </p:txBody>
      </p:sp>
    </p:spTree>
    <p:extLst>
      <p:ext uri="{BB962C8B-B14F-4D97-AF65-F5344CB8AC3E}">
        <p14:creationId xmlns:p14="http://schemas.microsoft.com/office/powerpoint/2010/main" val="131148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3FF8F-946B-0771-E998-8B6352F52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BB7352-79D3-9483-0B4C-E49B04808FD2}"/>
              </a:ext>
            </a:extLst>
          </p:cNvPr>
          <p:cNvSpPr txBox="1"/>
          <p:nvPr/>
        </p:nvSpPr>
        <p:spPr>
          <a:xfrm>
            <a:off x="4014345" y="3244334"/>
            <a:ext cx="41633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수집 기준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[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신뢰할 수 있는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/ 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최근의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/ 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디테일한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]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8D6B00-B539-4AB4-79EE-67CEC6D99EC7}"/>
              </a:ext>
            </a:extLst>
          </p:cNvPr>
          <p:cNvSpPr txBox="1"/>
          <p:nvPr/>
        </p:nvSpPr>
        <p:spPr>
          <a:xfrm>
            <a:off x="164271" y="184728"/>
            <a:ext cx="1510350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2.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데이터 분석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EF1379-AE25-DBED-1B42-48B4EFD39475}"/>
              </a:ext>
            </a:extLst>
          </p:cNvPr>
          <p:cNvSpPr txBox="1"/>
          <p:nvPr/>
        </p:nvSpPr>
        <p:spPr>
          <a:xfrm>
            <a:off x="164271" y="5932115"/>
            <a:ext cx="67762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11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*</a:t>
            </a:r>
            <a:r>
              <a:rPr lang="ko-KR" altLang="en-US" sz="11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출처 </a:t>
            </a:r>
            <a:r>
              <a:rPr lang="en-US" altLang="ko-KR" sz="11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: 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공공데이터포털</a:t>
            </a:r>
            <a:r>
              <a:rPr lang="ko-KR" altLang="en-US" sz="11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100" dirty="0">
                <a:solidFill>
                  <a:prstClr val="black"/>
                </a:solidFill>
              </a:rPr>
              <a:t>(</a:t>
            </a:r>
            <a:r>
              <a:rPr lang="en-US" altLang="ko-KR" sz="1100" dirty="0">
                <a:solidFill>
                  <a:prstClr val="black"/>
                </a:solidFill>
                <a:hlinkClick r:id="rId2"/>
              </a:rPr>
              <a:t>https://www.data.go.kr/index.do</a:t>
            </a:r>
            <a:r>
              <a:rPr lang="en-US" altLang="ko-KR" sz="1100" dirty="0">
                <a:solidFill>
                  <a:prstClr val="black"/>
                </a:solidFill>
              </a:rPr>
              <a:t>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lvl="0"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*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출처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Big-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데이터웨이브 </a:t>
            </a:r>
            <a:r>
              <a:rPr lang="en-US" altLang="ko-KR" sz="1100" dirty="0">
                <a:solidFill>
                  <a:prstClr val="black"/>
                </a:solidFill>
              </a:rPr>
              <a:t>(</a:t>
            </a:r>
            <a:r>
              <a:rPr lang="en-US" altLang="ko-KR" sz="1100" dirty="0">
                <a:solidFill>
                  <a:prstClr val="black"/>
                </a:solidFill>
                <a:hlinkClick r:id="rId3"/>
              </a:rPr>
              <a:t>https://data.busan.go.kr/bdip/</a:t>
            </a:r>
            <a:r>
              <a:rPr lang="en-US" altLang="ko-KR" sz="1100" dirty="0">
                <a:solidFill>
                  <a:prstClr val="black"/>
                </a:solidFill>
              </a:rPr>
              <a:t>)</a:t>
            </a:r>
          </a:p>
          <a:p>
            <a:pPr lvl="0">
              <a:defRPr/>
            </a:pPr>
            <a:r>
              <a:rPr lang="en-US" altLang="ko-KR" sz="11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*</a:t>
            </a:r>
            <a:r>
              <a:rPr lang="ko-KR" altLang="en-US" sz="11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출처 </a:t>
            </a:r>
            <a:r>
              <a:rPr lang="en-US" altLang="ko-KR" sz="11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: TASIS </a:t>
            </a:r>
            <a:r>
              <a:rPr lang="ko-KR" altLang="en-US" sz="1100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국세통계포털</a:t>
            </a:r>
            <a:r>
              <a:rPr lang="ko-KR" altLang="en-US" sz="11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100" dirty="0">
                <a:solidFill>
                  <a:prstClr val="black"/>
                </a:solidFill>
              </a:rPr>
              <a:t>(</a:t>
            </a:r>
            <a:r>
              <a:rPr lang="en-US" altLang="ko-KR" sz="1100" dirty="0">
                <a:solidFill>
                  <a:prstClr val="black"/>
                </a:solidFill>
                <a:hlinkClick r:id="rId4"/>
              </a:rPr>
              <a:t>https://tasis.nts.go.kr/websquare/websquare.html?w2xPath=/cm/index.xml</a:t>
            </a:r>
            <a:r>
              <a:rPr lang="en-US" altLang="ko-KR" sz="1100" dirty="0">
                <a:solidFill>
                  <a:prstClr val="black"/>
                </a:solidFill>
              </a:rPr>
              <a:t>)</a:t>
            </a:r>
          </a:p>
          <a:p>
            <a:pPr lvl="0"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5821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28F7D-45C0-30B6-E72D-ED4A8AC93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D6E626-5CEB-4085-B87A-54B8ECEF0E7A}"/>
              </a:ext>
            </a:extLst>
          </p:cNvPr>
          <p:cNvSpPr txBox="1"/>
          <p:nvPr/>
        </p:nvSpPr>
        <p:spPr>
          <a:xfrm>
            <a:off x="4569784" y="3244334"/>
            <a:ext cx="3052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분석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lang="ko-KR" altLang="en-US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전처리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기준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/ </a:t>
            </a:r>
            <a:r>
              <a:rPr lang="ko-KR" altLang="en-US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전처리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과정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46A0E6-2DF2-0B50-F2E9-04A20E59234A}"/>
              </a:ext>
            </a:extLst>
          </p:cNvPr>
          <p:cNvSpPr txBox="1"/>
          <p:nvPr/>
        </p:nvSpPr>
        <p:spPr>
          <a:xfrm>
            <a:off x="164271" y="184728"/>
            <a:ext cx="1510350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2. </a:t>
            </a:r>
            <a:r>
              <a:rPr lang="ko-KR" altLang="en-US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데이터 분석</a:t>
            </a:r>
          </a:p>
        </p:txBody>
      </p:sp>
    </p:spTree>
    <p:extLst>
      <p:ext uri="{BB962C8B-B14F-4D97-AF65-F5344CB8AC3E}">
        <p14:creationId xmlns:p14="http://schemas.microsoft.com/office/powerpoint/2010/main" val="955468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DE3CE-C55F-A614-8B7A-9537D8DA9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7AC7B4-4588-EB26-5C3F-53BFA929DFF3}"/>
              </a:ext>
            </a:extLst>
          </p:cNvPr>
          <p:cNvSpPr txBox="1"/>
          <p:nvPr/>
        </p:nvSpPr>
        <p:spPr>
          <a:xfrm>
            <a:off x="3604784" y="3244334"/>
            <a:ext cx="49824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EDA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과정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총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4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가지 가설을 기반으로 데이터 분석 후</a:t>
            </a:r>
            <a:endParaRPr lang="en-US" altLang="ko-KR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이를 취합하여 부산 관련 총 데이터 분석 처리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F4FE12-1FAB-3737-9321-FF00EB0D41F2}"/>
              </a:ext>
            </a:extLst>
          </p:cNvPr>
          <p:cNvSpPr txBox="1"/>
          <p:nvPr/>
        </p:nvSpPr>
        <p:spPr>
          <a:xfrm>
            <a:off x="164271" y="184728"/>
            <a:ext cx="1510350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2. </a:t>
            </a:r>
            <a:r>
              <a:rPr lang="ko-KR" altLang="en-US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데이터 분석</a:t>
            </a:r>
          </a:p>
        </p:txBody>
      </p:sp>
    </p:spTree>
    <p:extLst>
      <p:ext uri="{BB962C8B-B14F-4D97-AF65-F5344CB8AC3E}">
        <p14:creationId xmlns:p14="http://schemas.microsoft.com/office/powerpoint/2010/main" val="3255530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91F95-0F1A-CE01-7D50-6B3CF1B91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212070-6664-699D-F207-CE76B0E52088}"/>
              </a:ext>
            </a:extLst>
          </p:cNvPr>
          <p:cNvSpPr txBox="1"/>
          <p:nvPr/>
        </p:nvSpPr>
        <p:spPr>
          <a:xfrm>
            <a:off x="1939275" y="3244334"/>
            <a:ext cx="8313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총 가설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[ 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관광객 수 증가에 따라 변화하는 지표가 부산의 폐업에 영향을 끼칠 것이다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]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510D09-245C-8F03-4CC7-938C85119167}"/>
              </a:ext>
            </a:extLst>
          </p:cNvPr>
          <p:cNvSpPr txBox="1"/>
          <p:nvPr/>
        </p:nvSpPr>
        <p:spPr>
          <a:xfrm>
            <a:off x="164271" y="184728"/>
            <a:ext cx="1510350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2.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데이터 분석</a:t>
            </a:r>
          </a:p>
        </p:txBody>
      </p:sp>
    </p:spTree>
    <p:extLst>
      <p:ext uri="{BB962C8B-B14F-4D97-AF65-F5344CB8AC3E}">
        <p14:creationId xmlns:p14="http://schemas.microsoft.com/office/powerpoint/2010/main" val="3164760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09C18-EC59-6686-20FE-03BFED2F9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F61C66-ABE2-D563-2C10-E52A6C3DA8C1}"/>
              </a:ext>
            </a:extLst>
          </p:cNvPr>
          <p:cNvSpPr txBox="1"/>
          <p:nvPr/>
        </p:nvSpPr>
        <p:spPr>
          <a:xfrm>
            <a:off x="3102232" y="2690336"/>
            <a:ext cx="59875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부분 가설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1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-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관광객이 아무리 많이 모이더라도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특정 지역에만 관광객이 몰리는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‘</a:t>
            </a:r>
            <a:r>
              <a:rPr lang="ko-KR" altLang="en-US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오버투어리즘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’ 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발생 시</a:t>
            </a:r>
            <a:endParaRPr lang="en-US" altLang="ko-KR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그 외 지역의 폐업은 여전히 유지되거나 증가할 것이다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2F2CA5-8E31-65EB-1177-E212D05E50FD}"/>
              </a:ext>
            </a:extLst>
          </p:cNvPr>
          <p:cNvSpPr txBox="1"/>
          <p:nvPr/>
        </p:nvSpPr>
        <p:spPr>
          <a:xfrm>
            <a:off x="164271" y="184728"/>
            <a:ext cx="1510350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2.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데이터 분석</a:t>
            </a:r>
          </a:p>
        </p:txBody>
      </p:sp>
    </p:spTree>
    <p:extLst>
      <p:ext uri="{BB962C8B-B14F-4D97-AF65-F5344CB8AC3E}">
        <p14:creationId xmlns:p14="http://schemas.microsoft.com/office/powerpoint/2010/main" val="1402399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1A95E-566A-75A8-010F-617524DCC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C152D3C-809D-AED3-A17E-8830FC398B77}"/>
              </a:ext>
            </a:extLst>
          </p:cNvPr>
          <p:cNvSpPr txBox="1"/>
          <p:nvPr/>
        </p:nvSpPr>
        <p:spPr>
          <a:xfrm>
            <a:off x="164271" y="184728"/>
            <a:ext cx="1510350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2.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데이터 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26F984-2BA0-3AE8-606B-DE53975CB947}"/>
              </a:ext>
            </a:extLst>
          </p:cNvPr>
          <p:cNvSpPr txBox="1"/>
          <p:nvPr/>
        </p:nvSpPr>
        <p:spPr>
          <a:xfrm>
            <a:off x="4455165" y="2828836"/>
            <a:ext cx="32816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부분 가설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-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지역 별 소비된 금액에 따라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폐업의 양상이 달라질 것이다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563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3F628-595F-57A8-8BD3-75D3E921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1DEBBCB-7976-2CF4-77EF-FE85EF49126F}"/>
              </a:ext>
            </a:extLst>
          </p:cNvPr>
          <p:cNvSpPr txBox="1"/>
          <p:nvPr/>
        </p:nvSpPr>
        <p:spPr>
          <a:xfrm>
            <a:off x="164271" y="184728"/>
            <a:ext cx="1510350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2.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데이터 분석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A76D6C-F2C6-91D6-C77B-2676DB98EFBA}"/>
              </a:ext>
            </a:extLst>
          </p:cNvPr>
          <p:cNvSpPr txBox="1"/>
          <p:nvPr/>
        </p:nvSpPr>
        <p:spPr>
          <a:xfrm>
            <a:off x="2906672" y="2690336"/>
            <a:ext cx="63786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부분 가설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-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관광객이 많이 몰려듦에 따라</a:t>
            </a:r>
            <a:endParaRPr lang="en-US" altLang="ko-KR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수요가 과하게 형성되는 산업 </a:t>
            </a:r>
            <a:r>
              <a:rPr lang="ko-KR" altLang="en-US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직군이</a:t>
            </a: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있을 것이고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그 반대급부로 타 산업군은 점차 쇠퇴하는 양상을 띌 것이다</a:t>
            </a:r>
            <a:endParaRPr lang="en-US" altLang="ko-KR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2613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3C9C1-2677-0B6D-762E-A1533A40C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0449A94-F464-3087-B1CF-201F358CE68F}"/>
              </a:ext>
            </a:extLst>
          </p:cNvPr>
          <p:cNvSpPr txBox="1"/>
          <p:nvPr/>
        </p:nvSpPr>
        <p:spPr>
          <a:xfrm>
            <a:off x="164271" y="184728"/>
            <a:ext cx="1510350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2.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데이터 분석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BA9138-119B-072F-426F-10AA9BC88A5E}"/>
              </a:ext>
            </a:extLst>
          </p:cNvPr>
          <p:cNvSpPr txBox="1"/>
          <p:nvPr/>
        </p:nvSpPr>
        <p:spPr>
          <a:xfrm>
            <a:off x="3409207" y="2690336"/>
            <a:ext cx="53735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부분 가설 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4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-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앞선 가설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 ~ 3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따라 가장 취약한 지역은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단순히 폐업이 가장 많이 일어나는 곳이 아닌</a:t>
            </a:r>
            <a:r>
              <a:rPr lang="en-US" altLang="ko-KR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신설 산업은 적지만 폐업 수는 높은 지역일 것이다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555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D5909-5E17-97CE-29EF-4F3E72078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C879FA-B816-42D1-5C92-0A1B2582D48C}"/>
              </a:ext>
            </a:extLst>
          </p:cNvPr>
          <p:cNvSpPr txBox="1"/>
          <p:nvPr/>
        </p:nvSpPr>
        <p:spPr>
          <a:xfrm>
            <a:off x="5114009" y="3244334"/>
            <a:ext cx="1964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예측 모델링 관련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C8911C-7513-16BF-6AD9-872829E33EAC}"/>
              </a:ext>
            </a:extLst>
          </p:cNvPr>
          <p:cNvSpPr txBox="1"/>
          <p:nvPr/>
        </p:nvSpPr>
        <p:spPr>
          <a:xfrm>
            <a:off x="164271" y="184728"/>
            <a:ext cx="2662908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3. </a:t>
            </a:r>
            <a:r>
              <a:rPr lang="ko-KR" altLang="en-US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대시보드 구현 및 모델링</a:t>
            </a:r>
          </a:p>
        </p:txBody>
      </p:sp>
    </p:spTree>
    <p:extLst>
      <p:ext uri="{BB962C8B-B14F-4D97-AF65-F5344CB8AC3E}">
        <p14:creationId xmlns:p14="http://schemas.microsoft.com/office/powerpoint/2010/main" val="2589456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1D04-3CDD-2270-ECC0-B327CEF1C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369349-1EF8-0818-CC84-EA71B4E1CD81}"/>
              </a:ext>
            </a:extLst>
          </p:cNvPr>
          <p:cNvSpPr txBox="1"/>
          <p:nvPr/>
        </p:nvSpPr>
        <p:spPr>
          <a:xfrm>
            <a:off x="5344843" y="324433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결론 및 평가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AAC6DC-C05E-F1B6-F241-4C449FC7FB76}"/>
              </a:ext>
            </a:extLst>
          </p:cNvPr>
          <p:cNvSpPr txBox="1"/>
          <p:nvPr/>
        </p:nvSpPr>
        <p:spPr>
          <a:xfrm>
            <a:off x="164271" y="184728"/>
            <a:ext cx="1566454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4. </a:t>
            </a:r>
            <a:r>
              <a:rPr lang="ko-KR" altLang="en-US" dirty="0"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결론 및 평가</a:t>
            </a:r>
          </a:p>
        </p:txBody>
      </p:sp>
    </p:spTree>
    <p:extLst>
      <p:ext uri="{BB962C8B-B14F-4D97-AF65-F5344CB8AC3E}">
        <p14:creationId xmlns:p14="http://schemas.microsoft.com/office/powerpoint/2010/main" val="4181551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431</Words>
  <Application>Microsoft Office PowerPoint</Application>
  <PresentationFormat>와이드스크린</PresentationFormat>
  <Paragraphs>84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HG꼬딕씨_Pro 80g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성우 김</dc:creator>
  <cp:lastModifiedBy>성우 김</cp:lastModifiedBy>
  <cp:revision>2</cp:revision>
  <dcterms:created xsi:type="dcterms:W3CDTF">2026-08-18T05:28:15Z</dcterms:created>
  <dcterms:modified xsi:type="dcterms:W3CDTF">2026-08-18T10:04:20Z</dcterms:modified>
</cp:coreProperties>
</file>